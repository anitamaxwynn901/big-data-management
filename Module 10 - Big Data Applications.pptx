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42"/>
  </p:notesMasterIdLst>
  <p:handoutMasterIdLst>
    <p:handoutMasterId r:id="rId43"/>
  </p:handoutMasterIdLst>
  <p:sldIdLst>
    <p:sldId id="272" r:id="rId5"/>
    <p:sldId id="258" r:id="rId6"/>
    <p:sldId id="365" r:id="rId7"/>
    <p:sldId id="373" r:id="rId8"/>
    <p:sldId id="381" r:id="rId9"/>
    <p:sldId id="383" r:id="rId10"/>
    <p:sldId id="384" r:id="rId11"/>
    <p:sldId id="385" r:id="rId12"/>
    <p:sldId id="386" r:id="rId13"/>
    <p:sldId id="387" r:id="rId14"/>
    <p:sldId id="382" r:id="rId15"/>
    <p:sldId id="389" r:id="rId16"/>
    <p:sldId id="390" r:id="rId17"/>
    <p:sldId id="393" r:id="rId18"/>
    <p:sldId id="391" r:id="rId19"/>
    <p:sldId id="394" r:id="rId20"/>
    <p:sldId id="395" r:id="rId21"/>
    <p:sldId id="396" r:id="rId22"/>
    <p:sldId id="392" r:id="rId23"/>
    <p:sldId id="397" r:id="rId24"/>
    <p:sldId id="398" r:id="rId25"/>
    <p:sldId id="388" r:id="rId26"/>
    <p:sldId id="366" r:id="rId27"/>
    <p:sldId id="367" r:id="rId28"/>
    <p:sldId id="368" r:id="rId29"/>
    <p:sldId id="369" r:id="rId30"/>
    <p:sldId id="370" r:id="rId31"/>
    <p:sldId id="372" r:id="rId32"/>
    <p:sldId id="371" r:id="rId33"/>
    <p:sldId id="374" r:id="rId34"/>
    <p:sldId id="375" r:id="rId35"/>
    <p:sldId id="376" r:id="rId36"/>
    <p:sldId id="377" r:id="rId37"/>
    <p:sldId id="378" r:id="rId38"/>
    <p:sldId id="379" r:id="rId39"/>
    <p:sldId id="380" r:id="rId40"/>
    <p:sldId id="334" r:id="rId4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3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FFC9E4"/>
    <a:srgbClr val="FF0066"/>
    <a:srgbClr val="4A206A"/>
    <a:srgbClr val="8A6900"/>
    <a:srgbClr val="FFFF00"/>
    <a:srgbClr val="6A2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68" autoAdjust="0"/>
    <p:restoredTop sz="94492" autoAdjust="0"/>
  </p:normalViewPr>
  <p:slideViewPr>
    <p:cSldViewPr>
      <p:cViewPr varScale="1">
        <p:scale>
          <a:sx n="80" d="100"/>
          <a:sy n="80" d="100"/>
        </p:scale>
        <p:origin x="384" y="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33E1BF-4392-4206-8DB2-D2080BD3DEB7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6F0B4E2-3C4C-42AC-9D8F-BBAFC72462DD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pPr marL="108000" algn="l"/>
          <a:r>
            <a:rPr lang="en-US" sz="2800" b="1" dirty="0" smtClean="0">
              <a:solidFill>
                <a:srgbClr val="FFFF00"/>
              </a:solidFill>
              <a:latin typeface="+mj-lt"/>
              <a:cs typeface="Arial" panose="020B0604020202020204" pitchFamily="34" charset="0"/>
            </a:rPr>
            <a:t> Introduction</a:t>
          </a:r>
          <a:endParaRPr lang="en-IN" sz="2800" b="1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gm:t>
    </dgm:pt>
    <dgm:pt modelId="{1EACE95E-FFD1-44C4-9D97-77DF9B47647E}" type="parTrans" cxnId="{9B83973E-BEAF-4F96-9A9F-FA8BA9F8FDE8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BC7F35-10AF-4961-B2D4-6F2B796D7D85}" type="sibTrans" cxnId="{9B83973E-BEAF-4F96-9A9F-FA8BA9F8FDE8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365183-CE32-4168-9B2F-ECDC720E64E4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pPr marL="108000" algn="l"/>
          <a:r>
            <a:rPr lang="en-IN" sz="2800" b="1" dirty="0" smtClean="0">
              <a:solidFill>
                <a:srgbClr val="FFFF00"/>
              </a:solidFill>
            </a:rPr>
            <a:t>2. Customer Segmentation</a:t>
          </a:r>
          <a:endParaRPr lang="en-IN" sz="2800" b="1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002CAA-F332-41AE-BE5A-A69DA0A9C3D0}" type="parTrans" cxnId="{BD43FC39-34FB-444A-A71D-0F475F73C034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527CE7-52A4-4645-A14E-270C4EF01862}" type="sibTrans" cxnId="{BD43FC39-34FB-444A-A71D-0F475F73C034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2E5CA6D-3D3D-42C9-95D6-654F4A4AEA31}">
      <dgm:prSet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pPr marL="108000" algn="l"/>
          <a:r>
            <a:rPr lang="en-US" sz="2800" b="1" dirty="0" smtClean="0">
              <a:solidFill>
                <a:srgbClr val="FFFF00"/>
              </a:solidFill>
            </a:rPr>
            <a:t>3. Real-Time Credit Card Fraud Detection</a:t>
          </a:r>
          <a:endParaRPr lang="en-IN" sz="2800" b="1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gm:t>
    </dgm:pt>
    <dgm:pt modelId="{5B993C77-D664-4803-A745-1A39809E3F0B}" type="parTrans" cxnId="{3313D3C2-34A9-42CE-837D-3AD195E95805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02E080-7F06-4A31-8C27-2AE394252BC1}" type="sibTrans" cxnId="{3313D3C2-34A9-42CE-837D-3AD195E95805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5CE42E-1C59-4439-9304-5FC58261AC64}">
      <dgm:prSet phldrT="[Text]"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pPr marL="108000" algn="l"/>
          <a:r>
            <a:rPr lang="en-US" sz="2800" b="1" dirty="0" smtClean="0">
              <a:solidFill>
                <a:srgbClr val="FFFF00"/>
              </a:solidFill>
            </a:rPr>
            <a:t>1. Log Analysis for Real-Time Monitoring</a:t>
          </a:r>
          <a:endParaRPr lang="en-IN" sz="2800" b="1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gm:t>
    </dgm:pt>
    <dgm:pt modelId="{32CBA3E8-13FC-4954-B12C-815CE213FEE4}" type="parTrans" cxnId="{FFF83FD4-ED15-47D6-B634-53B3D04BF252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21BAF2-DEEB-4F02-9C5E-AA979AFBE08B}" type="sibTrans" cxnId="{FFF83FD4-ED15-47D6-B634-53B3D04BF252}">
      <dgm:prSet/>
      <dgm:spPr/>
      <dgm:t>
        <a:bodyPr/>
        <a:lstStyle/>
        <a:p>
          <a:endParaRPr lang="en-IN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B731E4-5162-44CB-8F47-B89B48B929CC}">
      <dgm:prSet custT="1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pPr marL="108000" algn="l"/>
          <a:r>
            <a:rPr lang="en-US" sz="2800" b="1" dirty="0" smtClean="0">
              <a:solidFill>
                <a:srgbClr val="FFFF00"/>
              </a:solidFill>
            </a:rPr>
            <a:t>4. Sentiment Analysis in Video Conferencing</a:t>
          </a:r>
          <a:endParaRPr lang="en-IN" sz="2800" b="1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gm:t>
    </dgm:pt>
    <dgm:pt modelId="{F59B301D-86EA-415D-99DE-DC5E965192E7}" type="parTrans" cxnId="{1422BC03-2EE0-420B-824A-1656B718946B}">
      <dgm:prSet/>
      <dgm:spPr/>
      <dgm:t>
        <a:bodyPr/>
        <a:lstStyle/>
        <a:p>
          <a:endParaRPr lang="en-IN"/>
        </a:p>
      </dgm:t>
    </dgm:pt>
    <dgm:pt modelId="{390B1BE1-7DE8-4296-B235-93A0DEC1F600}" type="sibTrans" cxnId="{1422BC03-2EE0-420B-824A-1656B718946B}">
      <dgm:prSet/>
      <dgm:spPr/>
      <dgm:t>
        <a:bodyPr/>
        <a:lstStyle/>
        <a:p>
          <a:endParaRPr lang="en-IN"/>
        </a:p>
      </dgm:t>
    </dgm:pt>
    <dgm:pt modelId="{76AABBA8-7AED-49A2-9EA1-B82D59580F49}" type="pres">
      <dgm:prSet presAssocID="{6D33E1BF-4392-4206-8DB2-D2080BD3DEB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B6602A8-123E-4978-A68F-39F96AFA6FA6}" type="pres">
      <dgm:prSet presAssocID="{06F0B4E2-3C4C-42AC-9D8F-BBAFC72462DD}" presName="linNode" presStyleCnt="0"/>
      <dgm:spPr/>
      <dgm:t>
        <a:bodyPr/>
        <a:lstStyle/>
        <a:p>
          <a:endParaRPr lang="en-IN"/>
        </a:p>
      </dgm:t>
    </dgm:pt>
    <dgm:pt modelId="{6615A05E-3C83-44BD-AF92-F7FA42A80B08}" type="pres">
      <dgm:prSet presAssocID="{06F0B4E2-3C4C-42AC-9D8F-BBAFC72462DD}" presName="parentText" presStyleLbl="node1" presStyleIdx="0" presStyleCnt="5" custScaleX="218512" custScaleY="100000" custLinFactNeighborX="-726" custLinFactNeighborY="-1290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964C70B-0AE6-41F0-9859-27E5870AE422}" type="pres">
      <dgm:prSet presAssocID="{9FBC7F35-10AF-4961-B2D4-6F2B796D7D85}" presName="sp" presStyleCnt="0"/>
      <dgm:spPr/>
      <dgm:t>
        <a:bodyPr/>
        <a:lstStyle/>
        <a:p>
          <a:endParaRPr lang="en-IN"/>
        </a:p>
      </dgm:t>
    </dgm:pt>
    <dgm:pt modelId="{9F86AC3C-427A-45B6-970A-AD3DF9AF9E03}" type="pres">
      <dgm:prSet presAssocID="{D85CE42E-1C59-4439-9304-5FC58261AC64}" presName="linNode" presStyleCnt="0"/>
      <dgm:spPr/>
      <dgm:t>
        <a:bodyPr/>
        <a:lstStyle/>
        <a:p>
          <a:endParaRPr lang="en-IN"/>
        </a:p>
      </dgm:t>
    </dgm:pt>
    <dgm:pt modelId="{919F3EB5-11E5-4C15-BDDE-7DDF32465E5D}" type="pres">
      <dgm:prSet presAssocID="{D85CE42E-1C59-4439-9304-5FC58261AC64}" presName="parentText" presStyleLbl="node1" presStyleIdx="1" presStyleCnt="5" custScaleX="218512" custLinFactNeighborX="-57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8C22D19-9266-4D7E-8519-CD24A09077C3}" type="pres">
      <dgm:prSet presAssocID="{CE21BAF2-DEEB-4F02-9C5E-AA979AFBE08B}" presName="sp" presStyleCnt="0"/>
      <dgm:spPr/>
      <dgm:t>
        <a:bodyPr/>
        <a:lstStyle/>
        <a:p>
          <a:endParaRPr lang="en-IN"/>
        </a:p>
      </dgm:t>
    </dgm:pt>
    <dgm:pt modelId="{FB6291E5-0660-4B76-9CFC-AE0D64A9D8D3}" type="pres">
      <dgm:prSet presAssocID="{60365183-CE32-4168-9B2F-ECDC720E64E4}" presName="linNode" presStyleCnt="0"/>
      <dgm:spPr/>
      <dgm:t>
        <a:bodyPr/>
        <a:lstStyle/>
        <a:p>
          <a:endParaRPr lang="en-IN"/>
        </a:p>
      </dgm:t>
    </dgm:pt>
    <dgm:pt modelId="{8E42E0B6-F9A6-400C-AB2D-7833AEE4EC07}" type="pres">
      <dgm:prSet presAssocID="{60365183-CE32-4168-9B2F-ECDC720E64E4}" presName="parentText" presStyleLbl="node1" presStyleIdx="2" presStyleCnt="5" custScaleX="218512" custLinFactNeighborX="-57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480248E-8F97-4A83-BC37-5332B9605F34}" type="pres">
      <dgm:prSet presAssocID="{A5527CE7-52A4-4645-A14E-270C4EF01862}" presName="sp" presStyleCnt="0"/>
      <dgm:spPr/>
      <dgm:t>
        <a:bodyPr/>
        <a:lstStyle/>
        <a:p>
          <a:endParaRPr lang="en-IN"/>
        </a:p>
      </dgm:t>
    </dgm:pt>
    <dgm:pt modelId="{681A9186-921A-45D7-AB0D-E7B87F1CD9B4}" type="pres">
      <dgm:prSet presAssocID="{12E5CA6D-3D3D-42C9-95D6-654F4A4AEA31}" presName="linNode" presStyleCnt="0"/>
      <dgm:spPr/>
      <dgm:t>
        <a:bodyPr/>
        <a:lstStyle/>
        <a:p>
          <a:endParaRPr lang="en-IN"/>
        </a:p>
      </dgm:t>
    </dgm:pt>
    <dgm:pt modelId="{63D83632-AA81-4829-851C-7458A551B573}" type="pres">
      <dgm:prSet presAssocID="{12E5CA6D-3D3D-42C9-95D6-654F4A4AEA31}" presName="parentText" presStyleLbl="node1" presStyleIdx="3" presStyleCnt="5" custScaleX="218512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47CCFE2-D08B-476F-BD92-09919EBC5F63}" type="pres">
      <dgm:prSet presAssocID="{5702E080-7F06-4A31-8C27-2AE394252BC1}" presName="sp" presStyleCnt="0"/>
      <dgm:spPr/>
    </dgm:pt>
    <dgm:pt modelId="{10A71036-24F9-4262-B206-90B42F8C14AE}" type="pres">
      <dgm:prSet presAssocID="{19B731E4-5162-44CB-8F47-B89B48B929CC}" presName="linNode" presStyleCnt="0"/>
      <dgm:spPr/>
    </dgm:pt>
    <dgm:pt modelId="{71D4ACBB-0450-453A-9781-5DEE47966CD8}" type="pres">
      <dgm:prSet presAssocID="{19B731E4-5162-44CB-8F47-B89B48B929CC}" presName="parentText" presStyleLbl="node1" presStyleIdx="4" presStyleCnt="5" custScaleX="218512" custScaleY="142466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A793357-E405-4E3C-9411-0FFC7EC818C4}" type="presOf" srcId="{12E5CA6D-3D3D-42C9-95D6-654F4A4AEA31}" destId="{63D83632-AA81-4829-851C-7458A551B573}" srcOrd="0" destOrd="0" presId="urn:microsoft.com/office/officeart/2005/8/layout/vList5"/>
    <dgm:cxn modelId="{25D20D5E-C57E-44B4-B557-9863C0E729FF}" type="presOf" srcId="{D85CE42E-1C59-4439-9304-5FC58261AC64}" destId="{919F3EB5-11E5-4C15-BDDE-7DDF32465E5D}" srcOrd="0" destOrd="0" presId="urn:microsoft.com/office/officeart/2005/8/layout/vList5"/>
    <dgm:cxn modelId="{D0C6EF71-F26A-4B9E-A058-FF6670063A44}" type="presOf" srcId="{60365183-CE32-4168-9B2F-ECDC720E64E4}" destId="{8E42E0B6-F9A6-400C-AB2D-7833AEE4EC07}" srcOrd="0" destOrd="0" presId="urn:microsoft.com/office/officeart/2005/8/layout/vList5"/>
    <dgm:cxn modelId="{96E479C8-4D53-464D-9647-94FFD19055BB}" type="presOf" srcId="{6D33E1BF-4392-4206-8DB2-D2080BD3DEB7}" destId="{76AABBA8-7AED-49A2-9EA1-B82D59580F49}" srcOrd="0" destOrd="0" presId="urn:microsoft.com/office/officeart/2005/8/layout/vList5"/>
    <dgm:cxn modelId="{FFF83FD4-ED15-47D6-B634-53B3D04BF252}" srcId="{6D33E1BF-4392-4206-8DB2-D2080BD3DEB7}" destId="{D85CE42E-1C59-4439-9304-5FC58261AC64}" srcOrd="1" destOrd="0" parTransId="{32CBA3E8-13FC-4954-B12C-815CE213FEE4}" sibTransId="{CE21BAF2-DEEB-4F02-9C5E-AA979AFBE08B}"/>
    <dgm:cxn modelId="{BD43FC39-34FB-444A-A71D-0F475F73C034}" srcId="{6D33E1BF-4392-4206-8DB2-D2080BD3DEB7}" destId="{60365183-CE32-4168-9B2F-ECDC720E64E4}" srcOrd="2" destOrd="0" parTransId="{CA002CAA-F332-41AE-BE5A-A69DA0A9C3D0}" sibTransId="{A5527CE7-52A4-4645-A14E-270C4EF01862}"/>
    <dgm:cxn modelId="{1422BC03-2EE0-420B-824A-1656B718946B}" srcId="{6D33E1BF-4392-4206-8DB2-D2080BD3DEB7}" destId="{19B731E4-5162-44CB-8F47-B89B48B929CC}" srcOrd="4" destOrd="0" parTransId="{F59B301D-86EA-415D-99DE-DC5E965192E7}" sibTransId="{390B1BE1-7DE8-4296-B235-93A0DEC1F600}"/>
    <dgm:cxn modelId="{9B83973E-BEAF-4F96-9A9F-FA8BA9F8FDE8}" srcId="{6D33E1BF-4392-4206-8DB2-D2080BD3DEB7}" destId="{06F0B4E2-3C4C-42AC-9D8F-BBAFC72462DD}" srcOrd="0" destOrd="0" parTransId="{1EACE95E-FFD1-44C4-9D97-77DF9B47647E}" sibTransId="{9FBC7F35-10AF-4961-B2D4-6F2B796D7D85}"/>
    <dgm:cxn modelId="{8EE7B9BC-0C1D-4B0F-8E3C-6DE520299189}" type="presOf" srcId="{06F0B4E2-3C4C-42AC-9D8F-BBAFC72462DD}" destId="{6615A05E-3C83-44BD-AF92-F7FA42A80B08}" srcOrd="0" destOrd="0" presId="urn:microsoft.com/office/officeart/2005/8/layout/vList5"/>
    <dgm:cxn modelId="{6F7C9352-A3EB-47A0-B9BE-445E17D24B78}" type="presOf" srcId="{19B731E4-5162-44CB-8F47-B89B48B929CC}" destId="{71D4ACBB-0450-453A-9781-5DEE47966CD8}" srcOrd="0" destOrd="0" presId="urn:microsoft.com/office/officeart/2005/8/layout/vList5"/>
    <dgm:cxn modelId="{3313D3C2-34A9-42CE-837D-3AD195E95805}" srcId="{6D33E1BF-4392-4206-8DB2-D2080BD3DEB7}" destId="{12E5CA6D-3D3D-42C9-95D6-654F4A4AEA31}" srcOrd="3" destOrd="0" parTransId="{5B993C77-D664-4803-A745-1A39809E3F0B}" sibTransId="{5702E080-7F06-4A31-8C27-2AE394252BC1}"/>
    <dgm:cxn modelId="{29127C87-3342-4392-B942-DA2BE3ED16B4}" type="presParOf" srcId="{76AABBA8-7AED-49A2-9EA1-B82D59580F49}" destId="{1B6602A8-123E-4978-A68F-39F96AFA6FA6}" srcOrd="0" destOrd="0" presId="urn:microsoft.com/office/officeart/2005/8/layout/vList5"/>
    <dgm:cxn modelId="{25C7493A-9F3C-4BDE-A665-40B2C7C4D17C}" type="presParOf" srcId="{1B6602A8-123E-4978-A68F-39F96AFA6FA6}" destId="{6615A05E-3C83-44BD-AF92-F7FA42A80B08}" srcOrd="0" destOrd="0" presId="urn:microsoft.com/office/officeart/2005/8/layout/vList5"/>
    <dgm:cxn modelId="{2E1BCF06-770B-482C-8EAB-8D4F43F7689C}" type="presParOf" srcId="{76AABBA8-7AED-49A2-9EA1-B82D59580F49}" destId="{4964C70B-0AE6-41F0-9859-27E5870AE422}" srcOrd="1" destOrd="0" presId="urn:microsoft.com/office/officeart/2005/8/layout/vList5"/>
    <dgm:cxn modelId="{D0AB8AC8-119F-4E3D-A95B-3B54113DD6F1}" type="presParOf" srcId="{76AABBA8-7AED-49A2-9EA1-B82D59580F49}" destId="{9F86AC3C-427A-45B6-970A-AD3DF9AF9E03}" srcOrd="2" destOrd="0" presId="urn:microsoft.com/office/officeart/2005/8/layout/vList5"/>
    <dgm:cxn modelId="{4837EFA3-43B4-4432-A841-5915690678D5}" type="presParOf" srcId="{9F86AC3C-427A-45B6-970A-AD3DF9AF9E03}" destId="{919F3EB5-11E5-4C15-BDDE-7DDF32465E5D}" srcOrd="0" destOrd="0" presId="urn:microsoft.com/office/officeart/2005/8/layout/vList5"/>
    <dgm:cxn modelId="{EC25FA89-6D1F-417D-8A82-673EE1D30448}" type="presParOf" srcId="{76AABBA8-7AED-49A2-9EA1-B82D59580F49}" destId="{88C22D19-9266-4D7E-8519-CD24A09077C3}" srcOrd="3" destOrd="0" presId="urn:microsoft.com/office/officeart/2005/8/layout/vList5"/>
    <dgm:cxn modelId="{0CD81C22-53C5-40B4-B030-10AC8D9D4BB3}" type="presParOf" srcId="{76AABBA8-7AED-49A2-9EA1-B82D59580F49}" destId="{FB6291E5-0660-4B76-9CFC-AE0D64A9D8D3}" srcOrd="4" destOrd="0" presId="urn:microsoft.com/office/officeart/2005/8/layout/vList5"/>
    <dgm:cxn modelId="{B2808A4F-76A6-4551-A9B0-FA9265B0E87E}" type="presParOf" srcId="{FB6291E5-0660-4B76-9CFC-AE0D64A9D8D3}" destId="{8E42E0B6-F9A6-400C-AB2D-7833AEE4EC07}" srcOrd="0" destOrd="0" presId="urn:microsoft.com/office/officeart/2005/8/layout/vList5"/>
    <dgm:cxn modelId="{771886A5-5FED-4B12-8296-AB626F7A0AEF}" type="presParOf" srcId="{76AABBA8-7AED-49A2-9EA1-B82D59580F49}" destId="{0480248E-8F97-4A83-BC37-5332B9605F34}" srcOrd="5" destOrd="0" presId="urn:microsoft.com/office/officeart/2005/8/layout/vList5"/>
    <dgm:cxn modelId="{BD0CEB92-D458-40E2-B24A-7916FEDCDFFE}" type="presParOf" srcId="{76AABBA8-7AED-49A2-9EA1-B82D59580F49}" destId="{681A9186-921A-45D7-AB0D-E7B87F1CD9B4}" srcOrd="6" destOrd="0" presId="urn:microsoft.com/office/officeart/2005/8/layout/vList5"/>
    <dgm:cxn modelId="{AEAF5CD2-3C95-4CB8-8ACA-3FC32AAE9C52}" type="presParOf" srcId="{681A9186-921A-45D7-AB0D-E7B87F1CD9B4}" destId="{63D83632-AA81-4829-851C-7458A551B573}" srcOrd="0" destOrd="0" presId="urn:microsoft.com/office/officeart/2005/8/layout/vList5"/>
    <dgm:cxn modelId="{BD5AB7D6-AFAF-4242-AEDF-AF0A0B85A7EB}" type="presParOf" srcId="{76AABBA8-7AED-49A2-9EA1-B82D59580F49}" destId="{E47CCFE2-D08B-476F-BD92-09919EBC5F63}" srcOrd="7" destOrd="0" presId="urn:microsoft.com/office/officeart/2005/8/layout/vList5"/>
    <dgm:cxn modelId="{A11DBAED-41F6-40E2-BCBA-A24118F28F55}" type="presParOf" srcId="{76AABBA8-7AED-49A2-9EA1-B82D59580F49}" destId="{10A71036-24F9-4262-B206-90B42F8C14AE}" srcOrd="8" destOrd="0" presId="urn:microsoft.com/office/officeart/2005/8/layout/vList5"/>
    <dgm:cxn modelId="{C5A47BF8-90ED-4251-90DA-DCA4581111B0}" type="presParOf" srcId="{10A71036-24F9-4262-B206-90B42F8C14AE}" destId="{71D4ACBB-0450-453A-9781-5DEE47966CD8}" srcOrd="0" destOrd="0" presId="urn:microsoft.com/office/officeart/2005/8/layout/vList5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5A05E-3C83-44BD-AF92-F7FA42A80B08}">
      <dsp:nvSpPr>
        <dsp:cNvPr id="0" name=""/>
        <dsp:cNvSpPr/>
      </dsp:nvSpPr>
      <dsp:spPr>
        <a:xfrm>
          <a:off x="1161492" y="0"/>
          <a:ext cx="8779914" cy="883139"/>
        </a:xfrm>
        <a:prstGeom prst="roundRect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108000"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FFFF00"/>
              </a:solidFill>
              <a:latin typeface="+mj-lt"/>
              <a:cs typeface="Arial" panose="020B0604020202020204" pitchFamily="34" charset="0"/>
            </a:rPr>
            <a:t> Introduction</a:t>
          </a:r>
          <a:endParaRPr lang="en-IN" sz="2800" b="1" kern="1200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sp:txBody>
      <dsp:txXfrm>
        <a:off x="1204603" y="43111"/>
        <a:ext cx="8693692" cy="796917"/>
      </dsp:txXfrm>
    </dsp:sp>
    <dsp:sp modelId="{919F3EB5-11E5-4C15-BDDE-7DDF32465E5D}">
      <dsp:nvSpPr>
        <dsp:cNvPr id="0" name=""/>
        <dsp:cNvSpPr/>
      </dsp:nvSpPr>
      <dsp:spPr>
        <a:xfrm>
          <a:off x="1167599" y="928053"/>
          <a:ext cx="8779914" cy="883139"/>
        </a:xfrm>
        <a:prstGeom prst="roundRect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108000"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FFFF00"/>
              </a:solidFill>
            </a:rPr>
            <a:t>1. Log Analysis for Real-Time Monitoring</a:t>
          </a:r>
          <a:endParaRPr lang="en-IN" sz="2800" b="1" kern="1200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sp:txBody>
      <dsp:txXfrm>
        <a:off x="1210710" y="971164"/>
        <a:ext cx="8693692" cy="796917"/>
      </dsp:txXfrm>
    </dsp:sp>
    <dsp:sp modelId="{8E42E0B6-F9A6-400C-AB2D-7833AEE4EC07}">
      <dsp:nvSpPr>
        <dsp:cNvPr id="0" name=""/>
        <dsp:cNvSpPr/>
      </dsp:nvSpPr>
      <dsp:spPr>
        <a:xfrm>
          <a:off x="1167599" y="1855350"/>
          <a:ext cx="8779914" cy="883139"/>
        </a:xfrm>
        <a:prstGeom prst="roundRect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108000"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 dirty="0" smtClean="0">
              <a:solidFill>
                <a:srgbClr val="FFFF00"/>
              </a:solidFill>
            </a:rPr>
            <a:t>2. Customer Segmentation</a:t>
          </a:r>
          <a:endParaRPr lang="en-IN" sz="2800" b="1" kern="1200" dirty="0">
            <a:solidFill>
              <a:srgbClr val="FFFF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10710" y="1898461"/>
        <a:ext cx="8693692" cy="796917"/>
      </dsp:txXfrm>
    </dsp:sp>
    <dsp:sp modelId="{63D83632-AA81-4829-851C-7458A551B573}">
      <dsp:nvSpPr>
        <dsp:cNvPr id="0" name=""/>
        <dsp:cNvSpPr/>
      </dsp:nvSpPr>
      <dsp:spPr>
        <a:xfrm>
          <a:off x="1190663" y="2782647"/>
          <a:ext cx="8779914" cy="883139"/>
        </a:xfrm>
        <a:prstGeom prst="roundRect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108000"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FFFF00"/>
              </a:solidFill>
            </a:rPr>
            <a:t>3. Real-Time Credit Card Fraud Detection</a:t>
          </a:r>
          <a:endParaRPr lang="en-IN" sz="2800" b="1" kern="1200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sp:txBody>
      <dsp:txXfrm>
        <a:off x="1233774" y="2825758"/>
        <a:ext cx="8693692" cy="796917"/>
      </dsp:txXfrm>
    </dsp:sp>
    <dsp:sp modelId="{71D4ACBB-0450-453A-9781-5DEE47966CD8}">
      <dsp:nvSpPr>
        <dsp:cNvPr id="0" name=""/>
        <dsp:cNvSpPr/>
      </dsp:nvSpPr>
      <dsp:spPr>
        <a:xfrm>
          <a:off x="1190663" y="3709944"/>
          <a:ext cx="8771340" cy="1258174"/>
        </a:xfrm>
        <a:prstGeom prst="roundRect">
          <a:avLst/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108000"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smtClean="0">
              <a:solidFill>
                <a:srgbClr val="FFFF00"/>
              </a:solidFill>
            </a:rPr>
            <a:t>4. Sentiment Analysis in Video Conferencing</a:t>
          </a:r>
          <a:endParaRPr lang="en-IN" sz="2800" b="1" kern="1200" dirty="0">
            <a:solidFill>
              <a:srgbClr val="FFFF00"/>
            </a:solidFill>
            <a:latin typeface="+mj-lt"/>
            <a:cs typeface="Arial" panose="020B0604020202020204" pitchFamily="34" charset="0"/>
          </a:endParaRPr>
        </a:p>
      </dsp:txBody>
      <dsp:txXfrm>
        <a:off x="1252082" y="3771363"/>
        <a:ext cx="8648502" cy="1135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E03B7-B591-4A2A-B695-014C5A39F13E}" type="datetimeFigureOut">
              <a:rPr lang="en-US"/>
              <a:t>3/14/2025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322BB-75AD-4A1E-9661-2724167329F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705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BD7B-E4FB-4AA8-9540-FD148073ACB3}" type="datetimeFigureOut">
              <a:rPr lang="en-US"/>
              <a:t>3/14/2025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5B7DE-1198-4F2F-B574-CA8CAE34164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31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44625-0ADF-4414-89A2-9E135F0C84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4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544" y="758952"/>
            <a:ext cx="9415867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198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544" y="4800600"/>
            <a:ext cx="9415867" cy="1691640"/>
          </a:xfrm>
        </p:spPr>
        <p:txBody>
          <a:bodyPr>
            <a:normAutofit/>
          </a:bodyPr>
          <a:lstStyle>
            <a:lvl1pPr marL="0" indent="0" algn="l">
              <a:buNone/>
              <a:defRPr sz="2199" baseline="0">
                <a:solidFill>
                  <a:schemeClr val="tx1">
                    <a:lumMod val="75000"/>
                  </a:schemeClr>
                </a:solidFill>
              </a:defRPr>
            </a:lvl1pPr>
            <a:lvl2pPr marL="457063" indent="0" algn="ctr">
              <a:buNone/>
              <a:defRPr sz="2199"/>
            </a:lvl2pPr>
            <a:lvl3pPr marL="914126" indent="0" algn="ctr">
              <a:buNone/>
              <a:defRPr sz="21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927A63D-D9F1-434A-A156-845DF6609919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0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4817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543" y="221744"/>
            <a:ext cx="9690116" cy="903000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543" y="1412777"/>
            <a:ext cx="9690116" cy="4968552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Clr>
                <a:srgbClr val="00B050"/>
              </a:buClr>
              <a:buSzPct val="100000"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 sz="2400">
                <a:latin typeface="+mj-lt"/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A3A24-06E0-4971-AE9E-595557F76397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rgbClr val="FFFF00"/>
                </a:solidFill>
              </a:defRPr>
            </a:lvl1pPr>
          </a:lstStyle>
          <a:p>
            <a:fld id="{34C99D79-8A4B-4031-B1E0-AF26F8EDF2B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-26268" y="-17860"/>
            <a:ext cx="576064" cy="697525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43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544" y="758952"/>
            <a:ext cx="9415867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198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544" y="4800600"/>
            <a:ext cx="9415867" cy="1691640"/>
          </a:xfrm>
        </p:spPr>
        <p:txBody>
          <a:bodyPr anchor="t">
            <a:normAutofit/>
          </a:bodyPr>
          <a:lstStyle>
            <a:lvl1pPr marL="0" indent="0">
              <a:buNone/>
              <a:defRPr sz="21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8EB9-AA7E-4B74-AFB7-B46B09118D9D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34C99D79-8A4B-4031-B1E0-AF26F8EDF2BC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45708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3780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543" y="1828801"/>
            <a:ext cx="4479393" cy="4351337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4885" y="1828801"/>
            <a:ext cx="4479393" cy="4351337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6DD9D-6493-4D07-9FB9-919089FF439E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56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543" y="1713655"/>
            <a:ext cx="4479393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99" b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543" y="2507550"/>
            <a:ext cx="4479393" cy="366465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4885" y="1713655"/>
            <a:ext cx="4479393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999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marL="0" lvl="0" indent="0" algn="l" defTabSz="914126" rtl="0" eaLnBrk="1" latinLnBrk="0" hangingPunct="1">
              <a:lnSpc>
                <a:spcPct val="90000"/>
              </a:lnSpc>
              <a:spcBef>
                <a:spcPts val="1999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4885" y="2507550"/>
            <a:ext cx="4479393" cy="3664650"/>
          </a:xfrm>
        </p:spPr>
        <p:txBody>
          <a:bodyPr/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B684A-77D1-4367-811B-A563D0CC0B4D}" type="datetime1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0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6002B-A4F5-44D7-956E-22201829C674}" type="datetime1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384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E30F-3332-492E-8378-BE4DAEA3912E}" type="datetime1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81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9" y="457201"/>
            <a:ext cx="3199567" cy="1600197"/>
          </a:xfrm>
        </p:spPr>
        <p:txBody>
          <a:bodyPr anchor="b">
            <a:normAutofit/>
          </a:bodyPr>
          <a:lstStyle>
            <a:lvl1pPr>
              <a:defRPr sz="3199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094" y="685800"/>
            <a:ext cx="6077483" cy="548640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029" y="2099735"/>
            <a:ext cx="3199567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9B478-C27F-4D01-B4A3-0CDF1FAEE2C4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57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89899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2" y="5257800"/>
            <a:ext cx="9979600" cy="914400"/>
          </a:xfrm>
        </p:spPr>
        <p:txBody>
          <a:bodyPr anchor="b">
            <a:normAutofit/>
          </a:bodyPr>
          <a:lstStyle>
            <a:lvl1pPr>
              <a:defRPr sz="2799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11289899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162" y="6108590"/>
            <a:ext cx="99796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BE500-BCF9-4E7B-A5C0-F5A860E71758}" type="datetime1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06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CEBD-3AAA-4553-AECB-86926EB75B9F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60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6448" y="381000"/>
            <a:ext cx="247585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1801" y="381000"/>
            <a:ext cx="7732286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A781B-3A5E-48F8-A696-0ACE56425A76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89899" y="0"/>
            <a:ext cx="914162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543" y="365760"/>
            <a:ext cx="9690116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543" y="1828801"/>
            <a:ext cx="8593122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4483" y="998585"/>
            <a:ext cx="1904999" cy="365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43ED9AB-1BCD-45D1-AED8-31F5CCB53092}" type="datetime1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6281" y="4046585"/>
            <a:ext cx="3581400" cy="365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899" y="6172201"/>
            <a:ext cx="914162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599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4C99D79-8A4B-4031-B1E0-AF26F8EDF2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12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25" indent="-182825" algn="l" defTabSz="914126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799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063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301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538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79776" indent="-182825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59952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43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19934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250" indent="-228531" algn="l" defTabSz="914126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joshvads/customer-segmentation-for-retail" TargetMode="External"/><Relationship Id="rId2" Type="http://schemas.openxmlformats.org/officeDocument/2006/relationships/hyperlink" Target="https://archive.ics.uci.edu/ml/datasets/online+retai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Module  10: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6000" b="1" dirty="0">
                <a:solidFill>
                  <a:srgbClr val="FFFF00"/>
                </a:solidFill>
              </a:rPr>
              <a:t>Big Data and Spark ML </a:t>
            </a:r>
            <a:r>
              <a:rPr lang="en-US" sz="6000" b="1" dirty="0" smtClean="0">
                <a:solidFill>
                  <a:srgbClr val="FFFF00"/>
                </a:solidFill>
              </a:rPr>
              <a:t>Applications </a:t>
            </a:r>
            <a:r>
              <a:rPr lang="en-US" sz="6600" dirty="0">
                <a:solidFill>
                  <a:srgbClr val="FFFF00"/>
                </a:solidFill>
              </a:rPr>
              <a:t>	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pPr algn="r"/>
            <a:r>
              <a:rPr lang="en-US" dirty="0" smtClean="0"/>
              <a:t>By </a:t>
            </a:r>
            <a:r>
              <a:rPr lang="en-US" b="1" dirty="0" smtClean="0">
                <a:solidFill>
                  <a:srgbClr val="92D050"/>
                </a:solidFill>
              </a:rPr>
              <a:t>Prof. Dr. </a:t>
            </a:r>
            <a:r>
              <a:rPr lang="en-US" b="1" dirty="0" err="1" smtClean="0">
                <a:solidFill>
                  <a:srgbClr val="92D050"/>
                </a:solidFill>
              </a:rPr>
              <a:t>Shanmugam</a:t>
            </a:r>
            <a:r>
              <a:rPr lang="en-US" b="1" dirty="0" smtClean="0">
                <a:solidFill>
                  <a:srgbClr val="92D050"/>
                </a:solidFill>
              </a:rPr>
              <a:t> Nandagopalan </a:t>
            </a:r>
            <a:r>
              <a:rPr lang="en-US" dirty="0" smtClean="0">
                <a:solidFill>
                  <a:srgbClr val="92D050"/>
                </a:solidFill>
              </a:rPr>
              <a:t>Ph. D</a:t>
            </a:r>
          </a:p>
          <a:p>
            <a:pPr algn="r"/>
            <a:r>
              <a:rPr lang="en-US" dirty="0" smtClean="0"/>
              <a:t>shanmugamnandagopalan@mfu.ac.th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Agenda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154569"/>
              </p:ext>
            </p:extLst>
          </p:nvPr>
        </p:nvGraphicFramePr>
        <p:xfrm>
          <a:off x="333770" y="1500188"/>
          <a:ext cx="11161241" cy="4968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sheer volume of data generated on a daily basis has become astronomical, giving rise to the concept of Big Data.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data explosion has revolutionized the way we interact with </a:t>
            </a:r>
            <a:r>
              <a:rPr lang="en-US" dirty="0" smtClean="0"/>
              <a:t>technology.</a:t>
            </a:r>
          </a:p>
          <a:p>
            <a:r>
              <a:rPr lang="en-US" dirty="0" smtClean="0"/>
              <a:t>Example: Siri</a:t>
            </a:r>
            <a:r>
              <a:rPr lang="en-US" dirty="0"/>
              <a:t>, Alexa, and </a:t>
            </a:r>
            <a:r>
              <a:rPr lang="en-US" dirty="0" smtClean="0"/>
              <a:t>Hi Google </a:t>
            </a:r>
            <a:r>
              <a:rPr lang="en-US" dirty="0"/>
              <a:t>Now, </a:t>
            </a:r>
            <a:r>
              <a:rPr lang="en-US" dirty="0" smtClean="0"/>
              <a:t>etc.</a:t>
            </a:r>
          </a:p>
          <a:p>
            <a:r>
              <a:rPr lang="en-US" dirty="0" smtClean="0"/>
              <a:t>Internet of </a:t>
            </a:r>
            <a:r>
              <a:rPr lang="en-US" dirty="0"/>
              <a:t>Things (</a:t>
            </a:r>
            <a:r>
              <a:rPr lang="en-US" dirty="0" err="1"/>
              <a:t>IoT</a:t>
            </a:r>
            <a:r>
              <a:rPr lang="en-US" dirty="0"/>
              <a:t>) to gather information and provide intelligent </a:t>
            </a:r>
            <a:r>
              <a:rPr lang="en-US" dirty="0" smtClean="0"/>
              <a:t>responses </a:t>
            </a:r>
            <a:r>
              <a:rPr lang="en-US" dirty="0"/>
              <a:t>to the business </a:t>
            </a:r>
            <a:r>
              <a:rPr lang="en-US" dirty="0" smtClean="0"/>
              <a:t>world.</a:t>
            </a:r>
          </a:p>
          <a:p>
            <a:r>
              <a:rPr lang="en-US" dirty="0" smtClean="0"/>
              <a:t>This session discusses few applications of Big Data using Apache tools and Spark.</a:t>
            </a:r>
          </a:p>
          <a:p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world of Big Data and distributed data processing has opened up new horizons for </a:t>
            </a:r>
            <a:r>
              <a:rPr lang="en-US" dirty="0" smtClean="0"/>
              <a:t>various businesses. 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20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261544" y="758952"/>
            <a:ext cx="10028355" cy="4041648"/>
          </a:xfrm>
        </p:spPr>
        <p:txBody>
          <a:bodyPr/>
          <a:lstStyle/>
          <a:p>
            <a:pPr marL="1143000" indent="-1143000">
              <a:buFont typeface="+mj-lt"/>
              <a:buAutoNum type="arabicPeriod"/>
            </a:pPr>
            <a:r>
              <a:rPr lang="en-US" sz="6000" b="1" dirty="0" smtClean="0">
                <a:solidFill>
                  <a:srgbClr val="00B0F0"/>
                </a:solidFill>
              </a:rPr>
              <a:t>Log </a:t>
            </a:r>
            <a:r>
              <a:rPr lang="en-US" sz="6000" b="1" dirty="0">
                <a:solidFill>
                  <a:srgbClr val="00B0F0"/>
                </a:solidFill>
              </a:rPr>
              <a:t>Analysis for </a:t>
            </a:r>
            <a:r>
              <a:rPr lang="en-US" sz="6000" b="1" dirty="0" smtClean="0">
                <a:solidFill>
                  <a:srgbClr val="00B0F0"/>
                </a:solidFill>
              </a:rPr>
              <a:t>   Real-Time </a:t>
            </a:r>
            <a:r>
              <a:rPr lang="en-US" sz="6000" b="1" dirty="0">
                <a:solidFill>
                  <a:srgbClr val="00B0F0"/>
                </a:solidFill>
              </a:rPr>
              <a:t>Monitoring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34C99D79-8A4B-4031-B1E0-AF26F8EDF2BC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46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log Analysis?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543" y="1340768"/>
            <a:ext cx="9690116" cy="5040561"/>
          </a:xfrm>
        </p:spPr>
        <p:txBody>
          <a:bodyPr/>
          <a:lstStyle/>
          <a:p>
            <a:r>
              <a:rPr lang="en-US" sz="2000" dirty="0"/>
              <a:t>Log analysis tools are software applications that collect, parse, and analyze log data from a variety of </a:t>
            </a:r>
            <a:r>
              <a:rPr lang="en-US" sz="2000" dirty="0" smtClean="0"/>
              <a:t>sources</a:t>
            </a:r>
          </a:p>
          <a:p>
            <a:r>
              <a:rPr lang="en-US" sz="2000" dirty="0" smtClean="0"/>
              <a:t>Example: servers</a:t>
            </a:r>
            <a:r>
              <a:rPr lang="en-US" sz="2000" dirty="0"/>
              <a:t>, network devices, and </a:t>
            </a:r>
            <a:r>
              <a:rPr lang="en-US" sz="2000" dirty="0" smtClean="0"/>
              <a:t>applications</a:t>
            </a:r>
          </a:p>
          <a:p>
            <a:r>
              <a:rPr lang="en-US" sz="2000" dirty="0" smtClean="0"/>
              <a:t>They </a:t>
            </a:r>
            <a:r>
              <a:rPr lang="en-US" sz="2000" dirty="0"/>
              <a:t>provide advanced features such as real-time monitoring, alerting, and </a:t>
            </a:r>
            <a:r>
              <a:rPr lang="en-US" sz="2000" dirty="0" smtClean="0"/>
              <a:t>visualization.</a:t>
            </a:r>
          </a:p>
          <a:p>
            <a:r>
              <a:rPr lang="en-US" sz="2000" dirty="0"/>
              <a:t>More recently, organizations have used log analysis for security and compliance purposes. </a:t>
            </a:r>
            <a:endParaRPr lang="en-US" sz="2000" dirty="0" smtClean="0"/>
          </a:p>
          <a:p>
            <a:r>
              <a:rPr lang="en-US" sz="2000" dirty="0" smtClean="0"/>
              <a:t>Logs </a:t>
            </a:r>
            <a:r>
              <a:rPr lang="en-US" sz="2000" dirty="0"/>
              <a:t>can be used to track user activity and detect security incidents, such as attempted hacks or unauthorized access to sensitive data.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1026" name="Picture 2" descr="https://www.loggly.com/wp-content/uploads/2017/09/Charts-Library-800x35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076" y="4725144"/>
            <a:ext cx="5112568" cy="2294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78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Features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Data </a:t>
            </a:r>
            <a:r>
              <a:rPr lang="en-US" b="1" dirty="0"/>
              <a:t>collection: </a:t>
            </a:r>
            <a:r>
              <a:rPr lang="en-US" dirty="0"/>
              <a:t>The ability to collect log data from multiple sources and store it in a central location, such as a log server or database.</a:t>
            </a:r>
          </a:p>
          <a:p>
            <a:r>
              <a:rPr lang="en-US" b="1" dirty="0"/>
              <a:t>Data parsing:</a:t>
            </a:r>
            <a:r>
              <a:rPr lang="en-US" dirty="0"/>
              <a:t> The ability to parse log data and extract relevant information, such as timestamps, log levels, and log messages.</a:t>
            </a:r>
          </a:p>
          <a:p>
            <a:r>
              <a:rPr lang="en-US" b="1" dirty="0"/>
              <a:t>Visualization:</a:t>
            </a:r>
            <a:r>
              <a:rPr lang="en-US" dirty="0"/>
              <a:t> The ability to visualize log data in a meaningful way, such as through graphs, charts, and tables.</a:t>
            </a:r>
          </a:p>
          <a:p>
            <a:r>
              <a:rPr lang="en-US" b="1" dirty="0"/>
              <a:t>Alerting:</a:t>
            </a:r>
            <a:r>
              <a:rPr lang="en-US" dirty="0"/>
              <a:t> The ability to set up alerts that trigger when certain conditions are met, such as when a system error occurs, when a log is deleted, or when another kind of meaningful event is detected.</a:t>
            </a:r>
          </a:p>
          <a:p>
            <a:r>
              <a:rPr lang="en-US" b="1" dirty="0"/>
              <a:t>Real-time monitoring:</a:t>
            </a:r>
            <a:r>
              <a:rPr lang="en-US" dirty="0"/>
              <a:t> The ability to monitor log data in near- or real-time and provide real-time alerts and notifications.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22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Benefits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Improved efficiency:</a:t>
            </a:r>
            <a:r>
              <a:rPr lang="en-US" dirty="0"/>
              <a:t> </a:t>
            </a:r>
            <a:r>
              <a:rPr lang="en-US" dirty="0" smtClean="0"/>
              <a:t>automated process </a:t>
            </a:r>
            <a:r>
              <a:rPr lang="en-US" dirty="0"/>
              <a:t>of collecting, parsing, and analyzing log data, making it more efficient and less time-consuming than doing it manually.</a:t>
            </a:r>
          </a:p>
          <a:p>
            <a:r>
              <a:rPr lang="en-US" b="1" dirty="0"/>
              <a:t>Advanced features:</a:t>
            </a:r>
            <a:r>
              <a:rPr lang="en-US" dirty="0"/>
              <a:t> </a:t>
            </a:r>
            <a:r>
              <a:rPr lang="en-US" dirty="0" smtClean="0"/>
              <a:t>real-time </a:t>
            </a:r>
            <a:r>
              <a:rPr lang="en-US" dirty="0"/>
              <a:t>monitoring, alerting, and visualization, which can help organizations quickly identify and resolve </a:t>
            </a:r>
            <a:r>
              <a:rPr lang="en-US" dirty="0" smtClean="0"/>
              <a:t>issues </a:t>
            </a:r>
            <a:endParaRPr lang="en-US" dirty="0"/>
          </a:p>
          <a:p>
            <a:r>
              <a:rPr lang="en-US" b="1" dirty="0"/>
              <a:t>Centralized log management</a:t>
            </a:r>
            <a:r>
              <a:rPr lang="en-US" b="1" dirty="0" smtClean="0"/>
              <a:t>:</a:t>
            </a:r>
            <a:r>
              <a:rPr lang="en-US" dirty="0" smtClean="0"/>
              <a:t> collect </a:t>
            </a:r>
            <a:r>
              <a:rPr lang="en-US" dirty="0"/>
              <a:t>log data from multiple sources and store it in a central location, making it easier to manage and analyze.</a:t>
            </a:r>
          </a:p>
          <a:p>
            <a:r>
              <a:rPr lang="en-US" b="1" dirty="0"/>
              <a:t>Improved security and compliance:</a:t>
            </a:r>
            <a:r>
              <a:rPr lang="en-US" dirty="0"/>
              <a:t> By analyzing log data, organizations can detect security </a:t>
            </a:r>
            <a:r>
              <a:rPr lang="en-US" dirty="0" smtClean="0"/>
              <a:t>incidents.</a:t>
            </a:r>
            <a:endParaRPr lang="en-US" dirty="0"/>
          </a:p>
          <a:p>
            <a:r>
              <a:rPr lang="en-US" b="1" dirty="0"/>
              <a:t>Better decision-making</a:t>
            </a:r>
            <a:r>
              <a:rPr lang="en-US" b="1" dirty="0" smtClean="0"/>
              <a:t>: </a:t>
            </a:r>
            <a:r>
              <a:rPr lang="en-IN" dirty="0"/>
              <a:t>gain valuable </a:t>
            </a:r>
            <a:r>
              <a:rPr lang="en-IN" dirty="0" smtClean="0"/>
              <a:t>insights.</a:t>
            </a:r>
            <a:endParaRPr lang="en-US" dirty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66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 err="1" smtClean="0"/>
              <a:t>Graylog</a:t>
            </a:r>
            <a:r>
              <a:rPr lang="en-IN" sz="2000" b="1" dirty="0" smtClean="0"/>
              <a:t>, Nagios, </a:t>
            </a:r>
            <a:r>
              <a:rPr lang="en-IN" sz="2000" b="1" dirty="0" err="1" smtClean="0"/>
              <a:t>LOGalyze</a:t>
            </a:r>
            <a:r>
              <a:rPr lang="en-IN" sz="2000" b="1" dirty="0" smtClean="0"/>
              <a:t>, </a:t>
            </a:r>
            <a:r>
              <a:rPr lang="en-IN" sz="2000" b="1" dirty="0" err="1" smtClean="0"/>
              <a:t>Fluentd</a:t>
            </a:r>
            <a:r>
              <a:rPr lang="en-IN" sz="2000" b="1" dirty="0" smtClean="0"/>
              <a:t>, Elastic Stack, </a:t>
            </a:r>
            <a:r>
              <a:rPr lang="en-IN" sz="2000" b="1" dirty="0" err="1" smtClean="0"/>
              <a:t>Dynatrace</a:t>
            </a:r>
            <a:r>
              <a:rPr lang="en-IN" sz="2000" b="1" dirty="0" smtClean="0"/>
              <a:t>, </a:t>
            </a:r>
            <a:r>
              <a:rPr lang="en-IN" sz="2000" b="1" dirty="0" err="1" smtClean="0"/>
              <a:t>GoAccess</a:t>
            </a:r>
            <a:endParaRPr lang="en-IN" sz="2000" b="1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15" y="1883295"/>
            <a:ext cx="10061284" cy="497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3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543" y="1458888"/>
            <a:ext cx="9225925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1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Technologies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Flume</a:t>
            </a:r>
            <a:r>
              <a:rPr lang="en-US" dirty="0" smtClean="0"/>
              <a:t> - is </a:t>
            </a:r>
            <a:r>
              <a:rPr lang="en-US" dirty="0"/>
              <a:t>a distributed, reliable, and available service for efficiently collecting, aggregating, and moving large amounts of log </a:t>
            </a:r>
            <a:r>
              <a:rPr lang="en-US" dirty="0" smtClean="0"/>
              <a:t>data.</a:t>
            </a:r>
          </a:p>
          <a:p>
            <a:r>
              <a:rPr lang="en-US" b="1" dirty="0" smtClean="0"/>
              <a:t>Kafka</a:t>
            </a:r>
            <a:r>
              <a:rPr lang="en-US" dirty="0" smtClean="0"/>
              <a:t> -is </a:t>
            </a:r>
            <a:r>
              <a:rPr lang="en-US" dirty="0"/>
              <a:t>a distributed publish-subscribe messaging system, which can handle all the action flow data in a consumer-scale website. </a:t>
            </a:r>
            <a:endParaRPr lang="en-US" dirty="0" smtClean="0"/>
          </a:p>
          <a:p>
            <a:r>
              <a:rPr lang="en-US" b="1" dirty="0"/>
              <a:t>Storm</a:t>
            </a:r>
            <a:r>
              <a:rPr lang="en-US" dirty="0"/>
              <a:t> </a:t>
            </a:r>
            <a:r>
              <a:rPr lang="en-US" dirty="0" smtClean="0"/>
              <a:t>- is </a:t>
            </a:r>
            <a:r>
              <a:rPr lang="en-US" dirty="0"/>
              <a:t>a free and open source distributed real-time computation </a:t>
            </a:r>
            <a:r>
              <a:rPr lang="en-US" dirty="0" smtClean="0"/>
              <a:t>system.</a:t>
            </a:r>
          </a:p>
          <a:p>
            <a:r>
              <a:rPr lang="en-IN" b="1" dirty="0"/>
              <a:t>Distributed log collection </a:t>
            </a:r>
            <a:r>
              <a:rPr lang="en-IN" b="1" dirty="0" smtClean="0"/>
              <a:t>architecture:</a:t>
            </a:r>
            <a:endParaRPr lang="en-US" b="1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79" y="4339615"/>
            <a:ext cx="7697829" cy="232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5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261544" y="758952"/>
            <a:ext cx="10028355" cy="4041648"/>
          </a:xfrm>
        </p:spPr>
        <p:txBody>
          <a:bodyPr>
            <a:normAutofit/>
          </a:bodyPr>
          <a:lstStyle/>
          <a:p>
            <a:pPr marL="1143000" indent="-1143000">
              <a:buFont typeface="+mj-lt"/>
              <a:buAutoNum type="arabicPeriod" startAt="2"/>
            </a:pPr>
            <a:r>
              <a:rPr lang="en-US" sz="5400" b="1" dirty="0">
                <a:solidFill>
                  <a:srgbClr val="00B0F0"/>
                </a:solidFill>
              </a:rPr>
              <a:t>Customer Segmentation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34C99D79-8A4B-4031-B1E0-AF26F8EDF2BC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6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 Customer Segmentation</a:t>
            </a:r>
            <a:r>
              <a:rPr lang="en-IN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dividing a company’s customer base into distinct groups, each characterized by shared traits or behaviors</a:t>
            </a:r>
            <a:r>
              <a:rPr lang="en-US" dirty="0" smtClean="0"/>
              <a:t>.</a:t>
            </a:r>
          </a:p>
          <a:p>
            <a:r>
              <a:rPr lang="en-US" dirty="0"/>
              <a:t> </a:t>
            </a:r>
            <a:r>
              <a:rPr lang="en-US" dirty="0" smtClean="0"/>
              <a:t>Key </a:t>
            </a:r>
            <a:r>
              <a:rPr lang="en-US" dirty="0"/>
              <a:t>types of customer segmentation</a:t>
            </a:r>
            <a:r>
              <a:rPr lang="en-US" dirty="0" smtClean="0"/>
              <a:t>:</a:t>
            </a:r>
          </a:p>
          <a:p>
            <a:pPr lvl="1">
              <a:spcAft>
                <a:spcPts val="1200"/>
              </a:spcAft>
            </a:pPr>
            <a:r>
              <a:rPr lang="en-IN" b="1" dirty="0"/>
              <a:t>Demographic Segmentation</a:t>
            </a:r>
            <a:r>
              <a:rPr lang="en-IN" b="1" dirty="0" smtClean="0"/>
              <a:t>: </a:t>
            </a:r>
            <a:r>
              <a:rPr lang="en-US" dirty="0"/>
              <a:t>age, gender, income level, and </a:t>
            </a:r>
            <a:r>
              <a:rPr lang="en-US" dirty="0" smtClean="0"/>
              <a:t>education.</a:t>
            </a:r>
          </a:p>
          <a:p>
            <a:pPr lvl="1">
              <a:spcAft>
                <a:spcPts val="1200"/>
              </a:spcAft>
            </a:pPr>
            <a:r>
              <a:rPr lang="en-IN" b="1" dirty="0"/>
              <a:t>Geographic Segmentation</a:t>
            </a:r>
            <a:r>
              <a:rPr lang="en-IN" b="1" dirty="0" smtClean="0"/>
              <a:t>: </a:t>
            </a:r>
            <a:r>
              <a:rPr lang="en-US" dirty="0"/>
              <a:t>country or city but can drill down to regions, neighborhoods, or even climate </a:t>
            </a:r>
            <a:r>
              <a:rPr lang="en-US" dirty="0" smtClean="0"/>
              <a:t>type.</a:t>
            </a:r>
          </a:p>
          <a:p>
            <a:pPr lvl="1">
              <a:spcAft>
                <a:spcPts val="1200"/>
              </a:spcAft>
            </a:pPr>
            <a:r>
              <a:rPr lang="en-IN" b="1" dirty="0" err="1"/>
              <a:t>Behavioral</a:t>
            </a:r>
            <a:r>
              <a:rPr lang="en-IN" b="1" dirty="0"/>
              <a:t> Segmentation:</a:t>
            </a:r>
            <a:r>
              <a:rPr lang="en-IN" dirty="0"/>
              <a:t> </a:t>
            </a:r>
            <a:r>
              <a:rPr lang="en-US" dirty="0"/>
              <a:t>purchase behavior, spending habits, brand loyalty, and product </a:t>
            </a:r>
            <a:r>
              <a:rPr lang="en-US" dirty="0" smtClean="0"/>
              <a:t>usage.</a:t>
            </a:r>
          </a:p>
          <a:p>
            <a:pPr lvl="1">
              <a:spcAft>
                <a:spcPts val="1200"/>
              </a:spcAft>
            </a:pPr>
            <a:r>
              <a:rPr lang="en-US" b="1" dirty="0" smtClean="0"/>
              <a:t>Others:</a:t>
            </a:r>
            <a:r>
              <a:rPr lang="en-US" dirty="0" smtClean="0"/>
              <a:t> </a:t>
            </a:r>
            <a:r>
              <a:rPr lang="en-US" dirty="0"/>
              <a:t>lifestyle, values, attitudes, and interests</a:t>
            </a:r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79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Big Data &amp; Customer Segmentation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science is a field dedicated to extracting valuable insights from big data.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scientists utilize advanced analytical techniques to dissect this vast data source, revealing hidden patterns and insights</a:t>
            </a:r>
            <a:r>
              <a:rPr lang="en-US" dirty="0" smtClean="0"/>
              <a:t>.</a:t>
            </a:r>
          </a:p>
          <a:p>
            <a:r>
              <a:rPr lang="en-US" dirty="0"/>
              <a:t>These insights are then used as the building blocks of customer segmentation, allowing businesses to group their customers into distinct categories based on unique characteristics and preferences. </a:t>
            </a:r>
          </a:p>
          <a:p>
            <a:r>
              <a:rPr lang="en-IN" dirty="0"/>
              <a:t>T</a:t>
            </a:r>
            <a:r>
              <a:rPr lang="en-IN" dirty="0" smtClean="0"/>
              <a:t>argeted </a:t>
            </a:r>
            <a:r>
              <a:rPr lang="en-IN" dirty="0"/>
              <a:t>marketing </a:t>
            </a:r>
            <a:r>
              <a:rPr lang="en-IN" dirty="0" smtClean="0"/>
              <a:t>strategies.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48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35" y="-102894"/>
            <a:ext cx="10590739" cy="686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9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Why Targeted </a:t>
            </a:r>
            <a:r>
              <a:rPr lang="en-IN" dirty="0" smtClean="0"/>
              <a:t>Marketing?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</a:t>
            </a:r>
            <a:r>
              <a:rPr lang="en-US" dirty="0"/>
              <a:t>personalized approaches, such as targeted Facebook </a:t>
            </a:r>
            <a:r>
              <a:rPr lang="en-US" dirty="0" smtClean="0"/>
              <a:t>and Google ads.</a:t>
            </a:r>
          </a:p>
          <a:p>
            <a:r>
              <a:rPr lang="en-US" dirty="0" smtClean="0"/>
              <a:t>Example: </a:t>
            </a:r>
            <a:r>
              <a:rPr lang="en-US" dirty="0"/>
              <a:t>a customer who consistently spends $20 every month. Offering them a reward for a purchase of that same amount wouldn’t be an effective </a:t>
            </a:r>
            <a:r>
              <a:rPr lang="en-US" dirty="0" smtClean="0"/>
              <a:t>incentive.</a:t>
            </a:r>
          </a:p>
          <a:p>
            <a:r>
              <a:rPr lang="en-US" dirty="0" smtClean="0"/>
              <a:t>Because</a:t>
            </a:r>
            <a:r>
              <a:rPr lang="en-US" dirty="0"/>
              <a:t> they are likely to make that purchase regardless. </a:t>
            </a:r>
            <a:endParaRPr lang="en-US" dirty="0" smtClean="0"/>
          </a:p>
          <a:p>
            <a:r>
              <a:rPr lang="en-US" dirty="0" smtClean="0"/>
              <a:t>Instead</a:t>
            </a:r>
            <a:r>
              <a:rPr lang="en-US" dirty="0"/>
              <a:t>, a more strategic approach could be offering an enhanced reward for purchases over $25, encouraging an increase in their average spending. </a:t>
            </a:r>
            <a:endParaRPr lang="en-US" dirty="0" smtClean="0"/>
          </a:p>
          <a:p>
            <a:r>
              <a:rPr lang="en-US" dirty="0"/>
              <a:t>Today, businesses have access to all the tools necessary for personalizing the entire customer journey across all channels — 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SMS, email,</a:t>
            </a:r>
            <a:r>
              <a:rPr lang="en-US" dirty="0"/>
              <a:t> website interactions, mobile app engagement,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80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44" y="980728"/>
            <a:ext cx="10732755" cy="519147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6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36" y="332656"/>
            <a:ext cx="10116161" cy="568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1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6" name="AutoShape 2" descr="How to get started with ML for Customer Segmentation"/>
          <p:cNvSpPr>
            <a:spLocks noChangeAspect="1" noChangeArrowheads="1"/>
          </p:cNvSpPr>
          <p:nvPr/>
        </p:nvSpPr>
        <p:spPr bwMode="auto">
          <a:xfrm>
            <a:off x="1609849" y="2448669"/>
            <a:ext cx="384413" cy="38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2" name="Picture 4" descr="How to get started with ML for Customer Segment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10"/>
          <a:stretch/>
        </p:blipFill>
        <p:spPr bwMode="auto">
          <a:xfrm>
            <a:off x="1261543" y="341685"/>
            <a:ext cx="9441381" cy="621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41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Algorithms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K-means </a:t>
            </a:r>
            <a:r>
              <a:rPr lang="en-US" sz="2800" dirty="0" smtClean="0"/>
              <a:t>clustering</a:t>
            </a:r>
          </a:p>
          <a:p>
            <a:r>
              <a:rPr lang="en-US" sz="2800" dirty="0" smtClean="0"/>
              <a:t>Hierarchical Clustering</a:t>
            </a:r>
          </a:p>
          <a:p>
            <a:r>
              <a:rPr lang="en-US" sz="2800" dirty="0" smtClean="0"/>
              <a:t>DBSCAN</a:t>
            </a:r>
          </a:p>
          <a:p>
            <a:r>
              <a:rPr lang="en-IN" sz="2800" b="1" dirty="0"/>
              <a:t>Customer Segmentation Dataset</a:t>
            </a:r>
          </a:p>
          <a:p>
            <a:r>
              <a:rPr lang="en-US" sz="2800" dirty="0"/>
              <a:t>UCI - </a:t>
            </a:r>
            <a:r>
              <a:rPr lang="en-US" sz="2800" dirty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archive.ics.uci.edu/ml/datasets/online+retail</a:t>
            </a:r>
            <a:endParaRPr lang="en-US" sz="2800" dirty="0" smtClean="0"/>
          </a:p>
          <a:p>
            <a:r>
              <a:rPr lang="en-US" sz="2800" dirty="0" smtClean="0"/>
              <a:t>For Complete </a:t>
            </a:r>
            <a:r>
              <a:rPr lang="en-US" sz="2800" dirty="0" smtClean="0"/>
              <a:t>Code in </a:t>
            </a:r>
            <a:r>
              <a:rPr lang="en-US" sz="2800" dirty="0" smtClean="0"/>
              <a:t>Python, Click below:</a:t>
            </a:r>
            <a:endParaRPr lang="en-US" sz="2800" dirty="0" smtClean="0"/>
          </a:p>
          <a:p>
            <a:r>
              <a:rPr lang="en-US" sz="2800" dirty="0">
                <a:hlinkClick r:id="rId3"/>
              </a:rPr>
              <a:t>https://</a:t>
            </a:r>
            <a:r>
              <a:rPr lang="en-US" sz="2800" dirty="0" smtClean="0">
                <a:hlinkClick r:id="rId3"/>
              </a:rPr>
              <a:t>www.kaggle.com/code/joshvads/customer-segmentation-for-retail</a:t>
            </a:r>
            <a:endParaRPr lang="en-US" sz="2800" dirty="0" smtClean="0"/>
          </a:p>
          <a:p>
            <a:endParaRPr lang="en-US" sz="2800" dirty="0" smtClean="0"/>
          </a:p>
          <a:p>
            <a:endParaRPr lang="en-IN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04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836" y="169944"/>
            <a:ext cx="9690116" cy="903000"/>
          </a:xfrm>
        </p:spPr>
        <p:txBody>
          <a:bodyPr/>
          <a:lstStyle/>
          <a:p>
            <a:r>
              <a:rPr lang="en-IN" dirty="0" smtClean="0"/>
              <a:t>Output-1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577" y="621444"/>
            <a:ext cx="7592485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1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Output-2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36" y="1052736"/>
            <a:ext cx="7455648" cy="57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4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261544" y="758952"/>
            <a:ext cx="10028355" cy="4041648"/>
          </a:xfrm>
        </p:spPr>
        <p:txBody>
          <a:bodyPr>
            <a:normAutofit/>
          </a:bodyPr>
          <a:lstStyle/>
          <a:p>
            <a:pPr marL="1143000" indent="-1143000">
              <a:buFont typeface="+mj-lt"/>
              <a:buAutoNum type="arabicPeriod" startAt="3"/>
            </a:pPr>
            <a:r>
              <a:rPr lang="en-US" sz="5400" b="1" dirty="0" smtClean="0">
                <a:solidFill>
                  <a:srgbClr val="00B0F0"/>
                </a:solidFill>
              </a:rPr>
              <a:t>Real-Time </a:t>
            </a:r>
            <a:r>
              <a:rPr lang="en-US" sz="5400" b="1" dirty="0">
                <a:solidFill>
                  <a:srgbClr val="00B0F0"/>
                </a:solidFill>
              </a:rPr>
              <a:t>Credit Card Fraud </a:t>
            </a:r>
            <a:r>
              <a:rPr lang="en-US" sz="5400" b="1" dirty="0" smtClean="0">
                <a:solidFill>
                  <a:srgbClr val="00B0F0"/>
                </a:solidFill>
              </a:rPr>
              <a:t>Detection</a:t>
            </a:r>
            <a:endParaRPr lang="en-IN" sz="6600" dirty="0">
              <a:solidFill>
                <a:srgbClr val="00B0F0"/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34C99D79-8A4B-4031-B1E0-AF26F8EDF2BC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86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3. Real-Time Credit Card Fraud </a:t>
            </a:r>
            <a:r>
              <a:rPr lang="en-US" sz="3200" dirty="0" smtClean="0"/>
              <a:t>Detection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543" y="1412777"/>
            <a:ext cx="9225357" cy="496855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This application that we will </a:t>
            </a:r>
            <a:r>
              <a:rPr lang="en-US" sz="2800" dirty="0"/>
              <a:t>be building is a real-time fraud detection system. </a:t>
            </a:r>
            <a:endParaRPr lang="en-US" sz="2800" dirty="0" smtClean="0"/>
          </a:p>
          <a:p>
            <a:r>
              <a:rPr lang="en-US" sz="2800" dirty="0" smtClean="0"/>
              <a:t>The </a:t>
            </a:r>
            <a:r>
              <a:rPr lang="en-US" sz="2800" dirty="0"/>
              <a:t>system will use Kafka to stream data from a variety of sources, such as credit card transactions and social media posts. </a:t>
            </a:r>
            <a:endParaRPr lang="en-US" sz="2800" dirty="0" smtClean="0"/>
          </a:p>
          <a:p>
            <a:r>
              <a:rPr lang="en-US" sz="2800" dirty="0" smtClean="0"/>
              <a:t>Spark </a:t>
            </a:r>
            <a:r>
              <a:rPr lang="en-US" sz="2800" dirty="0"/>
              <a:t>will then be used to process the data and identify any fraudulent activity.</a:t>
            </a:r>
            <a:endParaRPr lang="en-IN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18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Kafka</a:t>
            </a:r>
            <a:r>
              <a:rPr lang="en-US" sz="2800" dirty="0"/>
              <a:t> </a:t>
            </a:r>
            <a:r>
              <a:rPr lang="en-US" sz="2800" dirty="0" smtClean="0"/>
              <a:t>- stream </a:t>
            </a:r>
            <a:r>
              <a:rPr lang="en-US" sz="2800" dirty="0"/>
              <a:t>data from a variety of sources.</a:t>
            </a:r>
          </a:p>
          <a:p>
            <a:r>
              <a:rPr lang="en-US" sz="2800" b="1" dirty="0"/>
              <a:t>Spark</a:t>
            </a:r>
            <a:r>
              <a:rPr lang="en-US" sz="2800" dirty="0"/>
              <a:t> </a:t>
            </a:r>
            <a:r>
              <a:rPr lang="en-US" sz="2800" dirty="0" smtClean="0"/>
              <a:t>- to </a:t>
            </a:r>
            <a:r>
              <a:rPr lang="en-US" sz="2800" dirty="0"/>
              <a:t>process the data and identify any fraudulent activity.</a:t>
            </a:r>
          </a:p>
          <a:p>
            <a:r>
              <a:rPr lang="en-US" sz="2800" dirty="0"/>
              <a:t>The results of the analysis will be stored in a database.</a:t>
            </a:r>
          </a:p>
          <a:p>
            <a:endParaRPr lang="en-IN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87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543" y="44624"/>
            <a:ext cx="9690116" cy="903000"/>
          </a:xfrm>
        </p:spPr>
        <p:txBody>
          <a:bodyPr/>
          <a:lstStyle/>
          <a:p>
            <a:r>
              <a:rPr lang="en-IN" dirty="0" smtClean="0"/>
              <a:t>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543" y="908720"/>
            <a:ext cx="9690116" cy="5616624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import spark</a:t>
            </a:r>
            <a:br>
              <a:rPr lang="en-IN" sz="1800" dirty="0"/>
            </a:br>
            <a:r>
              <a:rPr lang="en-IN" sz="1800" dirty="0"/>
              <a:t>import </a:t>
            </a:r>
            <a:r>
              <a:rPr lang="en-IN" sz="1800" dirty="0" err="1"/>
              <a:t>kafka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>import </a:t>
            </a:r>
            <a:r>
              <a:rPr lang="en-IN" sz="1800" dirty="0" err="1"/>
              <a:t>json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B0F0"/>
                </a:solidFill>
              </a:rPr>
              <a:t># Create a Spark session</a:t>
            </a:r>
            <a:br>
              <a:rPr lang="en-IN" sz="1800" dirty="0">
                <a:solidFill>
                  <a:srgbClr val="00B0F0"/>
                </a:solidFill>
              </a:rPr>
            </a:br>
            <a:r>
              <a:rPr lang="en-IN" sz="1800" dirty="0"/>
              <a:t>spark = </a:t>
            </a:r>
            <a:r>
              <a:rPr lang="en-IN" sz="1800" dirty="0" err="1"/>
              <a:t>spark.sql.SparkSession.builder.appName</a:t>
            </a:r>
            <a:r>
              <a:rPr lang="en-IN" sz="1800" dirty="0"/>
              <a:t>("Fraud Detection").</a:t>
            </a:r>
            <a:r>
              <a:rPr lang="en-IN" sz="1800" dirty="0" err="1"/>
              <a:t>getOrCreate</a:t>
            </a:r>
            <a:r>
              <a:rPr lang="en-IN" sz="1800" dirty="0"/>
              <a:t>()</a:t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B0F0"/>
                </a:solidFill>
              </a:rPr>
              <a:t># Create a Kafka consumer</a:t>
            </a:r>
            <a:br>
              <a:rPr lang="en-IN" sz="1800" dirty="0">
                <a:solidFill>
                  <a:srgbClr val="00B0F0"/>
                </a:solidFill>
              </a:rPr>
            </a:br>
            <a:r>
              <a:rPr lang="en-IN" sz="1800" dirty="0" err="1"/>
              <a:t>consumer</a:t>
            </a:r>
            <a:r>
              <a:rPr lang="en-IN" sz="1800" dirty="0"/>
              <a:t> = </a:t>
            </a:r>
            <a:r>
              <a:rPr lang="en-IN" sz="1800" dirty="0" err="1"/>
              <a:t>kafka.KafkaConsumer</a:t>
            </a:r>
            <a:r>
              <a:rPr lang="en-IN" sz="1800" dirty="0"/>
              <a:t>("fraud-detection", </a:t>
            </a:r>
            <a:r>
              <a:rPr lang="en-IN" sz="1800" dirty="0" err="1"/>
              <a:t>bootstrap_servers</a:t>
            </a:r>
            <a:r>
              <a:rPr lang="en-IN" sz="1800" dirty="0"/>
              <a:t>="localhost:9092")</a:t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B0F0"/>
                </a:solidFill>
              </a:rPr>
              <a:t># Process the data from Kafka</a:t>
            </a:r>
            <a:br>
              <a:rPr lang="en-IN" sz="1800" dirty="0">
                <a:solidFill>
                  <a:srgbClr val="00B0F0"/>
                </a:solidFill>
              </a:rPr>
            </a:br>
            <a:r>
              <a:rPr lang="en-IN" sz="1800" dirty="0"/>
              <a:t>for </a:t>
            </a:r>
            <a:r>
              <a:rPr lang="en-IN" sz="1800" dirty="0" smtClean="0"/>
              <a:t>message in consumer: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dirty="0"/>
              <a:t>	</a:t>
            </a:r>
            <a:r>
              <a:rPr lang="en-IN" sz="1800" dirty="0" smtClean="0">
                <a:solidFill>
                  <a:srgbClr val="00B0F0"/>
                </a:solidFill>
              </a:rPr>
              <a:t># </a:t>
            </a:r>
            <a:r>
              <a:rPr lang="en-IN" sz="1800" dirty="0">
                <a:solidFill>
                  <a:srgbClr val="00B0F0"/>
                </a:solidFill>
              </a:rPr>
              <a:t>Get the data from the message</a:t>
            </a:r>
            <a:br>
              <a:rPr lang="en-IN" sz="1800" dirty="0">
                <a:solidFill>
                  <a:srgbClr val="00B0F0"/>
                </a:solidFill>
              </a:rPr>
            </a:br>
            <a:r>
              <a:rPr lang="en-IN" sz="1800" dirty="0" smtClean="0"/>
              <a:t>	data </a:t>
            </a:r>
            <a:r>
              <a:rPr lang="en-IN" sz="1800" dirty="0"/>
              <a:t>= </a:t>
            </a:r>
            <a:r>
              <a:rPr lang="en-IN" sz="1800" dirty="0" err="1"/>
              <a:t>json.loads</a:t>
            </a:r>
            <a:r>
              <a:rPr lang="en-IN" sz="1800" dirty="0"/>
              <a:t>(</a:t>
            </a:r>
            <a:r>
              <a:rPr lang="en-IN" sz="1800" dirty="0" err="1"/>
              <a:t>message.value</a:t>
            </a:r>
            <a:r>
              <a:rPr lang="en-IN" sz="1800" dirty="0"/>
              <a:t>)</a:t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 smtClean="0"/>
              <a:t>	</a:t>
            </a:r>
            <a:r>
              <a:rPr lang="en-IN" sz="1800" dirty="0" smtClean="0">
                <a:solidFill>
                  <a:srgbClr val="00B0F0"/>
                </a:solidFill>
              </a:rPr>
              <a:t># </a:t>
            </a:r>
            <a:r>
              <a:rPr lang="en-IN" sz="1800" dirty="0">
                <a:solidFill>
                  <a:srgbClr val="00B0F0"/>
                </a:solidFill>
              </a:rPr>
              <a:t>Check if the transaction is fraudulent</a:t>
            </a:r>
            <a:br>
              <a:rPr lang="en-IN" sz="1800" dirty="0">
                <a:solidFill>
                  <a:srgbClr val="00B0F0"/>
                </a:solidFill>
              </a:rPr>
            </a:br>
            <a:r>
              <a:rPr lang="en-IN" sz="1800" dirty="0" smtClean="0"/>
              <a:t>	if </a:t>
            </a:r>
            <a:r>
              <a:rPr lang="en-IN" sz="1800" dirty="0" err="1"/>
              <a:t>is_fraudulent</a:t>
            </a:r>
            <a:r>
              <a:rPr lang="en-IN" sz="1800" dirty="0"/>
              <a:t>(data):</a:t>
            </a:r>
            <a:br>
              <a:rPr lang="en-IN" sz="1800" dirty="0"/>
            </a:br>
            <a:r>
              <a:rPr lang="en-IN" sz="1800" dirty="0" smtClean="0"/>
              <a:t>		</a:t>
            </a:r>
            <a:r>
              <a:rPr lang="en-IN" sz="1800" dirty="0" smtClean="0">
                <a:solidFill>
                  <a:srgbClr val="00B0F0"/>
                </a:solidFill>
              </a:rPr>
              <a:t># </a:t>
            </a:r>
            <a:r>
              <a:rPr lang="en-IN" sz="1800" dirty="0">
                <a:solidFill>
                  <a:srgbClr val="00B0F0"/>
                </a:solidFill>
              </a:rPr>
              <a:t>Save the result to the database</a:t>
            </a:r>
            <a:br>
              <a:rPr lang="en-IN" sz="1800" dirty="0">
                <a:solidFill>
                  <a:srgbClr val="00B0F0"/>
                </a:solidFill>
              </a:rPr>
            </a:br>
            <a:r>
              <a:rPr lang="en-IN" sz="1800" dirty="0" smtClean="0"/>
              <a:t>		</a:t>
            </a:r>
            <a:r>
              <a:rPr lang="en-IN" sz="1800" dirty="0" err="1" smtClean="0"/>
              <a:t>db.insert_row</a:t>
            </a:r>
            <a:r>
              <a:rPr lang="en-IN" sz="1800" dirty="0" smtClean="0"/>
              <a:t>(data)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>
                <a:solidFill>
                  <a:srgbClr val="00B0F0"/>
                </a:solidFill>
              </a:rPr>
              <a:t># Close the consumer</a:t>
            </a:r>
            <a:br>
              <a:rPr lang="en-IN" sz="1800" dirty="0">
                <a:solidFill>
                  <a:srgbClr val="00B0F0"/>
                </a:solidFill>
              </a:rPr>
            </a:br>
            <a:r>
              <a:rPr lang="en-IN" sz="1800" dirty="0" err="1"/>
              <a:t>consumer.close</a:t>
            </a:r>
            <a:r>
              <a:rPr lang="en-IN" sz="1800" dirty="0"/>
              <a:t>()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22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Check for fraudulent?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is_fraudulent</a:t>
            </a:r>
            <a:r>
              <a:rPr lang="en-US" dirty="0"/>
              <a:t>(transaction):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Check if the transaction amount is too high</a:t>
            </a:r>
            <a:br>
              <a:rPr lang="en-US" dirty="0" smtClean="0">
                <a:solidFill>
                  <a:srgbClr val="00B0F0"/>
                </a:solidFill>
              </a:rPr>
            </a:br>
            <a:r>
              <a:rPr lang="en-US" dirty="0" smtClean="0"/>
              <a:t>	if transaction["amount"] &gt; 10000:</a:t>
            </a:r>
            <a:br>
              <a:rPr lang="en-US" dirty="0" smtClean="0"/>
            </a:br>
            <a:r>
              <a:rPr lang="en-US" dirty="0" smtClean="0"/>
              <a:t>		return True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Check if the transaction was made from a different country</a:t>
            </a:r>
            <a:br>
              <a:rPr lang="en-US" dirty="0" smtClean="0">
                <a:solidFill>
                  <a:srgbClr val="00B0F0"/>
                </a:solidFill>
              </a:rPr>
            </a:br>
            <a:r>
              <a:rPr lang="en-US" dirty="0" smtClean="0"/>
              <a:t>	if transaction["country"] != “TH":</a:t>
            </a:r>
            <a:br>
              <a:rPr lang="en-US" dirty="0" smtClean="0"/>
            </a:br>
            <a:r>
              <a:rPr lang="en-US" dirty="0" smtClean="0"/>
              <a:t>		return True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Check if the credit card that has been 	flagged for fraud</a:t>
            </a:r>
            <a:br>
              <a:rPr lang="en-US" dirty="0" smtClean="0">
                <a:solidFill>
                  <a:srgbClr val="00B0F0"/>
                </a:solidFill>
              </a:rPr>
            </a:br>
            <a:r>
              <a:rPr lang="en-US" dirty="0" smtClean="0"/>
              <a:t>	if transaction["</a:t>
            </a:r>
            <a:r>
              <a:rPr lang="en-US" dirty="0" err="1" smtClean="0"/>
              <a:t>credit_card_number</a:t>
            </a:r>
            <a:r>
              <a:rPr lang="en-US" dirty="0" smtClean="0"/>
              <a:t>"] in </a:t>
            </a:r>
            <a:r>
              <a:rPr lang="en-US" dirty="0" err="1" smtClean="0"/>
              <a:t>flagged_credit_cards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		return True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Return False if the transaction is not fraudulent</a:t>
            </a:r>
            <a:br>
              <a:rPr lang="en-US" dirty="0" smtClean="0">
                <a:solidFill>
                  <a:srgbClr val="00B0F0"/>
                </a:solidFill>
              </a:rPr>
            </a:br>
            <a:r>
              <a:rPr lang="en-US" dirty="0" smtClean="0"/>
              <a:t>	return False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43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Add fraudulent data to Database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543" y="1412777"/>
            <a:ext cx="9690116" cy="53531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db.insert_row</a:t>
            </a:r>
            <a:r>
              <a:rPr lang="en-US" dirty="0"/>
              <a:t>(transaction):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Connect to the database</a:t>
            </a:r>
            <a:br>
              <a:rPr lang="en-US" dirty="0" smtClean="0">
                <a:solidFill>
                  <a:srgbClr val="00B0F0"/>
                </a:solidFill>
              </a:rPr>
            </a:br>
            <a:r>
              <a:rPr lang="en-US" dirty="0" smtClean="0"/>
              <a:t>	conn = </a:t>
            </a:r>
            <a:r>
              <a:rPr lang="en-US" dirty="0" err="1" smtClean="0"/>
              <a:t>pymysql.connect</a:t>
            </a:r>
            <a:r>
              <a:rPr lang="en-US" dirty="0" smtClean="0"/>
              <a:t>(host="localhost", user="root", password="password", 	database="</a:t>
            </a:r>
            <a:r>
              <a:rPr lang="en-US" dirty="0" err="1" smtClean="0"/>
              <a:t>fraud_detection</a:t>
            </a:r>
            <a:r>
              <a:rPr lang="en-US" dirty="0" smtClean="0"/>
              <a:t>")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</a:t>
            </a:r>
            <a:r>
              <a:rPr lang="en-US" dirty="0">
                <a:solidFill>
                  <a:srgbClr val="00B0F0"/>
                </a:solidFill>
              </a:rPr>
              <a:t>Create a cursor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 smtClean="0"/>
              <a:t>	cursor </a:t>
            </a:r>
            <a:r>
              <a:rPr lang="en-US" dirty="0"/>
              <a:t>= </a:t>
            </a:r>
            <a:r>
              <a:rPr lang="en-US" dirty="0" err="1"/>
              <a:t>conn.cursor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</a:t>
            </a:r>
            <a:r>
              <a:rPr lang="en-US" dirty="0">
                <a:solidFill>
                  <a:srgbClr val="00B0F0"/>
                </a:solidFill>
              </a:rPr>
              <a:t>Insert the row into the database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 smtClean="0"/>
              <a:t>	</a:t>
            </a:r>
            <a:r>
              <a:rPr lang="en-US" dirty="0" err="1" smtClean="0"/>
              <a:t>cursor.execute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("</a:t>
            </a:r>
            <a:r>
              <a:rPr lang="en-US" dirty="0"/>
              <a:t>INSERT INTO transactions (amount, country, </a:t>
            </a:r>
            <a:r>
              <a:rPr lang="en-US" dirty="0" err="1"/>
              <a:t>credit_card_number</a:t>
            </a:r>
            <a:r>
              <a:rPr lang="en-US" dirty="0"/>
              <a:t>, </a:t>
            </a:r>
            <a:r>
              <a:rPr lang="en-US" dirty="0" smtClean="0"/>
              <a:t>	</a:t>
            </a:r>
            <a:r>
              <a:rPr lang="en-US" dirty="0" err="1" smtClean="0"/>
              <a:t>is_fraudulent</a:t>
            </a:r>
            <a:r>
              <a:rPr lang="en-US" dirty="0"/>
              <a:t>) </a:t>
            </a:r>
            <a:r>
              <a:rPr lang="en-US" dirty="0" smtClean="0"/>
              <a:t>	VALUES </a:t>
            </a:r>
            <a:r>
              <a:rPr lang="en-US" dirty="0"/>
              <a:t>(%s, %s, %s, %s)", (transaction["amount"], </a:t>
            </a:r>
            <a:r>
              <a:rPr lang="en-US" dirty="0" smtClean="0"/>
              <a:t>			transaction</a:t>
            </a:r>
            <a:r>
              <a:rPr lang="en-US" dirty="0"/>
              <a:t>["country"], </a:t>
            </a:r>
            <a:r>
              <a:rPr lang="en-US" dirty="0" smtClean="0"/>
              <a:t>	transaction</a:t>
            </a:r>
            <a:r>
              <a:rPr lang="en-US" dirty="0"/>
              <a:t>["</a:t>
            </a:r>
            <a:r>
              <a:rPr lang="en-US" dirty="0" err="1"/>
              <a:t>credit_card_number</a:t>
            </a:r>
            <a:r>
              <a:rPr lang="en-US" dirty="0"/>
              <a:t>"], </a:t>
            </a:r>
            <a:r>
              <a:rPr lang="en-US" dirty="0" smtClean="0"/>
              <a:t>	transaction</a:t>
            </a:r>
            <a:r>
              <a:rPr lang="en-US" dirty="0"/>
              <a:t>["</a:t>
            </a:r>
            <a:r>
              <a:rPr lang="en-US" dirty="0" err="1"/>
              <a:t>is_fraudulent</a:t>
            </a:r>
            <a:r>
              <a:rPr lang="en-US" dirty="0"/>
              <a:t>"]))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</a:t>
            </a:r>
            <a:r>
              <a:rPr lang="en-US" dirty="0">
                <a:solidFill>
                  <a:srgbClr val="00B0F0"/>
                </a:solidFill>
              </a:rPr>
              <a:t>Commit the changes to the database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 smtClean="0"/>
              <a:t>	</a:t>
            </a:r>
            <a:r>
              <a:rPr lang="en-US" dirty="0" err="1" smtClean="0"/>
              <a:t>conn.commit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</a:t>
            </a:r>
            <a:r>
              <a:rPr lang="en-US" dirty="0">
                <a:solidFill>
                  <a:srgbClr val="00B0F0"/>
                </a:solidFill>
              </a:rPr>
              <a:t>Close the cursor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 smtClean="0"/>
              <a:t>	</a:t>
            </a:r>
            <a:r>
              <a:rPr lang="en-US" dirty="0" err="1" smtClean="0"/>
              <a:t>cursor.close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B0F0"/>
                </a:solidFill>
              </a:rPr>
              <a:t># </a:t>
            </a:r>
            <a:r>
              <a:rPr lang="en-US" dirty="0">
                <a:solidFill>
                  <a:srgbClr val="00B0F0"/>
                </a:solidFill>
              </a:rPr>
              <a:t>Close the connection to the database</a:t>
            </a:r>
            <a:br>
              <a:rPr lang="en-US" dirty="0">
                <a:solidFill>
                  <a:srgbClr val="00B0F0"/>
                </a:solidFill>
              </a:rPr>
            </a:br>
            <a:r>
              <a:rPr lang="en-US" dirty="0" smtClean="0"/>
              <a:t>	</a:t>
            </a:r>
            <a:r>
              <a:rPr lang="en-US" dirty="0" err="1" smtClean="0"/>
              <a:t>conn.close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24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1143000" indent="-1143000">
              <a:buFont typeface="+mj-lt"/>
              <a:buAutoNum type="arabicPeriod" startAt="4"/>
            </a:pPr>
            <a:r>
              <a:rPr lang="en-US" sz="5400" b="1" dirty="0" smtClean="0">
                <a:solidFill>
                  <a:srgbClr val="FFFF00"/>
                </a:solidFill>
              </a:rPr>
              <a:t>Sentiment </a:t>
            </a:r>
            <a:r>
              <a:rPr lang="en-US" sz="5400" b="1" dirty="0">
                <a:solidFill>
                  <a:srgbClr val="FFFF00"/>
                </a:solidFill>
              </a:rPr>
              <a:t>Analysis in Video </a:t>
            </a:r>
            <a:r>
              <a:rPr lang="en-US" sz="5400" b="1" dirty="0" smtClean="0">
                <a:solidFill>
                  <a:srgbClr val="FFFF00"/>
                </a:solidFill>
              </a:rPr>
              <a:t>Conferencing</a:t>
            </a:r>
            <a:endParaRPr lang="en-IN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34C99D79-8A4B-4031-B1E0-AF26F8EDF2BC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88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543" y="188640"/>
            <a:ext cx="9690116" cy="903000"/>
          </a:xfrm>
        </p:spPr>
        <p:txBody>
          <a:bodyPr>
            <a:normAutofit/>
          </a:bodyPr>
          <a:lstStyle/>
          <a:p>
            <a:r>
              <a:rPr lang="en-IN" sz="3600" dirty="0" smtClean="0"/>
              <a:t>Sentiment Analysis in Hybrid Learning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ctr"/>
            <a:r>
              <a:rPr lang="en-US" dirty="0"/>
              <a:t>Sentiment analysis in hybrid learning, using live facial </a:t>
            </a:r>
            <a:r>
              <a:rPr lang="en-US" dirty="0" smtClean="0"/>
              <a:t>expressions – </a:t>
            </a:r>
          </a:p>
          <a:p>
            <a:pPr fontAlgn="ctr"/>
            <a:r>
              <a:rPr lang="en-US" dirty="0" smtClean="0"/>
              <a:t>This case study is </a:t>
            </a:r>
            <a:r>
              <a:rPr lang="en-US" dirty="0"/>
              <a:t>to understand student emotions and tailor the learning experience, potentially improving engagement and outcomes. </a:t>
            </a:r>
          </a:p>
          <a:p>
            <a:r>
              <a:rPr lang="en-US" b="1" dirty="0"/>
              <a:t>How </a:t>
            </a:r>
            <a:r>
              <a:rPr lang="en-US" b="1"/>
              <a:t>it </a:t>
            </a:r>
            <a:r>
              <a:rPr lang="en-US" b="1" smtClean="0"/>
              <a:t>Works?</a:t>
            </a:r>
            <a:endParaRPr lang="en-US" b="1" dirty="0"/>
          </a:p>
          <a:p>
            <a:r>
              <a:rPr lang="en-US" b="1" dirty="0"/>
              <a:t>Facial Emotion Recognition (FER</a:t>
            </a:r>
            <a:r>
              <a:rPr lang="en-US" b="1" dirty="0" smtClean="0"/>
              <a:t>)</a:t>
            </a:r>
            <a:endParaRPr lang="en-US" dirty="0"/>
          </a:p>
          <a:p>
            <a:pPr lvl="1" fontAlgn="ctr"/>
            <a:r>
              <a:rPr lang="en-US" dirty="0"/>
              <a:t>This technology analyzes facial expressions from video data to identify emotional states. </a:t>
            </a:r>
          </a:p>
          <a:p>
            <a:r>
              <a:rPr lang="en-US" b="1" dirty="0"/>
              <a:t>Hybrid </a:t>
            </a:r>
            <a:r>
              <a:rPr lang="en-US" b="1" dirty="0" smtClean="0"/>
              <a:t>Learning</a:t>
            </a:r>
            <a:endParaRPr lang="en-US" dirty="0"/>
          </a:p>
          <a:p>
            <a:pPr lvl="1" fontAlgn="ctr"/>
            <a:r>
              <a:rPr lang="en-US" dirty="0"/>
              <a:t>This combines traditional methods (like lectures and readings) with technology-enhanced learning (e-learning platforms, online tools). </a:t>
            </a:r>
          </a:p>
          <a:p>
            <a:r>
              <a:rPr lang="en-US" b="1" dirty="0"/>
              <a:t>Real-time </a:t>
            </a:r>
            <a:r>
              <a:rPr lang="en-US" b="1" dirty="0" smtClean="0"/>
              <a:t>Analysis</a:t>
            </a:r>
            <a:endParaRPr lang="en-US" dirty="0"/>
          </a:p>
          <a:p>
            <a:pPr lvl="1" fontAlgn="ctr"/>
            <a:r>
              <a:rPr lang="en-US" dirty="0"/>
              <a:t>Systems can analyze facial expressions in real-time, allowing for immediate feedback and adjustments to the learning process. </a:t>
            </a:r>
          </a:p>
          <a:p>
            <a:r>
              <a:rPr lang="en-US" b="1" dirty="0"/>
              <a:t>Machine Learning </a:t>
            </a:r>
            <a:r>
              <a:rPr lang="en-US" b="1" dirty="0" smtClean="0"/>
              <a:t>Models</a:t>
            </a:r>
            <a:endParaRPr lang="en-US" dirty="0"/>
          </a:p>
          <a:p>
            <a:pPr lvl="1"/>
            <a:r>
              <a:rPr lang="en-US" dirty="0"/>
              <a:t>Convolutional Neural Networks (CNNs) and Recurrent Neural Networks (RNNs) are commonly used to train models for emotion recognition.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47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Personalized </a:t>
            </a:r>
            <a:r>
              <a:rPr lang="en-US" sz="2800" b="1" dirty="0" smtClean="0"/>
              <a:t>Learning</a:t>
            </a:r>
            <a:endParaRPr lang="en-US" sz="2800" dirty="0"/>
          </a:p>
          <a:p>
            <a:r>
              <a:rPr lang="en-US" sz="2800" b="1" dirty="0" smtClean="0"/>
              <a:t>Interactive Feedback</a:t>
            </a:r>
            <a:endParaRPr lang="en-US" sz="2800" dirty="0"/>
          </a:p>
          <a:p>
            <a:pPr fontAlgn="ctr"/>
            <a:r>
              <a:rPr lang="en-US" sz="2800" b="1" dirty="0" smtClean="0"/>
              <a:t>Identifying </a:t>
            </a:r>
            <a:r>
              <a:rPr lang="en-US" sz="2800" b="1" dirty="0"/>
              <a:t>Mental Health </a:t>
            </a:r>
            <a:r>
              <a:rPr lang="en-US" sz="2800" b="1" dirty="0" smtClean="0"/>
              <a:t>Issues</a:t>
            </a:r>
            <a:endParaRPr lang="en-US" sz="2800" dirty="0"/>
          </a:p>
          <a:p>
            <a:pPr fontAlgn="ctr"/>
            <a:r>
              <a:rPr lang="en-US" sz="2800" b="1" dirty="0" smtClean="0"/>
              <a:t>Enhanced Engagement</a:t>
            </a:r>
            <a:endParaRPr lang="en-US" sz="2800" dirty="0"/>
          </a:p>
          <a:p>
            <a:r>
              <a:rPr lang="en-US" sz="2800" b="1" dirty="0" smtClean="0"/>
              <a:t>Automated </a:t>
            </a:r>
            <a:r>
              <a:rPr lang="en-US" sz="2800" b="1" dirty="0"/>
              <a:t>Grading</a:t>
            </a:r>
            <a:endParaRPr lang="en-US" sz="2800" dirty="0"/>
          </a:p>
          <a:p>
            <a:endParaRPr lang="en-IN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38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objective of this case study is to employ deep learning models to find out the facial expressions of participants.</a:t>
            </a:r>
          </a:p>
          <a:p>
            <a:r>
              <a:rPr lang="en-IN" dirty="0" smtClean="0"/>
              <a:t>It is assumed that this study is carried out in a video conference or e-learning platforms such as MS-Teams, Google Meet, Zoom, etc.</a:t>
            </a:r>
          </a:p>
          <a:p>
            <a:r>
              <a:rPr lang="en-IN" dirty="0" smtClean="0"/>
              <a:t>A complete software system is to be designed and developed to capture the emotions or sentiments of the participants in a real-time manner.</a:t>
            </a:r>
          </a:p>
          <a:p>
            <a:r>
              <a:rPr lang="en-IN" dirty="0" smtClean="0"/>
              <a:t>One of the main technologies used in this work is FER and Python for programming.</a:t>
            </a:r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58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Method/Technique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MTCNN </a:t>
            </a:r>
            <a:r>
              <a:rPr lang="en-US" b="1" dirty="0"/>
              <a:t>(Multi-Task Cascaded Convolutional </a:t>
            </a:r>
            <a:r>
              <a:rPr lang="en-US" b="1" dirty="0" smtClean="0"/>
              <a:t>Networks)</a:t>
            </a:r>
          </a:p>
          <a:p>
            <a:pPr lvl="1"/>
            <a:r>
              <a:rPr lang="en-US" dirty="0" smtClean="0"/>
              <a:t>This algorithm </a:t>
            </a:r>
            <a:r>
              <a:rPr lang="en-US" dirty="0"/>
              <a:t>is a deep learning-based face detection and alignment method that uses a cascading series of convolutional neural networks (CNNs) to detect and localize faces in digital images or </a:t>
            </a:r>
            <a:r>
              <a:rPr lang="en-US" dirty="0" smtClean="0"/>
              <a:t>videos.</a:t>
            </a:r>
          </a:p>
          <a:p>
            <a:r>
              <a:rPr lang="en-US" b="1" dirty="0" smtClean="0"/>
              <a:t>Three </a:t>
            </a:r>
            <a:r>
              <a:rPr lang="en-US" b="1" dirty="0"/>
              <a:t>main </a:t>
            </a:r>
            <a:r>
              <a:rPr lang="en-US" b="1" dirty="0" smtClean="0"/>
              <a:t>stages</a:t>
            </a:r>
          </a:p>
          <a:p>
            <a:pPr lvl="1"/>
            <a:r>
              <a:rPr lang="en-US" sz="2200" dirty="0" smtClean="0"/>
              <a:t>proposal </a:t>
            </a:r>
            <a:r>
              <a:rPr lang="en-US" sz="2200" dirty="0"/>
              <a:t>network (P-Net</a:t>
            </a:r>
            <a:r>
              <a:rPr lang="en-US" sz="2200" dirty="0" smtClean="0"/>
              <a:t>) - </a:t>
            </a:r>
            <a:r>
              <a:rPr lang="en-US" sz="2200" dirty="0"/>
              <a:t>bounding boxes that may contain a face</a:t>
            </a:r>
            <a:endParaRPr lang="en-US" sz="2200" dirty="0" smtClean="0"/>
          </a:p>
          <a:p>
            <a:pPr lvl="1"/>
            <a:r>
              <a:rPr lang="en-US" sz="2200" dirty="0" smtClean="0"/>
              <a:t>refinement </a:t>
            </a:r>
            <a:r>
              <a:rPr lang="en-US" sz="2200" dirty="0"/>
              <a:t>network (</a:t>
            </a:r>
            <a:r>
              <a:rPr lang="en-US" sz="2200" dirty="0" smtClean="0"/>
              <a:t>R-Net) - </a:t>
            </a:r>
            <a:r>
              <a:rPr lang="en-US" sz="2000" dirty="0"/>
              <a:t>refines the candidate bounding boxes</a:t>
            </a:r>
            <a:endParaRPr lang="en-US" sz="2200" dirty="0" smtClean="0"/>
          </a:p>
          <a:p>
            <a:pPr lvl="1"/>
            <a:r>
              <a:rPr lang="en-US" sz="2200" dirty="0" smtClean="0"/>
              <a:t>output </a:t>
            </a:r>
            <a:r>
              <a:rPr lang="en-US" sz="2200" dirty="0"/>
              <a:t>network (O-Net</a:t>
            </a:r>
            <a:r>
              <a:rPr lang="en-US" sz="2200" dirty="0" smtClean="0"/>
              <a:t>) - </a:t>
            </a:r>
            <a:r>
              <a:rPr lang="en-IN" sz="2000" dirty="0"/>
              <a:t>further </a:t>
            </a:r>
            <a:r>
              <a:rPr lang="en-IN" sz="2000" dirty="0" smtClean="0"/>
              <a:t>refines</a:t>
            </a:r>
          </a:p>
          <a:p>
            <a:r>
              <a:rPr lang="en-IN" b="1" dirty="0" smtClean="0"/>
              <a:t>Applications</a:t>
            </a:r>
          </a:p>
          <a:p>
            <a:pPr lvl="1"/>
            <a:r>
              <a:rPr lang="en-US" dirty="0" smtClean="0"/>
              <a:t>security</a:t>
            </a:r>
            <a:r>
              <a:rPr lang="en-US" dirty="0"/>
              <a:t>, entertainment, and marketing</a:t>
            </a:r>
            <a:endParaRPr lang="en-IN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13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FER (Facial Emotion Recognition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library that focuses on detecting emotions from facial expressions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Utilizing </a:t>
            </a:r>
            <a:r>
              <a:rPr lang="en-US" dirty="0"/>
              <a:t>a pre-trained deep learning model, FER analyzes images and video to identify various emotions such as </a:t>
            </a:r>
            <a:r>
              <a:rPr lang="en-US" b="1" dirty="0"/>
              <a:t>anger</a:t>
            </a:r>
            <a:r>
              <a:rPr lang="en-US" dirty="0"/>
              <a:t>, disgust, fear, </a:t>
            </a:r>
            <a:r>
              <a:rPr lang="en-US" b="1" dirty="0"/>
              <a:t>happiness</a:t>
            </a:r>
            <a:r>
              <a:rPr lang="en-US" dirty="0"/>
              <a:t>, </a:t>
            </a:r>
            <a:r>
              <a:rPr lang="en-US" b="1" dirty="0"/>
              <a:t>sadness</a:t>
            </a:r>
            <a:r>
              <a:rPr lang="en-US" dirty="0"/>
              <a:t>, surprise, and </a:t>
            </a:r>
            <a:r>
              <a:rPr lang="en-US" b="1" dirty="0" smtClean="0"/>
              <a:t>neutrality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uses </a:t>
            </a:r>
            <a:r>
              <a:rPr lang="en-US" b="1" dirty="0" err="1" smtClean="0"/>
              <a:t>fer</a:t>
            </a:r>
            <a:r>
              <a:rPr lang="en-US" dirty="0" smtClean="0"/>
              <a:t> library of Python.</a:t>
            </a:r>
          </a:p>
          <a:p>
            <a:r>
              <a:rPr lang="en-US" dirty="0"/>
              <a:t>Faces are detected using </a:t>
            </a:r>
            <a:r>
              <a:rPr lang="en-US" dirty="0" err="1"/>
              <a:t>OpenCV’s</a:t>
            </a:r>
            <a:r>
              <a:rPr lang="en-US" dirty="0"/>
              <a:t> </a:t>
            </a:r>
            <a:r>
              <a:rPr lang="en-US" dirty="0" err="1"/>
              <a:t>Haar</a:t>
            </a:r>
            <a:r>
              <a:rPr lang="en-US" dirty="0"/>
              <a:t> Cascade classifier.</a:t>
            </a:r>
            <a:endParaRPr lang="en-US" dirty="0" smtClean="0"/>
          </a:p>
          <a:p>
            <a:r>
              <a:rPr lang="en-US" dirty="0"/>
              <a:t>import cv2</a:t>
            </a:r>
          </a:p>
          <a:p>
            <a:r>
              <a:rPr lang="en-US" dirty="0" smtClean="0"/>
              <a:t>from </a:t>
            </a:r>
            <a:r>
              <a:rPr lang="en-US" dirty="0" err="1"/>
              <a:t>fer</a:t>
            </a:r>
            <a:r>
              <a:rPr lang="en-US" dirty="0"/>
              <a:t> import </a:t>
            </a:r>
            <a:r>
              <a:rPr lang="en-US" dirty="0" smtClean="0"/>
              <a:t>FER</a:t>
            </a:r>
          </a:p>
          <a:p>
            <a:r>
              <a:rPr lang="en-IN" dirty="0"/>
              <a:t>import </a:t>
            </a:r>
            <a:r>
              <a:rPr lang="en-IN" dirty="0" err="1" smtClean="0"/>
              <a:t>face_recognition</a:t>
            </a:r>
            <a:r>
              <a:rPr lang="en-IN" dirty="0" smtClean="0"/>
              <a:t> – finds all faces in an image</a:t>
            </a:r>
            <a:endParaRPr lang="en-IN" dirty="0"/>
          </a:p>
          <a:p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87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Sample Output-1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34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1336591"/>
            <a:ext cx="8142622" cy="503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1699" y="893911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Known Faces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73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Sample Output-2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35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59" y="1304195"/>
            <a:ext cx="9766820" cy="51618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51259" y="807095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Known Faces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200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Sample Output-3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99D79-8A4B-4031-B1E0-AF26F8EDF2BC}" type="slidenum">
              <a:rPr lang="en-IN" smtClean="0"/>
              <a:pPr/>
              <a:t>36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31" y="1247105"/>
            <a:ext cx="10019940" cy="51464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4532" y="669181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Unknown Faces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1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S. Nandagopalan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34C99D79-8A4B-4031-B1E0-AF26F8EDF2BC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989956" y="2204864"/>
            <a:ext cx="7157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smtClean="0">
                <a:solidFill>
                  <a:srgbClr val="FF0066"/>
                </a:solidFill>
                <a:latin typeface="Tw Cen MT Condensed Extra Bold" panose="020B0803020202020204" pitchFamily="34" charset="0"/>
              </a:rPr>
              <a:t>Thank You</a:t>
            </a:r>
            <a:endParaRPr lang="en-IN" sz="8000">
              <a:solidFill>
                <a:srgbClr val="FF0066"/>
              </a:solidFill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27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oking_16x9">
      <a:dk1>
        <a:srgbClr val="000000"/>
      </a:dk1>
      <a:lt1>
        <a:sysClr val="window" lastClr="FFFFFF"/>
      </a:lt1>
      <a:dk2>
        <a:srgbClr val="7F7F7F"/>
      </a:dk2>
      <a:lt2>
        <a:srgbClr val="E6E6E6"/>
      </a:lt2>
      <a:accent1>
        <a:srgbClr val="89C01C"/>
      </a:accent1>
      <a:accent2>
        <a:srgbClr val="FCB22C"/>
      </a:accent2>
      <a:accent3>
        <a:srgbClr val="FE750E"/>
      </a:accent3>
      <a:accent4>
        <a:srgbClr val="F23610"/>
      </a:accent4>
      <a:accent5>
        <a:srgbClr val="7C283A"/>
      </a:accent5>
      <a:accent6>
        <a:srgbClr val="3E7520"/>
      </a:accent6>
      <a:hlink>
        <a:srgbClr val="89C01C"/>
      </a:hlink>
      <a:folHlink>
        <a:srgbClr val="A6A6A6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l="180000" t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308942AA-0721-4324-BC2C-A3CB43F24E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14945D-DABB-422F-9B28-D299995C92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700CCB-20BA-4760-AB9F-AC3B63ED32E0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8290</TotalTime>
  <Words>1004</Words>
  <Application>Microsoft Office PowerPoint</Application>
  <PresentationFormat>Custom</PresentationFormat>
  <Paragraphs>214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Century Schoolbook</vt:lpstr>
      <vt:lpstr>Constantia</vt:lpstr>
      <vt:lpstr>Roboto</vt:lpstr>
      <vt:lpstr>Tw Cen MT Condensed Extra Bold</vt:lpstr>
      <vt:lpstr>Wingdings 2</vt:lpstr>
      <vt:lpstr>View</vt:lpstr>
      <vt:lpstr>Module  10: Big Data and Spark ML Applications  </vt:lpstr>
      <vt:lpstr>Agenda</vt:lpstr>
      <vt:lpstr>Introduction</vt:lpstr>
      <vt:lpstr>Log Analysis for    Real-Time Monitoring</vt:lpstr>
      <vt:lpstr>What is log Analysis?</vt:lpstr>
      <vt:lpstr>Features</vt:lpstr>
      <vt:lpstr>Benefits</vt:lpstr>
      <vt:lpstr>Tools</vt:lpstr>
      <vt:lpstr>Architecture</vt:lpstr>
      <vt:lpstr>Technologies</vt:lpstr>
      <vt:lpstr>Customer Segmentation</vt:lpstr>
      <vt:lpstr>What is Customer Segmentation?</vt:lpstr>
      <vt:lpstr>Big Data &amp; Customer Segmentation</vt:lpstr>
      <vt:lpstr>PowerPoint Presentation</vt:lpstr>
      <vt:lpstr>Why Targeted Marketing?</vt:lpstr>
      <vt:lpstr>PowerPoint Presentation</vt:lpstr>
      <vt:lpstr>PowerPoint Presentation</vt:lpstr>
      <vt:lpstr>PowerPoint Presentation</vt:lpstr>
      <vt:lpstr>Algorithms</vt:lpstr>
      <vt:lpstr>Output-1</vt:lpstr>
      <vt:lpstr>Output-2</vt:lpstr>
      <vt:lpstr>Real-Time Credit Card Fraud Detection</vt:lpstr>
      <vt:lpstr>3. Real-Time Credit Card Fraud Detection</vt:lpstr>
      <vt:lpstr>Method</vt:lpstr>
      <vt:lpstr>Code</vt:lpstr>
      <vt:lpstr>Check for fraudulent?</vt:lpstr>
      <vt:lpstr>Add fraudulent data to Database</vt:lpstr>
      <vt:lpstr>Sentiment Analysis in Video Conferencing</vt:lpstr>
      <vt:lpstr>Sentiment Analysis in Hybrid Learning</vt:lpstr>
      <vt:lpstr>Applications</vt:lpstr>
      <vt:lpstr>Problem Statement</vt:lpstr>
      <vt:lpstr>Method/Technique</vt:lpstr>
      <vt:lpstr>FER (Facial Emotion Recognition)</vt:lpstr>
      <vt:lpstr>Sample Output-1</vt:lpstr>
      <vt:lpstr>Sample Output-2</vt:lpstr>
      <vt:lpstr>Sample Output-3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Microsoft account</dc:creator>
  <cp:lastModifiedBy>S</cp:lastModifiedBy>
  <cp:revision>296</cp:revision>
  <dcterms:created xsi:type="dcterms:W3CDTF">2024-08-14T04:47:15Z</dcterms:created>
  <dcterms:modified xsi:type="dcterms:W3CDTF">2025-03-14T03:34:20Z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