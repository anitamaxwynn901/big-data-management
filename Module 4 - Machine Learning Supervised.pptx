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83"/>
  </p:notesMasterIdLst>
  <p:handoutMasterIdLst>
    <p:handoutMasterId r:id="rId84"/>
  </p:handoutMasterIdLst>
  <p:sldIdLst>
    <p:sldId id="272" r:id="rId5"/>
    <p:sldId id="258" r:id="rId6"/>
    <p:sldId id="335" r:id="rId7"/>
    <p:sldId id="337"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65" r:id="rId36"/>
    <p:sldId id="366" r:id="rId37"/>
    <p:sldId id="367" r:id="rId38"/>
    <p:sldId id="368" r:id="rId39"/>
    <p:sldId id="369" r:id="rId40"/>
    <p:sldId id="370" r:id="rId41"/>
    <p:sldId id="371" r:id="rId42"/>
    <p:sldId id="372" r:id="rId43"/>
    <p:sldId id="373" r:id="rId44"/>
    <p:sldId id="374" r:id="rId45"/>
    <p:sldId id="375" r:id="rId46"/>
    <p:sldId id="376" r:id="rId47"/>
    <p:sldId id="377" r:id="rId48"/>
    <p:sldId id="378" r:id="rId49"/>
    <p:sldId id="379" r:id="rId50"/>
    <p:sldId id="380" r:id="rId51"/>
    <p:sldId id="381" r:id="rId52"/>
    <p:sldId id="382" r:id="rId53"/>
    <p:sldId id="383" r:id="rId54"/>
    <p:sldId id="384" r:id="rId55"/>
    <p:sldId id="385" r:id="rId56"/>
    <p:sldId id="386" r:id="rId57"/>
    <p:sldId id="336" r:id="rId58"/>
    <p:sldId id="388" r:id="rId59"/>
    <p:sldId id="389" r:id="rId60"/>
    <p:sldId id="390" r:id="rId61"/>
    <p:sldId id="391" r:id="rId62"/>
    <p:sldId id="392" r:id="rId63"/>
    <p:sldId id="393" r:id="rId64"/>
    <p:sldId id="394" r:id="rId65"/>
    <p:sldId id="395" r:id="rId66"/>
    <p:sldId id="396" r:id="rId67"/>
    <p:sldId id="397" r:id="rId68"/>
    <p:sldId id="398" r:id="rId69"/>
    <p:sldId id="399" r:id="rId70"/>
    <p:sldId id="400" r:id="rId71"/>
    <p:sldId id="387" r:id="rId72"/>
    <p:sldId id="401" r:id="rId73"/>
    <p:sldId id="402" r:id="rId74"/>
    <p:sldId id="403" r:id="rId75"/>
    <p:sldId id="404" r:id="rId76"/>
    <p:sldId id="405" r:id="rId77"/>
    <p:sldId id="406" r:id="rId78"/>
    <p:sldId id="407" r:id="rId79"/>
    <p:sldId id="408" r:id="rId80"/>
    <p:sldId id="409" r:id="rId81"/>
    <p:sldId id="334" r:id="rId82"/>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3"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2D97"/>
    <a:srgbClr val="4A206A"/>
    <a:srgbClr val="8A6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527" autoAdjust="0"/>
    <p:restoredTop sz="94492" autoAdjust="0"/>
  </p:normalViewPr>
  <p:slideViewPr>
    <p:cSldViewPr>
      <p:cViewPr varScale="1">
        <p:scale>
          <a:sx n="80" d="100"/>
          <a:sy n="80" d="100"/>
        </p:scale>
        <p:origin x="163" y="53"/>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33E1BF-4392-4206-8DB2-D2080BD3DEB7}" type="doc">
      <dgm:prSet loTypeId="urn:microsoft.com/office/officeart/2005/8/layout/vList5" loCatId="list" qsTypeId="urn:microsoft.com/office/officeart/2005/8/quickstyle/simple3" qsCatId="simple" csTypeId="urn:microsoft.com/office/officeart/2005/8/colors/accent1_2" csCatId="accent1" phldr="1"/>
      <dgm:spPr/>
      <dgm:t>
        <a:bodyPr/>
        <a:lstStyle/>
        <a:p>
          <a:endParaRPr lang="en-IN"/>
        </a:p>
      </dgm:t>
    </dgm:pt>
    <dgm:pt modelId="{06F0B4E2-3C4C-42AC-9D8F-BBAFC72462DD}">
      <dgm:prSet phldrT="[Text]"/>
      <dgm:spPr>
        <a:solidFill>
          <a:srgbClr val="00B0F0"/>
        </a:solidFill>
      </dgm:spPr>
      <dgm:t>
        <a:bodyPr/>
        <a:lstStyle/>
        <a:p>
          <a:r>
            <a:rPr lang="en-US" b="1" dirty="0" smtClean="0">
              <a:latin typeface="Arial" panose="020B0604020202020204" pitchFamily="34" charset="0"/>
              <a:cs typeface="Arial" panose="020B0604020202020204" pitchFamily="34" charset="0"/>
            </a:rPr>
            <a:t>Introduction</a:t>
          </a:r>
          <a:endParaRPr lang="en-IN" b="1" dirty="0">
            <a:latin typeface="Arial" panose="020B0604020202020204" pitchFamily="34" charset="0"/>
            <a:cs typeface="Arial" panose="020B0604020202020204" pitchFamily="34" charset="0"/>
          </a:endParaRPr>
        </a:p>
      </dgm:t>
    </dgm:pt>
    <dgm:pt modelId="{1EACE95E-FFD1-44C4-9D97-77DF9B47647E}" type="parTrans" cxnId="{9B83973E-BEAF-4F96-9A9F-FA8BA9F8FDE8}">
      <dgm:prSet/>
      <dgm:spPr/>
      <dgm:t>
        <a:bodyPr/>
        <a:lstStyle/>
        <a:p>
          <a:endParaRPr lang="en-IN">
            <a:latin typeface="Arial" panose="020B0604020202020204" pitchFamily="34" charset="0"/>
            <a:cs typeface="Arial" panose="020B0604020202020204" pitchFamily="34" charset="0"/>
          </a:endParaRPr>
        </a:p>
      </dgm:t>
    </dgm:pt>
    <dgm:pt modelId="{9FBC7F35-10AF-4961-B2D4-6F2B796D7D85}" type="sibTrans" cxnId="{9B83973E-BEAF-4F96-9A9F-FA8BA9F8FDE8}">
      <dgm:prSet/>
      <dgm:spPr/>
      <dgm:t>
        <a:bodyPr/>
        <a:lstStyle/>
        <a:p>
          <a:endParaRPr lang="en-IN">
            <a:latin typeface="Arial" panose="020B0604020202020204" pitchFamily="34" charset="0"/>
            <a:cs typeface="Arial" panose="020B0604020202020204" pitchFamily="34" charset="0"/>
          </a:endParaRPr>
        </a:p>
      </dgm:t>
    </dgm:pt>
    <dgm:pt modelId="{876EF211-6C75-454D-9B26-EF92DDD50FA7}">
      <dgm:prSet phldrT="[Text]"/>
      <dgm:spPr/>
      <dgm:t>
        <a:bodyPr/>
        <a:lstStyle/>
        <a:p>
          <a:r>
            <a:rPr lang="en-US" b="1" dirty="0" smtClean="0"/>
            <a:t>Introduction to Large-Scale Supervised Machine Learning </a:t>
          </a:r>
          <a:endParaRPr lang="en-IN" dirty="0">
            <a:latin typeface="Arial" panose="020B0604020202020204" pitchFamily="34" charset="0"/>
            <a:cs typeface="Arial" panose="020B0604020202020204" pitchFamily="34" charset="0"/>
          </a:endParaRPr>
        </a:p>
      </dgm:t>
    </dgm:pt>
    <dgm:pt modelId="{A993B6C1-3574-453A-8577-0E1416870B1C}" type="parTrans" cxnId="{3BBBF938-FD17-4565-B6FD-4F1F6D76CAE5}">
      <dgm:prSet/>
      <dgm:spPr/>
      <dgm:t>
        <a:bodyPr/>
        <a:lstStyle/>
        <a:p>
          <a:endParaRPr lang="en-IN">
            <a:latin typeface="Arial" panose="020B0604020202020204" pitchFamily="34" charset="0"/>
            <a:cs typeface="Arial" panose="020B0604020202020204" pitchFamily="34" charset="0"/>
          </a:endParaRPr>
        </a:p>
      </dgm:t>
    </dgm:pt>
    <dgm:pt modelId="{42796EA4-CE19-451A-B5A3-5161F060E0B4}" type="sibTrans" cxnId="{3BBBF938-FD17-4565-B6FD-4F1F6D76CAE5}">
      <dgm:prSet/>
      <dgm:spPr/>
      <dgm:t>
        <a:bodyPr/>
        <a:lstStyle/>
        <a:p>
          <a:endParaRPr lang="en-IN">
            <a:latin typeface="Arial" panose="020B0604020202020204" pitchFamily="34" charset="0"/>
            <a:cs typeface="Arial" panose="020B0604020202020204" pitchFamily="34" charset="0"/>
          </a:endParaRPr>
        </a:p>
      </dgm:t>
    </dgm:pt>
    <dgm:pt modelId="{60365183-CE32-4168-9B2F-ECDC720E64E4}">
      <dgm:prSet phldrT="[Text]"/>
      <dgm:spPr>
        <a:solidFill>
          <a:srgbClr val="00B0F0"/>
        </a:solidFill>
      </dgm:spPr>
      <dgm:t>
        <a:bodyPr/>
        <a:lstStyle/>
        <a:p>
          <a:r>
            <a:rPr lang="en-US" b="1" dirty="0" smtClean="0">
              <a:latin typeface="Arial" panose="020B0604020202020204" pitchFamily="34" charset="0"/>
              <a:cs typeface="Arial" panose="020B0604020202020204" pitchFamily="34" charset="0"/>
            </a:rPr>
            <a:t>Naïve Bayesian</a:t>
          </a:r>
          <a:endParaRPr lang="en-IN" b="1" dirty="0">
            <a:latin typeface="Arial" panose="020B0604020202020204" pitchFamily="34" charset="0"/>
            <a:cs typeface="Arial" panose="020B0604020202020204" pitchFamily="34" charset="0"/>
          </a:endParaRPr>
        </a:p>
      </dgm:t>
    </dgm:pt>
    <dgm:pt modelId="{CA002CAA-F332-41AE-BE5A-A69DA0A9C3D0}" type="parTrans" cxnId="{BD43FC39-34FB-444A-A71D-0F475F73C034}">
      <dgm:prSet/>
      <dgm:spPr/>
      <dgm:t>
        <a:bodyPr/>
        <a:lstStyle/>
        <a:p>
          <a:endParaRPr lang="en-IN">
            <a:latin typeface="Arial" panose="020B0604020202020204" pitchFamily="34" charset="0"/>
            <a:cs typeface="Arial" panose="020B0604020202020204" pitchFamily="34" charset="0"/>
          </a:endParaRPr>
        </a:p>
      </dgm:t>
    </dgm:pt>
    <dgm:pt modelId="{A5527CE7-52A4-4645-A14E-270C4EF01862}" type="sibTrans" cxnId="{BD43FC39-34FB-444A-A71D-0F475F73C034}">
      <dgm:prSet/>
      <dgm:spPr/>
      <dgm:t>
        <a:bodyPr/>
        <a:lstStyle/>
        <a:p>
          <a:endParaRPr lang="en-IN">
            <a:latin typeface="Arial" panose="020B0604020202020204" pitchFamily="34" charset="0"/>
            <a:cs typeface="Arial" panose="020B0604020202020204" pitchFamily="34" charset="0"/>
          </a:endParaRPr>
        </a:p>
      </dgm:t>
    </dgm:pt>
    <dgm:pt modelId="{5958038D-CA55-4818-933D-48FDC20F59AF}">
      <dgm:prSet phldrT="[Text]"/>
      <dgm:spPr/>
      <dgm:t>
        <a:bodyPr/>
        <a:lstStyle/>
        <a:p>
          <a:r>
            <a:rPr lang="en-US" dirty="0" err="1" smtClean="0">
              <a:latin typeface="Arial" panose="020B0604020202020204" pitchFamily="34" charset="0"/>
              <a:cs typeface="Arial" panose="020B0604020202020204" pitchFamily="34" charset="0"/>
            </a:rPr>
            <a:t>Baye’s</a:t>
          </a:r>
          <a:r>
            <a:rPr lang="en-US" dirty="0" smtClean="0">
              <a:latin typeface="Arial" panose="020B0604020202020204" pitchFamily="34" charset="0"/>
              <a:cs typeface="Arial" panose="020B0604020202020204" pitchFamily="34" charset="0"/>
            </a:rPr>
            <a:t> Theorem</a:t>
          </a:r>
          <a:endParaRPr lang="en-IN" dirty="0">
            <a:latin typeface="Arial" panose="020B0604020202020204" pitchFamily="34" charset="0"/>
            <a:cs typeface="Arial" panose="020B0604020202020204" pitchFamily="34" charset="0"/>
          </a:endParaRPr>
        </a:p>
      </dgm:t>
    </dgm:pt>
    <dgm:pt modelId="{1377EFF9-41FA-4EFC-865F-66C829533A62}" type="parTrans" cxnId="{A8E012C2-A84E-4AA0-B561-3F407D93B4E9}">
      <dgm:prSet/>
      <dgm:spPr/>
      <dgm:t>
        <a:bodyPr/>
        <a:lstStyle/>
        <a:p>
          <a:endParaRPr lang="en-IN">
            <a:latin typeface="Arial" panose="020B0604020202020204" pitchFamily="34" charset="0"/>
            <a:cs typeface="Arial" panose="020B0604020202020204" pitchFamily="34" charset="0"/>
          </a:endParaRPr>
        </a:p>
      </dgm:t>
    </dgm:pt>
    <dgm:pt modelId="{703878D6-18A8-43BE-AEF0-298251B308C7}" type="sibTrans" cxnId="{A8E012C2-A84E-4AA0-B561-3F407D93B4E9}">
      <dgm:prSet/>
      <dgm:spPr/>
      <dgm:t>
        <a:bodyPr/>
        <a:lstStyle/>
        <a:p>
          <a:endParaRPr lang="en-IN">
            <a:latin typeface="Arial" panose="020B0604020202020204" pitchFamily="34" charset="0"/>
            <a:cs typeface="Arial" panose="020B0604020202020204" pitchFamily="34" charset="0"/>
          </a:endParaRPr>
        </a:p>
      </dgm:t>
    </dgm:pt>
    <dgm:pt modelId="{AF7AF890-5241-4030-8944-F92C8B416345}">
      <dgm:prSet phldrT="[Text]"/>
      <dgm:spPr/>
      <dgm:t>
        <a:bodyPr/>
        <a:lstStyle/>
        <a:p>
          <a:r>
            <a:rPr lang="en-US" dirty="0" smtClean="0">
              <a:latin typeface="Arial" panose="020B0604020202020204" pitchFamily="34" charset="0"/>
              <a:cs typeface="Arial" panose="020B0604020202020204" pitchFamily="34" charset="0"/>
            </a:rPr>
            <a:t>Examples</a:t>
          </a:r>
          <a:endParaRPr lang="en-IN" dirty="0">
            <a:latin typeface="Arial" panose="020B0604020202020204" pitchFamily="34" charset="0"/>
            <a:cs typeface="Arial" panose="020B0604020202020204" pitchFamily="34" charset="0"/>
          </a:endParaRPr>
        </a:p>
      </dgm:t>
    </dgm:pt>
    <dgm:pt modelId="{4DCD9225-42AD-45A5-A119-D74616DDFFC4}" type="parTrans" cxnId="{2AF55609-615B-4DD9-A1B3-C375223D1DDC}">
      <dgm:prSet/>
      <dgm:spPr/>
      <dgm:t>
        <a:bodyPr/>
        <a:lstStyle/>
        <a:p>
          <a:endParaRPr lang="en-IN">
            <a:latin typeface="Arial" panose="020B0604020202020204" pitchFamily="34" charset="0"/>
            <a:cs typeface="Arial" panose="020B0604020202020204" pitchFamily="34" charset="0"/>
          </a:endParaRPr>
        </a:p>
      </dgm:t>
    </dgm:pt>
    <dgm:pt modelId="{29A90807-237E-4619-8955-0079EEE90AC9}" type="sibTrans" cxnId="{2AF55609-615B-4DD9-A1B3-C375223D1DDC}">
      <dgm:prSet/>
      <dgm:spPr/>
      <dgm:t>
        <a:bodyPr/>
        <a:lstStyle/>
        <a:p>
          <a:endParaRPr lang="en-IN">
            <a:latin typeface="Arial" panose="020B0604020202020204" pitchFamily="34" charset="0"/>
            <a:cs typeface="Arial" panose="020B0604020202020204" pitchFamily="34" charset="0"/>
          </a:endParaRPr>
        </a:p>
      </dgm:t>
    </dgm:pt>
    <dgm:pt modelId="{D105E93B-CE00-4C11-AA85-A316D0E0C43F}">
      <dgm:prSet phldrT="[Text]"/>
      <dgm:spPr>
        <a:solidFill>
          <a:srgbClr val="00B0F0"/>
        </a:solidFill>
      </dgm:spPr>
      <dgm:t>
        <a:bodyPr/>
        <a:lstStyle/>
        <a:p>
          <a:r>
            <a:rPr lang="en-US" b="1" dirty="0" smtClean="0">
              <a:latin typeface="Arial" panose="020B0604020202020204" pitchFamily="34" charset="0"/>
              <a:cs typeface="Arial" panose="020B0604020202020204" pitchFamily="34" charset="0"/>
            </a:rPr>
            <a:t>SVM</a:t>
          </a:r>
          <a:endParaRPr lang="en-IN" b="1" dirty="0">
            <a:latin typeface="Arial" panose="020B0604020202020204" pitchFamily="34" charset="0"/>
            <a:cs typeface="Arial" panose="020B0604020202020204" pitchFamily="34" charset="0"/>
          </a:endParaRPr>
        </a:p>
      </dgm:t>
    </dgm:pt>
    <dgm:pt modelId="{3D4242FA-1D07-4CD0-9227-848A0588F159}" type="parTrans" cxnId="{43BF3CEA-1B5C-453B-A9A4-9336E570E7C7}">
      <dgm:prSet/>
      <dgm:spPr/>
      <dgm:t>
        <a:bodyPr/>
        <a:lstStyle/>
        <a:p>
          <a:endParaRPr lang="en-IN">
            <a:latin typeface="Arial" panose="020B0604020202020204" pitchFamily="34" charset="0"/>
            <a:cs typeface="Arial" panose="020B0604020202020204" pitchFamily="34" charset="0"/>
          </a:endParaRPr>
        </a:p>
      </dgm:t>
    </dgm:pt>
    <dgm:pt modelId="{377E99CE-25B3-4716-9801-53740DCFE628}" type="sibTrans" cxnId="{43BF3CEA-1B5C-453B-A9A4-9336E570E7C7}">
      <dgm:prSet/>
      <dgm:spPr/>
      <dgm:t>
        <a:bodyPr/>
        <a:lstStyle/>
        <a:p>
          <a:endParaRPr lang="en-IN">
            <a:latin typeface="Arial" panose="020B0604020202020204" pitchFamily="34" charset="0"/>
            <a:cs typeface="Arial" panose="020B0604020202020204" pitchFamily="34" charset="0"/>
          </a:endParaRPr>
        </a:p>
      </dgm:t>
    </dgm:pt>
    <dgm:pt modelId="{7D364796-0495-4ADB-8D4E-6E84FBF21E14}">
      <dgm:prSet phldrT="[Text]"/>
      <dgm:spPr/>
      <dgm:t>
        <a:bodyPr/>
        <a:lstStyle/>
        <a:p>
          <a:r>
            <a:rPr lang="en-US" dirty="0" smtClean="0">
              <a:latin typeface="Arial" panose="020B0604020202020204" pitchFamily="34" charset="0"/>
              <a:cs typeface="Arial" panose="020B0604020202020204" pitchFamily="34" charset="0"/>
            </a:rPr>
            <a:t>Concept of Support Vector Machines, Advantages &amp; Disadvantages</a:t>
          </a:r>
          <a:endParaRPr lang="en-IN" dirty="0">
            <a:latin typeface="Arial" panose="020B0604020202020204" pitchFamily="34" charset="0"/>
            <a:cs typeface="Arial" panose="020B0604020202020204" pitchFamily="34" charset="0"/>
          </a:endParaRPr>
        </a:p>
      </dgm:t>
    </dgm:pt>
    <dgm:pt modelId="{99DC3A8B-6CAC-4179-BA21-0F8DD1DB7933}" type="parTrans" cxnId="{CF136BD9-5A22-4191-89CA-584589C3722B}">
      <dgm:prSet/>
      <dgm:spPr/>
      <dgm:t>
        <a:bodyPr/>
        <a:lstStyle/>
        <a:p>
          <a:endParaRPr lang="en-IN">
            <a:latin typeface="Arial" panose="020B0604020202020204" pitchFamily="34" charset="0"/>
            <a:cs typeface="Arial" panose="020B0604020202020204" pitchFamily="34" charset="0"/>
          </a:endParaRPr>
        </a:p>
      </dgm:t>
    </dgm:pt>
    <dgm:pt modelId="{D09C9C17-872F-49B8-9FBF-B33AA712529C}" type="sibTrans" cxnId="{CF136BD9-5A22-4191-89CA-584589C3722B}">
      <dgm:prSet/>
      <dgm:spPr/>
      <dgm:t>
        <a:bodyPr/>
        <a:lstStyle/>
        <a:p>
          <a:endParaRPr lang="en-IN">
            <a:latin typeface="Arial" panose="020B0604020202020204" pitchFamily="34" charset="0"/>
            <a:cs typeface="Arial" panose="020B0604020202020204" pitchFamily="34" charset="0"/>
          </a:endParaRPr>
        </a:p>
      </dgm:t>
    </dgm:pt>
    <dgm:pt modelId="{45DD082C-26D4-46D7-8228-73F0396D2806}">
      <dgm:prSet phldrT="[Text]"/>
      <dgm:spPr/>
      <dgm:t>
        <a:bodyPr/>
        <a:lstStyle/>
        <a:p>
          <a:r>
            <a:rPr lang="en-US" dirty="0" smtClean="0">
              <a:latin typeface="Arial" panose="020B0604020202020204" pitchFamily="34" charset="0"/>
              <a:cs typeface="Arial" panose="020B0604020202020204" pitchFamily="34" charset="0"/>
            </a:rPr>
            <a:t>Examples</a:t>
          </a:r>
          <a:endParaRPr lang="en-IN" dirty="0">
            <a:latin typeface="Arial" panose="020B0604020202020204" pitchFamily="34" charset="0"/>
            <a:cs typeface="Arial" panose="020B0604020202020204" pitchFamily="34" charset="0"/>
          </a:endParaRPr>
        </a:p>
      </dgm:t>
    </dgm:pt>
    <dgm:pt modelId="{5A876BA5-C028-4FE7-B5C9-DF0521AB8362}" type="parTrans" cxnId="{CCF14341-17D0-430F-B819-B79A92C5AB70}">
      <dgm:prSet/>
      <dgm:spPr/>
      <dgm:t>
        <a:bodyPr/>
        <a:lstStyle/>
        <a:p>
          <a:endParaRPr lang="en-IN">
            <a:latin typeface="Arial" panose="020B0604020202020204" pitchFamily="34" charset="0"/>
            <a:cs typeface="Arial" panose="020B0604020202020204" pitchFamily="34" charset="0"/>
          </a:endParaRPr>
        </a:p>
      </dgm:t>
    </dgm:pt>
    <dgm:pt modelId="{5F482EFE-52B0-4C80-A8C9-12E19035A5FC}" type="sibTrans" cxnId="{CCF14341-17D0-430F-B819-B79A92C5AB70}">
      <dgm:prSet/>
      <dgm:spPr/>
      <dgm:t>
        <a:bodyPr/>
        <a:lstStyle/>
        <a:p>
          <a:endParaRPr lang="en-IN">
            <a:latin typeface="Arial" panose="020B0604020202020204" pitchFamily="34" charset="0"/>
            <a:cs typeface="Arial" panose="020B0604020202020204" pitchFamily="34" charset="0"/>
          </a:endParaRPr>
        </a:p>
      </dgm:t>
    </dgm:pt>
    <dgm:pt modelId="{444932D3-4CFC-4249-9459-9A8517AE665B}">
      <dgm:prSet phldrT="[Text]"/>
      <dgm:spPr>
        <a:solidFill>
          <a:srgbClr val="00B0F0"/>
        </a:solidFill>
      </dgm:spPr>
      <dgm:t>
        <a:bodyPr/>
        <a:lstStyle/>
        <a:p>
          <a:r>
            <a:rPr lang="en-US" b="1" dirty="0" smtClean="0">
              <a:latin typeface="Arial" panose="020B0604020202020204" pitchFamily="34" charset="0"/>
              <a:cs typeface="Arial" panose="020B0604020202020204" pitchFamily="34" charset="0"/>
            </a:rPr>
            <a:t>k-Nearest Neighbors (</a:t>
          </a:r>
          <a:r>
            <a:rPr lang="en-US" b="1" dirty="0" err="1" smtClean="0">
              <a:latin typeface="Arial" panose="020B0604020202020204" pitchFamily="34" charset="0"/>
              <a:cs typeface="Arial" panose="020B0604020202020204" pitchFamily="34" charset="0"/>
            </a:rPr>
            <a:t>kNN</a:t>
          </a:r>
          <a:r>
            <a:rPr lang="en-US" b="1" dirty="0" smtClean="0">
              <a:latin typeface="Arial" panose="020B0604020202020204" pitchFamily="34" charset="0"/>
              <a:cs typeface="Arial" panose="020B0604020202020204" pitchFamily="34" charset="0"/>
            </a:rPr>
            <a:t>)</a:t>
          </a:r>
          <a:endParaRPr lang="en-IN" b="1" dirty="0">
            <a:latin typeface="Arial" panose="020B0604020202020204" pitchFamily="34" charset="0"/>
            <a:cs typeface="Arial" panose="020B0604020202020204" pitchFamily="34" charset="0"/>
          </a:endParaRPr>
        </a:p>
      </dgm:t>
    </dgm:pt>
    <dgm:pt modelId="{2C6D6FCD-01F7-450F-9C6C-1B18FF3A0C67}" type="parTrans" cxnId="{A78151E6-2189-4F1C-9C18-70409C57E317}">
      <dgm:prSet/>
      <dgm:spPr/>
      <dgm:t>
        <a:bodyPr/>
        <a:lstStyle/>
        <a:p>
          <a:endParaRPr lang="en-IN">
            <a:latin typeface="Arial" panose="020B0604020202020204" pitchFamily="34" charset="0"/>
            <a:cs typeface="Arial" panose="020B0604020202020204" pitchFamily="34" charset="0"/>
          </a:endParaRPr>
        </a:p>
      </dgm:t>
    </dgm:pt>
    <dgm:pt modelId="{214659B3-7BD6-4253-BDB3-0061C72D344F}" type="sibTrans" cxnId="{A78151E6-2189-4F1C-9C18-70409C57E317}">
      <dgm:prSet/>
      <dgm:spPr/>
      <dgm:t>
        <a:bodyPr/>
        <a:lstStyle/>
        <a:p>
          <a:endParaRPr lang="en-IN">
            <a:latin typeface="Arial" panose="020B0604020202020204" pitchFamily="34" charset="0"/>
            <a:cs typeface="Arial" panose="020B0604020202020204" pitchFamily="34" charset="0"/>
          </a:endParaRPr>
        </a:p>
      </dgm:t>
    </dgm:pt>
    <dgm:pt modelId="{D4F37E4A-E07D-4955-8D16-4A04AA30CF82}">
      <dgm:prSet phldrT="[Text]"/>
      <dgm:spPr/>
      <dgm:t>
        <a:bodyPr/>
        <a:lstStyle/>
        <a:p>
          <a:r>
            <a:rPr lang="en-US" dirty="0" smtClean="0">
              <a:latin typeface="Arial" panose="020B0604020202020204" pitchFamily="34" charset="0"/>
              <a:cs typeface="Arial" panose="020B0604020202020204" pitchFamily="34" charset="0"/>
            </a:rPr>
            <a:t>What is </a:t>
          </a:r>
          <a:r>
            <a:rPr lang="en-US" dirty="0" err="1" smtClean="0">
              <a:latin typeface="Arial" panose="020B0604020202020204" pitchFamily="34" charset="0"/>
              <a:cs typeface="Arial" panose="020B0604020202020204" pitchFamily="34" charset="0"/>
            </a:rPr>
            <a:t>kNN</a:t>
          </a:r>
          <a:r>
            <a:rPr lang="en-US" dirty="0" smtClean="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dgm:t>
    </dgm:pt>
    <dgm:pt modelId="{9E409FCC-E974-4C48-9C38-902F3E895A85}" type="parTrans" cxnId="{7C0B1E8D-557B-49CA-B780-F13959B64A69}">
      <dgm:prSet/>
      <dgm:spPr/>
      <dgm:t>
        <a:bodyPr/>
        <a:lstStyle/>
        <a:p>
          <a:endParaRPr lang="en-IN">
            <a:latin typeface="Arial" panose="020B0604020202020204" pitchFamily="34" charset="0"/>
            <a:cs typeface="Arial" panose="020B0604020202020204" pitchFamily="34" charset="0"/>
          </a:endParaRPr>
        </a:p>
      </dgm:t>
    </dgm:pt>
    <dgm:pt modelId="{16AE1798-042A-4544-A218-280A1FF26E34}" type="sibTrans" cxnId="{7C0B1E8D-557B-49CA-B780-F13959B64A69}">
      <dgm:prSet/>
      <dgm:spPr/>
      <dgm:t>
        <a:bodyPr/>
        <a:lstStyle/>
        <a:p>
          <a:endParaRPr lang="en-IN">
            <a:latin typeface="Arial" panose="020B0604020202020204" pitchFamily="34" charset="0"/>
            <a:cs typeface="Arial" panose="020B0604020202020204" pitchFamily="34" charset="0"/>
          </a:endParaRPr>
        </a:p>
      </dgm:t>
    </dgm:pt>
    <dgm:pt modelId="{6CED446F-0BD4-4AD6-9474-27531E717A45}">
      <dgm:prSet phldrT="[Text]"/>
      <dgm:spPr/>
      <dgm:t>
        <a:bodyPr/>
        <a:lstStyle/>
        <a:p>
          <a:r>
            <a:rPr lang="en-US" dirty="0" smtClean="0">
              <a:latin typeface="Arial" panose="020B0604020202020204" pitchFamily="34" charset="0"/>
              <a:cs typeface="Arial" panose="020B0604020202020204" pitchFamily="34" charset="0"/>
            </a:rPr>
            <a:t>Examples</a:t>
          </a:r>
          <a:endParaRPr lang="en-IN" dirty="0">
            <a:latin typeface="Arial" panose="020B0604020202020204" pitchFamily="34" charset="0"/>
            <a:cs typeface="Arial" panose="020B0604020202020204" pitchFamily="34" charset="0"/>
          </a:endParaRPr>
        </a:p>
      </dgm:t>
    </dgm:pt>
    <dgm:pt modelId="{69F479B5-E1CA-42D1-A17B-B6AB77223638}" type="parTrans" cxnId="{514EBCA2-47B5-4E77-B15B-D6D67E574A21}">
      <dgm:prSet/>
      <dgm:spPr/>
      <dgm:t>
        <a:bodyPr/>
        <a:lstStyle/>
        <a:p>
          <a:endParaRPr lang="en-IN">
            <a:latin typeface="Arial" panose="020B0604020202020204" pitchFamily="34" charset="0"/>
            <a:cs typeface="Arial" panose="020B0604020202020204" pitchFamily="34" charset="0"/>
          </a:endParaRPr>
        </a:p>
      </dgm:t>
    </dgm:pt>
    <dgm:pt modelId="{7C4F89FC-C54C-437F-B407-9F6A3585BAA5}" type="sibTrans" cxnId="{514EBCA2-47B5-4E77-B15B-D6D67E574A21}">
      <dgm:prSet/>
      <dgm:spPr/>
      <dgm:t>
        <a:bodyPr/>
        <a:lstStyle/>
        <a:p>
          <a:endParaRPr lang="en-IN">
            <a:latin typeface="Arial" panose="020B0604020202020204" pitchFamily="34" charset="0"/>
            <a:cs typeface="Arial" panose="020B0604020202020204" pitchFamily="34" charset="0"/>
          </a:endParaRPr>
        </a:p>
      </dgm:t>
    </dgm:pt>
    <dgm:pt modelId="{12E5CA6D-3D3D-42C9-95D6-654F4A4AEA31}">
      <dgm:prSet/>
      <dgm:spPr>
        <a:solidFill>
          <a:srgbClr val="00B0F0"/>
        </a:solidFill>
      </dgm:spPr>
      <dgm:t>
        <a:bodyPr/>
        <a:lstStyle/>
        <a:p>
          <a:r>
            <a:rPr lang="en-US" b="1" dirty="0" smtClean="0">
              <a:latin typeface="Arial" panose="020B0604020202020204" pitchFamily="34" charset="0"/>
              <a:cs typeface="Arial" panose="020B0604020202020204" pitchFamily="34" charset="0"/>
            </a:rPr>
            <a:t>PySpark, ML Library</a:t>
          </a:r>
          <a:endParaRPr lang="en-IN" b="1" dirty="0">
            <a:latin typeface="Arial" panose="020B0604020202020204" pitchFamily="34" charset="0"/>
            <a:cs typeface="Arial" panose="020B0604020202020204" pitchFamily="34" charset="0"/>
          </a:endParaRPr>
        </a:p>
      </dgm:t>
    </dgm:pt>
    <dgm:pt modelId="{5B993C77-D664-4803-A745-1A39809E3F0B}" type="parTrans" cxnId="{3313D3C2-34A9-42CE-837D-3AD195E95805}">
      <dgm:prSet/>
      <dgm:spPr/>
      <dgm:t>
        <a:bodyPr/>
        <a:lstStyle/>
        <a:p>
          <a:endParaRPr lang="en-IN">
            <a:latin typeface="Arial" panose="020B0604020202020204" pitchFamily="34" charset="0"/>
            <a:cs typeface="Arial" panose="020B0604020202020204" pitchFamily="34" charset="0"/>
          </a:endParaRPr>
        </a:p>
      </dgm:t>
    </dgm:pt>
    <dgm:pt modelId="{5702E080-7F06-4A31-8C27-2AE394252BC1}" type="sibTrans" cxnId="{3313D3C2-34A9-42CE-837D-3AD195E95805}">
      <dgm:prSet/>
      <dgm:spPr/>
      <dgm:t>
        <a:bodyPr/>
        <a:lstStyle/>
        <a:p>
          <a:endParaRPr lang="en-IN">
            <a:latin typeface="Arial" panose="020B0604020202020204" pitchFamily="34" charset="0"/>
            <a:cs typeface="Arial" panose="020B0604020202020204" pitchFamily="34" charset="0"/>
          </a:endParaRPr>
        </a:p>
      </dgm:t>
    </dgm:pt>
    <dgm:pt modelId="{D85CE42E-1C59-4439-9304-5FC58261AC64}">
      <dgm:prSet phldrT="[Text]"/>
      <dgm:spPr>
        <a:solidFill>
          <a:srgbClr val="00B0F0"/>
        </a:solidFill>
      </dgm:spPr>
      <dgm:t>
        <a:bodyPr/>
        <a:lstStyle/>
        <a:p>
          <a:r>
            <a:rPr lang="en-US" b="1" dirty="0" smtClean="0">
              <a:latin typeface="Arial" panose="020B0604020202020204" pitchFamily="34" charset="0"/>
              <a:cs typeface="Arial" panose="020B0604020202020204" pitchFamily="34" charset="0"/>
            </a:rPr>
            <a:t>Decision Trees</a:t>
          </a:r>
          <a:endParaRPr lang="en-IN" b="1" dirty="0">
            <a:latin typeface="Arial" panose="020B0604020202020204" pitchFamily="34" charset="0"/>
            <a:cs typeface="Arial" panose="020B0604020202020204" pitchFamily="34" charset="0"/>
          </a:endParaRPr>
        </a:p>
      </dgm:t>
    </dgm:pt>
    <dgm:pt modelId="{32CBA3E8-13FC-4954-B12C-815CE213FEE4}" type="parTrans" cxnId="{FFF83FD4-ED15-47D6-B634-53B3D04BF252}">
      <dgm:prSet/>
      <dgm:spPr/>
      <dgm:t>
        <a:bodyPr/>
        <a:lstStyle/>
        <a:p>
          <a:endParaRPr lang="en-IN">
            <a:latin typeface="Arial" panose="020B0604020202020204" pitchFamily="34" charset="0"/>
            <a:cs typeface="Arial" panose="020B0604020202020204" pitchFamily="34" charset="0"/>
          </a:endParaRPr>
        </a:p>
      </dgm:t>
    </dgm:pt>
    <dgm:pt modelId="{CE21BAF2-DEEB-4F02-9C5E-AA979AFBE08B}" type="sibTrans" cxnId="{FFF83FD4-ED15-47D6-B634-53B3D04BF252}">
      <dgm:prSet/>
      <dgm:spPr/>
      <dgm:t>
        <a:bodyPr/>
        <a:lstStyle/>
        <a:p>
          <a:endParaRPr lang="en-IN">
            <a:latin typeface="Arial" panose="020B0604020202020204" pitchFamily="34" charset="0"/>
            <a:cs typeface="Arial" panose="020B0604020202020204" pitchFamily="34" charset="0"/>
          </a:endParaRPr>
        </a:p>
      </dgm:t>
    </dgm:pt>
    <dgm:pt modelId="{364D5E57-F90D-47A9-94FC-E87BF9566108}">
      <dgm:prSet phldrT="[Text]"/>
      <dgm:spPr/>
      <dgm:t>
        <a:bodyPr/>
        <a:lstStyle/>
        <a:p>
          <a:r>
            <a:rPr lang="en-US" dirty="0" smtClean="0">
              <a:latin typeface="Arial" panose="020B0604020202020204" pitchFamily="34" charset="0"/>
              <a:cs typeface="Arial" panose="020B0604020202020204" pitchFamily="34" charset="0"/>
            </a:rPr>
            <a:t>Classification Problem</a:t>
          </a:r>
          <a:endParaRPr lang="en-IN" dirty="0">
            <a:latin typeface="Arial" panose="020B0604020202020204" pitchFamily="34" charset="0"/>
            <a:cs typeface="Arial" panose="020B0604020202020204" pitchFamily="34" charset="0"/>
          </a:endParaRPr>
        </a:p>
      </dgm:t>
    </dgm:pt>
    <dgm:pt modelId="{C402F0B0-0519-458A-AAB2-67D2CF32B126}" type="parTrans" cxnId="{86C52A1C-C449-4F65-B8B7-E62702353ACF}">
      <dgm:prSet/>
      <dgm:spPr/>
      <dgm:t>
        <a:bodyPr/>
        <a:lstStyle/>
        <a:p>
          <a:endParaRPr lang="en-IN">
            <a:latin typeface="Arial" panose="020B0604020202020204" pitchFamily="34" charset="0"/>
            <a:cs typeface="Arial" panose="020B0604020202020204" pitchFamily="34" charset="0"/>
          </a:endParaRPr>
        </a:p>
      </dgm:t>
    </dgm:pt>
    <dgm:pt modelId="{DC1C3C4A-8494-42EE-B052-B0464F97AE34}" type="sibTrans" cxnId="{86C52A1C-C449-4F65-B8B7-E62702353ACF}">
      <dgm:prSet/>
      <dgm:spPr/>
      <dgm:t>
        <a:bodyPr/>
        <a:lstStyle/>
        <a:p>
          <a:endParaRPr lang="en-IN">
            <a:latin typeface="Arial" panose="020B0604020202020204" pitchFamily="34" charset="0"/>
            <a:cs typeface="Arial" panose="020B0604020202020204" pitchFamily="34" charset="0"/>
          </a:endParaRPr>
        </a:p>
      </dgm:t>
    </dgm:pt>
    <dgm:pt modelId="{CA4AC58F-56F2-46D7-9B50-1A514CA1BC4B}">
      <dgm:prSet phldrT="[Text]"/>
      <dgm:spPr/>
      <dgm:t>
        <a:bodyPr/>
        <a:lstStyle/>
        <a:p>
          <a:r>
            <a:rPr lang="en-US" dirty="0" smtClean="0">
              <a:latin typeface="Arial" panose="020B0604020202020204" pitchFamily="34" charset="0"/>
              <a:cs typeface="Arial" panose="020B0604020202020204" pitchFamily="34" charset="0"/>
            </a:rPr>
            <a:t>DT, Hunts Algorithm, Examples</a:t>
          </a:r>
          <a:endParaRPr lang="en-IN" dirty="0">
            <a:latin typeface="Arial" panose="020B0604020202020204" pitchFamily="34" charset="0"/>
            <a:cs typeface="Arial" panose="020B0604020202020204" pitchFamily="34" charset="0"/>
          </a:endParaRPr>
        </a:p>
      </dgm:t>
    </dgm:pt>
    <dgm:pt modelId="{258EAD25-1296-49EE-9DC9-40C120758A9A}" type="parTrans" cxnId="{2E124668-61C4-4D2A-A460-04B8220D19B2}">
      <dgm:prSet/>
      <dgm:spPr/>
      <dgm:t>
        <a:bodyPr/>
        <a:lstStyle/>
        <a:p>
          <a:endParaRPr lang="en-IN">
            <a:latin typeface="Arial" panose="020B0604020202020204" pitchFamily="34" charset="0"/>
            <a:cs typeface="Arial" panose="020B0604020202020204" pitchFamily="34" charset="0"/>
          </a:endParaRPr>
        </a:p>
      </dgm:t>
    </dgm:pt>
    <dgm:pt modelId="{AF5ED49C-A230-4E82-8261-FB32BBCF032D}" type="sibTrans" cxnId="{2E124668-61C4-4D2A-A460-04B8220D19B2}">
      <dgm:prSet/>
      <dgm:spPr/>
      <dgm:t>
        <a:bodyPr/>
        <a:lstStyle/>
        <a:p>
          <a:endParaRPr lang="en-IN">
            <a:latin typeface="Arial" panose="020B0604020202020204" pitchFamily="34" charset="0"/>
            <a:cs typeface="Arial" panose="020B0604020202020204" pitchFamily="34" charset="0"/>
          </a:endParaRPr>
        </a:p>
      </dgm:t>
    </dgm:pt>
    <dgm:pt modelId="{534BC3AA-5790-4353-B02A-2EDFA0E30BFF}">
      <dgm:prSet phldrT="[Text]"/>
      <dgm:spPr/>
      <dgm:t>
        <a:bodyPr/>
        <a:lstStyle/>
        <a:p>
          <a:r>
            <a:rPr lang="en-US" dirty="0" smtClean="0">
              <a:latin typeface="Arial" panose="020B0604020202020204" pitchFamily="34" charset="0"/>
              <a:cs typeface="Arial" panose="020B0604020202020204" pitchFamily="34" charset="0"/>
            </a:rPr>
            <a:t>Examples of DT, NB, SVM, and </a:t>
          </a:r>
          <a:r>
            <a:rPr lang="en-US" dirty="0" err="1" smtClean="0">
              <a:latin typeface="Arial" panose="020B0604020202020204" pitchFamily="34" charset="0"/>
              <a:cs typeface="Arial" panose="020B0604020202020204" pitchFamily="34" charset="0"/>
            </a:rPr>
            <a:t>kNN</a:t>
          </a:r>
          <a:r>
            <a:rPr lang="en-US" dirty="0" smtClean="0">
              <a:latin typeface="Arial" panose="020B0604020202020204" pitchFamily="34" charset="0"/>
              <a:cs typeface="Arial" panose="020B0604020202020204" pitchFamily="34" charset="0"/>
            </a:rPr>
            <a:t> using PySpark</a:t>
          </a:r>
          <a:endParaRPr lang="en-IN" dirty="0">
            <a:latin typeface="Arial" panose="020B0604020202020204" pitchFamily="34" charset="0"/>
            <a:cs typeface="Arial" panose="020B0604020202020204" pitchFamily="34" charset="0"/>
          </a:endParaRPr>
        </a:p>
      </dgm:t>
    </dgm:pt>
    <dgm:pt modelId="{C8E3AC03-BB28-4ADC-821F-D1B7CCF689CF}" type="parTrans" cxnId="{3C3835DB-483D-4774-A474-6ABF054084CF}">
      <dgm:prSet/>
      <dgm:spPr/>
      <dgm:t>
        <a:bodyPr/>
        <a:lstStyle/>
        <a:p>
          <a:endParaRPr lang="en-IN">
            <a:latin typeface="Arial" panose="020B0604020202020204" pitchFamily="34" charset="0"/>
            <a:cs typeface="Arial" panose="020B0604020202020204" pitchFamily="34" charset="0"/>
          </a:endParaRPr>
        </a:p>
      </dgm:t>
    </dgm:pt>
    <dgm:pt modelId="{F9724D95-57C9-49E1-B2AD-955C789FC608}" type="sibTrans" cxnId="{3C3835DB-483D-4774-A474-6ABF054084CF}">
      <dgm:prSet/>
      <dgm:spPr/>
      <dgm:t>
        <a:bodyPr/>
        <a:lstStyle/>
        <a:p>
          <a:endParaRPr lang="en-IN">
            <a:latin typeface="Arial" panose="020B0604020202020204" pitchFamily="34" charset="0"/>
            <a:cs typeface="Arial" panose="020B0604020202020204" pitchFamily="34" charset="0"/>
          </a:endParaRPr>
        </a:p>
      </dgm:t>
    </dgm:pt>
    <dgm:pt modelId="{0CBDF746-91D9-42AB-A344-EC3C1A0CD4DC}">
      <dgm:prSet/>
      <dgm:spPr/>
      <dgm:t>
        <a:bodyPr/>
        <a:lstStyle/>
        <a:p>
          <a:r>
            <a:rPr lang="en-US" dirty="0" smtClean="0">
              <a:latin typeface="Arial" panose="020B0604020202020204" pitchFamily="34" charset="0"/>
              <a:cs typeface="Arial" panose="020B0604020202020204" pitchFamily="34" charset="0"/>
            </a:rPr>
            <a:t>Exercises</a:t>
          </a:r>
          <a:endParaRPr lang="en-IN" dirty="0">
            <a:latin typeface="Arial" panose="020B0604020202020204" pitchFamily="34" charset="0"/>
            <a:cs typeface="Arial" panose="020B0604020202020204" pitchFamily="34" charset="0"/>
          </a:endParaRPr>
        </a:p>
      </dgm:t>
    </dgm:pt>
    <dgm:pt modelId="{56535848-342D-4B29-9191-D02CE8568A2F}" type="parTrans" cxnId="{815470CC-F24B-4208-A562-5C39ED5453DA}">
      <dgm:prSet/>
      <dgm:spPr/>
      <dgm:t>
        <a:bodyPr/>
        <a:lstStyle/>
        <a:p>
          <a:endParaRPr lang="en-IN">
            <a:latin typeface="Arial" panose="020B0604020202020204" pitchFamily="34" charset="0"/>
            <a:cs typeface="Arial" panose="020B0604020202020204" pitchFamily="34" charset="0"/>
          </a:endParaRPr>
        </a:p>
      </dgm:t>
    </dgm:pt>
    <dgm:pt modelId="{194C6F9F-D5D0-42F5-98E8-1ED11D2E5862}" type="sibTrans" cxnId="{815470CC-F24B-4208-A562-5C39ED5453DA}">
      <dgm:prSet/>
      <dgm:spPr/>
      <dgm:t>
        <a:bodyPr/>
        <a:lstStyle/>
        <a:p>
          <a:endParaRPr lang="en-IN">
            <a:latin typeface="Arial" panose="020B0604020202020204" pitchFamily="34" charset="0"/>
            <a:cs typeface="Arial" panose="020B0604020202020204" pitchFamily="34" charset="0"/>
          </a:endParaRPr>
        </a:p>
      </dgm:t>
    </dgm:pt>
    <dgm:pt modelId="{76AABBA8-7AED-49A2-9EA1-B82D59580F49}" type="pres">
      <dgm:prSet presAssocID="{6D33E1BF-4392-4206-8DB2-D2080BD3DEB7}" presName="Name0" presStyleCnt="0">
        <dgm:presLayoutVars>
          <dgm:dir/>
          <dgm:animLvl val="lvl"/>
          <dgm:resizeHandles val="exact"/>
        </dgm:presLayoutVars>
      </dgm:prSet>
      <dgm:spPr/>
      <dgm:t>
        <a:bodyPr/>
        <a:lstStyle/>
        <a:p>
          <a:endParaRPr lang="en-IN"/>
        </a:p>
      </dgm:t>
    </dgm:pt>
    <dgm:pt modelId="{1B6602A8-123E-4978-A68F-39F96AFA6FA6}" type="pres">
      <dgm:prSet presAssocID="{06F0B4E2-3C4C-42AC-9D8F-BBAFC72462DD}" presName="linNode" presStyleCnt="0"/>
      <dgm:spPr/>
      <dgm:t>
        <a:bodyPr/>
        <a:lstStyle/>
        <a:p>
          <a:endParaRPr lang="en-IN"/>
        </a:p>
      </dgm:t>
    </dgm:pt>
    <dgm:pt modelId="{6615A05E-3C83-44BD-AF92-F7FA42A80B08}" type="pres">
      <dgm:prSet presAssocID="{06F0B4E2-3C4C-42AC-9D8F-BBAFC72462DD}" presName="parentText" presStyleLbl="node1" presStyleIdx="0" presStyleCnt="6" custLinFactNeighborX="-574">
        <dgm:presLayoutVars>
          <dgm:chMax val="1"/>
          <dgm:bulletEnabled val="1"/>
        </dgm:presLayoutVars>
      </dgm:prSet>
      <dgm:spPr/>
      <dgm:t>
        <a:bodyPr/>
        <a:lstStyle/>
        <a:p>
          <a:endParaRPr lang="en-IN"/>
        </a:p>
      </dgm:t>
    </dgm:pt>
    <dgm:pt modelId="{BF9B535D-896A-4AB0-A2B4-DAE5BFE51901}" type="pres">
      <dgm:prSet presAssocID="{06F0B4E2-3C4C-42AC-9D8F-BBAFC72462DD}" presName="descendantText" presStyleLbl="alignAccFollowNode1" presStyleIdx="0" presStyleCnt="6">
        <dgm:presLayoutVars>
          <dgm:bulletEnabled val="1"/>
        </dgm:presLayoutVars>
      </dgm:prSet>
      <dgm:spPr/>
      <dgm:t>
        <a:bodyPr/>
        <a:lstStyle/>
        <a:p>
          <a:endParaRPr lang="en-IN"/>
        </a:p>
      </dgm:t>
    </dgm:pt>
    <dgm:pt modelId="{4964C70B-0AE6-41F0-9859-27E5870AE422}" type="pres">
      <dgm:prSet presAssocID="{9FBC7F35-10AF-4961-B2D4-6F2B796D7D85}" presName="sp" presStyleCnt="0"/>
      <dgm:spPr/>
      <dgm:t>
        <a:bodyPr/>
        <a:lstStyle/>
        <a:p>
          <a:endParaRPr lang="en-IN"/>
        </a:p>
      </dgm:t>
    </dgm:pt>
    <dgm:pt modelId="{9F86AC3C-427A-45B6-970A-AD3DF9AF9E03}" type="pres">
      <dgm:prSet presAssocID="{D85CE42E-1C59-4439-9304-5FC58261AC64}" presName="linNode" presStyleCnt="0"/>
      <dgm:spPr/>
      <dgm:t>
        <a:bodyPr/>
        <a:lstStyle/>
        <a:p>
          <a:endParaRPr lang="en-IN"/>
        </a:p>
      </dgm:t>
    </dgm:pt>
    <dgm:pt modelId="{919F3EB5-11E5-4C15-BDDE-7DDF32465E5D}" type="pres">
      <dgm:prSet presAssocID="{D85CE42E-1C59-4439-9304-5FC58261AC64}" presName="parentText" presStyleLbl="node1" presStyleIdx="1" presStyleCnt="6" custLinFactNeighborX="-574">
        <dgm:presLayoutVars>
          <dgm:chMax val="1"/>
          <dgm:bulletEnabled val="1"/>
        </dgm:presLayoutVars>
      </dgm:prSet>
      <dgm:spPr/>
      <dgm:t>
        <a:bodyPr/>
        <a:lstStyle/>
        <a:p>
          <a:endParaRPr lang="en-IN"/>
        </a:p>
      </dgm:t>
    </dgm:pt>
    <dgm:pt modelId="{91269ECD-6F82-430B-BA12-73A815751F2E}" type="pres">
      <dgm:prSet presAssocID="{D85CE42E-1C59-4439-9304-5FC58261AC64}" presName="descendantText" presStyleLbl="alignAccFollowNode1" presStyleIdx="1" presStyleCnt="6">
        <dgm:presLayoutVars>
          <dgm:bulletEnabled val="1"/>
        </dgm:presLayoutVars>
      </dgm:prSet>
      <dgm:spPr/>
      <dgm:t>
        <a:bodyPr/>
        <a:lstStyle/>
        <a:p>
          <a:endParaRPr lang="en-IN"/>
        </a:p>
      </dgm:t>
    </dgm:pt>
    <dgm:pt modelId="{88C22D19-9266-4D7E-8519-CD24A09077C3}" type="pres">
      <dgm:prSet presAssocID="{CE21BAF2-DEEB-4F02-9C5E-AA979AFBE08B}" presName="sp" presStyleCnt="0"/>
      <dgm:spPr/>
      <dgm:t>
        <a:bodyPr/>
        <a:lstStyle/>
        <a:p>
          <a:endParaRPr lang="en-IN"/>
        </a:p>
      </dgm:t>
    </dgm:pt>
    <dgm:pt modelId="{FB6291E5-0660-4B76-9CFC-AE0D64A9D8D3}" type="pres">
      <dgm:prSet presAssocID="{60365183-CE32-4168-9B2F-ECDC720E64E4}" presName="linNode" presStyleCnt="0"/>
      <dgm:spPr/>
      <dgm:t>
        <a:bodyPr/>
        <a:lstStyle/>
        <a:p>
          <a:endParaRPr lang="en-IN"/>
        </a:p>
      </dgm:t>
    </dgm:pt>
    <dgm:pt modelId="{8E42E0B6-F9A6-400C-AB2D-7833AEE4EC07}" type="pres">
      <dgm:prSet presAssocID="{60365183-CE32-4168-9B2F-ECDC720E64E4}" presName="parentText" presStyleLbl="node1" presStyleIdx="2" presStyleCnt="6" custLinFactNeighborX="-574">
        <dgm:presLayoutVars>
          <dgm:chMax val="1"/>
          <dgm:bulletEnabled val="1"/>
        </dgm:presLayoutVars>
      </dgm:prSet>
      <dgm:spPr/>
      <dgm:t>
        <a:bodyPr/>
        <a:lstStyle/>
        <a:p>
          <a:endParaRPr lang="en-IN"/>
        </a:p>
      </dgm:t>
    </dgm:pt>
    <dgm:pt modelId="{C407C442-ABDB-4873-A710-97604EB421E6}" type="pres">
      <dgm:prSet presAssocID="{60365183-CE32-4168-9B2F-ECDC720E64E4}" presName="descendantText" presStyleLbl="alignAccFollowNode1" presStyleIdx="2" presStyleCnt="6">
        <dgm:presLayoutVars>
          <dgm:bulletEnabled val="1"/>
        </dgm:presLayoutVars>
      </dgm:prSet>
      <dgm:spPr/>
      <dgm:t>
        <a:bodyPr/>
        <a:lstStyle/>
        <a:p>
          <a:endParaRPr lang="en-IN"/>
        </a:p>
      </dgm:t>
    </dgm:pt>
    <dgm:pt modelId="{0480248E-8F97-4A83-BC37-5332B9605F34}" type="pres">
      <dgm:prSet presAssocID="{A5527CE7-52A4-4645-A14E-270C4EF01862}" presName="sp" presStyleCnt="0"/>
      <dgm:spPr/>
      <dgm:t>
        <a:bodyPr/>
        <a:lstStyle/>
        <a:p>
          <a:endParaRPr lang="en-IN"/>
        </a:p>
      </dgm:t>
    </dgm:pt>
    <dgm:pt modelId="{3F04792C-10EE-4238-9356-9B83B0ECFB4F}" type="pres">
      <dgm:prSet presAssocID="{D105E93B-CE00-4C11-AA85-A316D0E0C43F}" presName="linNode" presStyleCnt="0"/>
      <dgm:spPr/>
      <dgm:t>
        <a:bodyPr/>
        <a:lstStyle/>
        <a:p>
          <a:endParaRPr lang="en-IN"/>
        </a:p>
      </dgm:t>
    </dgm:pt>
    <dgm:pt modelId="{ECD9573A-89DE-438F-A21C-74065D833030}" type="pres">
      <dgm:prSet presAssocID="{D105E93B-CE00-4C11-AA85-A316D0E0C43F}" presName="parentText" presStyleLbl="node1" presStyleIdx="3" presStyleCnt="6" custLinFactNeighborX="-574">
        <dgm:presLayoutVars>
          <dgm:chMax val="1"/>
          <dgm:bulletEnabled val="1"/>
        </dgm:presLayoutVars>
      </dgm:prSet>
      <dgm:spPr/>
      <dgm:t>
        <a:bodyPr/>
        <a:lstStyle/>
        <a:p>
          <a:endParaRPr lang="en-IN"/>
        </a:p>
      </dgm:t>
    </dgm:pt>
    <dgm:pt modelId="{428A7722-D9CA-4DC6-9821-CE5ADF1C6910}" type="pres">
      <dgm:prSet presAssocID="{D105E93B-CE00-4C11-AA85-A316D0E0C43F}" presName="descendantText" presStyleLbl="alignAccFollowNode1" presStyleIdx="3" presStyleCnt="6">
        <dgm:presLayoutVars>
          <dgm:bulletEnabled val="1"/>
        </dgm:presLayoutVars>
      </dgm:prSet>
      <dgm:spPr/>
      <dgm:t>
        <a:bodyPr/>
        <a:lstStyle/>
        <a:p>
          <a:endParaRPr lang="en-IN"/>
        </a:p>
      </dgm:t>
    </dgm:pt>
    <dgm:pt modelId="{56B99197-B6EA-479C-ADB3-E5D1F1D40D42}" type="pres">
      <dgm:prSet presAssocID="{377E99CE-25B3-4716-9801-53740DCFE628}" presName="sp" presStyleCnt="0"/>
      <dgm:spPr/>
      <dgm:t>
        <a:bodyPr/>
        <a:lstStyle/>
        <a:p>
          <a:endParaRPr lang="en-IN"/>
        </a:p>
      </dgm:t>
    </dgm:pt>
    <dgm:pt modelId="{EFCA9CA7-7329-4CED-AD6D-363E8EE652DA}" type="pres">
      <dgm:prSet presAssocID="{444932D3-4CFC-4249-9459-9A8517AE665B}" presName="linNode" presStyleCnt="0"/>
      <dgm:spPr/>
      <dgm:t>
        <a:bodyPr/>
        <a:lstStyle/>
        <a:p>
          <a:endParaRPr lang="en-IN"/>
        </a:p>
      </dgm:t>
    </dgm:pt>
    <dgm:pt modelId="{6A024656-87BC-47AC-A78F-B37D1AB4378F}" type="pres">
      <dgm:prSet presAssocID="{444932D3-4CFC-4249-9459-9A8517AE665B}" presName="parentText" presStyleLbl="node1" presStyleIdx="4" presStyleCnt="6" custLinFactNeighborX="-574">
        <dgm:presLayoutVars>
          <dgm:chMax val="1"/>
          <dgm:bulletEnabled val="1"/>
        </dgm:presLayoutVars>
      </dgm:prSet>
      <dgm:spPr/>
      <dgm:t>
        <a:bodyPr/>
        <a:lstStyle/>
        <a:p>
          <a:endParaRPr lang="en-IN"/>
        </a:p>
      </dgm:t>
    </dgm:pt>
    <dgm:pt modelId="{39BC48BE-A854-4AC9-8F42-1923EC91A167}" type="pres">
      <dgm:prSet presAssocID="{444932D3-4CFC-4249-9459-9A8517AE665B}" presName="descendantText" presStyleLbl="alignAccFollowNode1" presStyleIdx="4" presStyleCnt="6">
        <dgm:presLayoutVars>
          <dgm:bulletEnabled val="1"/>
        </dgm:presLayoutVars>
      </dgm:prSet>
      <dgm:spPr/>
      <dgm:t>
        <a:bodyPr/>
        <a:lstStyle/>
        <a:p>
          <a:endParaRPr lang="en-IN"/>
        </a:p>
      </dgm:t>
    </dgm:pt>
    <dgm:pt modelId="{82E1A054-532D-471A-A198-D75CEC3AADE4}" type="pres">
      <dgm:prSet presAssocID="{214659B3-7BD6-4253-BDB3-0061C72D344F}" presName="sp" presStyleCnt="0"/>
      <dgm:spPr/>
      <dgm:t>
        <a:bodyPr/>
        <a:lstStyle/>
        <a:p>
          <a:endParaRPr lang="en-IN"/>
        </a:p>
      </dgm:t>
    </dgm:pt>
    <dgm:pt modelId="{681A9186-921A-45D7-AB0D-E7B87F1CD9B4}" type="pres">
      <dgm:prSet presAssocID="{12E5CA6D-3D3D-42C9-95D6-654F4A4AEA31}" presName="linNode" presStyleCnt="0"/>
      <dgm:spPr/>
      <dgm:t>
        <a:bodyPr/>
        <a:lstStyle/>
        <a:p>
          <a:endParaRPr lang="en-IN"/>
        </a:p>
      </dgm:t>
    </dgm:pt>
    <dgm:pt modelId="{63D83632-AA81-4829-851C-7458A551B573}" type="pres">
      <dgm:prSet presAssocID="{12E5CA6D-3D3D-42C9-95D6-654F4A4AEA31}" presName="parentText" presStyleLbl="node1" presStyleIdx="5" presStyleCnt="6">
        <dgm:presLayoutVars>
          <dgm:chMax val="1"/>
          <dgm:bulletEnabled val="1"/>
        </dgm:presLayoutVars>
      </dgm:prSet>
      <dgm:spPr/>
      <dgm:t>
        <a:bodyPr/>
        <a:lstStyle/>
        <a:p>
          <a:endParaRPr lang="en-IN"/>
        </a:p>
      </dgm:t>
    </dgm:pt>
    <dgm:pt modelId="{A7344652-D4A5-4A12-9C79-FD33C1425BC8}" type="pres">
      <dgm:prSet presAssocID="{12E5CA6D-3D3D-42C9-95D6-654F4A4AEA31}" presName="descendantText" presStyleLbl="alignAccFollowNode1" presStyleIdx="5" presStyleCnt="6">
        <dgm:presLayoutVars>
          <dgm:bulletEnabled val="1"/>
        </dgm:presLayoutVars>
      </dgm:prSet>
      <dgm:spPr/>
      <dgm:t>
        <a:bodyPr/>
        <a:lstStyle/>
        <a:p>
          <a:endParaRPr lang="en-IN"/>
        </a:p>
      </dgm:t>
    </dgm:pt>
  </dgm:ptLst>
  <dgm:cxnLst>
    <dgm:cxn modelId="{008943BB-1650-4ADD-8683-CD3B41D81426}" type="presOf" srcId="{5958038D-CA55-4818-933D-48FDC20F59AF}" destId="{C407C442-ABDB-4873-A710-97604EB421E6}" srcOrd="0" destOrd="0" presId="urn:microsoft.com/office/officeart/2005/8/layout/vList5"/>
    <dgm:cxn modelId="{E3B07868-A6F4-4C95-B116-75D5E4F08F27}" type="presOf" srcId="{0CBDF746-91D9-42AB-A344-EC3C1A0CD4DC}" destId="{A7344652-D4A5-4A12-9C79-FD33C1425BC8}" srcOrd="0" destOrd="1" presId="urn:microsoft.com/office/officeart/2005/8/layout/vList5"/>
    <dgm:cxn modelId="{A78151E6-2189-4F1C-9C18-70409C57E317}" srcId="{6D33E1BF-4392-4206-8DB2-D2080BD3DEB7}" destId="{444932D3-4CFC-4249-9459-9A8517AE665B}" srcOrd="4" destOrd="0" parTransId="{2C6D6FCD-01F7-450F-9C6C-1B18FF3A0C67}" sibTransId="{214659B3-7BD6-4253-BDB3-0061C72D344F}"/>
    <dgm:cxn modelId="{B13F5BC9-8B32-4680-8FF4-887F34D66086}" type="presOf" srcId="{876EF211-6C75-454D-9B26-EF92DDD50FA7}" destId="{BF9B535D-896A-4AB0-A2B4-DAE5BFE51901}" srcOrd="0" destOrd="0" presId="urn:microsoft.com/office/officeart/2005/8/layout/vList5"/>
    <dgm:cxn modelId="{2E124668-61C4-4D2A-A460-04B8220D19B2}" srcId="{D85CE42E-1C59-4439-9304-5FC58261AC64}" destId="{CA4AC58F-56F2-46D7-9B50-1A514CA1BC4B}" srcOrd="1" destOrd="0" parTransId="{258EAD25-1296-49EE-9DC9-40C120758A9A}" sibTransId="{AF5ED49C-A230-4E82-8261-FB32BBCF032D}"/>
    <dgm:cxn modelId="{96E479C8-4D53-464D-9647-94FFD19055BB}" type="presOf" srcId="{6D33E1BF-4392-4206-8DB2-D2080BD3DEB7}" destId="{76AABBA8-7AED-49A2-9EA1-B82D59580F49}" srcOrd="0" destOrd="0" presId="urn:microsoft.com/office/officeart/2005/8/layout/vList5"/>
    <dgm:cxn modelId="{25D20D5E-C57E-44B4-B557-9863C0E729FF}" type="presOf" srcId="{D85CE42E-1C59-4439-9304-5FC58261AC64}" destId="{919F3EB5-11E5-4C15-BDDE-7DDF32465E5D}" srcOrd="0" destOrd="0" presId="urn:microsoft.com/office/officeart/2005/8/layout/vList5"/>
    <dgm:cxn modelId="{CCF14341-17D0-430F-B819-B79A92C5AB70}" srcId="{D105E93B-CE00-4C11-AA85-A316D0E0C43F}" destId="{45DD082C-26D4-46D7-8228-73F0396D2806}" srcOrd="1" destOrd="0" parTransId="{5A876BA5-C028-4FE7-B5C9-DF0521AB8362}" sibTransId="{5F482EFE-52B0-4C80-A8C9-12E19035A5FC}"/>
    <dgm:cxn modelId="{A8E012C2-A84E-4AA0-B561-3F407D93B4E9}" srcId="{60365183-CE32-4168-9B2F-ECDC720E64E4}" destId="{5958038D-CA55-4818-933D-48FDC20F59AF}" srcOrd="0" destOrd="0" parTransId="{1377EFF9-41FA-4EFC-865F-66C829533A62}" sibTransId="{703878D6-18A8-43BE-AEF0-298251B308C7}"/>
    <dgm:cxn modelId="{F66629A0-E7EC-4054-846B-C08EC2813C44}" type="presOf" srcId="{364D5E57-F90D-47A9-94FC-E87BF9566108}" destId="{91269ECD-6F82-430B-BA12-73A815751F2E}" srcOrd="0" destOrd="0" presId="urn:microsoft.com/office/officeart/2005/8/layout/vList5"/>
    <dgm:cxn modelId="{9CE81D29-1EA6-471B-A5CD-587F1BAF6E68}" type="presOf" srcId="{444932D3-4CFC-4249-9459-9A8517AE665B}" destId="{6A024656-87BC-47AC-A78F-B37D1AB4378F}" srcOrd="0" destOrd="0" presId="urn:microsoft.com/office/officeart/2005/8/layout/vList5"/>
    <dgm:cxn modelId="{43BF3CEA-1B5C-453B-A9A4-9336E570E7C7}" srcId="{6D33E1BF-4392-4206-8DB2-D2080BD3DEB7}" destId="{D105E93B-CE00-4C11-AA85-A316D0E0C43F}" srcOrd="3" destOrd="0" parTransId="{3D4242FA-1D07-4CD0-9227-848A0588F159}" sibTransId="{377E99CE-25B3-4716-9801-53740DCFE628}"/>
    <dgm:cxn modelId="{8EE7B9BC-0C1D-4B0F-8E3C-6DE520299189}" type="presOf" srcId="{06F0B4E2-3C4C-42AC-9D8F-BBAFC72462DD}" destId="{6615A05E-3C83-44BD-AF92-F7FA42A80B08}" srcOrd="0" destOrd="0" presId="urn:microsoft.com/office/officeart/2005/8/layout/vList5"/>
    <dgm:cxn modelId="{9B83973E-BEAF-4F96-9A9F-FA8BA9F8FDE8}" srcId="{6D33E1BF-4392-4206-8DB2-D2080BD3DEB7}" destId="{06F0B4E2-3C4C-42AC-9D8F-BBAFC72462DD}" srcOrd="0" destOrd="0" parTransId="{1EACE95E-FFD1-44C4-9D97-77DF9B47647E}" sibTransId="{9FBC7F35-10AF-4961-B2D4-6F2B796D7D85}"/>
    <dgm:cxn modelId="{D6BD50E6-1579-4A5A-BBD3-B43E2C026F00}" type="presOf" srcId="{AF7AF890-5241-4030-8944-F92C8B416345}" destId="{C407C442-ABDB-4873-A710-97604EB421E6}" srcOrd="0" destOrd="1" presId="urn:microsoft.com/office/officeart/2005/8/layout/vList5"/>
    <dgm:cxn modelId="{88E38EC8-B4C6-4DF1-93FA-2BDD7E18A953}" type="presOf" srcId="{7D364796-0495-4ADB-8D4E-6E84FBF21E14}" destId="{428A7722-D9CA-4DC6-9821-CE5ADF1C6910}" srcOrd="0" destOrd="0" presId="urn:microsoft.com/office/officeart/2005/8/layout/vList5"/>
    <dgm:cxn modelId="{3C3835DB-483D-4774-A474-6ABF054084CF}" srcId="{12E5CA6D-3D3D-42C9-95D6-654F4A4AEA31}" destId="{534BC3AA-5790-4353-B02A-2EDFA0E30BFF}" srcOrd="0" destOrd="0" parTransId="{C8E3AC03-BB28-4ADC-821F-D1B7CCF689CF}" sibTransId="{F9724D95-57C9-49E1-B2AD-955C789FC608}"/>
    <dgm:cxn modelId="{514EBCA2-47B5-4E77-B15B-D6D67E574A21}" srcId="{444932D3-4CFC-4249-9459-9A8517AE665B}" destId="{6CED446F-0BD4-4AD6-9474-27531E717A45}" srcOrd="1" destOrd="0" parTransId="{69F479B5-E1CA-42D1-A17B-B6AB77223638}" sibTransId="{7C4F89FC-C54C-437F-B407-9F6A3585BAA5}"/>
    <dgm:cxn modelId="{D0C6EF71-F26A-4B9E-A058-FF6670063A44}" type="presOf" srcId="{60365183-CE32-4168-9B2F-ECDC720E64E4}" destId="{8E42E0B6-F9A6-400C-AB2D-7833AEE4EC07}" srcOrd="0" destOrd="0" presId="urn:microsoft.com/office/officeart/2005/8/layout/vList5"/>
    <dgm:cxn modelId="{86C52A1C-C449-4F65-B8B7-E62702353ACF}" srcId="{D85CE42E-1C59-4439-9304-5FC58261AC64}" destId="{364D5E57-F90D-47A9-94FC-E87BF9566108}" srcOrd="0" destOrd="0" parTransId="{C402F0B0-0519-458A-AAB2-67D2CF32B126}" sibTransId="{DC1C3C4A-8494-42EE-B052-B0464F97AE34}"/>
    <dgm:cxn modelId="{815470CC-F24B-4208-A562-5C39ED5453DA}" srcId="{12E5CA6D-3D3D-42C9-95D6-654F4A4AEA31}" destId="{0CBDF746-91D9-42AB-A344-EC3C1A0CD4DC}" srcOrd="1" destOrd="0" parTransId="{56535848-342D-4B29-9191-D02CE8568A2F}" sibTransId="{194C6F9F-D5D0-42F5-98E8-1ED11D2E5862}"/>
    <dgm:cxn modelId="{BD43FC39-34FB-444A-A71D-0F475F73C034}" srcId="{6D33E1BF-4392-4206-8DB2-D2080BD3DEB7}" destId="{60365183-CE32-4168-9B2F-ECDC720E64E4}" srcOrd="2" destOrd="0" parTransId="{CA002CAA-F332-41AE-BE5A-A69DA0A9C3D0}" sibTransId="{A5527CE7-52A4-4645-A14E-270C4EF01862}"/>
    <dgm:cxn modelId="{4A793357-E405-4E3C-9411-0FFC7EC818C4}" type="presOf" srcId="{12E5CA6D-3D3D-42C9-95D6-654F4A4AEA31}" destId="{63D83632-AA81-4829-851C-7458A551B573}" srcOrd="0" destOrd="0" presId="urn:microsoft.com/office/officeart/2005/8/layout/vList5"/>
    <dgm:cxn modelId="{3BBBF938-FD17-4565-B6FD-4F1F6D76CAE5}" srcId="{06F0B4E2-3C4C-42AC-9D8F-BBAFC72462DD}" destId="{876EF211-6C75-454D-9B26-EF92DDD50FA7}" srcOrd="0" destOrd="0" parTransId="{A993B6C1-3574-453A-8577-0E1416870B1C}" sibTransId="{42796EA4-CE19-451A-B5A3-5161F060E0B4}"/>
    <dgm:cxn modelId="{0170047B-FDFF-410F-B028-F3A2D418929A}" type="presOf" srcId="{6CED446F-0BD4-4AD6-9474-27531E717A45}" destId="{39BC48BE-A854-4AC9-8F42-1923EC91A167}" srcOrd="0" destOrd="1" presId="urn:microsoft.com/office/officeart/2005/8/layout/vList5"/>
    <dgm:cxn modelId="{410EF911-568A-4320-A25B-50B4D712E143}" type="presOf" srcId="{D4F37E4A-E07D-4955-8D16-4A04AA30CF82}" destId="{39BC48BE-A854-4AC9-8F42-1923EC91A167}" srcOrd="0" destOrd="0" presId="urn:microsoft.com/office/officeart/2005/8/layout/vList5"/>
    <dgm:cxn modelId="{CF136BD9-5A22-4191-89CA-584589C3722B}" srcId="{D105E93B-CE00-4C11-AA85-A316D0E0C43F}" destId="{7D364796-0495-4ADB-8D4E-6E84FBF21E14}" srcOrd="0" destOrd="0" parTransId="{99DC3A8B-6CAC-4179-BA21-0F8DD1DB7933}" sibTransId="{D09C9C17-872F-49B8-9FBF-B33AA712529C}"/>
    <dgm:cxn modelId="{D2B192F1-ECCA-4960-A7AB-9FB0B74F794C}" type="presOf" srcId="{D105E93B-CE00-4C11-AA85-A316D0E0C43F}" destId="{ECD9573A-89DE-438F-A21C-74065D833030}" srcOrd="0" destOrd="0" presId="urn:microsoft.com/office/officeart/2005/8/layout/vList5"/>
    <dgm:cxn modelId="{3B697F5D-A90C-4C59-8923-5B35FE95D919}" type="presOf" srcId="{534BC3AA-5790-4353-B02A-2EDFA0E30BFF}" destId="{A7344652-D4A5-4A12-9C79-FD33C1425BC8}" srcOrd="0" destOrd="0" presId="urn:microsoft.com/office/officeart/2005/8/layout/vList5"/>
    <dgm:cxn modelId="{2AF55609-615B-4DD9-A1B3-C375223D1DDC}" srcId="{60365183-CE32-4168-9B2F-ECDC720E64E4}" destId="{AF7AF890-5241-4030-8944-F92C8B416345}" srcOrd="1" destOrd="0" parTransId="{4DCD9225-42AD-45A5-A119-D74616DDFFC4}" sibTransId="{29A90807-237E-4619-8955-0079EEE90AC9}"/>
    <dgm:cxn modelId="{0B174A09-C62E-4818-9C3F-FC414115EE24}" type="presOf" srcId="{CA4AC58F-56F2-46D7-9B50-1A514CA1BC4B}" destId="{91269ECD-6F82-430B-BA12-73A815751F2E}" srcOrd="0" destOrd="1" presId="urn:microsoft.com/office/officeart/2005/8/layout/vList5"/>
    <dgm:cxn modelId="{7C0B1E8D-557B-49CA-B780-F13959B64A69}" srcId="{444932D3-4CFC-4249-9459-9A8517AE665B}" destId="{D4F37E4A-E07D-4955-8D16-4A04AA30CF82}" srcOrd="0" destOrd="0" parTransId="{9E409FCC-E974-4C48-9C38-902F3E895A85}" sibTransId="{16AE1798-042A-4544-A218-280A1FF26E34}"/>
    <dgm:cxn modelId="{110EDE47-12C3-46E6-903F-20A6347A7650}" type="presOf" srcId="{45DD082C-26D4-46D7-8228-73F0396D2806}" destId="{428A7722-D9CA-4DC6-9821-CE5ADF1C6910}" srcOrd="0" destOrd="1" presId="urn:microsoft.com/office/officeart/2005/8/layout/vList5"/>
    <dgm:cxn modelId="{FFF83FD4-ED15-47D6-B634-53B3D04BF252}" srcId="{6D33E1BF-4392-4206-8DB2-D2080BD3DEB7}" destId="{D85CE42E-1C59-4439-9304-5FC58261AC64}" srcOrd="1" destOrd="0" parTransId="{32CBA3E8-13FC-4954-B12C-815CE213FEE4}" sibTransId="{CE21BAF2-DEEB-4F02-9C5E-AA979AFBE08B}"/>
    <dgm:cxn modelId="{3313D3C2-34A9-42CE-837D-3AD195E95805}" srcId="{6D33E1BF-4392-4206-8DB2-D2080BD3DEB7}" destId="{12E5CA6D-3D3D-42C9-95D6-654F4A4AEA31}" srcOrd="5" destOrd="0" parTransId="{5B993C77-D664-4803-A745-1A39809E3F0B}" sibTransId="{5702E080-7F06-4A31-8C27-2AE394252BC1}"/>
    <dgm:cxn modelId="{29127C87-3342-4392-B942-DA2BE3ED16B4}" type="presParOf" srcId="{76AABBA8-7AED-49A2-9EA1-B82D59580F49}" destId="{1B6602A8-123E-4978-A68F-39F96AFA6FA6}" srcOrd="0" destOrd="0" presId="urn:microsoft.com/office/officeart/2005/8/layout/vList5"/>
    <dgm:cxn modelId="{25C7493A-9F3C-4BDE-A665-40B2C7C4D17C}" type="presParOf" srcId="{1B6602A8-123E-4978-A68F-39F96AFA6FA6}" destId="{6615A05E-3C83-44BD-AF92-F7FA42A80B08}" srcOrd="0" destOrd="0" presId="urn:microsoft.com/office/officeart/2005/8/layout/vList5"/>
    <dgm:cxn modelId="{0D039238-8109-47FA-989F-9AE6C73F1786}" type="presParOf" srcId="{1B6602A8-123E-4978-A68F-39F96AFA6FA6}" destId="{BF9B535D-896A-4AB0-A2B4-DAE5BFE51901}" srcOrd="1" destOrd="0" presId="urn:microsoft.com/office/officeart/2005/8/layout/vList5"/>
    <dgm:cxn modelId="{2E1BCF06-770B-482C-8EAB-8D4F43F7689C}" type="presParOf" srcId="{76AABBA8-7AED-49A2-9EA1-B82D59580F49}" destId="{4964C70B-0AE6-41F0-9859-27E5870AE422}" srcOrd="1" destOrd="0" presId="urn:microsoft.com/office/officeart/2005/8/layout/vList5"/>
    <dgm:cxn modelId="{D0AB8AC8-119F-4E3D-A95B-3B54113DD6F1}" type="presParOf" srcId="{76AABBA8-7AED-49A2-9EA1-B82D59580F49}" destId="{9F86AC3C-427A-45B6-970A-AD3DF9AF9E03}" srcOrd="2" destOrd="0" presId="urn:microsoft.com/office/officeart/2005/8/layout/vList5"/>
    <dgm:cxn modelId="{4837EFA3-43B4-4432-A841-5915690678D5}" type="presParOf" srcId="{9F86AC3C-427A-45B6-970A-AD3DF9AF9E03}" destId="{919F3EB5-11E5-4C15-BDDE-7DDF32465E5D}" srcOrd="0" destOrd="0" presId="urn:microsoft.com/office/officeart/2005/8/layout/vList5"/>
    <dgm:cxn modelId="{AE76E2B5-CEC3-4476-9258-A2FDF36D7263}" type="presParOf" srcId="{9F86AC3C-427A-45B6-970A-AD3DF9AF9E03}" destId="{91269ECD-6F82-430B-BA12-73A815751F2E}" srcOrd="1" destOrd="0" presId="urn:microsoft.com/office/officeart/2005/8/layout/vList5"/>
    <dgm:cxn modelId="{EC25FA89-6D1F-417D-8A82-673EE1D30448}" type="presParOf" srcId="{76AABBA8-7AED-49A2-9EA1-B82D59580F49}" destId="{88C22D19-9266-4D7E-8519-CD24A09077C3}" srcOrd="3" destOrd="0" presId="urn:microsoft.com/office/officeart/2005/8/layout/vList5"/>
    <dgm:cxn modelId="{0CD81C22-53C5-40B4-B030-10AC8D9D4BB3}" type="presParOf" srcId="{76AABBA8-7AED-49A2-9EA1-B82D59580F49}" destId="{FB6291E5-0660-4B76-9CFC-AE0D64A9D8D3}" srcOrd="4" destOrd="0" presId="urn:microsoft.com/office/officeart/2005/8/layout/vList5"/>
    <dgm:cxn modelId="{B2808A4F-76A6-4551-A9B0-FA9265B0E87E}" type="presParOf" srcId="{FB6291E5-0660-4B76-9CFC-AE0D64A9D8D3}" destId="{8E42E0B6-F9A6-400C-AB2D-7833AEE4EC07}" srcOrd="0" destOrd="0" presId="urn:microsoft.com/office/officeart/2005/8/layout/vList5"/>
    <dgm:cxn modelId="{71A6C090-EA1B-4EE2-B6FE-3784D6FF4117}" type="presParOf" srcId="{FB6291E5-0660-4B76-9CFC-AE0D64A9D8D3}" destId="{C407C442-ABDB-4873-A710-97604EB421E6}" srcOrd="1" destOrd="0" presId="urn:microsoft.com/office/officeart/2005/8/layout/vList5"/>
    <dgm:cxn modelId="{771886A5-5FED-4B12-8296-AB626F7A0AEF}" type="presParOf" srcId="{76AABBA8-7AED-49A2-9EA1-B82D59580F49}" destId="{0480248E-8F97-4A83-BC37-5332B9605F34}" srcOrd="5" destOrd="0" presId="urn:microsoft.com/office/officeart/2005/8/layout/vList5"/>
    <dgm:cxn modelId="{4B9F73A8-2F58-4D70-A16A-B8F9DB0969A9}" type="presParOf" srcId="{76AABBA8-7AED-49A2-9EA1-B82D59580F49}" destId="{3F04792C-10EE-4238-9356-9B83B0ECFB4F}" srcOrd="6" destOrd="0" presId="urn:microsoft.com/office/officeart/2005/8/layout/vList5"/>
    <dgm:cxn modelId="{D2814E88-046C-467B-8F42-6355BBEC8535}" type="presParOf" srcId="{3F04792C-10EE-4238-9356-9B83B0ECFB4F}" destId="{ECD9573A-89DE-438F-A21C-74065D833030}" srcOrd="0" destOrd="0" presId="urn:microsoft.com/office/officeart/2005/8/layout/vList5"/>
    <dgm:cxn modelId="{E4F9E4FE-BF4C-4014-921C-A02F969F21B5}" type="presParOf" srcId="{3F04792C-10EE-4238-9356-9B83B0ECFB4F}" destId="{428A7722-D9CA-4DC6-9821-CE5ADF1C6910}" srcOrd="1" destOrd="0" presId="urn:microsoft.com/office/officeart/2005/8/layout/vList5"/>
    <dgm:cxn modelId="{A6CA51CF-3FFC-4BB8-989D-2492EF475EC8}" type="presParOf" srcId="{76AABBA8-7AED-49A2-9EA1-B82D59580F49}" destId="{56B99197-B6EA-479C-ADB3-E5D1F1D40D42}" srcOrd="7" destOrd="0" presId="urn:microsoft.com/office/officeart/2005/8/layout/vList5"/>
    <dgm:cxn modelId="{2E1B5C6E-3199-42EC-BC38-96DAAAA1CA83}" type="presParOf" srcId="{76AABBA8-7AED-49A2-9EA1-B82D59580F49}" destId="{EFCA9CA7-7329-4CED-AD6D-363E8EE652DA}" srcOrd="8" destOrd="0" presId="urn:microsoft.com/office/officeart/2005/8/layout/vList5"/>
    <dgm:cxn modelId="{26ADBF61-F081-449A-AF83-F5C885130389}" type="presParOf" srcId="{EFCA9CA7-7329-4CED-AD6D-363E8EE652DA}" destId="{6A024656-87BC-47AC-A78F-B37D1AB4378F}" srcOrd="0" destOrd="0" presId="urn:microsoft.com/office/officeart/2005/8/layout/vList5"/>
    <dgm:cxn modelId="{84ED43B5-DB4F-4826-8D01-20324956E63E}" type="presParOf" srcId="{EFCA9CA7-7329-4CED-AD6D-363E8EE652DA}" destId="{39BC48BE-A854-4AC9-8F42-1923EC91A167}" srcOrd="1" destOrd="0" presId="urn:microsoft.com/office/officeart/2005/8/layout/vList5"/>
    <dgm:cxn modelId="{9721B90C-B04F-42CF-96A0-E9D326AF2D34}" type="presParOf" srcId="{76AABBA8-7AED-49A2-9EA1-B82D59580F49}" destId="{82E1A054-532D-471A-A198-D75CEC3AADE4}" srcOrd="9" destOrd="0" presId="urn:microsoft.com/office/officeart/2005/8/layout/vList5"/>
    <dgm:cxn modelId="{BD0CEB92-D458-40E2-B24A-7916FEDCDFFE}" type="presParOf" srcId="{76AABBA8-7AED-49A2-9EA1-B82D59580F49}" destId="{681A9186-921A-45D7-AB0D-E7B87F1CD9B4}" srcOrd="10" destOrd="0" presId="urn:microsoft.com/office/officeart/2005/8/layout/vList5"/>
    <dgm:cxn modelId="{AEAF5CD2-3C95-4CB8-8ACA-3FC32AAE9C52}" type="presParOf" srcId="{681A9186-921A-45D7-AB0D-E7B87F1CD9B4}" destId="{63D83632-AA81-4829-851C-7458A551B573}" srcOrd="0" destOrd="0" presId="urn:microsoft.com/office/officeart/2005/8/layout/vList5"/>
    <dgm:cxn modelId="{A341F2C5-FAFC-4455-BC89-4B8968464619}" type="presParOf" srcId="{681A9186-921A-45D7-AB0D-E7B87F1CD9B4}" destId="{A7344652-D4A5-4A12-9C79-FD33C1425BC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B535D-896A-4AB0-A2B4-DAE5BFE51901}">
      <dsp:nvSpPr>
        <dsp:cNvPr id="0" name=""/>
        <dsp:cNvSpPr/>
      </dsp:nvSpPr>
      <dsp:spPr>
        <a:xfrm rot="5400000">
          <a:off x="5927605" y="-2565657"/>
          <a:ext cx="571141" cy="5847695"/>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b="1" kern="1200" dirty="0" smtClean="0"/>
            <a:t>Introduction to Large-Scale Supervised Machine Learning </a:t>
          </a:r>
          <a:endParaRPr lang="en-IN" sz="1400" kern="1200" dirty="0">
            <a:latin typeface="Arial" panose="020B0604020202020204" pitchFamily="34" charset="0"/>
            <a:cs typeface="Arial" panose="020B0604020202020204" pitchFamily="34" charset="0"/>
          </a:endParaRPr>
        </a:p>
      </dsp:txBody>
      <dsp:txXfrm rot="-5400000">
        <a:off x="3289329" y="100500"/>
        <a:ext cx="5819814" cy="515379"/>
      </dsp:txXfrm>
    </dsp:sp>
    <dsp:sp modelId="{6615A05E-3C83-44BD-AF92-F7FA42A80B08}">
      <dsp:nvSpPr>
        <dsp:cNvPr id="0" name=""/>
        <dsp:cNvSpPr/>
      </dsp:nvSpPr>
      <dsp:spPr>
        <a:xfrm>
          <a:off x="0" y="1226"/>
          <a:ext cx="3289328" cy="713926"/>
        </a:xfrm>
        <a:prstGeom prst="roundRect">
          <a:avLst/>
        </a:prstGeom>
        <a:solidFill>
          <a:srgbClr val="00B0F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lvl="0" algn="ctr" defTabSz="933450">
            <a:lnSpc>
              <a:spcPct val="90000"/>
            </a:lnSpc>
            <a:spcBef>
              <a:spcPct val="0"/>
            </a:spcBef>
            <a:spcAft>
              <a:spcPct val="35000"/>
            </a:spcAft>
          </a:pPr>
          <a:r>
            <a:rPr lang="en-US" sz="2100" b="1" kern="1200" dirty="0" smtClean="0">
              <a:latin typeface="Arial" panose="020B0604020202020204" pitchFamily="34" charset="0"/>
              <a:cs typeface="Arial" panose="020B0604020202020204" pitchFamily="34" charset="0"/>
            </a:rPr>
            <a:t>Introduction</a:t>
          </a:r>
          <a:endParaRPr lang="en-IN" sz="2100" b="1" kern="1200" dirty="0">
            <a:latin typeface="Arial" panose="020B0604020202020204" pitchFamily="34" charset="0"/>
            <a:cs typeface="Arial" panose="020B0604020202020204" pitchFamily="34" charset="0"/>
          </a:endParaRPr>
        </a:p>
      </dsp:txBody>
      <dsp:txXfrm>
        <a:off x="34851" y="36077"/>
        <a:ext cx="3219626" cy="644224"/>
      </dsp:txXfrm>
    </dsp:sp>
    <dsp:sp modelId="{91269ECD-6F82-430B-BA12-73A815751F2E}">
      <dsp:nvSpPr>
        <dsp:cNvPr id="0" name=""/>
        <dsp:cNvSpPr/>
      </dsp:nvSpPr>
      <dsp:spPr>
        <a:xfrm rot="5400000">
          <a:off x="5927605" y="-1816034"/>
          <a:ext cx="571141" cy="5847695"/>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Classification Problem</a:t>
          </a:r>
          <a:endParaRPr lang="en-IN"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DT, Hunts Algorithm, Examples</a:t>
          </a:r>
          <a:endParaRPr lang="en-IN" sz="1400" kern="1200" dirty="0">
            <a:latin typeface="Arial" panose="020B0604020202020204" pitchFamily="34" charset="0"/>
            <a:cs typeface="Arial" panose="020B0604020202020204" pitchFamily="34" charset="0"/>
          </a:endParaRPr>
        </a:p>
      </dsp:txBody>
      <dsp:txXfrm rot="-5400000">
        <a:off x="3289329" y="850123"/>
        <a:ext cx="5819814" cy="515379"/>
      </dsp:txXfrm>
    </dsp:sp>
    <dsp:sp modelId="{919F3EB5-11E5-4C15-BDDE-7DDF32465E5D}">
      <dsp:nvSpPr>
        <dsp:cNvPr id="0" name=""/>
        <dsp:cNvSpPr/>
      </dsp:nvSpPr>
      <dsp:spPr>
        <a:xfrm>
          <a:off x="0" y="750849"/>
          <a:ext cx="3289328" cy="713926"/>
        </a:xfrm>
        <a:prstGeom prst="roundRect">
          <a:avLst/>
        </a:prstGeom>
        <a:solidFill>
          <a:srgbClr val="00B0F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lvl="0" algn="ctr" defTabSz="933450">
            <a:lnSpc>
              <a:spcPct val="90000"/>
            </a:lnSpc>
            <a:spcBef>
              <a:spcPct val="0"/>
            </a:spcBef>
            <a:spcAft>
              <a:spcPct val="35000"/>
            </a:spcAft>
          </a:pPr>
          <a:r>
            <a:rPr lang="en-US" sz="2100" b="1" kern="1200" dirty="0" smtClean="0">
              <a:latin typeface="Arial" panose="020B0604020202020204" pitchFamily="34" charset="0"/>
              <a:cs typeface="Arial" panose="020B0604020202020204" pitchFamily="34" charset="0"/>
            </a:rPr>
            <a:t>Decision Trees</a:t>
          </a:r>
          <a:endParaRPr lang="en-IN" sz="2100" b="1" kern="1200" dirty="0">
            <a:latin typeface="Arial" panose="020B0604020202020204" pitchFamily="34" charset="0"/>
            <a:cs typeface="Arial" panose="020B0604020202020204" pitchFamily="34" charset="0"/>
          </a:endParaRPr>
        </a:p>
      </dsp:txBody>
      <dsp:txXfrm>
        <a:off x="34851" y="785700"/>
        <a:ext cx="3219626" cy="644224"/>
      </dsp:txXfrm>
    </dsp:sp>
    <dsp:sp modelId="{C407C442-ABDB-4873-A710-97604EB421E6}">
      <dsp:nvSpPr>
        <dsp:cNvPr id="0" name=""/>
        <dsp:cNvSpPr/>
      </dsp:nvSpPr>
      <dsp:spPr>
        <a:xfrm rot="5400000">
          <a:off x="5927605" y="-1066411"/>
          <a:ext cx="571141" cy="5847695"/>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err="1" smtClean="0">
              <a:latin typeface="Arial" panose="020B0604020202020204" pitchFamily="34" charset="0"/>
              <a:cs typeface="Arial" panose="020B0604020202020204" pitchFamily="34" charset="0"/>
            </a:rPr>
            <a:t>Baye’s</a:t>
          </a:r>
          <a:r>
            <a:rPr lang="en-US" sz="1400" kern="1200" dirty="0" smtClean="0">
              <a:latin typeface="Arial" panose="020B0604020202020204" pitchFamily="34" charset="0"/>
              <a:cs typeface="Arial" panose="020B0604020202020204" pitchFamily="34" charset="0"/>
            </a:rPr>
            <a:t> Theorem</a:t>
          </a:r>
          <a:endParaRPr lang="en-IN"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Examples</a:t>
          </a:r>
          <a:endParaRPr lang="en-IN" sz="1400" kern="1200" dirty="0">
            <a:latin typeface="Arial" panose="020B0604020202020204" pitchFamily="34" charset="0"/>
            <a:cs typeface="Arial" panose="020B0604020202020204" pitchFamily="34" charset="0"/>
          </a:endParaRPr>
        </a:p>
      </dsp:txBody>
      <dsp:txXfrm rot="-5400000">
        <a:off x="3289329" y="1599746"/>
        <a:ext cx="5819814" cy="515379"/>
      </dsp:txXfrm>
    </dsp:sp>
    <dsp:sp modelId="{8E42E0B6-F9A6-400C-AB2D-7833AEE4EC07}">
      <dsp:nvSpPr>
        <dsp:cNvPr id="0" name=""/>
        <dsp:cNvSpPr/>
      </dsp:nvSpPr>
      <dsp:spPr>
        <a:xfrm>
          <a:off x="0" y="1500472"/>
          <a:ext cx="3289328" cy="713926"/>
        </a:xfrm>
        <a:prstGeom prst="roundRect">
          <a:avLst/>
        </a:prstGeom>
        <a:solidFill>
          <a:srgbClr val="00B0F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lvl="0" algn="ctr" defTabSz="933450">
            <a:lnSpc>
              <a:spcPct val="90000"/>
            </a:lnSpc>
            <a:spcBef>
              <a:spcPct val="0"/>
            </a:spcBef>
            <a:spcAft>
              <a:spcPct val="35000"/>
            </a:spcAft>
          </a:pPr>
          <a:r>
            <a:rPr lang="en-US" sz="2100" b="1" kern="1200" dirty="0" smtClean="0">
              <a:latin typeface="Arial" panose="020B0604020202020204" pitchFamily="34" charset="0"/>
              <a:cs typeface="Arial" panose="020B0604020202020204" pitchFamily="34" charset="0"/>
            </a:rPr>
            <a:t>Naïve Bayesian</a:t>
          </a:r>
          <a:endParaRPr lang="en-IN" sz="2100" b="1" kern="1200" dirty="0">
            <a:latin typeface="Arial" panose="020B0604020202020204" pitchFamily="34" charset="0"/>
            <a:cs typeface="Arial" panose="020B0604020202020204" pitchFamily="34" charset="0"/>
          </a:endParaRPr>
        </a:p>
      </dsp:txBody>
      <dsp:txXfrm>
        <a:off x="34851" y="1535323"/>
        <a:ext cx="3219626" cy="644224"/>
      </dsp:txXfrm>
    </dsp:sp>
    <dsp:sp modelId="{428A7722-D9CA-4DC6-9821-CE5ADF1C6910}">
      <dsp:nvSpPr>
        <dsp:cNvPr id="0" name=""/>
        <dsp:cNvSpPr/>
      </dsp:nvSpPr>
      <dsp:spPr>
        <a:xfrm rot="5400000">
          <a:off x="5927605" y="-316788"/>
          <a:ext cx="571141" cy="5847695"/>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Concept of Support Vector Machines, Advantages &amp; Disadvantages</a:t>
          </a:r>
          <a:endParaRPr lang="en-IN"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Examples</a:t>
          </a:r>
          <a:endParaRPr lang="en-IN" sz="1400" kern="1200" dirty="0">
            <a:latin typeface="Arial" panose="020B0604020202020204" pitchFamily="34" charset="0"/>
            <a:cs typeface="Arial" panose="020B0604020202020204" pitchFamily="34" charset="0"/>
          </a:endParaRPr>
        </a:p>
      </dsp:txBody>
      <dsp:txXfrm rot="-5400000">
        <a:off x="3289329" y="2349369"/>
        <a:ext cx="5819814" cy="515379"/>
      </dsp:txXfrm>
    </dsp:sp>
    <dsp:sp modelId="{ECD9573A-89DE-438F-A21C-74065D833030}">
      <dsp:nvSpPr>
        <dsp:cNvPr id="0" name=""/>
        <dsp:cNvSpPr/>
      </dsp:nvSpPr>
      <dsp:spPr>
        <a:xfrm>
          <a:off x="0" y="2250096"/>
          <a:ext cx="3289328" cy="713926"/>
        </a:xfrm>
        <a:prstGeom prst="roundRect">
          <a:avLst/>
        </a:prstGeom>
        <a:solidFill>
          <a:srgbClr val="00B0F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lvl="0" algn="ctr" defTabSz="933450">
            <a:lnSpc>
              <a:spcPct val="90000"/>
            </a:lnSpc>
            <a:spcBef>
              <a:spcPct val="0"/>
            </a:spcBef>
            <a:spcAft>
              <a:spcPct val="35000"/>
            </a:spcAft>
          </a:pPr>
          <a:r>
            <a:rPr lang="en-US" sz="2100" b="1" kern="1200" dirty="0" smtClean="0">
              <a:latin typeface="Arial" panose="020B0604020202020204" pitchFamily="34" charset="0"/>
              <a:cs typeface="Arial" panose="020B0604020202020204" pitchFamily="34" charset="0"/>
            </a:rPr>
            <a:t>SVM</a:t>
          </a:r>
          <a:endParaRPr lang="en-IN" sz="2100" b="1" kern="1200" dirty="0">
            <a:latin typeface="Arial" panose="020B0604020202020204" pitchFamily="34" charset="0"/>
            <a:cs typeface="Arial" panose="020B0604020202020204" pitchFamily="34" charset="0"/>
          </a:endParaRPr>
        </a:p>
      </dsp:txBody>
      <dsp:txXfrm>
        <a:off x="34851" y="2284947"/>
        <a:ext cx="3219626" cy="644224"/>
      </dsp:txXfrm>
    </dsp:sp>
    <dsp:sp modelId="{39BC48BE-A854-4AC9-8F42-1923EC91A167}">
      <dsp:nvSpPr>
        <dsp:cNvPr id="0" name=""/>
        <dsp:cNvSpPr/>
      </dsp:nvSpPr>
      <dsp:spPr>
        <a:xfrm rot="5400000">
          <a:off x="5927605" y="432835"/>
          <a:ext cx="571141" cy="5847695"/>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What is </a:t>
          </a:r>
          <a:r>
            <a:rPr lang="en-US" sz="1400" kern="1200" dirty="0" err="1" smtClean="0">
              <a:latin typeface="Arial" panose="020B0604020202020204" pitchFamily="34" charset="0"/>
              <a:cs typeface="Arial" panose="020B0604020202020204" pitchFamily="34" charset="0"/>
            </a:rPr>
            <a:t>kNN</a:t>
          </a:r>
          <a:r>
            <a:rPr lang="en-US" sz="1400" kern="1200" dirty="0" smtClean="0">
              <a:latin typeface="Arial" panose="020B0604020202020204" pitchFamily="34" charset="0"/>
              <a:cs typeface="Arial" panose="020B0604020202020204" pitchFamily="34" charset="0"/>
            </a:rPr>
            <a:t>?</a:t>
          </a:r>
          <a:endParaRPr lang="en-IN"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Examples</a:t>
          </a:r>
          <a:endParaRPr lang="en-IN" sz="1400" kern="1200" dirty="0">
            <a:latin typeface="Arial" panose="020B0604020202020204" pitchFamily="34" charset="0"/>
            <a:cs typeface="Arial" panose="020B0604020202020204" pitchFamily="34" charset="0"/>
          </a:endParaRPr>
        </a:p>
      </dsp:txBody>
      <dsp:txXfrm rot="-5400000">
        <a:off x="3289329" y="3098993"/>
        <a:ext cx="5819814" cy="515379"/>
      </dsp:txXfrm>
    </dsp:sp>
    <dsp:sp modelId="{6A024656-87BC-47AC-A78F-B37D1AB4378F}">
      <dsp:nvSpPr>
        <dsp:cNvPr id="0" name=""/>
        <dsp:cNvSpPr/>
      </dsp:nvSpPr>
      <dsp:spPr>
        <a:xfrm>
          <a:off x="0" y="2999719"/>
          <a:ext cx="3289328" cy="713926"/>
        </a:xfrm>
        <a:prstGeom prst="roundRect">
          <a:avLst/>
        </a:prstGeom>
        <a:solidFill>
          <a:srgbClr val="00B0F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lvl="0" algn="ctr" defTabSz="933450">
            <a:lnSpc>
              <a:spcPct val="90000"/>
            </a:lnSpc>
            <a:spcBef>
              <a:spcPct val="0"/>
            </a:spcBef>
            <a:spcAft>
              <a:spcPct val="35000"/>
            </a:spcAft>
          </a:pPr>
          <a:r>
            <a:rPr lang="en-US" sz="2100" b="1" kern="1200" dirty="0" smtClean="0">
              <a:latin typeface="Arial" panose="020B0604020202020204" pitchFamily="34" charset="0"/>
              <a:cs typeface="Arial" panose="020B0604020202020204" pitchFamily="34" charset="0"/>
            </a:rPr>
            <a:t>k-Nearest Neighbors (</a:t>
          </a:r>
          <a:r>
            <a:rPr lang="en-US" sz="2100" b="1" kern="1200" dirty="0" err="1" smtClean="0">
              <a:latin typeface="Arial" panose="020B0604020202020204" pitchFamily="34" charset="0"/>
              <a:cs typeface="Arial" panose="020B0604020202020204" pitchFamily="34" charset="0"/>
            </a:rPr>
            <a:t>kNN</a:t>
          </a:r>
          <a:r>
            <a:rPr lang="en-US" sz="2100" b="1" kern="1200" dirty="0" smtClean="0">
              <a:latin typeface="Arial" panose="020B0604020202020204" pitchFamily="34" charset="0"/>
              <a:cs typeface="Arial" panose="020B0604020202020204" pitchFamily="34" charset="0"/>
            </a:rPr>
            <a:t>)</a:t>
          </a:r>
          <a:endParaRPr lang="en-IN" sz="2100" b="1" kern="1200" dirty="0">
            <a:latin typeface="Arial" panose="020B0604020202020204" pitchFamily="34" charset="0"/>
            <a:cs typeface="Arial" panose="020B0604020202020204" pitchFamily="34" charset="0"/>
          </a:endParaRPr>
        </a:p>
      </dsp:txBody>
      <dsp:txXfrm>
        <a:off x="34851" y="3034570"/>
        <a:ext cx="3219626" cy="644224"/>
      </dsp:txXfrm>
    </dsp:sp>
    <dsp:sp modelId="{A7344652-D4A5-4A12-9C79-FD33C1425BC8}">
      <dsp:nvSpPr>
        <dsp:cNvPr id="0" name=""/>
        <dsp:cNvSpPr/>
      </dsp:nvSpPr>
      <dsp:spPr>
        <a:xfrm rot="5400000">
          <a:off x="5927605" y="1182458"/>
          <a:ext cx="571141" cy="5847695"/>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Examples of DT, NB, SVM, and </a:t>
          </a:r>
          <a:r>
            <a:rPr lang="en-US" sz="1400" kern="1200" dirty="0" err="1" smtClean="0">
              <a:latin typeface="Arial" panose="020B0604020202020204" pitchFamily="34" charset="0"/>
              <a:cs typeface="Arial" panose="020B0604020202020204" pitchFamily="34" charset="0"/>
            </a:rPr>
            <a:t>kNN</a:t>
          </a:r>
          <a:r>
            <a:rPr lang="en-US" sz="1400" kern="1200" dirty="0" smtClean="0">
              <a:latin typeface="Arial" panose="020B0604020202020204" pitchFamily="34" charset="0"/>
              <a:cs typeface="Arial" panose="020B0604020202020204" pitchFamily="34" charset="0"/>
            </a:rPr>
            <a:t> using PySpark</a:t>
          </a:r>
          <a:endParaRPr lang="en-IN"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n-US" sz="1400" kern="1200" dirty="0" smtClean="0">
              <a:latin typeface="Arial" panose="020B0604020202020204" pitchFamily="34" charset="0"/>
              <a:cs typeface="Arial" panose="020B0604020202020204" pitchFamily="34" charset="0"/>
            </a:rPr>
            <a:t>Exercises</a:t>
          </a:r>
          <a:endParaRPr lang="en-IN" sz="1400" kern="1200" dirty="0">
            <a:latin typeface="Arial" panose="020B0604020202020204" pitchFamily="34" charset="0"/>
            <a:cs typeface="Arial" panose="020B0604020202020204" pitchFamily="34" charset="0"/>
          </a:endParaRPr>
        </a:p>
      </dsp:txBody>
      <dsp:txXfrm rot="-5400000">
        <a:off x="3289329" y="3848616"/>
        <a:ext cx="5819814" cy="515379"/>
      </dsp:txXfrm>
    </dsp:sp>
    <dsp:sp modelId="{63D83632-AA81-4829-851C-7458A551B573}">
      <dsp:nvSpPr>
        <dsp:cNvPr id="0" name=""/>
        <dsp:cNvSpPr/>
      </dsp:nvSpPr>
      <dsp:spPr>
        <a:xfrm>
          <a:off x="0" y="3749342"/>
          <a:ext cx="3289328" cy="713926"/>
        </a:xfrm>
        <a:prstGeom prst="roundRect">
          <a:avLst/>
        </a:prstGeom>
        <a:solidFill>
          <a:srgbClr val="00B0F0"/>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40005" rIns="80010" bIns="40005" numCol="1" spcCol="1270" anchor="ctr" anchorCtr="0">
          <a:noAutofit/>
        </a:bodyPr>
        <a:lstStyle/>
        <a:p>
          <a:pPr lvl="0" algn="ctr" defTabSz="933450">
            <a:lnSpc>
              <a:spcPct val="90000"/>
            </a:lnSpc>
            <a:spcBef>
              <a:spcPct val="0"/>
            </a:spcBef>
            <a:spcAft>
              <a:spcPct val="35000"/>
            </a:spcAft>
          </a:pPr>
          <a:r>
            <a:rPr lang="en-US" sz="2100" b="1" kern="1200" dirty="0" smtClean="0">
              <a:latin typeface="Arial" panose="020B0604020202020204" pitchFamily="34" charset="0"/>
              <a:cs typeface="Arial" panose="020B0604020202020204" pitchFamily="34" charset="0"/>
            </a:rPr>
            <a:t>PySpark, ML Library</a:t>
          </a:r>
          <a:endParaRPr lang="en-IN" sz="2100" b="1" kern="1200" dirty="0">
            <a:latin typeface="Arial" panose="020B0604020202020204" pitchFamily="34" charset="0"/>
            <a:cs typeface="Arial" panose="020B0604020202020204" pitchFamily="34" charset="0"/>
          </a:endParaRPr>
        </a:p>
      </dsp:txBody>
      <dsp:txXfrm>
        <a:off x="34851" y="3784193"/>
        <a:ext cx="3219626" cy="64422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E03B7-B591-4A2A-B695-014C5A39F13E}" type="datetimeFigureOut">
              <a:rPr lang="en-US"/>
              <a:t>12/18/2024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E322BB-75AD-4A1E-9661-2724167329F0}" type="slidenum">
              <a:rPr/>
              <a:t>‹#›</a:t>
            </a:fld>
            <a:endParaRPr/>
          </a:p>
        </p:txBody>
      </p:sp>
    </p:spTree>
    <p:extLst>
      <p:ext uri="{BB962C8B-B14F-4D97-AF65-F5344CB8AC3E}">
        <p14:creationId xmlns:p14="http://schemas.microsoft.com/office/powerpoint/2010/main" val="2512705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DFBD7B-E4FB-4AA8-9540-FD148073ACB3}" type="datetimeFigureOut">
              <a:rPr lang="en-US"/>
              <a:t>12/18/2024</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5B7DE-1198-4F2F-B574-CA8CAE341642}" type="slidenum">
              <a:rPr/>
              <a:t>‹#›</a:t>
            </a:fld>
            <a:endParaRPr/>
          </a:p>
        </p:txBody>
      </p:sp>
    </p:spTree>
    <p:extLst>
      <p:ext uri="{BB962C8B-B14F-4D97-AF65-F5344CB8AC3E}">
        <p14:creationId xmlns:p14="http://schemas.microsoft.com/office/powerpoint/2010/main" val="188231245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2461344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6D7D999-0D9E-4881-8D36-826CD79837EA}" type="slidenum">
              <a:rPr lang="en-US" smtClean="0"/>
              <a:t>4</a:t>
            </a:fld>
            <a:endParaRPr lang="en-US"/>
          </a:p>
        </p:txBody>
      </p:sp>
    </p:spTree>
    <p:extLst>
      <p:ext uri="{BB962C8B-B14F-4D97-AF65-F5344CB8AC3E}">
        <p14:creationId xmlns:p14="http://schemas.microsoft.com/office/powerpoint/2010/main" val="2914477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045B7DE-1198-4F2F-B574-CA8CAE341642}" type="slidenum">
              <a:rPr lang="en-IN" smtClean="0"/>
              <a:t>5</a:t>
            </a:fld>
            <a:endParaRPr lang="en-IN"/>
          </a:p>
        </p:txBody>
      </p:sp>
    </p:spTree>
    <p:extLst>
      <p:ext uri="{BB962C8B-B14F-4D97-AF65-F5344CB8AC3E}">
        <p14:creationId xmlns:p14="http://schemas.microsoft.com/office/powerpoint/2010/main" val="4271695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8</a:t>
            </a:fld>
            <a:endParaRPr lang="en-US"/>
          </a:p>
        </p:txBody>
      </p:sp>
    </p:spTree>
    <p:extLst>
      <p:ext uri="{BB962C8B-B14F-4D97-AF65-F5344CB8AC3E}">
        <p14:creationId xmlns:p14="http://schemas.microsoft.com/office/powerpoint/2010/main" val="1747266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9</a:t>
            </a:fld>
            <a:endParaRPr lang="en-US"/>
          </a:p>
        </p:txBody>
      </p:sp>
    </p:spTree>
    <p:extLst>
      <p:ext uri="{BB962C8B-B14F-4D97-AF65-F5344CB8AC3E}">
        <p14:creationId xmlns:p14="http://schemas.microsoft.com/office/powerpoint/2010/main" val="436786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10</a:t>
            </a:fld>
            <a:endParaRPr lang="en-US"/>
          </a:p>
        </p:txBody>
      </p:sp>
    </p:spTree>
    <p:extLst>
      <p:ext uri="{BB962C8B-B14F-4D97-AF65-F5344CB8AC3E}">
        <p14:creationId xmlns:p14="http://schemas.microsoft.com/office/powerpoint/2010/main" val="945547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11</a:t>
            </a:fld>
            <a:endParaRPr lang="en-US"/>
          </a:p>
        </p:txBody>
      </p:sp>
    </p:spTree>
    <p:extLst>
      <p:ext uri="{BB962C8B-B14F-4D97-AF65-F5344CB8AC3E}">
        <p14:creationId xmlns:p14="http://schemas.microsoft.com/office/powerpoint/2010/main" val="1132188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12</a:t>
            </a:fld>
            <a:endParaRPr lang="en-US"/>
          </a:p>
        </p:txBody>
      </p:sp>
    </p:spTree>
    <p:extLst>
      <p:ext uri="{BB962C8B-B14F-4D97-AF65-F5344CB8AC3E}">
        <p14:creationId xmlns:p14="http://schemas.microsoft.com/office/powerpoint/2010/main" val="2813128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13</a:t>
            </a:fld>
            <a:endParaRPr lang="en-US"/>
          </a:p>
        </p:txBody>
      </p:sp>
    </p:spTree>
    <p:extLst>
      <p:ext uri="{BB962C8B-B14F-4D97-AF65-F5344CB8AC3E}">
        <p14:creationId xmlns:p14="http://schemas.microsoft.com/office/powerpoint/2010/main" val="1661068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14</a:t>
            </a:fld>
            <a:endParaRPr lang="en-US"/>
          </a:p>
        </p:txBody>
      </p:sp>
    </p:spTree>
    <p:extLst>
      <p:ext uri="{BB962C8B-B14F-4D97-AF65-F5344CB8AC3E}">
        <p14:creationId xmlns:p14="http://schemas.microsoft.com/office/powerpoint/2010/main" val="2352442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15</a:t>
            </a:fld>
            <a:endParaRPr lang="en-US"/>
          </a:p>
        </p:txBody>
      </p:sp>
    </p:spTree>
    <p:extLst>
      <p:ext uri="{BB962C8B-B14F-4D97-AF65-F5344CB8AC3E}">
        <p14:creationId xmlns:p14="http://schemas.microsoft.com/office/powerpoint/2010/main" val="993450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16</a:t>
            </a:fld>
            <a:endParaRPr lang="en-US"/>
          </a:p>
        </p:txBody>
      </p:sp>
    </p:spTree>
    <p:extLst>
      <p:ext uri="{BB962C8B-B14F-4D97-AF65-F5344CB8AC3E}">
        <p14:creationId xmlns:p14="http://schemas.microsoft.com/office/powerpoint/2010/main" val="2316669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17</a:t>
            </a:fld>
            <a:endParaRPr lang="en-US"/>
          </a:p>
        </p:txBody>
      </p:sp>
    </p:spTree>
    <p:extLst>
      <p:ext uri="{BB962C8B-B14F-4D97-AF65-F5344CB8AC3E}">
        <p14:creationId xmlns:p14="http://schemas.microsoft.com/office/powerpoint/2010/main" val="3667048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18</a:t>
            </a:fld>
            <a:endParaRPr lang="en-US"/>
          </a:p>
        </p:txBody>
      </p:sp>
    </p:spTree>
    <p:extLst>
      <p:ext uri="{BB962C8B-B14F-4D97-AF65-F5344CB8AC3E}">
        <p14:creationId xmlns:p14="http://schemas.microsoft.com/office/powerpoint/2010/main" val="341446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19</a:t>
            </a:fld>
            <a:endParaRPr lang="en-US"/>
          </a:p>
        </p:txBody>
      </p:sp>
    </p:spTree>
    <p:extLst>
      <p:ext uri="{BB962C8B-B14F-4D97-AF65-F5344CB8AC3E}">
        <p14:creationId xmlns:p14="http://schemas.microsoft.com/office/powerpoint/2010/main" val="56808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20</a:t>
            </a:fld>
            <a:endParaRPr lang="en-US"/>
          </a:p>
        </p:txBody>
      </p:sp>
    </p:spTree>
    <p:extLst>
      <p:ext uri="{BB962C8B-B14F-4D97-AF65-F5344CB8AC3E}">
        <p14:creationId xmlns:p14="http://schemas.microsoft.com/office/powerpoint/2010/main" val="2374128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21</a:t>
            </a:fld>
            <a:endParaRPr lang="en-US"/>
          </a:p>
        </p:txBody>
      </p:sp>
    </p:spTree>
    <p:extLst>
      <p:ext uri="{BB962C8B-B14F-4D97-AF65-F5344CB8AC3E}">
        <p14:creationId xmlns:p14="http://schemas.microsoft.com/office/powerpoint/2010/main" val="4204836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22</a:t>
            </a:fld>
            <a:endParaRPr lang="en-US"/>
          </a:p>
        </p:txBody>
      </p:sp>
    </p:spTree>
    <p:extLst>
      <p:ext uri="{BB962C8B-B14F-4D97-AF65-F5344CB8AC3E}">
        <p14:creationId xmlns:p14="http://schemas.microsoft.com/office/powerpoint/2010/main" val="3306167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23</a:t>
            </a:fld>
            <a:endParaRPr lang="en-US"/>
          </a:p>
        </p:txBody>
      </p:sp>
    </p:spTree>
    <p:extLst>
      <p:ext uri="{BB962C8B-B14F-4D97-AF65-F5344CB8AC3E}">
        <p14:creationId xmlns:p14="http://schemas.microsoft.com/office/powerpoint/2010/main" val="831626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24</a:t>
            </a:fld>
            <a:endParaRPr lang="en-US"/>
          </a:p>
        </p:txBody>
      </p:sp>
    </p:spTree>
    <p:extLst>
      <p:ext uri="{BB962C8B-B14F-4D97-AF65-F5344CB8AC3E}">
        <p14:creationId xmlns:p14="http://schemas.microsoft.com/office/powerpoint/2010/main" val="2569429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25</a:t>
            </a:fld>
            <a:endParaRPr lang="en-US"/>
          </a:p>
        </p:txBody>
      </p:sp>
    </p:spTree>
    <p:extLst>
      <p:ext uri="{BB962C8B-B14F-4D97-AF65-F5344CB8AC3E}">
        <p14:creationId xmlns:p14="http://schemas.microsoft.com/office/powerpoint/2010/main" val="32778785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26</a:t>
            </a:fld>
            <a:endParaRPr lang="en-US"/>
          </a:p>
        </p:txBody>
      </p:sp>
    </p:spTree>
    <p:extLst>
      <p:ext uri="{BB962C8B-B14F-4D97-AF65-F5344CB8AC3E}">
        <p14:creationId xmlns:p14="http://schemas.microsoft.com/office/powerpoint/2010/main" val="793255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27</a:t>
            </a:fld>
            <a:endParaRPr lang="en-US"/>
          </a:p>
        </p:txBody>
      </p:sp>
    </p:spTree>
    <p:extLst>
      <p:ext uri="{BB962C8B-B14F-4D97-AF65-F5344CB8AC3E}">
        <p14:creationId xmlns:p14="http://schemas.microsoft.com/office/powerpoint/2010/main" val="23869724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28</a:t>
            </a:fld>
            <a:endParaRPr lang="en-US"/>
          </a:p>
        </p:txBody>
      </p:sp>
    </p:spTree>
    <p:extLst>
      <p:ext uri="{BB962C8B-B14F-4D97-AF65-F5344CB8AC3E}">
        <p14:creationId xmlns:p14="http://schemas.microsoft.com/office/powerpoint/2010/main" val="284269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29</a:t>
            </a:fld>
            <a:endParaRPr lang="en-US"/>
          </a:p>
        </p:txBody>
      </p:sp>
    </p:spTree>
    <p:extLst>
      <p:ext uri="{BB962C8B-B14F-4D97-AF65-F5344CB8AC3E}">
        <p14:creationId xmlns:p14="http://schemas.microsoft.com/office/powerpoint/2010/main" val="32864339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30</a:t>
            </a:fld>
            <a:endParaRPr lang="en-US"/>
          </a:p>
        </p:txBody>
      </p:sp>
    </p:spTree>
    <p:extLst>
      <p:ext uri="{BB962C8B-B14F-4D97-AF65-F5344CB8AC3E}">
        <p14:creationId xmlns:p14="http://schemas.microsoft.com/office/powerpoint/2010/main" val="3508612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31</a:t>
            </a:fld>
            <a:endParaRPr lang="en-US"/>
          </a:p>
        </p:txBody>
      </p:sp>
    </p:spTree>
    <p:extLst>
      <p:ext uri="{BB962C8B-B14F-4D97-AF65-F5344CB8AC3E}">
        <p14:creationId xmlns:p14="http://schemas.microsoft.com/office/powerpoint/2010/main" val="31251783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36</a:t>
            </a:fld>
            <a:endParaRPr lang="en-US"/>
          </a:p>
        </p:txBody>
      </p:sp>
    </p:spTree>
    <p:extLst>
      <p:ext uri="{BB962C8B-B14F-4D97-AF65-F5344CB8AC3E}">
        <p14:creationId xmlns:p14="http://schemas.microsoft.com/office/powerpoint/2010/main" val="15292688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37</a:t>
            </a:fld>
            <a:endParaRPr lang="en-US"/>
          </a:p>
        </p:txBody>
      </p:sp>
    </p:spTree>
    <p:extLst>
      <p:ext uri="{BB962C8B-B14F-4D97-AF65-F5344CB8AC3E}">
        <p14:creationId xmlns:p14="http://schemas.microsoft.com/office/powerpoint/2010/main" val="32023699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38</a:t>
            </a:fld>
            <a:endParaRPr lang="en-US"/>
          </a:p>
        </p:txBody>
      </p:sp>
    </p:spTree>
    <p:extLst>
      <p:ext uri="{BB962C8B-B14F-4D97-AF65-F5344CB8AC3E}">
        <p14:creationId xmlns:p14="http://schemas.microsoft.com/office/powerpoint/2010/main" val="17632934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39</a:t>
            </a:fld>
            <a:endParaRPr lang="en-US"/>
          </a:p>
        </p:txBody>
      </p:sp>
    </p:spTree>
    <p:extLst>
      <p:ext uri="{BB962C8B-B14F-4D97-AF65-F5344CB8AC3E}">
        <p14:creationId xmlns:p14="http://schemas.microsoft.com/office/powerpoint/2010/main" val="30933128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40</a:t>
            </a:fld>
            <a:endParaRPr lang="en-US"/>
          </a:p>
        </p:txBody>
      </p:sp>
    </p:spTree>
    <p:extLst>
      <p:ext uri="{BB962C8B-B14F-4D97-AF65-F5344CB8AC3E}">
        <p14:creationId xmlns:p14="http://schemas.microsoft.com/office/powerpoint/2010/main" val="25888564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41</a:t>
            </a:fld>
            <a:endParaRPr lang="en-US"/>
          </a:p>
        </p:txBody>
      </p:sp>
    </p:spTree>
    <p:extLst>
      <p:ext uri="{BB962C8B-B14F-4D97-AF65-F5344CB8AC3E}">
        <p14:creationId xmlns:p14="http://schemas.microsoft.com/office/powerpoint/2010/main" val="26644874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42</a:t>
            </a:fld>
            <a:endParaRPr lang="en-US"/>
          </a:p>
        </p:txBody>
      </p:sp>
    </p:spTree>
    <p:extLst>
      <p:ext uri="{BB962C8B-B14F-4D97-AF65-F5344CB8AC3E}">
        <p14:creationId xmlns:p14="http://schemas.microsoft.com/office/powerpoint/2010/main" val="5699309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43</a:t>
            </a:fld>
            <a:endParaRPr lang="en-US"/>
          </a:p>
        </p:txBody>
      </p:sp>
    </p:spTree>
    <p:extLst>
      <p:ext uri="{BB962C8B-B14F-4D97-AF65-F5344CB8AC3E}">
        <p14:creationId xmlns:p14="http://schemas.microsoft.com/office/powerpoint/2010/main" val="18521608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44</a:t>
            </a:fld>
            <a:endParaRPr lang="en-US"/>
          </a:p>
        </p:txBody>
      </p:sp>
    </p:spTree>
    <p:extLst>
      <p:ext uri="{BB962C8B-B14F-4D97-AF65-F5344CB8AC3E}">
        <p14:creationId xmlns:p14="http://schemas.microsoft.com/office/powerpoint/2010/main" val="6699786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68D6BFF7-C8C0-41F2-A0B5-5FD48426F05F}"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t>I : the expected information needed to classify a given sample</a:t>
            </a:r>
          </a:p>
          <a:p>
            <a:r>
              <a:rPr lang="en-US" altLang="en-US" smtClean="0"/>
              <a:t>E (entropy) : expected information based on the partitioning into subsets by A</a:t>
            </a:r>
          </a:p>
          <a:p>
            <a:r>
              <a:rPr lang="en-US" altLang="en-US" smtClean="0"/>
              <a:t> </a:t>
            </a:r>
          </a:p>
        </p:txBody>
      </p:sp>
    </p:spTree>
    <p:extLst>
      <p:ext uri="{BB962C8B-B14F-4D97-AF65-F5344CB8AC3E}">
        <p14:creationId xmlns:p14="http://schemas.microsoft.com/office/powerpoint/2010/main" val="2501101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46</a:t>
            </a:fld>
            <a:endParaRPr lang="en-US"/>
          </a:p>
        </p:txBody>
      </p:sp>
    </p:spTree>
    <p:extLst>
      <p:ext uri="{BB962C8B-B14F-4D97-AF65-F5344CB8AC3E}">
        <p14:creationId xmlns:p14="http://schemas.microsoft.com/office/powerpoint/2010/main" val="23236857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47</a:t>
            </a:fld>
            <a:endParaRPr lang="en-US"/>
          </a:p>
        </p:txBody>
      </p:sp>
    </p:spTree>
    <p:extLst>
      <p:ext uri="{BB962C8B-B14F-4D97-AF65-F5344CB8AC3E}">
        <p14:creationId xmlns:p14="http://schemas.microsoft.com/office/powerpoint/2010/main" val="39856695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48</a:t>
            </a:fld>
            <a:endParaRPr lang="en-US"/>
          </a:p>
        </p:txBody>
      </p:sp>
    </p:spTree>
    <p:extLst>
      <p:ext uri="{BB962C8B-B14F-4D97-AF65-F5344CB8AC3E}">
        <p14:creationId xmlns:p14="http://schemas.microsoft.com/office/powerpoint/2010/main" val="41290434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49</a:t>
            </a:fld>
            <a:endParaRPr lang="en-US"/>
          </a:p>
        </p:txBody>
      </p:sp>
    </p:spTree>
    <p:extLst>
      <p:ext uri="{BB962C8B-B14F-4D97-AF65-F5344CB8AC3E}">
        <p14:creationId xmlns:p14="http://schemas.microsoft.com/office/powerpoint/2010/main" val="4068447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50</a:t>
            </a:fld>
            <a:endParaRPr lang="en-US"/>
          </a:p>
        </p:txBody>
      </p:sp>
    </p:spTree>
    <p:extLst>
      <p:ext uri="{BB962C8B-B14F-4D97-AF65-F5344CB8AC3E}">
        <p14:creationId xmlns:p14="http://schemas.microsoft.com/office/powerpoint/2010/main" val="10244792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51</a:t>
            </a:fld>
            <a:endParaRPr lang="en-US"/>
          </a:p>
        </p:txBody>
      </p:sp>
    </p:spTree>
    <p:extLst>
      <p:ext uri="{BB962C8B-B14F-4D97-AF65-F5344CB8AC3E}">
        <p14:creationId xmlns:p14="http://schemas.microsoft.com/office/powerpoint/2010/main" val="929604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52</a:t>
            </a:fld>
            <a:endParaRPr lang="en-US"/>
          </a:p>
        </p:txBody>
      </p:sp>
    </p:spTree>
    <p:extLst>
      <p:ext uri="{BB962C8B-B14F-4D97-AF65-F5344CB8AC3E}">
        <p14:creationId xmlns:p14="http://schemas.microsoft.com/office/powerpoint/2010/main" val="4360891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0D3F7B-40ED-47AB-A037-431DAA4AC917}" type="slidenum">
              <a:rPr lang="en-US" smtClean="0"/>
              <a:t>53</a:t>
            </a:fld>
            <a:endParaRPr lang="en-US"/>
          </a:p>
        </p:txBody>
      </p:sp>
    </p:spTree>
    <p:extLst>
      <p:ext uri="{BB962C8B-B14F-4D97-AF65-F5344CB8AC3E}">
        <p14:creationId xmlns:p14="http://schemas.microsoft.com/office/powerpoint/2010/main" val="20633944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4212"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F6A113D-D77A-46A4-932E-2B0B3BC03819}" type="datetime1">
              <a:rPr lang="en-US" altLang="en-US" smtClean="0">
                <a:latin typeface="Times New Roman" panose="02020603050405020304" pitchFamily="18" charset="0"/>
              </a:rPr>
              <a:pPr/>
              <a:t>12/19/2024</a:t>
            </a:fld>
            <a:endParaRPr lang="en-US" altLang="en-US" smtClean="0">
              <a:latin typeface="Times New Roman" panose="02020603050405020304" pitchFamily="18" charset="0"/>
            </a:endParaRPr>
          </a:p>
        </p:txBody>
      </p:sp>
      <p:sp>
        <p:nvSpPr>
          <p:cNvPr id="9421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r>
              <a:rPr lang="en-US" altLang="en-US" smtClean="0">
                <a:latin typeface="Times New Roman" panose="02020603050405020304" pitchFamily="18" charset="0"/>
              </a:rPr>
              <a:t>Dr. Navneet Goyal, BITS,Pilani</a:t>
            </a:r>
          </a:p>
        </p:txBody>
      </p:sp>
      <p:sp>
        <p:nvSpPr>
          <p:cNvPr id="94214"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6CAB037-57BC-442F-B1C8-7F4A3970D95C}" type="slidenum">
              <a:rPr lang="en-US" altLang="en-US">
                <a:latin typeface="Times New Roman" panose="02020603050405020304" pitchFamily="18" charset="0"/>
              </a:rPr>
              <a:pPr/>
              <a:t>71</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6431903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5236"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566855CE-D43F-4338-A5D1-EADF20709DD6}" type="datetime1">
              <a:rPr lang="en-US" altLang="en-US" smtClean="0">
                <a:latin typeface="Times New Roman" panose="02020603050405020304" pitchFamily="18" charset="0"/>
              </a:rPr>
              <a:pPr/>
              <a:t>12/19/2024</a:t>
            </a:fld>
            <a:endParaRPr lang="en-US" altLang="en-US" smtClean="0">
              <a:latin typeface="Times New Roman" panose="02020603050405020304" pitchFamily="18" charset="0"/>
            </a:endParaRPr>
          </a:p>
        </p:txBody>
      </p:sp>
      <p:sp>
        <p:nvSpPr>
          <p:cNvPr id="95237"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r>
              <a:rPr lang="en-US" altLang="en-US" smtClean="0">
                <a:latin typeface="Times New Roman" panose="02020603050405020304" pitchFamily="18" charset="0"/>
              </a:rPr>
              <a:t>Dr. Navneet Goyal, BITS,Pilani</a:t>
            </a:r>
          </a:p>
        </p:txBody>
      </p:sp>
      <p:sp>
        <p:nvSpPr>
          <p:cNvPr id="95238"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F0DF51C8-C8EA-4B21-8A42-40D03B685A2A}" type="slidenum">
              <a:rPr lang="en-US" altLang="en-US">
                <a:latin typeface="Times New Roman" panose="02020603050405020304" pitchFamily="18" charset="0"/>
              </a:rPr>
              <a:pPr/>
              <a:t>72</a:t>
            </a:fld>
            <a:endParaRPr lang="en-US" altLang="en-US">
              <a:latin typeface="Times New Roman" panose="02020603050405020304" pitchFamily="18" charset="0"/>
            </a:endParaRPr>
          </a:p>
        </p:txBody>
      </p:sp>
    </p:spTree>
    <p:extLst>
      <p:ext uri="{BB962C8B-B14F-4D97-AF65-F5344CB8AC3E}">
        <p14:creationId xmlns:p14="http://schemas.microsoft.com/office/powerpoint/2010/main" val="4055942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96260"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C7838655-AF00-4800-997D-8F4C68085726}" type="datetime1">
              <a:rPr lang="en-US" altLang="en-US" smtClean="0">
                <a:latin typeface="Times New Roman" panose="02020603050405020304" pitchFamily="18" charset="0"/>
              </a:rPr>
              <a:pPr/>
              <a:t>12/19/2024</a:t>
            </a:fld>
            <a:endParaRPr lang="en-US" altLang="en-US" smtClean="0">
              <a:latin typeface="Times New Roman" panose="02020603050405020304" pitchFamily="18" charset="0"/>
            </a:endParaRPr>
          </a:p>
        </p:txBody>
      </p:sp>
      <p:sp>
        <p:nvSpPr>
          <p:cNvPr id="96261"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r>
              <a:rPr lang="en-US" altLang="en-US" smtClean="0">
                <a:latin typeface="Times New Roman" panose="02020603050405020304" pitchFamily="18" charset="0"/>
              </a:rPr>
              <a:t>Dr. Navneet Goyal, BITS,Pilani</a:t>
            </a:r>
          </a:p>
        </p:txBody>
      </p:sp>
      <p:sp>
        <p:nvSpPr>
          <p:cNvPr id="96262" name="Slide Number Placeholder 5"/>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AF7B995-1F92-42A2-A1D7-FEC9938DE9A7}" type="slidenum">
              <a:rPr lang="en-US" altLang="en-US">
                <a:latin typeface="Times New Roman" panose="02020603050405020304" pitchFamily="18" charset="0"/>
              </a:rPr>
              <a:pPr/>
              <a:t>73</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2787197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7" name="squares"/>
          <p:cNvGrpSpPr/>
          <p:nvPr/>
        </p:nvGrpSpPr>
        <p:grpSpPr>
          <a:xfrm>
            <a:off x="0" y="1135743"/>
            <a:ext cx="1622332" cy="799981"/>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1828324" y="362396"/>
            <a:ext cx="9141619" cy="1050380"/>
          </a:xfrm>
        </p:spPr>
        <p:txBody>
          <a:bodyPr>
            <a:noAutofit/>
          </a:bodyPr>
          <a:lstStyle>
            <a:lvl1pPr>
              <a:lnSpc>
                <a:spcPct val="80000"/>
              </a:lnSpc>
              <a:defRPr sz="5400"/>
            </a:lvl1pPr>
          </a:lstStyle>
          <a:p>
            <a:r>
              <a:rPr lang="en-US" dirty="0" smtClean="0"/>
              <a:t>Click to edit Master title style</a:t>
            </a:r>
            <a:endParaRPr dirty="0"/>
          </a:p>
        </p:txBody>
      </p:sp>
      <p:sp>
        <p:nvSpPr>
          <p:cNvPr id="3" name="Subtitle 2"/>
          <p:cNvSpPr>
            <a:spLocks noGrp="1"/>
          </p:cNvSpPr>
          <p:nvPr>
            <p:ph type="subTitle" idx="1"/>
          </p:nvPr>
        </p:nvSpPr>
        <p:spPr>
          <a:xfrm>
            <a:off x="1828324" y="2089595"/>
            <a:ext cx="9141619" cy="886344"/>
          </a:xfrm>
        </p:spPr>
        <p:txBody>
          <a:bodyPr>
            <a:normAutofit/>
          </a:bodyPr>
          <a:lstStyle>
            <a:lvl1pPr marL="0" indent="0" algn="l">
              <a:buNone/>
              <a:defRPr sz="2800">
                <a:solidFill>
                  <a:schemeClr val="accent1">
                    <a:lumMod val="75000"/>
                  </a:schemeClr>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smtClean="0"/>
              <a:t>Click to edit Master subtitle style</a:t>
            </a:r>
            <a:endParaRPr dirty="0"/>
          </a:p>
        </p:txBody>
      </p:sp>
      <p:sp>
        <p:nvSpPr>
          <p:cNvPr id="5" name="Footer Placeholder 4"/>
          <p:cNvSpPr>
            <a:spLocks noGrp="1"/>
          </p:cNvSpPr>
          <p:nvPr>
            <p:ph type="ftr" sz="quarter" idx="11"/>
          </p:nvPr>
        </p:nvSpPr>
        <p:spPr/>
        <p:txBody>
          <a:bodyPr/>
          <a:lstStyle/>
          <a:p>
            <a:r>
              <a:rPr lang="en-US" smtClean="0"/>
              <a:t>Dr. S. Nandagopalan</a:t>
            </a:r>
            <a:endParaRPr lang="en-US" dirty="0"/>
          </a:p>
        </p:txBody>
      </p:sp>
      <p:sp>
        <p:nvSpPr>
          <p:cNvPr id="4" name="Date Placeholder 3"/>
          <p:cNvSpPr>
            <a:spLocks noGrp="1"/>
          </p:cNvSpPr>
          <p:nvPr>
            <p:ph type="dt" sz="half" idx="10"/>
          </p:nvPr>
        </p:nvSpPr>
        <p:spPr/>
        <p:txBody>
          <a:bodyPr/>
          <a:lstStyle/>
          <a:p>
            <a:fld id="{7FED47BD-9948-421B-9116-D417122D7311}" type="datetime1">
              <a:rPr lang="en-US" smtClean="0"/>
              <a:t>12/18/2024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887510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8883" y="152400"/>
            <a:ext cx="9751060" cy="900336"/>
          </a:xfrm>
        </p:spPr>
        <p:txBody>
          <a:bodyPr>
            <a:normAutofit/>
          </a:bodyPr>
          <a:lstStyle>
            <a:lvl1pPr>
              <a:defRPr sz="4000" b="1">
                <a:solidFill>
                  <a:srgbClr val="C00000"/>
                </a:solidFill>
              </a:defRPr>
            </a:lvl1pPr>
          </a:lstStyle>
          <a:p>
            <a:r>
              <a:rPr lang="en-US" dirty="0" smtClean="0"/>
              <a:t>Click to edit Master title style</a:t>
            </a:r>
            <a:endParaRPr dirty="0"/>
          </a:p>
        </p:txBody>
      </p:sp>
      <p:sp>
        <p:nvSpPr>
          <p:cNvPr id="3" name="Content Placeholder 2"/>
          <p:cNvSpPr>
            <a:spLocks noGrp="1"/>
          </p:cNvSpPr>
          <p:nvPr>
            <p:ph idx="1"/>
          </p:nvPr>
        </p:nvSpPr>
        <p:spPr>
          <a:xfrm>
            <a:off x="1205860" y="1196752"/>
            <a:ext cx="9751060" cy="5040560"/>
          </a:xfrm>
        </p:spPr>
        <p:txBody>
          <a:bodyPr/>
          <a:lstStyle>
            <a:lvl1pPr>
              <a:lnSpc>
                <a:spcPct val="100000"/>
              </a:lnSpc>
              <a:spcBef>
                <a:spcPts val="1200"/>
              </a:spcBef>
              <a:defRPr sz="2400">
                <a:latin typeface="Georgia" panose="02040502050405020303" pitchFamily="18" charset="0"/>
              </a:defRPr>
            </a:lvl1pPr>
            <a:lvl2pPr>
              <a:lnSpc>
                <a:spcPct val="100000"/>
              </a:lnSpc>
              <a:defRPr/>
            </a:lvl2pPr>
            <a:lvl3pPr>
              <a:lnSpc>
                <a:spcPct val="100000"/>
              </a:lnSpc>
              <a:defRPr/>
            </a:lvl3pPr>
            <a:lvl4pPr>
              <a:lnSpc>
                <a:spcPct val="100000"/>
              </a:lnSpc>
              <a:defRPr/>
            </a:lvl4pPr>
            <a:lvl5pPr>
              <a:lnSpc>
                <a:spcPct val="100000"/>
              </a:lnSpc>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5" name="Footer Placeholder 4"/>
          <p:cNvSpPr>
            <a:spLocks noGrp="1"/>
          </p:cNvSpPr>
          <p:nvPr>
            <p:ph type="ftr" sz="quarter" idx="11"/>
          </p:nvPr>
        </p:nvSpPr>
        <p:spPr>
          <a:xfrm>
            <a:off x="1192043" y="6381328"/>
            <a:ext cx="8288401" cy="180976"/>
          </a:xfrm>
        </p:spPr>
        <p:txBody>
          <a:bodyPr/>
          <a:lstStyle>
            <a:lvl1pPr>
              <a:defRPr>
                <a:solidFill>
                  <a:srgbClr val="4A206A"/>
                </a:solidFill>
                <a:latin typeface="Bodoni MT" panose="02070603080606020203" pitchFamily="18" charset="0"/>
              </a:defRPr>
            </a:lvl1pPr>
          </a:lstStyle>
          <a:p>
            <a:r>
              <a:rPr lang="en-US" dirty="0" smtClean="0"/>
              <a:t>Dr. S. Nandagopalan</a:t>
            </a:r>
            <a:endParaRPr lang="en-US" dirty="0"/>
          </a:p>
        </p:txBody>
      </p:sp>
      <p:sp>
        <p:nvSpPr>
          <p:cNvPr id="4" name="Date Placeholder 3"/>
          <p:cNvSpPr>
            <a:spLocks noGrp="1"/>
          </p:cNvSpPr>
          <p:nvPr>
            <p:ph type="dt" sz="half" idx="10"/>
          </p:nvPr>
        </p:nvSpPr>
        <p:spPr>
          <a:xfrm>
            <a:off x="9521073" y="6381328"/>
            <a:ext cx="1422030" cy="180976"/>
          </a:xfrm>
        </p:spPr>
        <p:txBody>
          <a:bodyPr/>
          <a:lstStyle>
            <a:lvl1pPr>
              <a:defRPr>
                <a:solidFill>
                  <a:srgbClr val="FF0000"/>
                </a:solidFill>
              </a:defRPr>
            </a:lvl1pPr>
          </a:lstStyle>
          <a:p>
            <a:fld id="{D4DB32AB-9286-4034-B781-7386C239E4E0}" type="datetime1">
              <a:rPr lang="en-US" smtClean="0"/>
              <a:t>12/18/2024</a:t>
            </a:fld>
            <a:endParaRPr lang="en-US" dirty="0"/>
          </a:p>
        </p:txBody>
      </p:sp>
      <p:sp>
        <p:nvSpPr>
          <p:cNvPr id="6" name="Slide Number Placeholder 5"/>
          <p:cNvSpPr>
            <a:spLocks noGrp="1"/>
          </p:cNvSpPr>
          <p:nvPr>
            <p:ph type="sldNum" sz="quarter" idx="12"/>
          </p:nvPr>
        </p:nvSpPr>
        <p:spPr>
          <a:xfrm>
            <a:off x="11044676" y="6381328"/>
            <a:ext cx="812588" cy="180976"/>
          </a:xfrm>
        </p:spPr>
        <p:txBody>
          <a:bodyPr/>
          <a:lstStyle>
            <a:lvl1pPr>
              <a:defRPr b="1">
                <a:solidFill>
                  <a:srgbClr val="FF0000"/>
                </a:solidFill>
              </a:defRPr>
            </a:lvl1pPr>
          </a:lstStyle>
          <a:p>
            <a:fld id="{34C99D79-8A4B-4031-B1E0-AF26F8EDF2BC}" type="slidenum">
              <a:rPr lang="en-IN" smtClean="0"/>
              <a:pPr/>
              <a:t>‹#›</a:t>
            </a:fld>
            <a:endParaRPr lang="en-IN" dirty="0"/>
          </a:p>
        </p:txBody>
      </p:sp>
    </p:spTree>
    <p:extLst>
      <p:ext uri="{BB962C8B-B14F-4D97-AF65-F5344CB8AC3E}">
        <p14:creationId xmlns:p14="http://schemas.microsoft.com/office/powerpoint/2010/main" val="343515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squares"/>
          <p:cNvGrpSpPr/>
          <p:nvPr/>
        </p:nvGrpSpPr>
        <p:grpSpPr>
          <a:xfrm>
            <a:off x="0" y="3124415"/>
            <a:ext cx="1622332" cy="805061"/>
            <a:chOff x="0" y="2343311"/>
            <a:chExt cx="1217066" cy="603796"/>
          </a:xfrm>
        </p:grpSpPr>
        <p:sp>
          <p:nvSpPr>
            <p:cNvPr id="8" name="Rounded Rectangle 7"/>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9" name="bottom graphic"/>
          <p:cNvGrpSpPr/>
          <p:nvPr/>
        </p:nvGrpSpPr>
        <p:grpSpPr>
          <a:xfrm>
            <a:off x="0" y="5409216"/>
            <a:ext cx="12188825" cy="1462483"/>
            <a:chOff x="0" y="4056912"/>
            <a:chExt cx="9144000" cy="1096862"/>
          </a:xfrm>
        </p:grpSpPr>
        <p:sp>
          <p:nvSpPr>
            <p:cNvPr id="20" name="Freeform 19"/>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title"/>
          </p:nvPr>
        </p:nvSpPr>
        <p:spPr>
          <a:xfrm>
            <a:off x="1828324" y="1932518"/>
            <a:ext cx="9141619" cy="2105367"/>
          </a:xfrm>
        </p:spPr>
        <p:txBody>
          <a:bodyPr anchor="b">
            <a:normAutofit/>
          </a:bodyPr>
          <a:lstStyle>
            <a:lvl1pPr algn="l">
              <a:defRPr sz="6000" b="0" cap="none" baseline="0"/>
            </a:lvl1pPr>
          </a:lstStyle>
          <a:p>
            <a:r>
              <a:rPr lang="en-US" smtClean="0"/>
              <a:t>Click to edit Master title style</a:t>
            </a:r>
            <a:endParaRPr/>
          </a:p>
        </p:txBody>
      </p:sp>
      <p:sp>
        <p:nvSpPr>
          <p:cNvPr id="3" name="Text Placeholder 2"/>
          <p:cNvSpPr>
            <a:spLocks noGrp="1"/>
          </p:cNvSpPr>
          <p:nvPr>
            <p:ph type="body" idx="1"/>
          </p:nvPr>
        </p:nvSpPr>
        <p:spPr>
          <a:xfrm>
            <a:off x="1828324" y="4084264"/>
            <a:ext cx="9141619" cy="933297"/>
          </a:xfrm>
        </p:spPr>
        <p:txBody>
          <a:bodyPr anchor="t">
            <a:normAutofit/>
          </a:bodyPr>
          <a:lstStyle>
            <a:lvl1pPr marL="0" indent="0">
              <a:buNone/>
              <a:defRPr sz="2800">
                <a:solidFill>
                  <a:schemeClr val="accent1">
                    <a:lumMod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Dr. S. Nandagopalan</a:t>
            </a:r>
            <a:endParaRPr lang="en-US" dirty="0"/>
          </a:p>
        </p:txBody>
      </p:sp>
      <p:sp>
        <p:nvSpPr>
          <p:cNvPr id="4" name="Date Placeholder 3"/>
          <p:cNvSpPr>
            <a:spLocks noGrp="1"/>
          </p:cNvSpPr>
          <p:nvPr>
            <p:ph type="dt" sz="half" idx="10"/>
          </p:nvPr>
        </p:nvSpPr>
        <p:spPr/>
        <p:txBody>
          <a:bodyPr/>
          <a:lstStyle/>
          <a:p>
            <a:fld id="{D60C5CD4-0E99-47CF-8C77-D9AE71BED8C6}" type="datetime1">
              <a:rPr lang="en-US" smtClean="0"/>
              <a:t>12/18/2024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43569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p>
            <a:r>
              <a:rPr lang="en-US" smtClean="0"/>
              <a:t>Click to edit Master title style</a:t>
            </a:r>
            <a:endParaRPr/>
          </a:p>
        </p:txBody>
      </p:sp>
      <p:sp>
        <p:nvSpPr>
          <p:cNvPr id="3" name="Content Placeholder 2"/>
          <p:cNvSpPr>
            <a:spLocks noGrp="1"/>
          </p:cNvSpPr>
          <p:nvPr>
            <p:ph sz="half" idx="1"/>
          </p:nvPr>
        </p:nvSpPr>
        <p:spPr>
          <a:xfrm>
            <a:off x="1141412" y="1600200"/>
            <a:ext cx="487553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094412" y="1600200"/>
            <a:ext cx="487553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Dr. S. Nandagopalan</a:t>
            </a:r>
            <a:endParaRPr lang="en-US" dirty="0"/>
          </a:p>
        </p:txBody>
      </p:sp>
      <p:sp>
        <p:nvSpPr>
          <p:cNvPr id="5" name="Date Placeholder 4"/>
          <p:cNvSpPr>
            <a:spLocks noGrp="1"/>
          </p:cNvSpPr>
          <p:nvPr>
            <p:ph type="dt" sz="half" idx="10"/>
          </p:nvPr>
        </p:nvSpPr>
        <p:spPr/>
        <p:txBody>
          <a:bodyPr/>
          <a:lstStyle/>
          <a:p>
            <a:fld id="{BC3416CE-667A-4AA9-95E1-00F8941C550E}" type="datetime1">
              <a:rPr lang="en-US" smtClean="0"/>
              <a:t>12/18/2024</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29779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2" y="152400"/>
            <a:ext cx="9751060" cy="1295400"/>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141412" y="1524000"/>
            <a:ext cx="487553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4" name="Content Placeholder 3"/>
          <p:cNvSpPr>
            <a:spLocks noGrp="1"/>
          </p:cNvSpPr>
          <p:nvPr>
            <p:ph sz="half" idx="2"/>
          </p:nvPr>
        </p:nvSpPr>
        <p:spPr>
          <a:xfrm>
            <a:off x="1141412" y="2413000"/>
            <a:ext cx="487553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094412" y="1524000"/>
            <a:ext cx="4875530" cy="816429"/>
          </a:xfrm>
        </p:spPr>
        <p:txBody>
          <a:bodyPr anchor="ctr">
            <a:normAutofit/>
          </a:bodyPr>
          <a:lstStyle>
            <a:lvl1pPr marL="0" indent="0">
              <a:buNone/>
              <a:defRPr sz="2800" b="0">
                <a:solidFill>
                  <a:schemeClr val="accent1">
                    <a:lumMod val="75000"/>
                  </a:schemeClr>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6" name="Content Placeholder 5"/>
          <p:cNvSpPr>
            <a:spLocks noGrp="1"/>
          </p:cNvSpPr>
          <p:nvPr>
            <p:ph sz="quarter" idx="4"/>
          </p:nvPr>
        </p:nvSpPr>
        <p:spPr>
          <a:xfrm>
            <a:off x="6094412" y="2413000"/>
            <a:ext cx="487553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smtClean="0"/>
              <a:t>Dr. S. Nandagopalan</a:t>
            </a:r>
            <a:endParaRPr lang="en-US" dirty="0"/>
          </a:p>
        </p:txBody>
      </p:sp>
      <p:sp>
        <p:nvSpPr>
          <p:cNvPr id="7" name="Date Placeholder 6"/>
          <p:cNvSpPr>
            <a:spLocks noGrp="1"/>
          </p:cNvSpPr>
          <p:nvPr>
            <p:ph type="dt" sz="half" idx="10"/>
          </p:nvPr>
        </p:nvSpPr>
        <p:spPr/>
        <p:txBody>
          <a:bodyPr/>
          <a:lstStyle/>
          <a:p>
            <a:fld id="{5A31B1DB-2C6A-40BF-93BD-9F2562149E85}" type="datetime1">
              <a:rPr lang="en-US" smtClean="0"/>
              <a:t>12/18/2024</a:t>
            </a:fld>
            <a:endParaRPr/>
          </a:p>
        </p:txBody>
      </p:sp>
      <p:sp>
        <p:nvSpPr>
          <p:cNvPr id="9" name="Slide Number Placeholder 8"/>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487039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C00000"/>
                </a:solidFill>
              </a:defRPr>
            </a:lvl1pPr>
          </a:lstStyle>
          <a:p>
            <a:r>
              <a:rPr lang="en-US" dirty="0" smtClean="0"/>
              <a:t>Click to edit Master title style</a:t>
            </a:r>
            <a:endParaRPr dirty="0"/>
          </a:p>
        </p:txBody>
      </p:sp>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3" name="Date Placeholder 2"/>
          <p:cNvSpPr>
            <a:spLocks noGrp="1"/>
          </p:cNvSpPr>
          <p:nvPr>
            <p:ph type="dt" sz="half" idx="10"/>
          </p:nvPr>
        </p:nvSpPr>
        <p:spPr/>
        <p:txBody>
          <a:bodyPr/>
          <a:lstStyle/>
          <a:p>
            <a:fld id="{DED83FA5-6712-4E0B-BC48-C911B0D65225}" type="datetime1">
              <a:rPr lang="en-US" smtClean="0"/>
              <a:t>12/18/2024</a:t>
            </a:fld>
            <a:endParaRPr/>
          </a:p>
        </p:txBody>
      </p:sp>
      <p:sp>
        <p:nvSpPr>
          <p:cNvPr id="5" name="Slide Number Placeholder 4"/>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9690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8" name="bottom graphic"/>
          <p:cNvGrpSpPr/>
          <p:nvPr/>
        </p:nvGrpSpPr>
        <p:grpSpPr>
          <a:xfrm>
            <a:off x="0" y="5409216"/>
            <a:ext cx="12188825" cy="1462483"/>
            <a:chOff x="0" y="4056912"/>
            <a:chExt cx="9144000" cy="1096862"/>
          </a:xfrm>
        </p:grpSpPr>
        <p:sp>
          <p:nvSpPr>
            <p:cNvPr id="9" name="Freeform 8"/>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3" name="Footer Placeholder 2"/>
          <p:cNvSpPr>
            <a:spLocks noGrp="1"/>
          </p:cNvSpPr>
          <p:nvPr>
            <p:ph type="ftr" sz="quarter" idx="11"/>
          </p:nvPr>
        </p:nvSpPr>
        <p:spPr/>
        <p:txBody>
          <a:bodyPr/>
          <a:lstStyle/>
          <a:p>
            <a:r>
              <a:rPr lang="en-US" smtClean="0"/>
              <a:t>Dr. S. Nandagopalan</a:t>
            </a:r>
            <a:endParaRPr lang="en-US" dirty="0"/>
          </a:p>
        </p:txBody>
      </p:sp>
      <p:sp>
        <p:nvSpPr>
          <p:cNvPr id="2" name="Date Placeholder 1"/>
          <p:cNvSpPr>
            <a:spLocks noGrp="1"/>
          </p:cNvSpPr>
          <p:nvPr>
            <p:ph type="dt" sz="half" idx="10"/>
          </p:nvPr>
        </p:nvSpPr>
        <p:spPr/>
        <p:txBody>
          <a:bodyPr/>
          <a:lstStyle/>
          <a:p>
            <a:fld id="{F993D67C-FCF4-407A-864F-714EE09FCE11}" type="datetime1">
              <a:rPr lang="en-US" smtClean="0"/>
              <a:t>12/18/2024</a:t>
            </a:fld>
            <a:endParaRPr/>
          </a:p>
        </p:txBody>
      </p:sp>
      <p:sp>
        <p:nvSpPr>
          <p:cNvPr id="4" name="Slide Number Placeholder 3"/>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225395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smtClean="0"/>
              <a:t>Click to edit Master title style</a:t>
            </a:r>
            <a:endParaRPr/>
          </a:p>
        </p:txBody>
      </p:sp>
      <p:sp>
        <p:nvSpPr>
          <p:cNvPr id="3" name="Content Placeholder 2"/>
          <p:cNvSpPr>
            <a:spLocks noGrp="1"/>
          </p:cNvSpPr>
          <p:nvPr>
            <p:ph idx="1"/>
          </p:nvPr>
        </p:nvSpPr>
        <p:spPr>
          <a:xfrm>
            <a:off x="4875530" y="1600200"/>
            <a:ext cx="6094413"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1218883" y="1600202"/>
            <a:ext cx="3453500" cy="4571999"/>
          </a:xfrm>
        </p:spPr>
        <p:txBody>
          <a:bodyPr>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Dr. S. Nandagopalan</a:t>
            </a:r>
            <a:endParaRPr lang="en-US" dirty="0"/>
          </a:p>
        </p:txBody>
      </p:sp>
      <p:sp>
        <p:nvSpPr>
          <p:cNvPr id="5" name="Date Placeholder 4"/>
          <p:cNvSpPr>
            <a:spLocks noGrp="1"/>
          </p:cNvSpPr>
          <p:nvPr>
            <p:ph type="dt" sz="half" idx="10"/>
          </p:nvPr>
        </p:nvSpPr>
        <p:spPr/>
        <p:txBody>
          <a:bodyPr/>
          <a:lstStyle/>
          <a:p>
            <a:fld id="{A9522669-C4C0-411C-8C98-435E7354270E}" type="datetime1">
              <a:rPr lang="en-US" smtClean="0"/>
              <a:t>12/18/2024</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348396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218887" y="1600200"/>
            <a:ext cx="6703850" cy="3657600"/>
          </a:xfrm>
          <a:prstGeom prst="roundRect">
            <a:avLst>
              <a:gd name="adj" fmla="val 3098"/>
            </a:avLst>
          </a:prstGeom>
        </p:spPr>
        <p:txBody>
          <a:bodyPr>
            <a:normAutofit/>
          </a:bodyPr>
          <a:lstStyle>
            <a:lvl1pPr marL="0" indent="0">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smtClean="0"/>
              <a:t>Click icon to add picture</a:t>
            </a:r>
            <a:endParaRPr/>
          </a:p>
        </p:txBody>
      </p:sp>
      <p:sp>
        <p:nvSpPr>
          <p:cNvPr id="4" name="Text Placeholder 3"/>
          <p:cNvSpPr>
            <a:spLocks noGrp="1"/>
          </p:cNvSpPr>
          <p:nvPr>
            <p:ph type="body" sz="half" idx="2"/>
          </p:nvPr>
        </p:nvSpPr>
        <p:spPr>
          <a:xfrm>
            <a:off x="8125883" y="1600200"/>
            <a:ext cx="2844059" cy="3759200"/>
          </a:xfrm>
        </p:spPr>
        <p:txBody>
          <a:bodyPr anchor="b">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Dr. S. Nandagopalan</a:t>
            </a:r>
            <a:endParaRPr lang="en-US" dirty="0"/>
          </a:p>
        </p:txBody>
      </p:sp>
      <p:sp>
        <p:nvSpPr>
          <p:cNvPr id="5" name="Date Placeholder 4"/>
          <p:cNvSpPr>
            <a:spLocks noGrp="1"/>
          </p:cNvSpPr>
          <p:nvPr>
            <p:ph type="dt" sz="half" idx="10"/>
          </p:nvPr>
        </p:nvSpPr>
        <p:spPr/>
        <p:txBody>
          <a:bodyPr/>
          <a:lstStyle/>
          <a:p>
            <a:fld id="{3216644C-6B4B-4175-B188-D89A07CDDB14}" type="datetime1">
              <a:rPr lang="en-US" smtClean="0"/>
              <a:t>12/18/2024</a:t>
            </a:fld>
            <a:endParaRPr/>
          </a:p>
        </p:txBody>
      </p:sp>
      <p:sp>
        <p:nvSpPr>
          <p:cNvPr id="7" name="Slide Number Placeholder 6"/>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1442985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Dr. S. Nandagopalan</a:t>
            </a:r>
            <a:endParaRPr lang="en-US" dirty="0"/>
          </a:p>
        </p:txBody>
      </p:sp>
      <p:sp>
        <p:nvSpPr>
          <p:cNvPr id="4" name="Date Placeholder 3"/>
          <p:cNvSpPr>
            <a:spLocks noGrp="1"/>
          </p:cNvSpPr>
          <p:nvPr>
            <p:ph type="dt" sz="half" idx="10"/>
          </p:nvPr>
        </p:nvSpPr>
        <p:spPr/>
        <p:txBody>
          <a:bodyPr/>
          <a:lstStyle/>
          <a:p>
            <a:fld id="{04743085-5433-414E-96AE-344C80005A18}" type="datetime1">
              <a:rPr lang="en-US" smtClean="0"/>
              <a:t>12/18/2024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264082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squares"/>
          <p:cNvGrpSpPr/>
          <p:nvPr/>
        </p:nvGrpSpPr>
        <p:grpSpPr>
          <a:xfrm rot="5400000">
            <a:off x="9583007" y="233864"/>
            <a:ext cx="1063300" cy="524046"/>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5" name="bottom graphic"/>
          <p:cNvGrpSpPr/>
          <p:nvPr/>
        </p:nvGrpSpPr>
        <p:grpSpPr>
          <a:xfrm>
            <a:off x="0" y="5395517"/>
            <a:ext cx="12188825" cy="1462483"/>
            <a:chOff x="0" y="4046638"/>
            <a:chExt cx="9144000" cy="1096862"/>
          </a:xfrm>
        </p:grpSpPr>
        <p:sp>
          <p:nvSpPr>
            <p:cNvPr id="16" name="Freeform 15"/>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72"/>
            <p:cNvSpPr/>
            <p:nvPr/>
          </p:nvSpPr>
          <p:spPr bwMode="ltGray">
            <a:xfrm rot="5400000">
              <a:off x="4023569" y="23069"/>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Vertical Title 1"/>
          <p:cNvSpPr>
            <a:spLocks noGrp="1"/>
          </p:cNvSpPr>
          <p:nvPr>
            <p:ph type="title" orient="vert"/>
          </p:nvPr>
        </p:nvSpPr>
        <p:spPr>
          <a:xfrm>
            <a:off x="9751060" y="1150514"/>
            <a:ext cx="1828324" cy="5021685"/>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8882" y="1150514"/>
            <a:ext cx="8227457" cy="5021685"/>
          </a:xfrm>
        </p:spPr>
        <p:txBody>
          <a:bodyPr vert="eaVert"/>
          <a:lstStyle>
            <a:lvl5pPr>
              <a:defRPr/>
            </a:lvl5pPr>
            <a:lvl6pPr>
              <a:defRPr/>
            </a:lvl6pPr>
            <a:lvl7pPr>
              <a:defRPr/>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Dr. S. Nandagopalan</a:t>
            </a:r>
            <a:endParaRPr lang="en-US" dirty="0"/>
          </a:p>
        </p:txBody>
      </p:sp>
      <p:sp>
        <p:nvSpPr>
          <p:cNvPr id="4" name="Date Placeholder 3"/>
          <p:cNvSpPr>
            <a:spLocks noGrp="1"/>
          </p:cNvSpPr>
          <p:nvPr>
            <p:ph type="dt" sz="half" idx="10"/>
          </p:nvPr>
        </p:nvSpPr>
        <p:spPr/>
        <p:txBody>
          <a:bodyPr/>
          <a:lstStyle/>
          <a:p>
            <a:fld id="{240C58D7-F0E7-46DF-9788-A2D7483F7913}" type="datetime1">
              <a:rPr lang="en-US" smtClean="0"/>
              <a:t>12/18/2024</a:t>
            </a:fld>
            <a:endParaRPr/>
          </a:p>
        </p:txBody>
      </p:sp>
      <p:sp>
        <p:nvSpPr>
          <p:cNvPr id="6" name="Slide Number Placeholder 5"/>
          <p:cNvSpPr>
            <a:spLocks noGrp="1"/>
          </p:cNvSpPr>
          <p:nvPr>
            <p:ph type="sldNum" sz="quarter" idx="12"/>
          </p:nvPr>
        </p:nvSpPr>
        <p:spPr/>
        <p:txBody>
          <a:bodyPr/>
          <a:lstStyle/>
          <a:p>
            <a:fld id="{34C99D79-8A4B-4031-B1E0-AF26F8EDF2BC}" type="slidenum">
              <a:rPr/>
              <a:t>‹#›</a:t>
            </a:fld>
            <a:endParaRPr/>
          </a:p>
        </p:txBody>
      </p:sp>
    </p:spTree>
    <p:extLst>
      <p:ext uri="{BB962C8B-B14F-4D97-AF65-F5344CB8AC3E}">
        <p14:creationId xmlns:p14="http://schemas.microsoft.com/office/powerpoint/2010/main" val="8164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161749" y="192088"/>
            <a:ext cx="10881066" cy="59039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1536300" y="6286500"/>
            <a:ext cx="2539339" cy="457200"/>
          </a:xfrm>
        </p:spPr>
        <p:txBody>
          <a:bodyPr/>
          <a:lstStyle>
            <a:lvl1pPr>
              <a:defRPr/>
            </a:lvl1pPr>
          </a:lstStyle>
          <a:p>
            <a:pPr>
              <a:defRPr/>
            </a:pPr>
            <a:fld id="{CF5ED19B-0028-4143-9E4B-38EEA27ED01F}" type="datetime1">
              <a:rPr lang="en-US" smtClean="0"/>
              <a:t>12/18/2024</a:t>
            </a:fld>
            <a:endParaRPr lang="en-US"/>
          </a:p>
        </p:txBody>
      </p:sp>
      <p:sp>
        <p:nvSpPr>
          <p:cNvPr id="4" name="Footer Placeholder 3"/>
          <p:cNvSpPr>
            <a:spLocks noGrp="1"/>
          </p:cNvSpPr>
          <p:nvPr>
            <p:ph type="ftr" sz="quarter" idx="11"/>
          </p:nvPr>
        </p:nvSpPr>
        <p:spPr>
          <a:xfrm>
            <a:off x="4786653" y="6286500"/>
            <a:ext cx="3859795" cy="457200"/>
          </a:xfrm>
        </p:spPr>
        <p:txBody>
          <a:bodyPr/>
          <a:lstStyle>
            <a:lvl1pPr>
              <a:defRPr/>
            </a:lvl1pPr>
          </a:lstStyle>
          <a:p>
            <a:pPr>
              <a:defRPr/>
            </a:pPr>
            <a:r>
              <a:rPr lang="en-US" smtClean="0"/>
              <a:t>Dr. S. Nandagopalan</a:t>
            </a:r>
            <a:endParaRPr lang="en-US"/>
          </a:p>
        </p:txBody>
      </p:sp>
      <p:sp>
        <p:nvSpPr>
          <p:cNvPr id="5" name="Slide Number Placeholder 4"/>
          <p:cNvSpPr>
            <a:spLocks noGrp="1"/>
          </p:cNvSpPr>
          <p:nvPr>
            <p:ph type="sldNum" sz="quarter" idx="12"/>
          </p:nvPr>
        </p:nvSpPr>
        <p:spPr>
          <a:xfrm>
            <a:off x="9357462" y="6286500"/>
            <a:ext cx="2539339" cy="457200"/>
          </a:xfrm>
        </p:spPr>
        <p:txBody>
          <a:bodyPr/>
          <a:lstStyle>
            <a:lvl1pPr>
              <a:defRPr/>
            </a:lvl1pPr>
          </a:lstStyle>
          <a:p>
            <a:fld id="{8A3F583C-57D4-49AA-9DD7-E040CE84DFC1}" type="slidenum">
              <a:rPr lang="en-US" altLang="en-US"/>
              <a:pPr/>
              <a:t>‹#›</a:t>
            </a:fld>
            <a:endParaRPr lang="en-US" altLang="en-US"/>
          </a:p>
        </p:txBody>
      </p:sp>
    </p:spTree>
    <p:extLst>
      <p:ext uri="{BB962C8B-B14F-4D97-AF65-F5344CB8AC3E}">
        <p14:creationId xmlns:p14="http://schemas.microsoft.com/office/powerpoint/2010/main" val="4076321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294" y="381000"/>
            <a:ext cx="112006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06294" y="1371600"/>
            <a:ext cx="5535758"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45199" y="1371600"/>
            <a:ext cx="5535758"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06294" y="6477000"/>
            <a:ext cx="2539339" cy="381000"/>
          </a:xfrm>
        </p:spPr>
        <p:txBody>
          <a:bodyPr/>
          <a:lstStyle>
            <a:lvl1pPr>
              <a:defRPr/>
            </a:lvl1pPr>
          </a:lstStyle>
          <a:p>
            <a:pPr>
              <a:defRPr/>
            </a:pPr>
            <a:fld id="{97766709-1A21-4AEA-8544-BCB94411500E}" type="datetime4">
              <a:rPr lang="en-US"/>
              <a:pPr>
                <a:defRPr/>
              </a:pPr>
              <a:t>December 19, 2024</a:t>
            </a:fld>
            <a:endParaRPr lang="en-US"/>
          </a:p>
        </p:txBody>
      </p:sp>
      <p:sp>
        <p:nvSpPr>
          <p:cNvPr id="6" name="Footer Placeholder 5"/>
          <p:cNvSpPr>
            <a:spLocks noGrp="1"/>
          </p:cNvSpPr>
          <p:nvPr>
            <p:ph type="ftr" sz="quarter" idx="11"/>
          </p:nvPr>
        </p:nvSpPr>
        <p:spPr>
          <a:xfrm>
            <a:off x="4469236" y="6477000"/>
            <a:ext cx="3859795" cy="381000"/>
          </a:xfrm>
        </p:spPr>
        <p:txBody>
          <a:bodyPr/>
          <a:lstStyle>
            <a:lvl1pPr>
              <a:defRPr/>
            </a:lvl1pPr>
          </a:lstStyle>
          <a:p>
            <a:pPr>
              <a:defRPr/>
            </a:pPr>
            <a:r>
              <a:rPr lang="en-US"/>
              <a:t>Classification..... S. NandaGopalan, BIT</a:t>
            </a:r>
          </a:p>
        </p:txBody>
      </p:sp>
      <p:sp>
        <p:nvSpPr>
          <p:cNvPr id="7" name="Slide Number Placeholder 6"/>
          <p:cNvSpPr>
            <a:spLocks noGrp="1"/>
          </p:cNvSpPr>
          <p:nvPr>
            <p:ph type="sldNum" sz="quarter" idx="12"/>
          </p:nvPr>
        </p:nvSpPr>
        <p:spPr>
          <a:xfrm>
            <a:off x="9649486" y="6477000"/>
            <a:ext cx="2539339" cy="381000"/>
          </a:xfrm>
        </p:spPr>
        <p:txBody>
          <a:bodyPr/>
          <a:lstStyle>
            <a:lvl1pPr>
              <a:defRPr/>
            </a:lvl1pPr>
          </a:lstStyle>
          <a:p>
            <a:fld id="{0DB222B3-05D5-48BD-BEDC-307C9A0A4F08}" type="slidenum">
              <a:rPr lang="en-US" altLang="en-US"/>
              <a:pPr/>
              <a:t>‹#›</a:t>
            </a:fld>
            <a:endParaRPr lang="en-US" altLang="en-US"/>
          </a:p>
        </p:txBody>
      </p:sp>
    </p:spTree>
    <p:extLst>
      <p:ext uri="{BB962C8B-B14F-4D97-AF65-F5344CB8AC3E}">
        <p14:creationId xmlns:p14="http://schemas.microsoft.com/office/powerpoint/2010/main" val="4418472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1" name="bottom graphic"/>
          <p:cNvGrpSpPr/>
          <p:nvPr/>
        </p:nvGrpSpPr>
        <p:grpSpPr>
          <a:xfrm>
            <a:off x="0" y="5409216"/>
            <a:ext cx="12188825" cy="1462483"/>
            <a:chOff x="0" y="4056912"/>
            <a:chExt cx="9144000" cy="1096862"/>
          </a:xfrm>
        </p:grpSpPr>
        <p:sp>
          <p:nvSpPr>
            <p:cNvPr id="21" name="Freeform 20"/>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72"/>
            <p:cNvSpPr/>
            <p:nvPr/>
          </p:nvSpPr>
          <p:spPr bwMode="ltGray">
            <a:xfrm rot="5400000">
              <a:off x="4023569" y="33343"/>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grpSp>
        <p:nvGrpSpPr>
          <p:cNvPr id="7" name="squares"/>
          <p:cNvGrpSpPr/>
          <p:nvPr/>
        </p:nvGrpSpPr>
        <p:grpSpPr>
          <a:xfrm>
            <a:off x="1" y="800551"/>
            <a:ext cx="1063023" cy="524183"/>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152400"/>
            <a:ext cx="9751060" cy="1295400"/>
          </a:xfrm>
          <a:prstGeom prst="rect">
            <a:avLst/>
          </a:prstGeom>
        </p:spPr>
        <p:txBody>
          <a:bodyPr vert="horz" lIns="121899" tIns="60949" rIns="121899" bIns="60949"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8883" y="1600200"/>
            <a:ext cx="9751060" cy="4572000"/>
          </a:xfrm>
          <a:prstGeom prst="rect">
            <a:avLst/>
          </a:prstGeom>
        </p:spPr>
        <p:txBody>
          <a:bodyPr vert="horz" lIns="121899" tIns="60949" rIns="121899" bIns="6094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218883" y="6448425"/>
            <a:ext cx="8288401" cy="180976"/>
          </a:xfrm>
          <a:prstGeom prst="rect">
            <a:avLst/>
          </a:prstGeom>
        </p:spPr>
        <p:txBody>
          <a:bodyPr vert="horz" lIns="121899" tIns="60949" rIns="121899" bIns="60949" rtlCol="0" anchor="ctr"/>
          <a:lstStyle>
            <a:lvl1pPr algn="l">
              <a:defRPr sz="1200">
                <a:solidFill>
                  <a:schemeClr val="tx1"/>
                </a:solidFill>
              </a:defRPr>
            </a:lvl1pPr>
          </a:lstStyle>
          <a:p>
            <a:r>
              <a:rPr lang="en-US" smtClean="0"/>
              <a:t>Dr. S. Nandagopalan</a:t>
            </a:r>
            <a:endParaRPr lang="en-US" dirty="0"/>
          </a:p>
        </p:txBody>
      </p:sp>
      <p:sp>
        <p:nvSpPr>
          <p:cNvPr id="4" name="Date Placeholder 3"/>
          <p:cNvSpPr>
            <a:spLocks noGrp="1"/>
          </p:cNvSpPr>
          <p:nvPr>
            <p:ph type="dt" sz="half" idx="2"/>
          </p:nvPr>
        </p:nvSpPr>
        <p:spPr>
          <a:xfrm>
            <a:off x="9547913" y="6448425"/>
            <a:ext cx="1422030" cy="180976"/>
          </a:xfrm>
          <a:prstGeom prst="rect">
            <a:avLst/>
          </a:prstGeom>
        </p:spPr>
        <p:txBody>
          <a:bodyPr vert="horz" lIns="121899" tIns="60949" rIns="121899" bIns="60949" rtlCol="0" anchor="ctr"/>
          <a:lstStyle>
            <a:lvl1pPr algn="r">
              <a:defRPr sz="1200">
                <a:solidFill>
                  <a:schemeClr val="tx1"/>
                </a:solidFill>
              </a:defRPr>
            </a:lvl1pPr>
          </a:lstStyle>
          <a:p>
            <a:fld id="{82680049-6EC0-435C-96A9-594A7F91ABE3}" type="datetime1">
              <a:rPr lang="en-US" smtClean="0"/>
              <a:t>12/18/2024</a:t>
            </a:fld>
            <a:endParaRPr dirty="0"/>
          </a:p>
        </p:txBody>
      </p:sp>
      <p:sp>
        <p:nvSpPr>
          <p:cNvPr id="6" name="Slide Number Placeholder 5"/>
          <p:cNvSpPr>
            <a:spLocks noGrp="1"/>
          </p:cNvSpPr>
          <p:nvPr>
            <p:ph type="sldNum" sz="quarter" idx="4"/>
          </p:nvPr>
        </p:nvSpPr>
        <p:spPr>
          <a:xfrm>
            <a:off x="11071516" y="6448425"/>
            <a:ext cx="812588" cy="180976"/>
          </a:xfrm>
          <a:prstGeom prst="rect">
            <a:avLst/>
          </a:prstGeom>
        </p:spPr>
        <p:txBody>
          <a:bodyPr vert="horz" lIns="121899" tIns="60949" rIns="121899" bIns="60949" rtlCol="0" anchor="ctr"/>
          <a:lstStyle>
            <a:lvl1pPr algn="r">
              <a:defRPr sz="1200">
                <a:solidFill>
                  <a:schemeClr val="tx1"/>
                </a:solidFill>
              </a:defRPr>
            </a:lvl1pPr>
          </a:lstStyle>
          <a:p>
            <a:fld id="{34C99D79-8A4B-4031-B1E0-AF26F8EDF2BC}" type="slidenum">
              <a:rPr/>
              <a:pPr/>
              <a:t>‹#›</a:t>
            </a:fld>
            <a:endParaRPr/>
          </a:p>
        </p:txBody>
      </p:sp>
    </p:spTree>
    <p:extLst>
      <p:ext uri="{BB962C8B-B14F-4D97-AF65-F5344CB8AC3E}">
        <p14:creationId xmlns:p14="http://schemas.microsoft.com/office/powerpoint/2010/main" val="178268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800"/>
        </a:spcBef>
        <a:buClr>
          <a:schemeClr val="accent1">
            <a:lumMod val="75000"/>
          </a:schemeClr>
        </a:buClr>
        <a:buFont typeface="Arial" pitchFamily="34" charset="0"/>
        <a:buChar char="•"/>
        <a:defRPr sz="2800" kern="1200">
          <a:solidFill>
            <a:schemeClr val="tx1"/>
          </a:solidFill>
          <a:latin typeface="+mn-lt"/>
          <a:ea typeface="+mn-ea"/>
          <a:cs typeface="+mn-cs"/>
        </a:defRPr>
      </a:lvl1pPr>
      <a:lvl2pPr marL="755772" indent="-304747" algn="l" defTabSz="1218987" rtl="0" eaLnBrk="1" latinLnBrk="0" hangingPunct="1">
        <a:lnSpc>
          <a:spcPct val="90000"/>
        </a:lnSpc>
        <a:spcBef>
          <a:spcPts val="1200"/>
        </a:spcBef>
        <a:buClr>
          <a:schemeClr val="accent1">
            <a:lumMod val="75000"/>
          </a:schemeClr>
        </a:buClr>
        <a:buFont typeface="Arial" pitchFamily="34" charset="0"/>
        <a:buChar char="–"/>
        <a:defRPr sz="2400" kern="1200">
          <a:solidFill>
            <a:schemeClr val="tx1"/>
          </a:solidFill>
          <a:latin typeface="+mn-lt"/>
          <a:ea typeface="+mn-ea"/>
          <a:cs typeface="+mn-cs"/>
        </a:defRPr>
      </a:lvl2pPr>
      <a:lvl3pPr marL="120679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3pPr>
      <a:lvl4pPr marL="1657822"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4pPr>
      <a:lvl5pPr marL="2108847" indent="-304747" algn="l" defTabSz="1218987" rtl="0" eaLnBrk="1" latinLnBrk="0" hangingPunct="1">
        <a:lnSpc>
          <a:spcPct val="90000"/>
        </a:lnSpc>
        <a:spcBef>
          <a:spcPts val="800"/>
        </a:spcBef>
        <a:buClr>
          <a:schemeClr val="accent1">
            <a:lumMod val="75000"/>
          </a:schemeClr>
        </a:buClr>
        <a:buFont typeface="Arial" pitchFamily="34" charset="0"/>
        <a:buChar char="•"/>
        <a:defRPr sz="2000" kern="1200">
          <a:solidFill>
            <a:schemeClr val="tx1"/>
          </a:solidFill>
          <a:latin typeface="+mn-lt"/>
          <a:ea typeface="+mn-ea"/>
          <a:cs typeface="+mn-cs"/>
        </a:defRPr>
      </a:lvl5pPr>
      <a:lvl6pPr marL="255987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6pPr>
      <a:lvl7pPr marL="301089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7pPr>
      <a:lvl8pPr marL="346192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8pPr>
      <a:lvl9pPr marL="391294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embeddings/oleObject1.bin"/><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9.xml"/><Relationship Id="rId7" Type="http://schemas.openxmlformats.org/officeDocument/2006/relationships/image" Target="../media/image8.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10.wmf"/><Relationship Id="rId4" Type="http://schemas.openxmlformats.org/officeDocument/2006/relationships/image" Target="../media/image9.w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image" Target="../media/image12.w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4.vml"/><Relationship Id="rId5" Type="http://schemas.openxmlformats.org/officeDocument/2006/relationships/image" Target="../media/image12.wmf"/><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3.e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vmlDrawing" Target="../drawings/vmlDrawing6.vml"/><Relationship Id="rId5" Type="http://schemas.openxmlformats.org/officeDocument/2006/relationships/image" Target="../media/image14.w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vmlDrawing" Target="../drawings/vmlDrawing7.vml"/><Relationship Id="rId5" Type="http://schemas.openxmlformats.org/officeDocument/2006/relationships/image" Target="../media/image14.wmf"/><Relationship Id="rId4"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vmlDrawing" Target="../drawings/vmlDrawing8.vml"/><Relationship Id="rId5" Type="http://schemas.openxmlformats.org/officeDocument/2006/relationships/image" Target="../media/image15.wmf"/><Relationship Id="rId4" Type="http://schemas.openxmlformats.org/officeDocument/2006/relationships/oleObject" Target="../embeddings/oleObject8.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vmlDrawing" Target="../drawings/vmlDrawing9.vml"/><Relationship Id="rId5" Type="http://schemas.openxmlformats.org/officeDocument/2006/relationships/image" Target="../media/image15.wmf"/><Relationship Id="rId4" Type="http://schemas.openxmlformats.org/officeDocument/2006/relationships/oleObject" Target="../embeddings/oleObject9.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vmlDrawing" Target="../drawings/vmlDrawing10.vml"/><Relationship Id="rId5" Type="http://schemas.openxmlformats.org/officeDocument/2006/relationships/image" Target="../media/image16.wmf"/><Relationship Id="rId4"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vmlDrawing" Target="../drawings/vmlDrawing11.vml"/><Relationship Id="rId5" Type="http://schemas.openxmlformats.org/officeDocument/2006/relationships/image" Target="../media/image16.wmf"/><Relationship Id="rId4" Type="http://schemas.openxmlformats.org/officeDocument/2006/relationships/oleObject" Target="../embeddings/oleObject11.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9.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microsoft.com/office/2007/relationships/hdphoto" Target="../media/hdphoto3.wdp"/></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4.wdp"/></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microsoft.com/office/2007/relationships/hdphoto" Target="../media/hdphoto5.wdp"/></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22.png"/><Relationship Id="rId4" Type="http://schemas.microsoft.com/office/2007/relationships/hdphoto" Target="../media/hdphoto6.wdp"/></Relationships>
</file>

<file path=ppt/slides/_rels/slide31.xml.rels><?xml version="1.0" encoding="UTF-8" standalone="yes"?>
<Relationships xmlns="http://schemas.openxmlformats.org/package/2006/relationships"><Relationship Id="rId3" Type="http://schemas.openxmlformats.org/officeDocument/2006/relationships/image" Target="../media/image24.tmp"/><Relationship Id="rId7" Type="http://schemas.microsoft.com/office/2007/relationships/hdphoto" Target="../media/hdphoto1.wdp"/><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8.png"/><Relationship Id="rId5" Type="http://schemas.microsoft.com/office/2007/relationships/hdphoto" Target="../media/hdphoto7.wdp"/><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microsoft.com/office/2007/relationships/hdphoto" Target="../media/hdphoto8.wdp"/></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microsoft.com/office/2007/relationships/hdphoto" Target="../media/hdphoto9.wdp"/></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8.wmf"/><Relationship Id="rId4" Type="http://schemas.openxmlformats.org/officeDocument/2006/relationships/oleObject" Target="../embeddings/oleObject13.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notesSlide" Target="../notesSlides/notesSlide37.xml"/><Relationship Id="rId7" Type="http://schemas.openxmlformats.org/officeDocument/2006/relationships/image" Target="../media/image29.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15.bin"/><Relationship Id="rId5" Type="http://schemas.openxmlformats.org/officeDocument/2006/relationships/image" Target="../media/image28.wmf"/><Relationship Id="rId4" Type="http://schemas.openxmlformats.org/officeDocument/2006/relationships/oleObject" Target="../embeddings/oleObject14.bin"/><Relationship Id="rId9" Type="http://schemas.openxmlformats.org/officeDocument/2006/relationships/image" Target="../media/image30.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48.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oleObject" Target="../embeddings/oleObject17.bin"/><Relationship Id="rId3" Type="http://schemas.openxmlformats.org/officeDocument/2006/relationships/notesSlide" Target="../notesSlides/notesSlide40.xml"/><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slideLayout" Target="../slideLayouts/slideLayout12.xml"/><Relationship Id="rId16" Type="http://schemas.openxmlformats.org/officeDocument/2006/relationships/image" Target="../media/image42.wmf"/><Relationship Id="rId1" Type="http://schemas.openxmlformats.org/officeDocument/2006/relationships/vmlDrawing" Target="../drawings/vmlDrawing15.v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oleObject" Target="../embeddings/oleObject18.bin"/><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41.wmf"/></Relationships>
</file>

<file path=ppt/slides/_rels/slide4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oleObject" Target="../embeddings/oleObject19.bin"/><Relationship Id="rId3" Type="http://schemas.openxmlformats.org/officeDocument/2006/relationships/notesSlide" Target="../notesSlides/notesSlide41.xml"/><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slideLayout" Target="../slideLayouts/slideLayout12.xml"/><Relationship Id="rId16" Type="http://schemas.openxmlformats.org/officeDocument/2006/relationships/image" Target="../media/image42.wmf"/><Relationship Id="rId1" Type="http://schemas.openxmlformats.org/officeDocument/2006/relationships/vmlDrawing" Target="../drawings/vmlDrawing16.v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oleObject" Target="../embeddings/oleObject20.bin"/><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41.wmf"/></Relationships>
</file>

<file path=ppt/slides/_rels/slide50.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oleObject" Target="../embeddings/oleObject21.bin"/><Relationship Id="rId3" Type="http://schemas.openxmlformats.org/officeDocument/2006/relationships/notesSlide" Target="../notesSlides/notesSlide42.xml"/><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slideLayout" Target="../slideLayouts/slideLayout12.xml"/><Relationship Id="rId16" Type="http://schemas.openxmlformats.org/officeDocument/2006/relationships/image" Target="../media/image42.wmf"/><Relationship Id="rId1" Type="http://schemas.openxmlformats.org/officeDocument/2006/relationships/vmlDrawing" Target="../drawings/vmlDrawing17.v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oleObject" Target="../embeddings/oleObject22.bin"/><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41.wmf"/></Relationships>
</file>

<file path=ppt/slides/_rels/slide5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57.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9.wmf"/><Relationship Id="rId5" Type="http://schemas.openxmlformats.org/officeDocument/2006/relationships/oleObject" Target="../embeddings/oleObject25.bin"/><Relationship Id="rId4" Type="http://schemas.openxmlformats.org/officeDocument/2006/relationships/image" Target="../media/image58.wmf"/></Relationships>
</file>

<file path=ppt/slides/_rels/slide60.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61.wmf"/><Relationship Id="rId5" Type="http://schemas.openxmlformats.org/officeDocument/2006/relationships/oleObject" Target="../embeddings/oleObject27.bin"/><Relationship Id="rId4" Type="http://schemas.openxmlformats.org/officeDocument/2006/relationships/image" Target="../media/image60.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3.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65.wmf"/><Relationship Id="rId5" Type="http://schemas.openxmlformats.org/officeDocument/2006/relationships/oleObject" Target="../embeddings/oleObject30.bin"/><Relationship Id="rId4" Type="http://schemas.openxmlformats.org/officeDocument/2006/relationships/image" Target="../media/image64.wmf"/><Relationship Id="rId9" Type="http://schemas.openxmlformats.org/officeDocument/2006/relationships/image" Target="../media/image67.gi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vmlDrawing" Target="../drawings/vmlDrawing22.vml"/><Relationship Id="rId5" Type="http://schemas.openxmlformats.org/officeDocument/2006/relationships/image" Target="../media/image74.wmf"/><Relationship Id="rId4" Type="http://schemas.openxmlformats.org/officeDocument/2006/relationships/oleObject" Target="../embeddings/oleObject32.bin"/></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vmlDrawing" Target="../drawings/vmlDrawing23.vml"/><Relationship Id="rId5" Type="http://schemas.openxmlformats.org/officeDocument/2006/relationships/image" Target="../media/image75.emf"/><Relationship Id="rId4" Type="http://schemas.openxmlformats.org/officeDocument/2006/relationships/oleObject" Target="../embeddings/oleObject33.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0C7600-5BA8-4A54-887F-74AF87750A31}"/>
              </a:ext>
            </a:extLst>
          </p:cNvPr>
          <p:cNvSpPr>
            <a:spLocks noGrp="1"/>
          </p:cNvSpPr>
          <p:nvPr>
            <p:ph type="title"/>
          </p:nvPr>
        </p:nvSpPr>
        <p:spPr>
          <a:xfrm>
            <a:off x="1629916" y="980728"/>
            <a:ext cx="9937104" cy="4032448"/>
          </a:xfrm>
        </p:spPr>
        <p:txBody>
          <a:bodyPr>
            <a:normAutofit/>
          </a:bodyPr>
          <a:lstStyle/>
          <a:p>
            <a:r>
              <a:rPr lang="en-US" sz="4400" b="1" dirty="0" smtClean="0">
                <a:solidFill>
                  <a:srgbClr val="FF0000"/>
                </a:solidFill>
                <a:latin typeface="Book Antiqua" panose="02040602050305030304" pitchFamily="18" charset="0"/>
              </a:rPr>
              <a:t>Module  4:</a:t>
            </a:r>
            <a:r>
              <a:rPr lang="en-US" b="1" dirty="0" smtClean="0">
                <a:solidFill>
                  <a:srgbClr val="FFFF00"/>
                </a:solidFill>
                <a:latin typeface="Book Antiqua" panose="02040602050305030304" pitchFamily="18" charset="0"/>
              </a:rPr>
              <a:t/>
            </a:r>
            <a:br>
              <a:rPr lang="en-US" b="1" dirty="0" smtClean="0">
                <a:solidFill>
                  <a:srgbClr val="FFFF00"/>
                </a:solidFill>
                <a:latin typeface="Book Antiqua" panose="02040602050305030304" pitchFamily="18" charset="0"/>
              </a:rPr>
            </a:br>
            <a:r>
              <a:rPr lang="en-US" sz="4400" b="1" dirty="0">
                <a:latin typeface="Arial Black" panose="020B0A04020102020204" pitchFamily="34" charset="0"/>
              </a:rPr>
              <a:t>Large-Scale Machine Learning (Supervised</a:t>
            </a:r>
            <a:r>
              <a:rPr lang="en-US" sz="4400" b="1" dirty="0" smtClean="0">
                <a:latin typeface="Arial Black" panose="020B0A04020102020204" pitchFamily="34" charset="0"/>
              </a:rPr>
              <a:t>)</a:t>
            </a:r>
            <a:endParaRPr lang="en-IN" sz="4400" dirty="0">
              <a:latin typeface="Arial Black" panose="020B0A04020102020204" pitchFamily="34" charset="0"/>
            </a:endParaRPr>
          </a:p>
        </p:txBody>
      </p:sp>
      <p:sp>
        <p:nvSpPr>
          <p:cNvPr id="4" name="Slide Number Placeholder 3"/>
          <p:cNvSpPr>
            <a:spLocks noGrp="1"/>
          </p:cNvSpPr>
          <p:nvPr>
            <p:ph type="sldNum" sz="quarter" idx="12"/>
          </p:nvPr>
        </p:nvSpPr>
        <p:spPr/>
        <p:txBody>
          <a:bodyPr/>
          <a:lstStyle/>
          <a:p>
            <a:fld id="{34C99D79-8A4B-4031-B1E0-AF26F8EDF2BC}" type="slidenum">
              <a:rPr lang="en-IN" smtClean="0"/>
              <a:t>1</a:t>
            </a:fld>
            <a:endParaRPr lang="en-IN"/>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244829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Agenda</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79641594"/>
              </p:ext>
            </p:extLst>
          </p:nvPr>
        </p:nvGraphicFramePr>
        <p:xfrm>
          <a:off x="1192043" y="1484784"/>
          <a:ext cx="9137024" cy="4464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2</a:t>
            </a:fld>
            <a:endParaRPr lang="en-IN"/>
          </a:p>
        </p:txBody>
      </p:sp>
    </p:spTree>
    <p:extLst>
      <p:ext uri="{BB962C8B-B14F-4D97-AF65-F5344CB8AC3E}">
        <p14:creationId xmlns:p14="http://schemas.microsoft.com/office/powerpoint/2010/main" val="204134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normAutofit fontScale="92500" lnSpcReduction="10000"/>
          </a:bodyPr>
          <a:lstStyle/>
          <a:p>
            <a:r>
              <a:rPr lang="en-US" b="1" dirty="0"/>
              <a:t>Machine Learning Algorithms for Big Data Analytics</a:t>
            </a:r>
            <a:endParaRPr lang="en-IN" b="1" dirty="0"/>
          </a:p>
          <a:p>
            <a:r>
              <a:rPr lang="en-US" dirty="0"/>
              <a:t>Big Data analysis requires scalable distributed computations. </a:t>
            </a:r>
            <a:endParaRPr lang="en-US" dirty="0" smtClean="0"/>
          </a:p>
          <a:p>
            <a:r>
              <a:rPr lang="en-US" dirty="0" smtClean="0"/>
              <a:t>Spark </a:t>
            </a:r>
            <a:r>
              <a:rPr lang="en-US" dirty="0"/>
              <a:t>scalable </a:t>
            </a:r>
            <a:r>
              <a:rPr lang="en-US" dirty="0" err="1"/>
              <a:t>MLib</a:t>
            </a:r>
            <a:r>
              <a:rPr lang="en-US" dirty="0"/>
              <a:t> (machine-learning library) consists of the widely used ML algorithms and utility functions for large datasets. </a:t>
            </a:r>
            <a:endParaRPr lang="en-US" dirty="0" smtClean="0"/>
          </a:p>
          <a:p>
            <a:r>
              <a:rPr lang="en-US" dirty="0" err="1" smtClean="0"/>
              <a:t>MLib</a:t>
            </a:r>
            <a:r>
              <a:rPr lang="en-US" dirty="0" smtClean="0"/>
              <a:t> </a:t>
            </a:r>
            <a:r>
              <a:rPr lang="en-US" dirty="0"/>
              <a:t>includes the algorithms for optimization-primitives, regression, collaborative filtering, dimensionality reduction, cluster analysis, classification and recommender.</a:t>
            </a:r>
            <a:endParaRPr lang="en-IN" dirty="0"/>
          </a:p>
          <a:p>
            <a:r>
              <a:rPr lang="en-US" dirty="0"/>
              <a:t>Uses of Machine Learning (ML) and Artificial Neural Networks (ANN) are in analytics, predictive modeling and decisions. </a:t>
            </a:r>
            <a:endParaRPr lang="en-US" dirty="0" smtClean="0"/>
          </a:p>
          <a:p>
            <a:r>
              <a:rPr lang="en-US" dirty="0" smtClean="0"/>
              <a:t>The </a:t>
            </a:r>
            <a:r>
              <a:rPr lang="en-US" dirty="0"/>
              <a:t>analytics methods include data mining, pattern mining, clusters analysis and detection of anomalies</a:t>
            </a:r>
            <a:r>
              <a:rPr lang="en-US" dirty="0" smtClean="0"/>
              <a:t>.</a:t>
            </a:r>
          </a:p>
          <a:p>
            <a:r>
              <a:rPr lang="en-US" dirty="0" smtClean="0"/>
              <a:t>In </a:t>
            </a:r>
            <a:r>
              <a:rPr lang="en-US" dirty="0"/>
              <a:t>AI, </a:t>
            </a:r>
            <a:r>
              <a:rPr lang="en-US" i="1" dirty="0"/>
              <a:t>'machine learning' </a:t>
            </a:r>
            <a:r>
              <a:rPr lang="en-US" dirty="0"/>
              <a:t>and </a:t>
            </a:r>
            <a:r>
              <a:rPr lang="en-US" i="1" dirty="0"/>
              <a:t>'deep learning</a:t>
            </a:r>
            <a:r>
              <a:rPr lang="en-US" dirty="0"/>
              <a:t>' provide powerful tools for advanced  analytics  and predictions.</a:t>
            </a:r>
            <a:endParaRPr lang="en-IN" dirty="0"/>
          </a:p>
          <a:p>
            <a:endParaRPr lang="en-IN" dirty="0"/>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3</a:t>
            </a:fld>
            <a:endParaRPr lang="en-IN" dirty="0"/>
          </a:p>
        </p:txBody>
      </p:sp>
    </p:spTree>
    <p:extLst>
      <p:ext uri="{BB962C8B-B14F-4D97-AF65-F5344CB8AC3E}">
        <p14:creationId xmlns:p14="http://schemas.microsoft.com/office/powerpoint/2010/main" val="3239389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solidFill>
                  <a:srgbClr val="7030A0"/>
                </a:solidFill>
              </a:rPr>
              <a:t>What is Artificial Intelligence</a:t>
            </a:r>
            <a:r>
              <a:rPr lang="en-US" sz="4800" dirty="0" smtClean="0">
                <a:solidFill>
                  <a:srgbClr val="7030A0"/>
                </a:solidFill>
              </a:rPr>
              <a:t>?</a:t>
            </a:r>
            <a:endParaRPr lang="en-US" sz="4799" dirty="0">
              <a:latin typeface="High Tower Text" panose="02040502050506030303" pitchFamily="18" charset="0"/>
            </a:endParaRPr>
          </a:p>
        </p:txBody>
      </p:sp>
      <p:sp>
        <p:nvSpPr>
          <p:cNvPr id="3" name="Content Placeholder 2"/>
          <p:cNvSpPr>
            <a:spLocks noGrp="1"/>
          </p:cNvSpPr>
          <p:nvPr>
            <p:ph idx="1"/>
          </p:nvPr>
        </p:nvSpPr>
        <p:spPr>
          <a:xfrm>
            <a:off x="1096993" y="1200116"/>
            <a:ext cx="6947631" cy="5052465"/>
          </a:xfrm>
        </p:spPr>
        <p:txBody>
          <a:bodyPr>
            <a:noAutofit/>
          </a:bodyPr>
          <a:lstStyle/>
          <a:p>
            <a:r>
              <a:rPr lang="en-US" sz="2599" dirty="0" smtClean="0"/>
              <a:t>Artificial </a:t>
            </a:r>
            <a:r>
              <a:rPr lang="en-US" sz="2599" dirty="0"/>
              <a:t>intelligence </a:t>
            </a:r>
            <a:r>
              <a:rPr lang="en-US" sz="2599" dirty="0"/>
              <a:t>(AI) is </a:t>
            </a:r>
            <a:r>
              <a:rPr lang="en-US" sz="2599" dirty="0"/>
              <a:t>a machine’s ability to perform the cognitive functions we usually associate with human minds.</a:t>
            </a:r>
            <a:r>
              <a:rPr lang="en-US" sz="2599" dirty="0"/>
              <a:t> </a:t>
            </a:r>
          </a:p>
          <a:p>
            <a:r>
              <a:rPr lang="en-US" sz="2599" dirty="0"/>
              <a:t>Artificial intelligence is the simulation of human intelligence processes by machines, especially computer systems. </a:t>
            </a:r>
            <a:endParaRPr lang="en-US" sz="2599" dirty="0"/>
          </a:p>
          <a:p>
            <a:r>
              <a:rPr lang="en-US" sz="2599" b="1" dirty="0"/>
              <a:t>Applications:</a:t>
            </a:r>
            <a:r>
              <a:rPr lang="en-US" sz="2599" dirty="0"/>
              <a:t> expert </a:t>
            </a:r>
            <a:r>
              <a:rPr lang="en-US" sz="2599" dirty="0"/>
              <a:t>systems, natural language processing, speech </a:t>
            </a:r>
            <a:r>
              <a:rPr lang="en-US" sz="2599" dirty="0"/>
              <a:t>recognition, </a:t>
            </a:r>
            <a:r>
              <a:rPr lang="en-US" sz="2599" dirty="0"/>
              <a:t>and machine vision.</a:t>
            </a:r>
            <a:endParaRPr lang="en-US" sz="2599" dirty="0"/>
          </a:p>
          <a:p>
            <a:endParaRPr lang="en-US" sz="2599" dirty="0"/>
          </a:p>
        </p:txBody>
      </p:sp>
      <p:sp>
        <p:nvSpPr>
          <p:cNvPr id="4" name="Footer Placeholder 3"/>
          <p:cNvSpPr>
            <a:spLocks noGrp="1"/>
          </p:cNvSpPr>
          <p:nvPr>
            <p:ph type="ftr" sz="quarter" idx="11"/>
          </p:nvPr>
        </p:nvSpPr>
        <p:spPr/>
        <p:txBody>
          <a:bodyPr/>
          <a:lstStyle/>
          <a:p>
            <a:r>
              <a:rPr lang="en-US" smtClean="0">
                <a:solidFill>
                  <a:schemeClr val="tx1"/>
                </a:solidFill>
              </a:rPr>
              <a:t>Dr. S. Nandagopalan</a:t>
            </a:r>
            <a:endParaRPr lang="en-US" dirty="0">
              <a:solidFill>
                <a:schemeClr val="tx1"/>
              </a:solidFill>
            </a:endParaRPr>
          </a:p>
        </p:txBody>
      </p:sp>
      <p:sp>
        <p:nvSpPr>
          <p:cNvPr id="5" name="Slide Number Placeholder 4"/>
          <p:cNvSpPr>
            <a:spLocks noGrp="1"/>
          </p:cNvSpPr>
          <p:nvPr>
            <p:ph type="sldNum" sz="quarter" idx="12"/>
          </p:nvPr>
        </p:nvSpPr>
        <p:spPr/>
        <p:txBody>
          <a:bodyPr/>
          <a:lstStyle/>
          <a:p>
            <a:fld id="{A809AB58-ABF0-4861-BE68-8CD89C7401E8}" type="slidenum">
              <a:rPr lang="en-US" smtClean="0"/>
              <a:t>4</a:t>
            </a:fld>
            <a:endParaRPr lang="en-US"/>
          </a:p>
        </p:txBody>
      </p:sp>
      <p:pic>
        <p:nvPicPr>
          <p:cNvPr id="1026" name="Picture 2" descr="3D Robotics hand"/>
          <p:cNvPicPr>
            <a:picLocks noChangeAspect="1" noChangeArrowheads="1"/>
          </p:cNvPicPr>
          <p:nvPr/>
        </p:nvPicPr>
        <p:blipFill rotWithShape="1">
          <a:blip r:embed="rId3">
            <a:extLst>
              <a:ext uri="{28A0092B-C50C-407E-A947-70E740481C1C}">
                <a14:useLocalDpi xmlns:a14="http://schemas.microsoft.com/office/drawing/2010/main" val="0"/>
              </a:ext>
            </a:extLst>
          </a:blip>
          <a:srcRect l="18914" t="13576" r="13323" b="-13576"/>
          <a:stretch/>
        </p:blipFill>
        <p:spPr bwMode="auto">
          <a:xfrm>
            <a:off x="8146198" y="2535715"/>
            <a:ext cx="3729036" cy="3092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66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 (ML)</a:t>
            </a:r>
            <a:endParaRPr lang="en-IN" dirty="0"/>
          </a:p>
        </p:txBody>
      </p:sp>
      <p:sp>
        <p:nvSpPr>
          <p:cNvPr id="3" name="Content Placeholder 2"/>
          <p:cNvSpPr>
            <a:spLocks noGrp="1"/>
          </p:cNvSpPr>
          <p:nvPr>
            <p:ph idx="1"/>
          </p:nvPr>
        </p:nvSpPr>
        <p:spPr/>
        <p:txBody>
          <a:bodyPr>
            <a:normAutofit fontScale="92500" lnSpcReduction="10000"/>
          </a:bodyPr>
          <a:lstStyle/>
          <a:p>
            <a:r>
              <a:rPr lang="en-US" sz="2799" dirty="0"/>
              <a:t>Machine Learning is a subset of artificial intelligence. </a:t>
            </a:r>
            <a:endParaRPr lang="en-US" sz="2799" dirty="0"/>
          </a:p>
          <a:p>
            <a:r>
              <a:rPr lang="en-US" sz="2799" dirty="0"/>
              <a:t>It </a:t>
            </a:r>
            <a:r>
              <a:rPr lang="en-US" sz="2799" dirty="0"/>
              <a:t>allows the machines to </a:t>
            </a:r>
            <a:r>
              <a:rPr lang="en-US" sz="2799" b="1" dirty="0"/>
              <a:t>learn</a:t>
            </a:r>
            <a:r>
              <a:rPr lang="en-US" sz="2799" dirty="0"/>
              <a:t> and make </a:t>
            </a:r>
            <a:r>
              <a:rPr lang="en-US" sz="2799" b="1" dirty="0"/>
              <a:t>predictions/recommendations</a:t>
            </a:r>
            <a:r>
              <a:rPr lang="en-US" sz="2799" dirty="0"/>
              <a:t> </a:t>
            </a:r>
            <a:r>
              <a:rPr lang="en-US" sz="2799" dirty="0"/>
              <a:t>based on its </a:t>
            </a:r>
            <a:r>
              <a:rPr lang="en-US" sz="2799" dirty="0"/>
              <a:t>experience i.e. data.</a:t>
            </a:r>
          </a:p>
          <a:p>
            <a:r>
              <a:rPr lang="en-US" sz="2799" dirty="0"/>
              <a:t>E.g. </a:t>
            </a:r>
            <a:r>
              <a:rPr lang="en-IN" sz="2799" dirty="0"/>
              <a:t>Netflix’s recommendation </a:t>
            </a:r>
            <a:r>
              <a:rPr lang="en-IN" sz="2799" dirty="0"/>
              <a:t>engine. </a:t>
            </a:r>
            <a:r>
              <a:rPr lang="en-IN" sz="2799" dirty="0"/>
              <a:t>Amazon, Flipkart Apps</a:t>
            </a:r>
            <a:r>
              <a:rPr lang="en-IN" sz="2799" dirty="0" smtClean="0"/>
              <a:t>.</a:t>
            </a:r>
          </a:p>
          <a:p>
            <a:r>
              <a:rPr lang="en-US" sz="2800" dirty="0" smtClean="0"/>
              <a:t>ML </a:t>
            </a:r>
            <a:r>
              <a:rPr lang="en-US" sz="2800" dirty="0"/>
              <a:t>techniques use unsupervised, semi-supervised or </a:t>
            </a:r>
            <a:r>
              <a:rPr lang="en-US" sz="2800" dirty="0" smtClean="0"/>
              <a:t>supervised learning</a:t>
            </a:r>
            <a:r>
              <a:rPr lang="en-US" sz="2800" dirty="0"/>
              <a:t>. </a:t>
            </a:r>
            <a:endParaRPr lang="en-US" sz="2800" dirty="0" smtClean="0"/>
          </a:p>
          <a:p>
            <a:r>
              <a:rPr lang="en-US" sz="2800" dirty="0" smtClean="0"/>
              <a:t>Supervised </a:t>
            </a:r>
            <a:r>
              <a:rPr lang="en-US" sz="2800" dirty="0"/>
              <a:t>learning uses a known dataset (called </a:t>
            </a:r>
            <a:r>
              <a:rPr lang="en-US" sz="2800" i="1" dirty="0"/>
              <a:t>training dataset). </a:t>
            </a:r>
            <a:endParaRPr lang="en-US" sz="2800" i="1" dirty="0" smtClean="0"/>
          </a:p>
          <a:p>
            <a:r>
              <a:rPr lang="en-US" sz="2800" dirty="0" smtClean="0"/>
              <a:t>Learning </a:t>
            </a:r>
            <a:r>
              <a:rPr lang="en-US" sz="2800" dirty="0"/>
              <a:t>enables creation of a </a:t>
            </a:r>
            <a:r>
              <a:rPr lang="en-US" sz="2800" i="1" dirty="0"/>
              <a:t>model program </a:t>
            </a:r>
            <a:r>
              <a:rPr lang="en-US" sz="2800" dirty="0"/>
              <a:t>for evaluating </a:t>
            </a:r>
            <a:r>
              <a:rPr lang="en-US" sz="2800" dirty="0" smtClean="0"/>
              <a:t>outcomes.</a:t>
            </a:r>
            <a:endParaRPr lang="en-IN" sz="2799" dirty="0"/>
          </a:p>
          <a:p>
            <a:endParaRPr lang="en-IN" sz="2799" dirty="0"/>
          </a:p>
        </p:txBody>
      </p:sp>
      <p:sp>
        <p:nvSpPr>
          <p:cNvPr id="4" name="Footer Placeholder 3"/>
          <p:cNvSpPr>
            <a:spLocks noGrp="1"/>
          </p:cNvSpPr>
          <p:nvPr>
            <p:ph type="ftr" sz="quarter" idx="11"/>
          </p:nvPr>
        </p:nvSpPr>
        <p:spPr/>
        <p:txBody>
          <a:bodyPr/>
          <a:lstStyle/>
          <a:p>
            <a:r>
              <a:rPr lang="en-US" dirty="0" smtClean="0"/>
              <a:t>Dr. S. Nandagopalan</a:t>
            </a:r>
            <a:endParaRPr lang="en-US" dirty="0"/>
          </a:p>
        </p:txBody>
      </p:sp>
      <p:sp>
        <p:nvSpPr>
          <p:cNvPr id="5" name="Slide Number Placeholder 4"/>
          <p:cNvSpPr>
            <a:spLocks noGrp="1"/>
          </p:cNvSpPr>
          <p:nvPr>
            <p:ph type="sldNum" sz="quarter" idx="12"/>
          </p:nvPr>
        </p:nvSpPr>
        <p:spPr/>
        <p:txBody>
          <a:bodyPr/>
          <a:lstStyle/>
          <a:p>
            <a:fld id="{A809AB58-ABF0-4861-BE68-8CD89C7401E8}" type="slidenum">
              <a:rPr lang="en-US" smtClean="0"/>
              <a:t>5</a:t>
            </a:fld>
            <a:endParaRPr lang="en-US"/>
          </a:p>
        </p:txBody>
      </p:sp>
    </p:spTree>
    <p:extLst>
      <p:ext uri="{BB962C8B-B14F-4D97-AF65-F5344CB8AC3E}">
        <p14:creationId xmlns:p14="http://schemas.microsoft.com/office/powerpoint/2010/main" val="277582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884" y="309738"/>
            <a:ext cx="9204528" cy="794738"/>
          </a:xfrm>
        </p:spPr>
        <p:txBody>
          <a:bodyPr/>
          <a:lstStyle/>
          <a:p>
            <a:r>
              <a:rPr lang="en-US" dirty="0" smtClean="0"/>
              <a:t>Deep Learning</a:t>
            </a:r>
            <a:endParaRPr lang="en-IN" dirty="0"/>
          </a:p>
        </p:txBody>
      </p:sp>
      <p:sp>
        <p:nvSpPr>
          <p:cNvPr id="3" name="Content Placeholder 2"/>
          <p:cNvSpPr>
            <a:spLocks noGrp="1"/>
          </p:cNvSpPr>
          <p:nvPr>
            <p:ph idx="1"/>
          </p:nvPr>
        </p:nvSpPr>
        <p:spPr>
          <a:xfrm>
            <a:off x="690700" y="1235322"/>
            <a:ext cx="6074098" cy="5052465"/>
          </a:xfrm>
        </p:spPr>
        <p:txBody>
          <a:bodyPr>
            <a:noAutofit/>
          </a:bodyPr>
          <a:lstStyle/>
          <a:p>
            <a:r>
              <a:rPr lang="en-US" sz="2499" dirty="0"/>
              <a:t>Deep </a:t>
            </a:r>
            <a:r>
              <a:rPr lang="en-US" sz="2499" dirty="0"/>
              <a:t>learning is </a:t>
            </a:r>
            <a:r>
              <a:rPr lang="en-US" sz="2499" b="1" dirty="0"/>
              <a:t>a subset of machine learning</a:t>
            </a:r>
            <a:r>
              <a:rPr lang="en-US" sz="2499" dirty="0"/>
              <a:t>, which is essentially a neural network with three or more </a:t>
            </a:r>
            <a:r>
              <a:rPr lang="en-US" sz="2499" dirty="0"/>
              <a:t>layers.</a:t>
            </a:r>
          </a:p>
          <a:p>
            <a:r>
              <a:rPr lang="en-US" sz="2499" dirty="0"/>
              <a:t>It teaches </a:t>
            </a:r>
            <a:r>
              <a:rPr lang="en-US" sz="2499" dirty="0"/>
              <a:t>computers to process data in a way that is inspired by the human brain. </a:t>
            </a:r>
            <a:endParaRPr lang="en-US" sz="2499" dirty="0"/>
          </a:p>
          <a:p>
            <a:r>
              <a:rPr lang="en-US" sz="2499" dirty="0"/>
              <a:t>Deep learning is a key technology behind driverless cars, enabling them to recognize a stop sign, or to distinguish a pedestrian from a lamppost.</a:t>
            </a:r>
            <a:endParaRPr lang="en-IN" sz="2499"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A809AB58-ABF0-4861-BE68-8CD89C7401E8}" type="slidenum">
              <a:rPr lang="en-US" smtClean="0"/>
              <a:t>6</a:t>
            </a:fld>
            <a:endParaRPr lang="en-US"/>
          </a:p>
        </p:txBody>
      </p:sp>
      <p:pic>
        <p:nvPicPr>
          <p:cNvPr id="5124" name="Picture 4" descr="What is Deep Learning | Deep Learning Machine Vision | AIT Goehn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4798" y="1494024"/>
            <a:ext cx="5083766" cy="3812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71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of AI-ML-DL</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A809AB58-ABF0-4861-BE68-8CD89C7401E8}" type="slidenum">
              <a:rPr lang="en-US" smtClean="0"/>
              <a:t>7</a:t>
            </a:fld>
            <a:endParaRPr lang="en-US"/>
          </a:p>
        </p:txBody>
      </p:sp>
      <p:pic>
        <p:nvPicPr>
          <p:cNvPr id="6146" name="Picture 2" descr="AI vs ML vs Deep Learning - Machine Learning Tutorial - Edure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994" y="1511954"/>
            <a:ext cx="9814866" cy="4126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156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DT</a:t>
            </a:r>
            <a:endParaRPr lang="en-US" dirty="0"/>
          </a:p>
        </p:txBody>
      </p:sp>
      <p:sp>
        <p:nvSpPr>
          <p:cNvPr id="3" name="Content Placeholder 2"/>
          <p:cNvSpPr>
            <a:spLocks noGrp="1"/>
          </p:cNvSpPr>
          <p:nvPr>
            <p:ph idx="1"/>
          </p:nvPr>
        </p:nvSpPr>
        <p:spPr/>
        <p:txBody>
          <a:bodyPr>
            <a:normAutofit/>
          </a:bodyPr>
          <a:lstStyle/>
          <a:p>
            <a:r>
              <a:rPr lang="en-US" dirty="0" smtClean="0"/>
              <a:t>Decision </a:t>
            </a:r>
            <a:r>
              <a:rPr lang="en-US" dirty="0"/>
              <a:t>trees are a simple way to guide one’s path to a decision. </a:t>
            </a:r>
            <a:endParaRPr lang="en-US" dirty="0" smtClean="0"/>
          </a:p>
          <a:p>
            <a:r>
              <a:rPr lang="en-US" dirty="0" smtClean="0"/>
              <a:t>Decision </a:t>
            </a:r>
            <a:r>
              <a:rPr lang="en-US" dirty="0"/>
              <a:t>trees are hierarchically branched structures that help one come to a decision based on asking certain questions in a particular sequence.</a:t>
            </a:r>
          </a:p>
          <a:p>
            <a:r>
              <a:rPr lang="en-US" dirty="0" smtClean="0"/>
              <a:t>The decision may </a:t>
            </a:r>
            <a:r>
              <a:rPr lang="en-US" dirty="0"/>
              <a:t>be a simple binary one, whether to approve a loan or not. </a:t>
            </a:r>
            <a:endParaRPr lang="en-US" dirty="0" smtClean="0"/>
          </a:p>
          <a:p>
            <a:r>
              <a:rPr lang="en-US" dirty="0" smtClean="0"/>
              <a:t>Or it may </a:t>
            </a:r>
            <a:r>
              <a:rPr lang="en-US" dirty="0"/>
              <a:t>be a complex multivalued decision, as to what may be the </a:t>
            </a:r>
            <a:r>
              <a:rPr lang="en-US" dirty="0" smtClean="0"/>
              <a:t>diagnosis for </a:t>
            </a:r>
            <a:r>
              <a:rPr lang="en-US" dirty="0"/>
              <a:t>a particular sickness. </a:t>
            </a:r>
            <a:endParaRPr lang="en-US" dirty="0" smtClean="0"/>
          </a:p>
        </p:txBody>
      </p:sp>
      <p:sp>
        <p:nvSpPr>
          <p:cNvPr id="4" name="Slide Number Placeholder 3"/>
          <p:cNvSpPr>
            <a:spLocks noGrp="1"/>
          </p:cNvSpPr>
          <p:nvPr>
            <p:ph type="sldNum" sz="quarter" idx="12"/>
          </p:nvPr>
        </p:nvSpPr>
        <p:spPr/>
        <p:txBody>
          <a:bodyPr/>
          <a:lstStyle/>
          <a:p>
            <a:fld id="{18CE55FB-C8CE-43BD-8EBC-C060BF5D6D85}"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2466785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Case Study</a:t>
            </a:r>
            <a:endParaRPr lang="en-US" dirty="0"/>
          </a:p>
        </p:txBody>
      </p:sp>
      <p:sp>
        <p:nvSpPr>
          <p:cNvPr id="3" name="Content Placeholder 2"/>
          <p:cNvSpPr>
            <a:spLocks noGrp="1"/>
          </p:cNvSpPr>
          <p:nvPr>
            <p:ph idx="1"/>
          </p:nvPr>
        </p:nvSpPr>
        <p:spPr/>
        <p:txBody>
          <a:bodyPr>
            <a:normAutofit fontScale="92500"/>
          </a:bodyPr>
          <a:lstStyle/>
          <a:p>
            <a:r>
              <a:rPr lang="en-US" smtClean="0"/>
              <a:t>Predicting Heart Attacks Using Decision Trees</a:t>
            </a:r>
          </a:p>
          <a:p>
            <a:r>
              <a:rPr lang="en-US" smtClean="0"/>
              <a:t>A study was done at UC San Diego concerning heart disease patient data.</a:t>
            </a:r>
          </a:p>
          <a:p>
            <a:r>
              <a:rPr lang="en-US" smtClean="0"/>
              <a:t>The patients were diagnosed with a heart attack from chest pain, diagnosed by EKG, high enzyme levels in their heart muscles, and so on. </a:t>
            </a:r>
          </a:p>
          <a:p>
            <a:r>
              <a:rPr lang="en-US" smtClean="0"/>
              <a:t>Predict which of these patients was at risk of dying from a second heart attack within the next 30 days. </a:t>
            </a:r>
          </a:p>
          <a:p>
            <a:r>
              <a:rPr lang="en-US" smtClean="0"/>
              <a:t>The prediction would determine the treatment plan, such as whether to keep the patient in intensive care or not. </a:t>
            </a:r>
          </a:p>
          <a:p>
            <a:r>
              <a:rPr lang="en-US" smtClean="0"/>
              <a:t>Features: 100 </a:t>
            </a:r>
            <a:r>
              <a:rPr lang="en-US" smtClean="0">
                <a:sym typeface="Symbol" panose="05050102010706020507" pitchFamily="18" charset="2"/>
              </a:rPr>
              <a:t></a:t>
            </a:r>
            <a:r>
              <a:rPr lang="en-US" smtClean="0"/>
              <a:t> demographics, medical history, and lab data. </a:t>
            </a:r>
          </a:p>
          <a:p>
            <a:r>
              <a:rPr lang="en-US" smtClean="0"/>
              <a:t>Using that data and the CART algorithm, a decision tree was constructed.</a:t>
            </a:r>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9</a:t>
            </a:fld>
            <a:endParaRPr lang="en-US"/>
          </a:p>
        </p:txBody>
      </p:sp>
      <p:sp>
        <p:nvSpPr>
          <p:cNvPr id="8" name="Footer Placeholder 7"/>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3333465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Outcome</a:t>
            </a:r>
            <a:endParaRPr lang="en-US" dirty="0"/>
          </a:p>
        </p:txBody>
      </p:sp>
      <p:sp>
        <p:nvSpPr>
          <p:cNvPr id="3" name="Content Placeholder 2"/>
          <p:cNvSpPr>
            <a:spLocks noGrp="1"/>
          </p:cNvSpPr>
          <p:nvPr>
            <p:ph idx="1"/>
          </p:nvPr>
        </p:nvSpPr>
        <p:spPr/>
        <p:txBody>
          <a:bodyPr>
            <a:normAutofit/>
          </a:bodyPr>
          <a:lstStyle/>
          <a:p>
            <a:r>
              <a:rPr lang="en-US" sz="2800" i="1" dirty="0"/>
              <a:t>I</a:t>
            </a:r>
            <a:r>
              <a:rPr lang="en-US" sz="2800" i="1" dirty="0"/>
              <a:t>f </a:t>
            </a:r>
            <a:r>
              <a:rPr lang="en-US" sz="2800" i="1" dirty="0"/>
              <a:t>blood pressure (BP) was low (≤90), </a:t>
            </a:r>
            <a:r>
              <a:rPr lang="en-US" sz="2800" i="1" dirty="0"/>
              <a:t>the chance </a:t>
            </a:r>
            <a:r>
              <a:rPr lang="en-US" sz="2800" i="1" dirty="0"/>
              <a:t>of another heart attack </a:t>
            </a:r>
            <a:r>
              <a:rPr lang="en-US" sz="2800" i="1" dirty="0"/>
              <a:t>is 70%</a:t>
            </a:r>
          </a:p>
          <a:p>
            <a:r>
              <a:rPr lang="en-US" sz="2800" i="1" dirty="0"/>
              <a:t>If the age </a:t>
            </a:r>
            <a:r>
              <a:rPr lang="en-US" sz="2800" i="1" dirty="0"/>
              <a:t>was low </a:t>
            </a:r>
            <a:r>
              <a:rPr lang="en-US" sz="2800" i="1" dirty="0"/>
              <a:t>(≤62), then the patient’s survival was almost guaranteed (</a:t>
            </a:r>
            <a:r>
              <a:rPr lang="en-US" sz="2800" i="1" dirty="0"/>
              <a:t>98%).</a:t>
            </a:r>
          </a:p>
          <a:p>
            <a:r>
              <a:rPr lang="en-US" sz="2800" i="1" dirty="0"/>
              <a:t>Accuracy = 86.5%</a:t>
            </a:r>
            <a:endParaRPr lang="en-US" sz="2800" dirty="0"/>
          </a:p>
        </p:txBody>
      </p:sp>
      <p:sp>
        <p:nvSpPr>
          <p:cNvPr id="4" name="Slide Number Placeholder 3"/>
          <p:cNvSpPr>
            <a:spLocks noGrp="1"/>
          </p:cNvSpPr>
          <p:nvPr>
            <p:ph type="sldNum" sz="quarter" idx="12"/>
          </p:nvPr>
        </p:nvSpPr>
        <p:spPr/>
        <p:txBody>
          <a:bodyPr/>
          <a:lstStyle/>
          <a:p>
            <a:fld id="{18CE55FB-C8CE-43BD-8EBC-C060BF5D6D85}" type="slidenum">
              <a:rPr lang="en-US" smtClean="0"/>
              <a:t>10</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23548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smtClean="0"/>
              <a:t>Classification - A Two-Step Process </a:t>
            </a:r>
            <a:endParaRPr lang="en-US" altLang="en-US" dirty="0" smtClean="0"/>
          </a:p>
        </p:txBody>
      </p:sp>
      <p:sp>
        <p:nvSpPr>
          <p:cNvPr id="18438" name="Rectangle 3"/>
          <p:cNvSpPr>
            <a:spLocks noGrp="1" noChangeArrowheads="1"/>
          </p:cNvSpPr>
          <p:nvPr>
            <p:ph sz="quarter" idx="1"/>
          </p:nvPr>
        </p:nvSpPr>
        <p:spPr/>
        <p:txBody>
          <a:bodyPr>
            <a:normAutofit fontScale="77500" lnSpcReduction="20000"/>
          </a:bodyPr>
          <a:lstStyle/>
          <a:p>
            <a:r>
              <a:rPr lang="en-US" altLang="en-US" smtClean="0"/>
              <a:t>Model construction: describing a set of predetermined classes</a:t>
            </a:r>
          </a:p>
          <a:p>
            <a:pPr lvl="1"/>
            <a:r>
              <a:rPr lang="en-US" altLang="en-US" smtClean="0"/>
              <a:t>Each tuple/sample is assumed to belong to a predefined class, as determined by the class label attribute</a:t>
            </a:r>
          </a:p>
          <a:p>
            <a:pPr lvl="1"/>
            <a:r>
              <a:rPr lang="en-US" altLang="en-US" smtClean="0"/>
              <a:t>The set of tuples used for model construction is training set</a:t>
            </a:r>
          </a:p>
          <a:p>
            <a:pPr lvl="1"/>
            <a:r>
              <a:rPr lang="en-US" altLang="en-US" smtClean="0"/>
              <a:t>The model is represented as classification rules, decision trees, or mathematical formulae</a:t>
            </a:r>
          </a:p>
          <a:p>
            <a:r>
              <a:rPr lang="en-US" altLang="en-US" smtClean="0"/>
              <a:t>Model usage: for classifying future or unknown objects</a:t>
            </a:r>
          </a:p>
          <a:p>
            <a:pPr lvl="1"/>
            <a:r>
              <a:rPr lang="en-US" altLang="en-US" smtClean="0"/>
              <a:t>Estimate accuracy of the model:-</a:t>
            </a:r>
          </a:p>
          <a:p>
            <a:pPr lvl="1"/>
            <a:r>
              <a:rPr lang="en-US" altLang="en-US" smtClean="0"/>
              <a:t>The known label of test sample is compared with the classified result from the model</a:t>
            </a:r>
          </a:p>
          <a:p>
            <a:pPr lvl="1"/>
            <a:r>
              <a:rPr lang="en-US" altLang="en-US" smtClean="0"/>
              <a:t>Accuracy rate is the percentage of test set samples that are correctly classified by the model</a:t>
            </a:r>
          </a:p>
          <a:p>
            <a:pPr lvl="1"/>
            <a:r>
              <a:rPr lang="en-US" altLang="en-US" smtClean="0"/>
              <a:t>Test set is independent of training set, otherwise over-fitting will occur</a:t>
            </a:r>
          </a:p>
          <a:p>
            <a:pPr lvl="1"/>
            <a:r>
              <a:rPr lang="en-US" altLang="en-US" smtClean="0"/>
              <a:t>If the accuracy is acceptable, use the model to classify data tuples whose class labels are not known</a:t>
            </a:r>
            <a:endParaRPr lang="en-US" altLang="en-US" dirty="0" smtClean="0"/>
          </a:p>
        </p:txBody>
      </p:sp>
      <p:sp>
        <p:nvSpPr>
          <p:cNvPr id="37893"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86775E42-9B39-4143-A1F8-D87BD3AECCCA}" type="slidenum">
              <a:rPr lang="en-US" altLang="en-US" smtClean="0"/>
              <a:pPr/>
              <a:t>11</a:t>
            </a:fld>
            <a:endParaRPr lang="en-US" alt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935606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629916" y="231110"/>
            <a:ext cx="8567415" cy="890058"/>
          </a:xfrm>
        </p:spPr>
        <p:txBody>
          <a:bodyPr>
            <a:normAutofit fontScale="90000"/>
          </a:bodyPr>
          <a:lstStyle/>
          <a:p>
            <a:r>
              <a:rPr lang="en-US" altLang="en-US" dirty="0" smtClean="0"/>
              <a:t>Learning Phase: Model Construction</a:t>
            </a:r>
          </a:p>
        </p:txBody>
      </p:sp>
      <p:sp>
        <p:nvSpPr>
          <p:cNvPr id="6" name="Content Placeholder 5"/>
          <p:cNvSpPr>
            <a:spLocks noGrp="1"/>
          </p:cNvSpPr>
          <p:nvPr>
            <p:ph idx="1"/>
          </p:nvPr>
        </p:nvSpPr>
        <p:spPr>
          <a:xfrm>
            <a:off x="3605347" y="1253383"/>
            <a:ext cx="6591985" cy="4699820"/>
          </a:xfrm>
        </p:spPr>
        <p:txBody>
          <a:bodyPr/>
          <a:lstStyle/>
          <a:p>
            <a:endParaRPr lang="en-US"/>
          </a:p>
        </p:txBody>
      </p:sp>
      <p:grpSp>
        <p:nvGrpSpPr>
          <p:cNvPr id="19462" name="Group 3"/>
          <p:cNvGrpSpPr>
            <a:grpSpLocks/>
          </p:cNvGrpSpPr>
          <p:nvPr/>
        </p:nvGrpSpPr>
        <p:grpSpPr bwMode="auto">
          <a:xfrm>
            <a:off x="3644132" y="1516654"/>
            <a:ext cx="1698625" cy="1506537"/>
            <a:chOff x="1283" y="1118"/>
            <a:chExt cx="1070" cy="949"/>
          </a:xfrm>
        </p:grpSpPr>
        <p:pic>
          <p:nvPicPr>
            <p:cNvPr id="19475" name="Picture 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83" y="1118"/>
              <a:ext cx="1070"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6" name="Rectangle 5"/>
            <p:cNvSpPr>
              <a:spLocks noChangeArrowheads="1"/>
            </p:cNvSpPr>
            <p:nvPr/>
          </p:nvSpPr>
          <p:spPr bwMode="auto">
            <a:xfrm>
              <a:off x="1347" y="1395"/>
              <a:ext cx="934"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a:latin typeface="Times New Roman" panose="02020603050405020304" pitchFamily="18" charset="0"/>
                </a:rPr>
                <a:t>Training</a:t>
              </a:r>
            </a:p>
            <a:p>
              <a:pPr algn="ctr"/>
              <a:r>
                <a:rPr lang="en-US" altLang="en-US">
                  <a:latin typeface="Times New Roman" panose="02020603050405020304" pitchFamily="18" charset="0"/>
                </a:rPr>
                <a:t>Data</a:t>
              </a:r>
            </a:p>
          </p:txBody>
        </p:sp>
      </p:grpSp>
      <p:graphicFrame>
        <p:nvGraphicFramePr>
          <p:cNvPr id="19463" name="Object 1024"/>
          <p:cNvGraphicFramePr>
            <a:graphicFrameLocks/>
          </p:cNvGraphicFramePr>
          <p:nvPr>
            <p:extLst/>
          </p:nvPr>
        </p:nvGraphicFramePr>
        <p:xfrm>
          <a:off x="1955801" y="3492500"/>
          <a:ext cx="5661025" cy="2490788"/>
        </p:xfrm>
        <a:graphic>
          <a:graphicData uri="http://schemas.openxmlformats.org/presentationml/2006/ole">
            <mc:AlternateContent xmlns:mc="http://schemas.openxmlformats.org/markup-compatibility/2006">
              <mc:Choice xmlns:v="urn:schemas-microsoft-com:vml" Requires="v">
                <p:oleObj spid="_x0000_s1033" name="Worksheet" r:id="rId5" imgW="5511918" imgH="2406696" progId="Excel.Sheet.8">
                  <p:embed/>
                </p:oleObj>
              </mc:Choice>
              <mc:Fallback>
                <p:oleObj name="Worksheet" r:id="rId5" imgW="5511918" imgH="2406696" progId="Excel.Sheet.8">
                  <p:embed/>
                  <p:pic>
                    <p:nvPicPr>
                      <p:cNvPr id="0" name=""/>
                      <p:cNvPicPr>
                        <a:picLocks noChangeArrowheads="1"/>
                      </p:cNvPicPr>
                      <p:nvPr/>
                    </p:nvPicPr>
                    <p:blipFill>
                      <a:blip r:embed="rId6"/>
                      <a:srcRect/>
                      <a:stretch>
                        <a:fillRect/>
                      </a:stretch>
                    </p:blipFill>
                    <p:spPr bwMode="auto">
                      <a:xfrm>
                        <a:off x="1955801" y="3492500"/>
                        <a:ext cx="5661025" cy="2490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4" name="Line 7"/>
          <p:cNvSpPr>
            <a:spLocks noChangeShapeType="1"/>
          </p:cNvSpPr>
          <p:nvPr/>
        </p:nvSpPr>
        <p:spPr bwMode="auto">
          <a:xfrm flipH="1">
            <a:off x="1967731" y="2794590"/>
            <a:ext cx="1720850" cy="6858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65" name="Line 8"/>
          <p:cNvSpPr>
            <a:spLocks noChangeShapeType="1"/>
          </p:cNvSpPr>
          <p:nvPr/>
        </p:nvSpPr>
        <p:spPr bwMode="auto">
          <a:xfrm>
            <a:off x="5320531" y="2794590"/>
            <a:ext cx="1981200" cy="6858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8" name="Rectangle 9"/>
          <p:cNvSpPr>
            <a:spLocks noChangeArrowheads="1"/>
          </p:cNvSpPr>
          <p:nvPr/>
        </p:nvSpPr>
        <p:spPr bwMode="auto">
          <a:xfrm>
            <a:off x="8144695" y="1292816"/>
            <a:ext cx="1870075" cy="835025"/>
          </a:xfrm>
          <a:prstGeom prst="rect">
            <a:avLst/>
          </a:prstGeom>
          <a:solidFill>
            <a:schemeClr val="accent6">
              <a:lumMod val="20000"/>
              <a:lumOff val="80000"/>
            </a:schemeClr>
          </a:solidFill>
          <a:ln w="19050">
            <a:solidFill>
              <a:schemeClr val="tx1"/>
            </a:solidFill>
            <a:miter lim="800000"/>
            <a:headEnd/>
            <a:tailEnd/>
          </a:ln>
        </p:spPr>
        <p:txBody>
          <a:bodyPr wrap="none" lIns="92075" tIns="46038" rIns="92075" bIns="46038" anchor="ctr">
            <a:spAutoFit/>
          </a:bodyPr>
          <a:lstStyle/>
          <a:p>
            <a:pPr algn="ctr" eaLnBrk="0" hangingPunct="0">
              <a:defRPr/>
            </a:pPr>
            <a:r>
              <a:rPr lang="en-US">
                <a:latin typeface="Times New Roman" pitchFamily="18" charset="0"/>
              </a:rPr>
              <a:t>Classification</a:t>
            </a:r>
          </a:p>
          <a:p>
            <a:pPr algn="ctr" eaLnBrk="0" hangingPunct="0">
              <a:defRPr/>
            </a:pPr>
            <a:r>
              <a:rPr lang="en-US">
                <a:latin typeface="Times New Roman" pitchFamily="18" charset="0"/>
              </a:rPr>
              <a:t>Algorithms</a:t>
            </a:r>
          </a:p>
        </p:txBody>
      </p:sp>
      <p:sp>
        <p:nvSpPr>
          <p:cNvPr id="19467" name="AutoShape 10"/>
          <p:cNvSpPr>
            <a:spLocks noChangeArrowheads="1"/>
          </p:cNvSpPr>
          <p:nvPr/>
        </p:nvSpPr>
        <p:spPr bwMode="auto">
          <a:xfrm rot="20460000">
            <a:off x="5898381" y="1745254"/>
            <a:ext cx="1657350" cy="484187"/>
          </a:xfrm>
          <a:prstGeom prst="rightArrow">
            <a:avLst>
              <a:gd name="adj1" fmla="val 50000"/>
              <a:gd name="adj2" fmla="val 85606"/>
            </a:avLst>
          </a:prstGeom>
          <a:solidFill>
            <a:srgbClr val="2597B8"/>
          </a:solidFill>
          <a:ln w="12700">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9468" name="Rectangle 11"/>
          <p:cNvSpPr>
            <a:spLocks noChangeArrowheads="1"/>
          </p:cNvSpPr>
          <p:nvPr/>
        </p:nvSpPr>
        <p:spPr bwMode="auto">
          <a:xfrm>
            <a:off x="7866881" y="4594445"/>
            <a:ext cx="2971800" cy="2308966"/>
          </a:xfrm>
          <a:prstGeom prst="rect">
            <a:avLst/>
          </a:prstGeom>
          <a:solidFill>
            <a:srgbClr val="CCFFCC"/>
          </a:solidFill>
          <a:ln w="12700">
            <a:solidFill>
              <a:schemeClr val="tx1"/>
            </a:solidFill>
            <a:miter lim="800000"/>
            <a:headEnd/>
            <a:tailEnd/>
          </a:ln>
        </p:spPr>
        <p:txBody>
          <a:bodyPr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a:latin typeface="Times New Roman" panose="02020603050405020304" pitchFamily="18" charset="0"/>
              </a:rPr>
              <a:t>IF age = ‘young’</a:t>
            </a:r>
          </a:p>
          <a:p>
            <a:r>
              <a:rPr lang="en-US" altLang="en-US">
                <a:latin typeface="Times New Roman" panose="02020603050405020304" pitchFamily="18" charset="0"/>
              </a:rPr>
              <a:t>THEN loan_dec = ‘risky’</a:t>
            </a:r>
          </a:p>
          <a:p>
            <a:r>
              <a:rPr lang="en-US" altLang="en-US">
                <a:latin typeface="Times New Roman" panose="02020603050405020304" pitchFamily="18" charset="0"/>
              </a:rPr>
              <a:t>IF income = ‘high’</a:t>
            </a:r>
          </a:p>
          <a:p>
            <a:r>
              <a:rPr lang="en-US" altLang="en-US">
                <a:latin typeface="Times New Roman" panose="02020603050405020304" pitchFamily="18" charset="0"/>
              </a:rPr>
              <a:t>THEN loan_dec = ‘safe’ …..</a:t>
            </a:r>
          </a:p>
        </p:txBody>
      </p:sp>
      <p:grpSp>
        <p:nvGrpSpPr>
          <p:cNvPr id="19469" name="Group 12"/>
          <p:cNvGrpSpPr>
            <a:grpSpLocks/>
          </p:cNvGrpSpPr>
          <p:nvPr/>
        </p:nvGrpSpPr>
        <p:grpSpPr bwMode="auto">
          <a:xfrm>
            <a:off x="8141520" y="2873965"/>
            <a:ext cx="1889125" cy="1506538"/>
            <a:chOff x="4081" y="2026"/>
            <a:chExt cx="1190" cy="949"/>
          </a:xfrm>
        </p:grpSpPr>
        <p:pic>
          <p:nvPicPr>
            <p:cNvPr id="19473" name="Picture 1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81" y="2026"/>
              <a:ext cx="1190"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4" name="Rectangle 14"/>
            <p:cNvSpPr>
              <a:spLocks noChangeArrowheads="1"/>
            </p:cNvSpPr>
            <p:nvPr/>
          </p:nvSpPr>
          <p:spPr bwMode="auto">
            <a:xfrm>
              <a:off x="4241" y="2303"/>
              <a:ext cx="859"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a:latin typeface="Times New Roman" panose="02020603050405020304" pitchFamily="18" charset="0"/>
                </a:rPr>
                <a:t>Classifier</a:t>
              </a:r>
            </a:p>
            <a:p>
              <a:pPr algn="ctr"/>
              <a:r>
                <a:rPr lang="en-US" altLang="en-US">
                  <a:latin typeface="Times New Roman" panose="02020603050405020304" pitchFamily="18" charset="0"/>
                </a:rPr>
                <a:t>(Model)</a:t>
              </a:r>
            </a:p>
          </p:txBody>
        </p:sp>
      </p:grpSp>
      <p:sp>
        <p:nvSpPr>
          <p:cNvPr id="19470" name="Line 15"/>
          <p:cNvSpPr>
            <a:spLocks noChangeShapeType="1"/>
          </p:cNvSpPr>
          <p:nvPr/>
        </p:nvSpPr>
        <p:spPr bwMode="auto">
          <a:xfrm>
            <a:off x="8290745" y="4242390"/>
            <a:ext cx="46037" cy="4572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71" name="Line 16"/>
          <p:cNvSpPr>
            <a:spLocks noChangeShapeType="1"/>
          </p:cNvSpPr>
          <p:nvPr/>
        </p:nvSpPr>
        <p:spPr bwMode="auto">
          <a:xfrm flipH="1">
            <a:off x="9816331" y="4242391"/>
            <a:ext cx="63500" cy="4857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72" name="AutoShape 17"/>
          <p:cNvSpPr>
            <a:spLocks noChangeArrowheads="1"/>
          </p:cNvSpPr>
          <p:nvPr/>
        </p:nvSpPr>
        <p:spPr bwMode="auto">
          <a:xfrm>
            <a:off x="8806681" y="2234204"/>
            <a:ext cx="546100" cy="592137"/>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pPr/>
              <a:t>12</a:t>
            </a:fld>
            <a:endParaRPr lang="en-IN" dirty="0"/>
          </a:p>
        </p:txBody>
      </p:sp>
    </p:spTree>
    <p:extLst>
      <p:ext uri="{BB962C8B-B14F-4D97-AF65-F5344CB8AC3E}">
        <p14:creationId xmlns:p14="http://schemas.microsoft.com/office/powerpoint/2010/main" val="19772991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05860" y="394230"/>
            <a:ext cx="9751060" cy="890058"/>
          </a:xfrm>
        </p:spPr>
        <p:txBody>
          <a:bodyPr/>
          <a:lstStyle/>
          <a:p>
            <a:r>
              <a:rPr lang="en-US" altLang="en-US" dirty="0" smtClean="0"/>
              <a:t>Classification</a:t>
            </a:r>
          </a:p>
        </p:txBody>
      </p:sp>
      <p:sp>
        <p:nvSpPr>
          <p:cNvPr id="5" name="Content Placeholder 4"/>
          <p:cNvSpPr>
            <a:spLocks noGrp="1"/>
          </p:cNvSpPr>
          <p:nvPr>
            <p:ph idx="1"/>
          </p:nvPr>
        </p:nvSpPr>
        <p:spPr/>
        <p:txBody>
          <a:bodyPr/>
          <a:lstStyle/>
          <a:p>
            <a:endParaRPr lang="en-US"/>
          </a:p>
        </p:txBody>
      </p:sp>
      <p:grpSp>
        <p:nvGrpSpPr>
          <p:cNvPr id="20486" name="Group 3"/>
          <p:cNvGrpSpPr>
            <a:grpSpLocks/>
          </p:cNvGrpSpPr>
          <p:nvPr/>
        </p:nvGrpSpPr>
        <p:grpSpPr bwMode="auto">
          <a:xfrm>
            <a:off x="5967412" y="1570039"/>
            <a:ext cx="1955800" cy="1506537"/>
            <a:chOff x="2800" y="989"/>
            <a:chExt cx="1232" cy="949"/>
          </a:xfrm>
        </p:grpSpPr>
        <p:pic>
          <p:nvPicPr>
            <p:cNvPr id="20505" name="Picture 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00" y="989"/>
              <a:ext cx="1190"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6" name="Rectangle 5"/>
            <p:cNvSpPr>
              <a:spLocks noChangeArrowheads="1"/>
            </p:cNvSpPr>
            <p:nvPr/>
          </p:nvSpPr>
          <p:spPr bwMode="auto">
            <a:xfrm>
              <a:off x="2802" y="1296"/>
              <a:ext cx="1230"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a:latin typeface="Times New Roman" panose="02020603050405020304" pitchFamily="18" charset="0"/>
                </a:rPr>
                <a:t>Classification </a:t>
              </a:r>
            </a:p>
            <a:p>
              <a:pPr algn="ctr"/>
              <a:r>
                <a:rPr lang="en-US" altLang="en-US">
                  <a:latin typeface="Times New Roman" panose="02020603050405020304" pitchFamily="18" charset="0"/>
                </a:rPr>
                <a:t>rules</a:t>
              </a:r>
            </a:p>
          </p:txBody>
        </p:sp>
      </p:grpSp>
      <p:grpSp>
        <p:nvGrpSpPr>
          <p:cNvPr id="20487" name="Group 6"/>
          <p:cNvGrpSpPr>
            <a:grpSpLocks/>
          </p:cNvGrpSpPr>
          <p:nvPr/>
        </p:nvGrpSpPr>
        <p:grpSpPr bwMode="auto">
          <a:xfrm>
            <a:off x="3590926" y="2590800"/>
            <a:ext cx="1698625" cy="1506538"/>
            <a:chOff x="1359" y="1723"/>
            <a:chExt cx="1070" cy="949"/>
          </a:xfrm>
        </p:grpSpPr>
        <p:pic>
          <p:nvPicPr>
            <p:cNvPr id="20503" name="Picture 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59" y="1723"/>
              <a:ext cx="1070"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4" name="Rectangle 8"/>
            <p:cNvSpPr>
              <a:spLocks noChangeArrowheads="1"/>
            </p:cNvSpPr>
            <p:nvPr/>
          </p:nvSpPr>
          <p:spPr bwMode="auto">
            <a:xfrm>
              <a:off x="1423" y="2000"/>
              <a:ext cx="934"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a:latin typeface="Times New Roman" panose="02020603050405020304" pitchFamily="18" charset="0"/>
                </a:rPr>
                <a:t>Testing</a:t>
              </a:r>
            </a:p>
            <a:p>
              <a:pPr algn="ctr"/>
              <a:r>
                <a:rPr lang="en-US" altLang="en-US">
                  <a:latin typeface="Times New Roman" panose="02020603050405020304" pitchFamily="18" charset="0"/>
                </a:rPr>
                <a:t>Data</a:t>
              </a:r>
            </a:p>
          </p:txBody>
        </p:sp>
      </p:grpSp>
      <p:graphicFrame>
        <p:nvGraphicFramePr>
          <p:cNvPr id="20488" name="Object 1024"/>
          <p:cNvGraphicFramePr>
            <a:graphicFrameLocks/>
          </p:cNvGraphicFramePr>
          <p:nvPr/>
        </p:nvGraphicFramePr>
        <p:xfrm>
          <a:off x="1979612" y="4605338"/>
          <a:ext cx="5448300" cy="1701800"/>
        </p:xfrm>
        <a:graphic>
          <a:graphicData uri="http://schemas.openxmlformats.org/presentationml/2006/ole">
            <mc:AlternateContent xmlns:mc="http://schemas.openxmlformats.org/markup-compatibility/2006">
              <mc:Choice xmlns:v="urn:schemas-microsoft-com:vml" Requires="v">
                <p:oleObj spid="_x0000_s2057" name="Worksheet" r:id="rId6" imgW="5372100" imgH="1695602" progId="Excel.Sheet.8">
                  <p:embed/>
                </p:oleObj>
              </mc:Choice>
              <mc:Fallback>
                <p:oleObj name="Worksheet" r:id="rId6" imgW="5372100" imgH="1695602" progId="Excel.Sheet.8">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612" y="4605338"/>
                        <a:ext cx="5448300" cy="170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9" name="Line 10"/>
          <p:cNvSpPr>
            <a:spLocks noChangeShapeType="1"/>
          </p:cNvSpPr>
          <p:nvPr/>
        </p:nvSpPr>
        <p:spPr bwMode="auto">
          <a:xfrm flipH="1">
            <a:off x="2055812" y="3876676"/>
            <a:ext cx="1538288" cy="728663"/>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0" name="Line 11"/>
          <p:cNvSpPr>
            <a:spLocks noChangeShapeType="1"/>
          </p:cNvSpPr>
          <p:nvPr/>
        </p:nvSpPr>
        <p:spPr bwMode="auto">
          <a:xfrm>
            <a:off x="5256212" y="3843338"/>
            <a:ext cx="2057400" cy="7620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1" name="AutoShape 12"/>
          <p:cNvSpPr>
            <a:spLocks noChangeArrowheads="1"/>
          </p:cNvSpPr>
          <p:nvPr/>
        </p:nvSpPr>
        <p:spPr bwMode="auto">
          <a:xfrm>
            <a:off x="8761412" y="4800600"/>
            <a:ext cx="546100" cy="592138"/>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20492" name="Freeform 13"/>
          <p:cNvSpPr>
            <a:spLocks/>
          </p:cNvSpPr>
          <p:nvPr/>
        </p:nvSpPr>
        <p:spPr bwMode="auto">
          <a:xfrm>
            <a:off x="8045451" y="2173288"/>
            <a:ext cx="941387" cy="766762"/>
          </a:xfrm>
          <a:custGeom>
            <a:avLst/>
            <a:gdLst>
              <a:gd name="T0" fmla="*/ 0 w 593"/>
              <a:gd name="T1" fmla="*/ 2147483647 h 483"/>
              <a:gd name="T2" fmla="*/ 2147483647 w 593"/>
              <a:gd name="T3" fmla="*/ 0 h 483"/>
              <a:gd name="T4" fmla="*/ 2147483647 w 593"/>
              <a:gd name="T5" fmla="*/ 2147483647 h 483"/>
              <a:gd name="T6" fmla="*/ 2147483647 w 593"/>
              <a:gd name="T7" fmla="*/ 2147483647 h 483"/>
              <a:gd name="T8" fmla="*/ 2147483647 w 593"/>
              <a:gd name="T9" fmla="*/ 2147483647 h 483"/>
              <a:gd name="T10" fmla="*/ 2147483647 w 593"/>
              <a:gd name="T11" fmla="*/ 2147483647 h 483"/>
              <a:gd name="T12" fmla="*/ 2147483647 w 593"/>
              <a:gd name="T13" fmla="*/ 2147483647 h 483"/>
              <a:gd name="T14" fmla="*/ 2147483647 w 593"/>
              <a:gd name="T15" fmla="*/ 2147483647 h 483"/>
              <a:gd name="T16" fmla="*/ 2147483647 w 593"/>
              <a:gd name="T17" fmla="*/ 2147483647 h 483"/>
              <a:gd name="T18" fmla="*/ 2147483647 w 593"/>
              <a:gd name="T19" fmla="*/ 2147483647 h 483"/>
              <a:gd name="T20" fmla="*/ 0 w 593"/>
              <a:gd name="T21" fmla="*/ 2147483647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3"/>
              <a:gd name="T34" fmla="*/ 0 h 483"/>
              <a:gd name="T35" fmla="*/ 593 w 593"/>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3" h="483">
                <a:moveTo>
                  <a:pt x="0" y="34"/>
                </a:moveTo>
                <a:lnTo>
                  <a:pt x="200" y="0"/>
                </a:lnTo>
                <a:lnTo>
                  <a:pt x="159" y="58"/>
                </a:lnTo>
                <a:lnTo>
                  <a:pt x="515" y="306"/>
                </a:lnTo>
                <a:lnTo>
                  <a:pt x="555" y="248"/>
                </a:lnTo>
                <a:lnTo>
                  <a:pt x="592" y="448"/>
                </a:lnTo>
                <a:lnTo>
                  <a:pt x="392" y="482"/>
                </a:lnTo>
                <a:lnTo>
                  <a:pt x="433" y="424"/>
                </a:lnTo>
                <a:lnTo>
                  <a:pt x="77" y="176"/>
                </a:lnTo>
                <a:lnTo>
                  <a:pt x="37" y="234"/>
                </a:lnTo>
                <a:lnTo>
                  <a:pt x="0" y="34"/>
                </a:lnTo>
              </a:path>
            </a:pathLst>
          </a:custGeom>
          <a:solidFill>
            <a:srgbClr val="2597B8"/>
          </a:solidFill>
          <a:ln w="12700" cap="rnd">
            <a:solidFill>
              <a:srgbClr val="000000"/>
            </a:solidFill>
            <a:round/>
            <a:headEnd/>
            <a:tailEnd/>
          </a:ln>
        </p:spPr>
        <p:txBody>
          <a:bodyPr/>
          <a:lstStyle/>
          <a:p>
            <a:endParaRPr lang="en-US"/>
          </a:p>
        </p:txBody>
      </p:sp>
      <p:grpSp>
        <p:nvGrpSpPr>
          <p:cNvPr id="20493" name="Group 14"/>
          <p:cNvGrpSpPr>
            <a:grpSpLocks/>
          </p:cNvGrpSpPr>
          <p:nvPr/>
        </p:nvGrpSpPr>
        <p:grpSpPr bwMode="auto">
          <a:xfrm>
            <a:off x="8169276" y="3187701"/>
            <a:ext cx="1781175" cy="815975"/>
            <a:chOff x="4187" y="2008"/>
            <a:chExt cx="1122" cy="514"/>
          </a:xfrm>
        </p:grpSpPr>
        <p:pic>
          <p:nvPicPr>
            <p:cNvPr id="20501" name="Picture 15"/>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87" y="2008"/>
              <a:ext cx="1122"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2" name="Rectangle 16"/>
            <p:cNvSpPr>
              <a:spLocks noChangeArrowheads="1"/>
            </p:cNvSpPr>
            <p:nvPr/>
          </p:nvSpPr>
          <p:spPr bwMode="auto">
            <a:xfrm>
              <a:off x="4188" y="2149"/>
              <a:ext cx="11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a:latin typeface="Times New Roman" panose="02020603050405020304" pitchFamily="18" charset="0"/>
                </a:rPr>
                <a:t>Unseen Data</a:t>
              </a:r>
            </a:p>
          </p:txBody>
        </p:sp>
      </p:grpSp>
      <p:sp>
        <p:nvSpPr>
          <p:cNvPr id="20494" name="Rectangle 17"/>
          <p:cNvSpPr>
            <a:spLocks noChangeArrowheads="1"/>
          </p:cNvSpPr>
          <p:nvPr/>
        </p:nvSpPr>
        <p:spPr bwMode="auto">
          <a:xfrm>
            <a:off x="7462838" y="4267201"/>
            <a:ext cx="3203575" cy="46196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a:latin typeface="Times New Roman" panose="02020603050405020304" pitchFamily="18" charset="0"/>
              </a:rPr>
              <a:t>(Jeff, middle_aged, low)</a:t>
            </a:r>
          </a:p>
        </p:txBody>
      </p:sp>
      <p:sp>
        <p:nvSpPr>
          <p:cNvPr id="20495" name="Line 18"/>
          <p:cNvSpPr>
            <a:spLocks noChangeShapeType="1"/>
          </p:cNvSpPr>
          <p:nvPr/>
        </p:nvSpPr>
        <p:spPr bwMode="auto">
          <a:xfrm flipH="1">
            <a:off x="8228013" y="3962400"/>
            <a:ext cx="161925" cy="3048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6" name="Line 19"/>
          <p:cNvSpPr>
            <a:spLocks noChangeShapeType="1"/>
          </p:cNvSpPr>
          <p:nvPr/>
        </p:nvSpPr>
        <p:spPr bwMode="auto">
          <a:xfrm>
            <a:off x="9752012" y="3962400"/>
            <a:ext cx="304800" cy="3048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7" name="Freeform 20"/>
          <p:cNvSpPr>
            <a:spLocks/>
          </p:cNvSpPr>
          <p:nvPr/>
        </p:nvSpPr>
        <p:spPr bwMode="auto">
          <a:xfrm>
            <a:off x="4883150" y="2032001"/>
            <a:ext cx="901700" cy="593725"/>
          </a:xfrm>
          <a:custGeom>
            <a:avLst/>
            <a:gdLst>
              <a:gd name="T0" fmla="*/ 2147483647 w 568"/>
              <a:gd name="T1" fmla="*/ 2147483647 h 374"/>
              <a:gd name="T2" fmla="*/ 2147483647 w 568"/>
              <a:gd name="T3" fmla="*/ 2147483647 h 374"/>
              <a:gd name="T4" fmla="*/ 2147483647 w 568"/>
              <a:gd name="T5" fmla="*/ 2147483647 h 374"/>
              <a:gd name="T6" fmla="*/ 2147483647 w 568"/>
              <a:gd name="T7" fmla="*/ 2147483647 h 374"/>
              <a:gd name="T8" fmla="*/ 2147483647 w 568"/>
              <a:gd name="T9" fmla="*/ 2147483647 h 374"/>
              <a:gd name="T10" fmla="*/ 0 w 568"/>
              <a:gd name="T11" fmla="*/ 2147483647 h 374"/>
              <a:gd name="T12" fmla="*/ 2147483647 w 568"/>
              <a:gd name="T13" fmla="*/ 2147483647 h 374"/>
              <a:gd name="T14" fmla="*/ 2147483647 w 568"/>
              <a:gd name="T15" fmla="*/ 2147483647 h 374"/>
              <a:gd name="T16" fmla="*/ 2147483647 w 568"/>
              <a:gd name="T17" fmla="*/ 2147483647 h 374"/>
              <a:gd name="T18" fmla="*/ 2147483647 w 568"/>
              <a:gd name="T19" fmla="*/ 0 h 374"/>
              <a:gd name="T20" fmla="*/ 2147483647 w 568"/>
              <a:gd name="T21" fmla="*/ 2147483647 h 3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8"/>
              <a:gd name="T34" fmla="*/ 0 h 374"/>
              <a:gd name="T35" fmla="*/ 568 w 568"/>
              <a:gd name="T36" fmla="*/ 374 h 3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8" h="374">
                <a:moveTo>
                  <a:pt x="567" y="59"/>
                </a:moveTo>
                <a:lnTo>
                  <a:pt x="503" y="220"/>
                </a:lnTo>
                <a:lnTo>
                  <a:pt x="478" y="165"/>
                </a:lnTo>
                <a:lnTo>
                  <a:pt x="138" y="318"/>
                </a:lnTo>
                <a:lnTo>
                  <a:pt x="163" y="373"/>
                </a:lnTo>
                <a:lnTo>
                  <a:pt x="0" y="314"/>
                </a:lnTo>
                <a:lnTo>
                  <a:pt x="64" y="153"/>
                </a:lnTo>
                <a:lnTo>
                  <a:pt x="89" y="208"/>
                </a:lnTo>
                <a:lnTo>
                  <a:pt x="429" y="55"/>
                </a:lnTo>
                <a:lnTo>
                  <a:pt x="404" y="0"/>
                </a:lnTo>
                <a:lnTo>
                  <a:pt x="567" y="59"/>
                </a:lnTo>
              </a:path>
            </a:pathLst>
          </a:custGeom>
          <a:solidFill>
            <a:srgbClr val="2597B8"/>
          </a:solidFill>
          <a:ln w="12700" cap="rnd">
            <a:solidFill>
              <a:srgbClr val="000000"/>
            </a:solidFill>
            <a:round/>
            <a:headEnd/>
            <a:tailEnd/>
          </a:ln>
        </p:spPr>
        <p:txBody>
          <a:bodyPr/>
          <a:lstStyle/>
          <a:p>
            <a:endParaRPr lang="en-US"/>
          </a:p>
        </p:txBody>
      </p:sp>
      <p:sp>
        <p:nvSpPr>
          <p:cNvPr id="20498" name="TextBox 25"/>
          <p:cNvSpPr txBox="1">
            <a:spLocks noChangeArrowheads="1"/>
          </p:cNvSpPr>
          <p:nvPr/>
        </p:nvSpPr>
        <p:spPr bwMode="auto">
          <a:xfrm>
            <a:off x="8151812" y="5486401"/>
            <a:ext cx="1752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solidFill>
                  <a:srgbClr val="FF0000"/>
                </a:solidFill>
              </a:rPr>
              <a:t>RISKY</a:t>
            </a:r>
          </a:p>
        </p:txBody>
      </p:sp>
      <p:cxnSp>
        <p:nvCxnSpPr>
          <p:cNvPr id="26" name="Elbow Connector 25"/>
          <p:cNvCxnSpPr/>
          <p:nvPr/>
        </p:nvCxnSpPr>
        <p:spPr>
          <a:xfrm rot="5400000" flipH="1" flipV="1">
            <a:off x="1255712" y="3352800"/>
            <a:ext cx="2057400" cy="457200"/>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20500" name="TextBox 26"/>
          <p:cNvSpPr txBox="1">
            <a:spLocks noChangeArrowheads="1"/>
          </p:cNvSpPr>
          <p:nvPr/>
        </p:nvSpPr>
        <p:spPr bwMode="auto">
          <a:xfrm>
            <a:off x="1751012" y="1600200"/>
            <a:ext cx="1600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t>To test the classifier accuracy</a:t>
            </a:r>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pPr/>
              <a:t>13</a:t>
            </a:fld>
            <a:endParaRPr lang="en-IN" dirty="0"/>
          </a:p>
        </p:txBody>
      </p:sp>
    </p:spTree>
    <p:extLst>
      <p:ext uri="{BB962C8B-B14F-4D97-AF65-F5344CB8AC3E}">
        <p14:creationId xmlns:p14="http://schemas.microsoft.com/office/powerpoint/2010/main" val="16438755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218883" y="152400"/>
            <a:ext cx="9751060" cy="906464"/>
          </a:xfrm>
        </p:spPr>
        <p:txBody>
          <a:bodyPr/>
          <a:lstStyle/>
          <a:p>
            <a:r>
              <a:rPr lang="en-US" altLang="en-US" b="1" dirty="0" smtClean="0">
                <a:solidFill>
                  <a:srgbClr val="C00000"/>
                </a:solidFill>
              </a:rPr>
              <a:t>Example of a Decision Tree</a:t>
            </a:r>
            <a:endParaRPr lang="en-US" altLang="en-US" b="1" dirty="0" smtClean="0">
              <a:solidFill>
                <a:srgbClr val="C00000"/>
              </a:solidFill>
            </a:endParaRPr>
          </a:p>
        </p:txBody>
      </p:sp>
      <p:grpSp>
        <p:nvGrpSpPr>
          <p:cNvPr id="29699" name="Group 3"/>
          <p:cNvGrpSpPr>
            <a:grpSpLocks/>
          </p:cNvGrpSpPr>
          <p:nvPr/>
        </p:nvGrpSpPr>
        <p:grpSpPr bwMode="auto">
          <a:xfrm>
            <a:off x="1751013" y="1370013"/>
            <a:ext cx="3565525" cy="4313238"/>
            <a:chOff x="288" y="950"/>
            <a:chExt cx="2246" cy="2717"/>
          </a:xfrm>
        </p:grpSpPr>
        <p:graphicFrame>
          <p:nvGraphicFramePr>
            <p:cNvPr id="29729" name="Object 2"/>
            <p:cNvGraphicFramePr>
              <a:graphicFrameLocks noChangeAspect="1"/>
            </p:cNvGraphicFramePr>
            <p:nvPr/>
          </p:nvGraphicFramePr>
          <p:xfrm>
            <a:off x="288" y="1344"/>
            <a:ext cx="2246" cy="2323"/>
          </p:xfrm>
          <a:graphic>
            <a:graphicData uri="http://schemas.openxmlformats.org/presentationml/2006/ole">
              <mc:AlternateContent xmlns:mc="http://schemas.openxmlformats.org/markup-compatibility/2006">
                <mc:Choice xmlns:v="urn:schemas-microsoft-com:vml" Requires="v">
                  <p:oleObj spid="_x0000_s3081" name="Document" r:id="rId4" imgW="5404104" imgH="5779008" progId="Word.Document.8">
                    <p:embed/>
                  </p:oleObj>
                </mc:Choice>
                <mc:Fallback>
                  <p:oleObj name="Document" r:id="rId4" imgW="5404104" imgH="5779008"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 y="1344"/>
                          <a:ext cx="2246" cy="2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0" name="Text Box 5"/>
            <p:cNvSpPr txBox="1">
              <a:spLocks noChangeArrowheads="1"/>
            </p:cNvSpPr>
            <p:nvPr/>
          </p:nvSpPr>
          <p:spPr bwMode="auto">
            <a:xfrm rot="19183191">
              <a:off x="703" y="950"/>
              <a:ext cx="72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006600"/>
                  </a:solidFill>
                </a:rPr>
                <a:t>categorical</a:t>
              </a:r>
              <a:endParaRPr lang="en-US" altLang="en-US" sz="1600">
                <a:solidFill>
                  <a:schemeClr val="bg2"/>
                </a:solidFill>
              </a:endParaRPr>
            </a:p>
          </p:txBody>
        </p:sp>
        <p:sp>
          <p:nvSpPr>
            <p:cNvPr id="29731" name="Text Box 6"/>
            <p:cNvSpPr txBox="1">
              <a:spLocks noChangeArrowheads="1"/>
            </p:cNvSpPr>
            <p:nvPr/>
          </p:nvSpPr>
          <p:spPr bwMode="auto">
            <a:xfrm rot="19183191">
              <a:off x="1135" y="950"/>
              <a:ext cx="72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006600"/>
                  </a:solidFill>
                </a:rPr>
                <a:t>categorical</a:t>
              </a:r>
              <a:endParaRPr lang="en-US" altLang="en-US" sz="1600">
                <a:solidFill>
                  <a:schemeClr val="bg2"/>
                </a:solidFill>
              </a:endParaRPr>
            </a:p>
          </p:txBody>
        </p:sp>
        <p:sp>
          <p:nvSpPr>
            <p:cNvPr id="29732" name="Text Box 7"/>
            <p:cNvSpPr txBox="1">
              <a:spLocks noChangeArrowheads="1"/>
            </p:cNvSpPr>
            <p:nvPr/>
          </p:nvSpPr>
          <p:spPr bwMode="auto">
            <a:xfrm rot="19183191">
              <a:off x="1667" y="950"/>
              <a:ext cx="73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006600"/>
                  </a:solidFill>
                </a:rPr>
                <a:t>continuous</a:t>
              </a:r>
              <a:endParaRPr lang="en-US" altLang="en-US" sz="1600">
                <a:solidFill>
                  <a:schemeClr val="bg2"/>
                </a:solidFill>
              </a:endParaRPr>
            </a:p>
          </p:txBody>
        </p:sp>
        <p:sp>
          <p:nvSpPr>
            <p:cNvPr id="29733" name="Text Box 8"/>
            <p:cNvSpPr txBox="1">
              <a:spLocks noChangeArrowheads="1"/>
            </p:cNvSpPr>
            <p:nvPr/>
          </p:nvSpPr>
          <p:spPr bwMode="auto">
            <a:xfrm rot="19183191">
              <a:off x="2136" y="1046"/>
              <a:ext cx="3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006600"/>
                  </a:solidFill>
                </a:rPr>
                <a:t>class</a:t>
              </a:r>
              <a:endParaRPr lang="en-US" altLang="en-US" sz="1600">
                <a:solidFill>
                  <a:schemeClr val="bg2"/>
                </a:solidFill>
              </a:endParaRPr>
            </a:p>
          </p:txBody>
        </p:sp>
      </p:grpSp>
      <p:sp>
        <p:nvSpPr>
          <p:cNvPr id="29700" name="Line 9"/>
          <p:cNvSpPr>
            <a:spLocks noChangeShapeType="1"/>
          </p:cNvSpPr>
          <p:nvPr/>
        </p:nvSpPr>
        <p:spPr bwMode="auto">
          <a:xfrm>
            <a:off x="8488362" y="4505325"/>
            <a:ext cx="242888"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01" name="Line 10"/>
          <p:cNvSpPr>
            <a:spLocks noChangeShapeType="1"/>
          </p:cNvSpPr>
          <p:nvPr/>
        </p:nvSpPr>
        <p:spPr bwMode="auto">
          <a:xfrm flipH="1">
            <a:off x="7358062" y="4505325"/>
            <a:ext cx="323850"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02" name="Line 11"/>
          <p:cNvSpPr>
            <a:spLocks noChangeShapeType="1"/>
          </p:cNvSpPr>
          <p:nvPr/>
        </p:nvSpPr>
        <p:spPr bwMode="auto">
          <a:xfrm flipH="1">
            <a:off x="8004176" y="3711575"/>
            <a:ext cx="403225"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03" name="Line 12"/>
          <p:cNvSpPr>
            <a:spLocks noChangeShapeType="1"/>
          </p:cNvSpPr>
          <p:nvPr/>
        </p:nvSpPr>
        <p:spPr bwMode="auto">
          <a:xfrm>
            <a:off x="9215437" y="3711575"/>
            <a:ext cx="484188"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04" name="Line 13"/>
          <p:cNvSpPr>
            <a:spLocks noChangeShapeType="1"/>
          </p:cNvSpPr>
          <p:nvPr/>
        </p:nvSpPr>
        <p:spPr bwMode="auto">
          <a:xfrm>
            <a:off x="8166100" y="29845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05" name="Line 14"/>
          <p:cNvSpPr>
            <a:spLocks noChangeShapeType="1"/>
          </p:cNvSpPr>
          <p:nvPr/>
        </p:nvSpPr>
        <p:spPr bwMode="auto">
          <a:xfrm flipH="1">
            <a:off x="6792912" y="29845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06" name="Text Box 15"/>
          <p:cNvSpPr txBox="1">
            <a:spLocks noChangeArrowheads="1"/>
          </p:cNvSpPr>
          <p:nvPr/>
        </p:nvSpPr>
        <p:spPr bwMode="auto">
          <a:xfrm>
            <a:off x="7310438" y="2720975"/>
            <a:ext cx="936625"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Refund</a:t>
            </a:r>
            <a:endParaRPr lang="en-US" altLang="en-US" sz="1600">
              <a:solidFill>
                <a:schemeClr val="bg2"/>
              </a:solidFill>
            </a:endParaRPr>
          </a:p>
        </p:txBody>
      </p:sp>
      <p:sp>
        <p:nvSpPr>
          <p:cNvPr id="29707" name="Text Box 16"/>
          <p:cNvSpPr txBox="1">
            <a:spLocks noChangeArrowheads="1"/>
          </p:cNvSpPr>
          <p:nvPr/>
        </p:nvSpPr>
        <p:spPr bwMode="auto">
          <a:xfrm>
            <a:off x="8326437" y="3448050"/>
            <a:ext cx="935038"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MarSt</a:t>
            </a:r>
            <a:endParaRPr lang="en-US" altLang="en-US" sz="1600">
              <a:solidFill>
                <a:schemeClr val="bg2"/>
              </a:solidFill>
            </a:endParaRPr>
          </a:p>
        </p:txBody>
      </p:sp>
      <p:sp>
        <p:nvSpPr>
          <p:cNvPr id="29708" name="Text Box 17"/>
          <p:cNvSpPr txBox="1">
            <a:spLocks noChangeArrowheads="1"/>
          </p:cNvSpPr>
          <p:nvPr/>
        </p:nvSpPr>
        <p:spPr bwMode="auto">
          <a:xfrm>
            <a:off x="7600951" y="4240213"/>
            <a:ext cx="968375"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TaxInc</a:t>
            </a:r>
            <a:endParaRPr lang="en-US" altLang="en-US" sz="1600">
              <a:solidFill>
                <a:schemeClr val="bg2"/>
              </a:solidFill>
            </a:endParaRPr>
          </a:p>
        </p:txBody>
      </p:sp>
      <p:sp>
        <p:nvSpPr>
          <p:cNvPr id="29709" name="AutoShape 18"/>
          <p:cNvSpPr>
            <a:spLocks noChangeArrowheads="1"/>
          </p:cNvSpPr>
          <p:nvPr/>
        </p:nvSpPr>
        <p:spPr bwMode="auto">
          <a:xfrm>
            <a:off x="8528050" y="5029201"/>
            <a:ext cx="627062" cy="36671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29710" name="Text Box 19"/>
          <p:cNvSpPr txBox="1">
            <a:spLocks noChangeArrowheads="1"/>
          </p:cNvSpPr>
          <p:nvPr/>
        </p:nvSpPr>
        <p:spPr bwMode="auto">
          <a:xfrm>
            <a:off x="8451850" y="5029200"/>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YES</a:t>
            </a:r>
            <a:endParaRPr lang="en-US" altLang="en-US" sz="1600">
              <a:solidFill>
                <a:schemeClr val="bg2"/>
              </a:solidFill>
            </a:endParaRPr>
          </a:p>
        </p:txBody>
      </p:sp>
      <p:sp>
        <p:nvSpPr>
          <p:cNvPr id="29711" name="AutoShape 20"/>
          <p:cNvSpPr>
            <a:spLocks noChangeArrowheads="1"/>
          </p:cNvSpPr>
          <p:nvPr/>
        </p:nvSpPr>
        <p:spPr bwMode="auto">
          <a:xfrm>
            <a:off x="7035800" y="5046664"/>
            <a:ext cx="654050" cy="3635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29712" name="Text Box 21"/>
          <p:cNvSpPr txBox="1">
            <a:spLocks noChangeArrowheads="1"/>
          </p:cNvSpPr>
          <p:nvPr/>
        </p:nvSpPr>
        <p:spPr bwMode="auto">
          <a:xfrm>
            <a:off x="7143715" y="50323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29713" name="AutoShape 22"/>
          <p:cNvSpPr>
            <a:spLocks noChangeArrowheads="1"/>
          </p:cNvSpPr>
          <p:nvPr/>
        </p:nvSpPr>
        <p:spPr bwMode="auto">
          <a:xfrm>
            <a:off x="6470650" y="3462338"/>
            <a:ext cx="685800" cy="347662"/>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29714" name="Text Box 23"/>
          <p:cNvSpPr txBox="1">
            <a:spLocks noChangeArrowheads="1"/>
          </p:cNvSpPr>
          <p:nvPr/>
        </p:nvSpPr>
        <p:spPr bwMode="auto">
          <a:xfrm>
            <a:off x="6576978" y="3448050"/>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rgbClr val="00FFFF"/>
              </a:solidFill>
            </a:endParaRPr>
          </a:p>
        </p:txBody>
      </p:sp>
      <p:sp>
        <p:nvSpPr>
          <p:cNvPr id="29715" name="AutoShape 24"/>
          <p:cNvSpPr>
            <a:spLocks noChangeArrowheads="1"/>
          </p:cNvSpPr>
          <p:nvPr/>
        </p:nvSpPr>
        <p:spPr bwMode="auto">
          <a:xfrm>
            <a:off x="9366250" y="4267200"/>
            <a:ext cx="685800" cy="381000"/>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29716" name="Text Box 25"/>
          <p:cNvSpPr txBox="1">
            <a:spLocks noChangeArrowheads="1"/>
          </p:cNvSpPr>
          <p:nvPr/>
        </p:nvSpPr>
        <p:spPr bwMode="auto">
          <a:xfrm>
            <a:off x="9453528" y="4267200"/>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29717" name="Text Box 26"/>
          <p:cNvSpPr txBox="1">
            <a:spLocks noChangeArrowheads="1"/>
          </p:cNvSpPr>
          <p:nvPr/>
        </p:nvSpPr>
        <p:spPr bwMode="auto">
          <a:xfrm>
            <a:off x="6627014" y="2984500"/>
            <a:ext cx="489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Yes</a:t>
            </a:r>
            <a:endParaRPr lang="en-US" altLang="en-US" sz="1600">
              <a:solidFill>
                <a:schemeClr val="bg2"/>
              </a:solidFill>
            </a:endParaRPr>
          </a:p>
        </p:txBody>
      </p:sp>
      <p:sp>
        <p:nvSpPr>
          <p:cNvPr id="29718" name="Text Box 27"/>
          <p:cNvSpPr txBox="1">
            <a:spLocks noChangeArrowheads="1"/>
          </p:cNvSpPr>
          <p:nvPr/>
        </p:nvSpPr>
        <p:spPr bwMode="auto">
          <a:xfrm>
            <a:off x="8448675" y="298450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No</a:t>
            </a:r>
            <a:endParaRPr lang="en-US" altLang="en-US" sz="1600">
              <a:solidFill>
                <a:schemeClr val="bg2"/>
              </a:solidFill>
            </a:endParaRPr>
          </a:p>
        </p:txBody>
      </p:sp>
      <p:sp>
        <p:nvSpPr>
          <p:cNvPr id="29719" name="Text Box 28"/>
          <p:cNvSpPr txBox="1">
            <a:spLocks noChangeArrowheads="1"/>
          </p:cNvSpPr>
          <p:nvPr/>
        </p:nvSpPr>
        <p:spPr bwMode="auto">
          <a:xfrm>
            <a:off x="9431338" y="374967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Married</a:t>
            </a:r>
            <a:r>
              <a:rPr lang="en-US" altLang="en-US" sz="1600">
                <a:solidFill>
                  <a:schemeClr val="bg2"/>
                </a:solidFill>
              </a:rPr>
              <a:t> </a:t>
            </a:r>
          </a:p>
        </p:txBody>
      </p:sp>
      <p:sp>
        <p:nvSpPr>
          <p:cNvPr id="29720" name="Text Box 29"/>
          <p:cNvSpPr txBox="1">
            <a:spLocks noChangeArrowheads="1"/>
          </p:cNvSpPr>
          <p:nvPr/>
        </p:nvSpPr>
        <p:spPr bwMode="auto">
          <a:xfrm>
            <a:off x="7215188" y="3778250"/>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Single, Divorced</a:t>
            </a:r>
            <a:endParaRPr lang="en-US" altLang="en-US" sz="1600">
              <a:solidFill>
                <a:schemeClr val="bg2"/>
              </a:solidFill>
            </a:endParaRPr>
          </a:p>
        </p:txBody>
      </p:sp>
      <p:sp>
        <p:nvSpPr>
          <p:cNvPr id="29721" name="Text Box 30"/>
          <p:cNvSpPr txBox="1">
            <a:spLocks noChangeArrowheads="1"/>
          </p:cNvSpPr>
          <p:nvPr/>
        </p:nvSpPr>
        <p:spPr bwMode="auto">
          <a:xfrm>
            <a:off x="6813990" y="4570413"/>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&lt; 80K</a:t>
            </a:r>
            <a:endParaRPr lang="en-US" altLang="en-US" sz="1600">
              <a:solidFill>
                <a:schemeClr val="bg2"/>
              </a:solidFill>
            </a:endParaRPr>
          </a:p>
        </p:txBody>
      </p:sp>
      <p:sp>
        <p:nvSpPr>
          <p:cNvPr id="29722" name="Text Box 31"/>
          <p:cNvSpPr txBox="1">
            <a:spLocks noChangeArrowheads="1"/>
          </p:cNvSpPr>
          <p:nvPr/>
        </p:nvSpPr>
        <p:spPr bwMode="auto">
          <a:xfrm>
            <a:off x="8588815" y="4570413"/>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&gt; 80K</a:t>
            </a:r>
            <a:endParaRPr lang="en-US" altLang="en-US" sz="1600">
              <a:solidFill>
                <a:schemeClr val="bg2"/>
              </a:solidFill>
            </a:endParaRPr>
          </a:p>
        </p:txBody>
      </p:sp>
      <p:sp>
        <p:nvSpPr>
          <p:cNvPr id="29723" name="Text Box 32"/>
          <p:cNvSpPr txBox="1">
            <a:spLocks noChangeArrowheads="1"/>
          </p:cNvSpPr>
          <p:nvPr/>
        </p:nvSpPr>
        <p:spPr bwMode="auto">
          <a:xfrm>
            <a:off x="7502872" y="1766889"/>
            <a:ext cx="2688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i="1">
                <a:solidFill>
                  <a:srgbClr val="FF0000"/>
                </a:solidFill>
              </a:rPr>
              <a:t>Splitting Attributes</a:t>
            </a:r>
          </a:p>
        </p:txBody>
      </p:sp>
      <p:sp>
        <p:nvSpPr>
          <p:cNvPr id="29724" name="Line 33"/>
          <p:cNvSpPr>
            <a:spLocks noChangeShapeType="1"/>
          </p:cNvSpPr>
          <p:nvPr/>
        </p:nvSpPr>
        <p:spPr bwMode="auto">
          <a:xfrm flipH="1">
            <a:off x="8328026" y="2147889"/>
            <a:ext cx="536575" cy="534987"/>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25" name="AutoShape 34"/>
          <p:cNvSpPr>
            <a:spLocks noChangeArrowheads="1"/>
          </p:cNvSpPr>
          <p:nvPr/>
        </p:nvSpPr>
        <p:spPr bwMode="auto">
          <a:xfrm>
            <a:off x="5332412" y="3810000"/>
            <a:ext cx="914400" cy="293688"/>
          </a:xfrm>
          <a:prstGeom prst="rightArrow">
            <a:avLst>
              <a:gd name="adj1" fmla="val 50000"/>
              <a:gd name="adj2" fmla="val 77838"/>
            </a:avLst>
          </a:prstGeom>
          <a:solidFill>
            <a:srgbClr val="CC0000"/>
          </a:solidFill>
          <a:ln w="12700">
            <a:solidFill>
              <a:srgbClr val="CC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29726" name="Line 35"/>
          <p:cNvSpPr>
            <a:spLocks noChangeShapeType="1"/>
          </p:cNvSpPr>
          <p:nvPr/>
        </p:nvSpPr>
        <p:spPr bwMode="auto">
          <a:xfrm>
            <a:off x="8940800" y="2147889"/>
            <a:ext cx="76200" cy="1144587"/>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727" name="Text Box 36"/>
          <p:cNvSpPr txBox="1">
            <a:spLocks noChangeArrowheads="1"/>
          </p:cNvSpPr>
          <p:nvPr/>
        </p:nvSpPr>
        <p:spPr bwMode="auto">
          <a:xfrm>
            <a:off x="2284412" y="5867400"/>
            <a:ext cx="2514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lnSpc>
                <a:spcPct val="80000"/>
              </a:lnSpc>
              <a:spcBef>
                <a:spcPct val="20000"/>
              </a:spcBef>
              <a:buClr>
                <a:schemeClr val="accent2"/>
              </a:buClr>
              <a:buSzPct val="75000"/>
              <a:buFont typeface="Monotype Sorts" pitchFamily="2" charset="2"/>
              <a:buNone/>
            </a:pPr>
            <a:r>
              <a:rPr lang="en-US" altLang="en-US" sz="2000">
                <a:solidFill>
                  <a:schemeClr val="tx2"/>
                </a:solidFill>
              </a:rPr>
              <a:t>Training Data</a:t>
            </a:r>
            <a:endParaRPr lang="en-US" altLang="en-US" sz="2000">
              <a:solidFill>
                <a:schemeClr val="bg2"/>
              </a:solidFill>
            </a:endParaRPr>
          </a:p>
        </p:txBody>
      </p:sp>
      <p:sp>
        <p:nvSpPr>
          <p:cNvPr id="29728" name="Text Box 37"/>
          <p:cNvSpPr txBox="1">
            <a:spLocks noChangeArrowheads="1"/>
          </p:cNvSpPr>
          <p:nvPr/>
        </p:nvSpPr>
        <p:spPr bwMode="auto">
          <a:xfrm>
            <a:off x="6551612" y="5835650"/>
            <a:ext cx="3124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lnSpc>
                <a:spcPct val="80000"/>
              </a:lnSpc>
              <a:spcBef>
                <a:spcPct val="20000"/>
              </a:spcBef>
              <a:buClr>
                <a:schemeClr val="accent2"/>
              </a:buClr>
              <a:buSzPct val="75000"/>
              <a:buFont typeface="Monotype Sorts" pitchFamily="2" charset="2"/>
              <a:buNone/>
            </a:pPr>
            <a:r>
              <a:rPr lang="en-US" altLang="en-US" sz="2000">
                <a:solidFill>
                  <a:schemeClr val="tx2"/>
                </a:solidFill>
              </a:rPr>
              <a:t>Model:  Decision Tree</a:t>
            </a:r>
            <a:endParaRPr lang="en-US" altLang="en-US" sz="2000">
              <a:solidFill>
                <a:schemeClr val="bg2"/>
              </a:solidFill>
            </a:endParaRPr>
          </a:p>
        </p:txBody>
      </p:sp>
      <p:sp>
        <p:nvSpPr>
          <p:cNvPr id="3" name="Footer Placeholder 2"/>
          <p:cNvSpPr>
            <a:spLocks noGrp="1"/>
          </p:cNvSpPr>
          <p:nvPr>
            <p:ph type="ftr" sz="quarter" idx="11"/>
          </p:nvPr>
        </p:nvSpPr>
        <p:spPr/>
        <p:txBody>
          <a:bodyPr/>
          <a:lstStyle/>
          <a:p>
            <a:r>
              <a:rPr lang="en-US" smtClean="0"/>
              <a:t>Dr. S. Nandagopalan</a:t>
            </a:r>
            <a:endParaRPr lang="en-US" dirty="0"/>
          </a:p>
        </p:txBody>
      </p:sp>
      <p:sp>
        <p:nvSpPr>
          <p:cNvPr id="4" name="Slide Number Placeholder 3"/>
          <p:cNvSpPr>
            <a:spLocks noGrp="1"/>
          </p:cNvSpPr>
          <p:nvPr>
            <p:ph type="sldNum" sz="quarter" idx="12"/>
          </p:nvPr>
        </p:nvSpPr>
        <p:spPr/>
        <p:txBody>
          <a:bodyPr/>
          <a:lstStyle/>
          <a:p>
            <a:fld id="{34C99D79-8A4B-4031-B1E0-AF26F8EDF2BC}" type="slidenum">
              <a:rPr lang="en-IN" smtClean="0"/>
              <a:t>14</a:t>
            </a:fld>
            <a:endParaRPr lang="en-IN"/>
          </a:p>
        </p:txBody>
      </p:sp>
    </p:spTree>
    <p:extLst>
      <p:ext uri="{BB962C8B-B14F-4D97-AF65-F5344CB8AC3E}">
        <p14:creationId xmlns:p14="http://schemas.microsoft.com/office/powerpoint/2010/main" val="1906128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218883" y="152400"/>
            <a:ext cx="9751060" cy="1005332"/>
          </a:xfrm>
        </p:spPr>
        <p:txBody>
          <a:bodyPr>
            <a:normAutofit/>
          </a:bodyPr>
          <a:lstStyle/>
          <a:p>
            <a:r>
              <a:rPr lang="en-US" altLang="en-US" b="1" dirty="0">
                <a:solidFill>
                  <a:srgbClr val="C00000"/>
                </a:solidFill>
              </a:rPr>
              <a:t>Another Example of Decision Tree</a:t>
            </a:r>
          </a:p>
        </p:txBody>
      </p:sp>
      <p:graphicFrame>
        <p:nvGraphicFramePr>
          <p:cNvPr id="30723" name="Object 2"/>
          <p:cNvGraphicFramePr>
            <a:graphicFrameLocks noChangeAspect="1"/>
          </p:cNvGraphicFramePr>
          <p:nvPr/>
        </p:nvGraphicFramePr>
        <p:xfrm>
          <a:off x="1979613" y="2133601"/>
          <a:ext cx="3565525" cy="3687763"/>
        </p:xfrm>
        <a:graphic>
          <a:graphicData uri="http://schemas.openxmlformats.org/presentationml/2006/ole">
            <mc:AlternateContent xmlns:mc="http://schemas.openxmlformats.org/markup-compatibility/2006">
              <mc:Choice xmlns:v="urn:schemas-microsoft-com:vml" Requires="v">
                <p:oleObj spid="_x0000_s4105" name="Document" r:id="rId4" imgW="5404104" imgH="5779008" progId="Word.Document.8">
                  <p:embed/>
                </p:oleObj>
              </mc:Choice>
              <mc:Fallback>
                <p:oleObj name="Document" r:id="rId4" imgW="5404104" imgH="5779008"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2133601"/>
                        <a:ext cx="3565525" cy="368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4" name="Text Box 4"/>
          <p:cNvSpPr txBox="1">
            <a:spLocks noChangeArrowheads="1"/>
          </p:cNvSpPr>
          <p:nvPr/>
        </p:nvSpPr>
        <p:spPr bwMode="auto">
          <a:xfrm rot="-2416809">
            <a:off x="2639018" y="1508711"/>
            <a:ext cx="11576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006600"/>
                </a:solidFill>
              </a:rPr>
              <a:t>categorical</a:t>
            </a:r>
            <a:endParaRPr lang="en-US" altLang="en-US" sz="1600">
              <a:solidFill>
                <a:schemeClr val="bg2"/>
              </a:solidFill>
            </a:endParaRPr>
          </a:p>
        </p:txBody>
      </p:sp>
      <p:sp>
        <p:nvSpPr>
          <p:cNvPr id="30725" name="Text Box 5"/>
          <p:cNvSpPr txBox="1">
            <a:spLocks noChangeArrowheads="1"/>
          </p:cNvSpPr>
          <p:nvPr/>
        </p:nvSpPr>
        <p:spPr bwMode="auto">
          <a:xfrm rot="-2416809">
            <a:off x="3324818" y="1508711"/>
            <a:ext cx="115768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006600"/>
                </a:solidFill>
              </a:rPr>
              <a:t>categorical</a:t>
            </a:r>
            <a:endParaRPr lang="en-US" altLang="en-US" sz="1600">
              <a:solidFill>
                <a:schemeClr val="bg2"/>
              </a:solidFill>
            </a:endParaRPr>
          </a:p>
        </p:txBody>
      </p:sp>
      <p:sp>
        <p:nvSpPr>
          <p:cNvPr id="30726" name="Text Box 6"/>
          <p:cNvSpPr txBox="1">
            <a:spLocks noChangeArrowheads="1"/>
          </p:cNvSpPr>
          <p:nvPr/>
        </p:nvSpPr>
        <p:spPr bwMode="auto">
          <a:xfrm rot="-2416809">
            <a:off x="4169329" y="1508711"/>
            <a:ext cx="11657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006600"/>
                </a:solidFill>
              </a:rPr>
              <a:t>continuous</a:t>
            </a:r>
            <a:endParaRPr lang="en-US" altLang="en-US" sz="1600">
              <a:solidFill>
                <a:schemeClr val="bg2"/>
              </a:solidFill>
            </a:endParaRPr>
          </a:p>
        </p:txBody>
      </p:sp>
      <p:sp>
        <p:nvSpPr>
          <p:cNvPr id="30727" name="Text Box 7"/>
          <p:cNvSpPr txBox="1">
            <a:spLocks noChangeArrowheads="1"/>
          </p:cNvSpPr>
          <p:nvPr/>
        </p:nvSpPr>
        <p:spPr bwMode="auto">
          <a:xfrm rot="-2416809">
            <a:off x="4913351" y="1661111"/>
            <a:ext cx="6158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006600"/>
                </a:solidFill>
              </a:rPr>
              <a:t>class</a:t>
            </a:r>
            <a:endParaRPr lang="en-US" altLang="en-US" sz="1600">
              <a:solidFill>
                <a:schemeClr val="bg2"/>
              </a:solidFill>
            </a:endParaRPr>
          </a:p>
        </p:txBody>
      </p:sp>
      <p:sp>
        <p:nvSpPr>
          <p:cNvPr id="30728" name="Line 8"/>
          <p:cNvSpPr>
            <a:spLocks noChangeShapeType="1"/>
          </p:cNvSpPr>
          <p:nvPr/>
        </p:nvSpPr>
        <p:spPr bwMode="auto">
          <a:xfrm>
            <a:off x="9528176" y="3497263"/>
            <a:ext cx="242887"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29" name="Line 9"/>
          <p:cNvSpPr>
            <a:spLocks noChangeShapeType="1"/>
          </p:cNvSpPr>
          <p:nvPr/>
        </p:nvSpPr>
        <p:spPr bwMode="auto">
          <a:xfrm flipH="1">
            <a:off x="8397875" y="3497263"/>
            <a:ext cx="323850" cy="5270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0" name="Line 10"/>
          <p:cNvSpPr>
            <a:spLocks noChangeShapeType="1"/>
          </p:cNvSpPr>
          <p:nvPr/>
        </p:nvSpPr>
        <p:spPr bwMode="auto">
          <a:xfrm flipH="1">
            <a:off x="7404101" y="2733675"/>
            <a:ext cx="403225"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1" name="Line 11"/>
          <p:cNvSpPr>
            <a:spLocks noChangeShapeType="1"/>
          </p:cNvSpPr>
          <p:nvPr/>
        </p:nvSpPr>
        <p:spPr bwMode="auto">
          <a:xfrm>
            <a:off x="8615362" y="2733675"/>
            <a:ext cx="484188" cy="528638"/>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2" name="Line 12"/>
          <p:cNvSpPr>
            <a:spLocks noChangeShapeType="1"/>
          </p:cNvSpPr>
          <p:nvPr/>
        </p:nvSpPr>
        <p:spPr bwMode="auto">
          <a:xfrm>
            <a:off x="7566025" y="20066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3" name="Line 13"/>
          <p:cNvSpPr>
            <a:spLocks noChangeShapeType="1"/>
          </p:cNvSpPr>
          <p:nvPr/>
        </p:nvSpPr>
        <p:spPr bwMode="auto">
          <a:xfrm flipH="1">
            <a:off x="6192837" y="2006600"/>
            <a:ext cx="565150" cy="46355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0734" name="Text Box 14"/>
          <p:cNvSpPr txBox="1">
            <a:spLocks noChangeArrowheads="1"/>
          </p:cNvSpPr>
          <p:nvPr/>
        </p:nvSpPr>
        <p:spPr bwMode="auto">
          <a:xfrm>
            <a:off x="6710363" y="1743075"/>
            <a:ext cx="936625"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MarSt</a:t>
            </a:r>
            <a:endParaRPr lang="en-US" altLang="en-US" sz="1600">
              <a:solidFill>
                <a:schemeClr val="bg2"/>
              </a:solidFill>
            </a:endParaRPr>
          </a:p>
        </p:txBody>
      </p:sp>
      <p:sp>
        <p:nvSpPr>
          <p:cNvPr id="30735" name="Text Box 15"/>
          <p:cNvSpPr txBox="1">
            <a:spLocks noChangeArrowheads="1"/>
          </p:cNvSpPr>
          <p:nvPr/>
        </p:nvSpPr>
        <p:spPr bwMode="auto">
          <a:xfrm>
            <a:off x="7726362" y="2470150"/>
            <a:ext cx="935038"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Refund</a:t>
            </a:r>
            <a:endParaRPr lang="en-US" altLang="en-US" sz="1600">
              <a:solidFill>
                <a:schemeClr val="bg2"/>
              </a:solidFill>
            </a:endParaRPr>
          </a:p>
        </p:txBody>
      </p:sp>
      <p:sp>
        <p:nvSpPr>
          <p:cNvPr id="30736" name="Text Box 16"/>
          <p:cNvSpPr txBox="1">
            <a:spLocks noChangeArrowheads="1"/>
          </p:cNvSpPr>
          <p:nvPr/>
        </p:nvSpPr>
        <p:spPr bwMode="auto">
          <a:xfrm>
            <a:off x="8640763" y="3232150"/>
            <a:ext cx="968375"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TaxInc</a:t>
            </a:r>
            <a:endParaRPr lang="en-US" altLang="en-US" sz="1600">
              <a:solidFill>
                <a:schemeClr val="bg2"/>
              </a:solidFill>
            </a:endParaRPr>
          </a:p>
        </p:txBody>
      </p:sp>
      <p:sp>
        <p:nvSpPr>
          <p:cNvPr id="30737" name="AutoShape 17"/>
          <p:cNvSpPr>
            <a:spLocks noChangeArrowheads="1"/>
          </p:cNvSpPr>
          <p:nvPr/>
        </p:nvSpPr>
        <p:spPr bwMode="auto">
          <a:xfrm>
            <a:off x="9567863" y="4021138"/>
            <a:ext cx="627063" cy="366712"/>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0738" name="Text Box 18"/>
          <p:cNvSpPr txBox="1">
            <a:spLocks noChangeArrowheads="1"/>
          </p:cNvSpPr>
          <p:nvPr/>
        </p:nvSpPr>
        <p:spPr bwMode="auto">
          <a:xfrm>
            <a:off x="9491662" y="4021138"/>
            <a:ext cx="685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YES</a:t>
            </a:r>
            <a:endParaRPr lang="en-US" altLang="en-US" sz="1600">
              <a:solidFill>
                <a:schemeClr val="bg2"/>
              </a:solidFill>
            </a:endParaRPr>
          </a:p>
        </p:txBody>
      </p:sp>
      <p:sp>
        <p:nvSpPr>
          <p:cNvPr id="30739" name="AutoShape 19"/>
          <p:cNvSpPr>
            <a:spLocks noChangeArrowheads="1"/>
          </p:cNvSpPr>
          <p:nvPr/>
        </p:nvSpPr>
        <p:spPr bwMode="auto">
          <a:xfrm>
            <a:off x="8075612" y="4038600"/>
            <a:ext cx="654050" cy="363538"/>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0740" name="Text Box 20"/>
          <p:cNvSpPr txBox="1">
            <a:spLocks noChangeArrowheads="1"/>
          </p:cNvSpPr>
          <p:nvPr/>
        </p:nvSpPr>
        <p:spPr bwMode="auto">
          <a:xfrm>
            <a:off x="8183528" y="4024313"/>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0741" name="AutoShape 21"/>
          <p:cNvSpPr>
            <a:spLocks noChangeArrowheads="1"/>
          </p:cNvSpPr>
          <p:nvPr/>
        </p:nvSpPr>
        <p:spPr bwMode="auto">
          <a:xfrm>
            <a:off x="5870575" y="2484438"/>
            <a:ext cx="685800" cy="347662"/>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0742" name="Text Box 22"/>
          <p:cNvSpPr txBox="1">
            <a:spLocks noChangeArrowheads="1"/>
          </p:cNvSpPr>
          <p:nvPr/>
        </p:nvSpPr>
        <p:spPr bwMode="auto">
          <a:xfrm>
            <a:off x="5976903" y="2470150"/>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rgbClr val="00FFFF"/>
              </a:solidFill>
            </a:endParaRPr>
          </a:p>
        </p:txBody>
      </p:sp>
      <p:grpSp>
        <p:nvGrpSpPr>
          <p:cNvPr id="30743" name="Group 35"/>
          <p:cNvGrpSpPr>
            <a:grpSpLocks/>
          </p:cNvGrpSpPr>
          <p:nvPr/>
        </p:nvGrpSpPr>
        <p:grpSpPr bwMode="auto">
          <a:xfrm>
            <a:off x="7116762" y="3232150"/>
            <a:ext cx="685800" cy="381000"/>
            <a:chOff x="4927" y="2340"/>
            <a:chExt cx="432" cy="240"/>
          </a:xfrm>
        </p:grpSpPr>
        <p:sp>
          <p:nvSpPr>
            <p:cNvPr id="30751" name="AutoShape 23"/>
            <p:cNvSpPr>
              <a:spLocks noChangeArrowheads="1"/>
            </p:cNvSpPr>
            <p:nvPr/>
          </p:nvSpPr>
          <p:spPr bwMode="auto">
            <a:xfrm>
              <a:off x="4927" y="2340"/>
              <a:ext cx="432" cy="240"/>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0752" name="Text Box 24"/>
            <p:cNvSpPr txBox="1">
              <a:spLocks noChangeArrowheads="1"/>
            </p:cNvSpPr>
            <p:nvPr/>
          </p:nvSpPr>
          <p:spPr bwMode="auto">
            <a:xfrm>
              <a:off x="4982" y="2340"/>
              <a:ext cx="29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grpSp>
      <p:sp>
        <p:nvSpPr>
          <p:cNvPr id="30744" name="Text Box 25"/>
          <p:cNvSpPr txBox="1">
            <a:spLocks noChangeArrowheads="1"/>
          </p:cNvSpPr>
          <p:nvPr/>
        </p:nvSpPr>
        <p:spPr bwMode="auto">
          <a:xfrm>
            <a:off x="7084214" y="2774950"/>
            <a:ext cx="489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Yes</a:t>
            </a:r>
            <a:endParaRPr lang="en-US" altLang="en-US" sz="1600">
              <a:solidFill>
                <a:schemeClr val="bg2"/>
              </a:solidFill>
            </a:endParaRPr>
          </a:p>
        </p:txBody>
      </p:sp>
      <p:sp>
        <p:nvSpPr>
          <p:cNvPr id="30745" name="Text Box 26"/>
          <p:cNvSpPr txBox="1">
            <a:spLocks noChangeArrowheads="1"/>
          </p:cNvSpPr>
          <p:nvPr/>
        </p:nvSpPr>
        <p:spPr bwMode="auto">
          <a:xfrm>
            <a:off x="8793163" y="2698750"/>
            <a:ext cx="442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No</a:t>
            </a:r>
            <a:endParaRPr lang="en-US" altLang="en-US" sz="1600">
              <a:solidFill>
                <a:schemeClr val="bg2"/>
              </a:solidFill>
            </a:endParaRPr>
          </a:p>
        </p:txBody>
      </p:sp>
      <p:sp>
        <p:nvSpPr>
          <p:cNvPr id="30746" name="Text Box 27"/>
          <p:cNvSpPr txBox="1">
            <a:spLocks noChangeArrowheads="1"/>
          </p:cNvSpPr>
          <p:nvPr/>
        </p:nvSpPr>
        <p:spPr bwMode="auto">
          <a:xfrm>
            <a:off x="5668963" y="1936750"/>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Married</a:t>
            </a:r>
            <a:r>
              <a:rPr lang="en-US" altLang="en-US" sz="1600">
                <a:solidFill>
                  <a:schemeClr val="bg2"/>
                </a:solidFill>
              </a:rPr>
              <a:t> </a:t>
            </a:r>
          </a:p>
        </p:txBody>
      </p:sp>
      <p:sp>
        <p:nvSpPr>
          <p:cNvPr id="30747" name="Text Box 28"/>
          <p:cNvSpPr txBox="1">
            <a:spLocks noChangeArrowheads="1"/>
          </p:cNvSpPr>
          <p:nvPr/>
        </p:nvSpPr>
        <p:spPr bwMode="auto">
          <a:xfrm>
            <a:off x="7269162" y="1708151"/>
            <a:ext cx="13985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Single, Divorced</a:t>
            </a:r>
            <a:endParaRPr lang="en-US" altLang="en-US" sz="1600">
              <a:solidFill>
                <a:schemeClr val="bg2"/>
              </a:solidFill>
            </a:endParaRPr>
          </a:p>
        </p:txBody>
      </p:sp>
      <p:sp>
        <p:nvSpPr>
          <p:cNvPr id="30748" name="Text Box 29"/>
          <p:cNvSpPr txBox="1">
            <a:spLocks noChangeArrowheads="1"/>
          </p:cNvSpPr>
          <p:nvPr/>
        </p:nvSpPr>
        <p:spPr bwMode="auto">
          <a:xfrm>
            <a:off x="7853802" y="3562350"/>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&lt; 80K</a:t>
            </a:r>
            <a:endParaRPr lang="en-US" altLang="en-US" sz="1600">
              <a:solidFill>
                <a:schemeClr val="bg2"/>
              </a:solidFill>
            </a:endParaRPr>
          </a:p>
        </p:txBody>
      </p:sp>
      <p:sp>
        <p:nvSpPr>
          <p:cNvPr id="30749" name="Text Box 30"/>
          <p:cNvSpPr txBox="1">
            <a:spLocks noChangeArrowheads="1"/>
          </p:cNvSpPr>
          <p:nvPr/>
        </p:nvSpPr>
        <p:spPr bwMode="auto">
          <a:xfrm>
            <a:off x="9628627" y="3562350"/>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&gt; 80K</a:t>
            </a:r>
            <a:endParaRPr lang="en-US" altLang="en-US" sz="1600">
              <a:solidFill>
                <a:schemeClr val="bg2"/>
              </a:solidFill>
            </a:endParaRPr>
          </a:p>
        </p:txBody>
      </p:sp>
      <p:sp>
        <p:nvSpPr>
          <p:cNvPr id="30750" name="Text Box 37"/>
          <p:cNvSpPr txBox="1">
            <a:spLocks noChangeArrowheads="1"/>
          </p:cNvSpPr>
          <p:nvPr/>
        </p:nvSpPr>
        <p:spPr bwMode="auto">
          <a:xfrm>
            <a:off x="5865812" y="5029201"/>
            <a:ext cx="4419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a:solidFill>
                  <a:srgbClr val="CC3300"/>
                </a:solidFill>
              </a:rPr>
              <a:t>There could be more than one tree that fits the same data!</a:t>
            </a:r>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15</a:t>
            </a:fld>
            <a:endParaRPr lang="en-IN"/>
          </a:p>
        </p:txBody>
      </p:sp>
    </p:spTree>
    <p:extLst>
      <p:ext uri="{BB962C8B-B14F-4D97-AF65-F5344CB8AC3E}">
        <p14:creationId xmlns:p14="http://schemas.microsoft.com/office/powerpoint/2010/main" val="33422737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US" altLang="en-US" smtClean="0"/>
              <a:t>Decision Tree Classification Task</a:t>
            </a:r>
          </a:p>
        </p:txBody>
      </p:sp>
      <p:graphicFrame>
        <p:nvGraphicFramePr>
          <p:cNvPr id="31747" name="Object 2"/>
          <p:cNvGraphicFramePr>
            <a:graphicFrameLocks noGrp="1" noChangeAspect="1"/>
          </p:cNvGraphicFramePr>
          <p:nvPr>
            <p:ph idx="1"/>
          </p:nvPr>
        </p:nvGraphicFramePr>
        <p:xfrm>
          <a:off x="2616200" y="1143000"/>
          <a:ext cx="6951662" cy="5181600"/>
        </p:xfrm>
        <a:graphic>
          <a:graphicData uri="http://schemas.openxmlformats.org/presentationml/2006/ole">
            <mc:AlternateContent xmlns:mc="http://schemas.openxmlformats.org/markup-compatibility/2006">
              <mc:Choice xmlns:v="urn:schemas-microsoft-com:vml" Requires="v">
                <p:oleObj spid="_x0000_s5129" name="Visio" r:id="rId4" imgW="8424875" imgH="6279741" progId="Visio.Drawing.6">
                  <p:embed/>
                </p:oleObj>
              </mc:Choice>
              <mc:Fallback>
                <p:oleObj name="Visio" r:id="rId4" imgW="8424875" imgH="6279741"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6200" y="1143000"/>
                        <a:ext cx="6951662"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48" name="Line 4"/>
          <p:cNvSpPr>
            <a:spLocks noChangeShapeType="1"/>
          </p:cNvSpPr>
          <p:nvPr/>
        </p:nvSpPr>
        <p:spPr bwMode="auto">
          <a:xfrm flipH="1" flipV="1">
            <a:off x="7542212" y="4724400"/>
            <a:ext cx="0" cy="685800"/>
          </a:xfrm>
          <a:prstGeom prst="line">
            <a:avLst/>
          </a:prstGeom>
          <a:noFill/>
          <a:ln w="635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49" name="Text Box 5"/>
          <p:cNvSpPr txBox="1">
            <a:spLocks noChangeArrowheads="1"/>
          </p:cNvSpPr>
          <p:nvPr/>
        </p:nvSpPr>
        <p:spPr bwMode="auto">
          <a:xfrm>
            <a:off x="8609012" y="4114801"/>
            <a:ext cx="121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a:t>Decision Tree</a:t>
            </a:r>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pPr/>
              <a:t>16</a:t>
            </a:fld>
            <a:endParaRPr lang="en-IN" dirty="0"/>
          </a:p>
        </p:txBody>
      </p:sp>
    </p:spTree>
    <p:extLst>
      <p:ext uri="{BB962C8B-B14F-4D97-AF65-F5344CB8AC3E}">
        <p14:creationId xmlns:p14="http://schemas.microsoft.com/office/powerpoint/2010/main" val="15796122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218883" y="152400"/>
            <a:ext cx="9751060" cy="990600"/>
          </a:xfrm>
        </p:spPr>
        <p:txBody>
          <a:bodyPr/>
          <a:lstStyle/>
          <a:p>
            <a:r>
              <a:rPr lang="en-US" altLang="en-US" b="1" dirty="0" smtClean="0">
                <a:solidFill>
                  <a:srgbClr val="C00000"/>
                </a:solidFill>
              </a:rPr>
              <a:t>Apply Model to Test Data</a:t>
            </a:r>
          </a:p>
        </p:txBody>
      </p:sp>
      <p:grpSp>
        <p:nvGrpSpPr>
          <p:cNvPr id="32771" name="Group 3"/>
          <p:cNvGrpSpPr>
            <a:grpSpLocks/>
          </p:cNvGrpSpPr>
          <p:nvPr/>
        </p:nvGrpSpPr>
        <p:grpSpPr bwMode="auto">
          <a:xfrm>
            <a:off x="2803635" y="2585484"/>
            <a:ext cx="4267200" cy="3298825"/>
            <a:chOff x="384" y="1584"/>
            <a:chExt cx="2451" cy="1694"/>
          </a:xfrm>
        </p:grpSpPr>
        <p:sp>
          <p:nvSpPr>
            <p:cNvPr id="32776" name="Line 4"/>
            <p:cNvSpPr>
              <a:spLocks noChangeShapeType="1"/>
            </p:cNvSpPr>
            <p:nvPr/>
          </p:nvSpPr>
          <p:spPr bwMode="auto">
            <a:xfrm>
              <a:off x="1655" y="2708"/>
              <a:ext cx="153" cy="33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7" name="Line 5"/>
            <p:cNvSpPr>
              <a:spLocks noChangeShapeType="1"/>
            </p:cNvSpPr>
            <p:nvPr/>
          </p:nvSpPr>
          <p:spPr bwMode="auto">
            <a:xfrm flipH="1">
              <a:off x="943" y="2708"/>
              <a:ext cx="204" cy="33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8" name="Line 6"/>
            <p:cNvSpPr>
              <a:spLocks noChangeShapeType="1"/>
            </p:cNvSpPr>
            <p:nvPr/>
          </p:nvSpPr>
          <p:spPr bwMode="auto">
            <a:xfrm flipH="1">
              <a:off x="1350" y="2208"/>
              <a:ext cx="254" cy="33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79" name="Line 7"/>
            <p:cNvSpPr>
              <a:spLocks noChangeShapeType="1"/>
            </p:cNvSpPr>
            <p:nvPr/>
          </p:nvSpPr>
          <p:spPr bwMode="auto">
            <a:xfrm>
              <a:off x="2113" y="2208"/>
              <a:ext cx="305" cy="33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0" name="Line 8"/>
            <p:cNvSpPr>
              <a:spLocks noChangeShapeType="1"/>
            </p:cNvSpPr>
            <p:nvPr/>
          </p:nvSpPr>
          <p:spPr bwMode="auto">
            <a:xfrm>
              <a:off x="1452" y="1750"/>
              <a:ext cx="356" cy="29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1" name="Line 9"/>
            <p:cNvSpPr>
              <a:spLocks noChangeShapeType="1"/>
            </p:cNvSpPr>
            <p:nvPr/>
          </p:nvSpPr>
          <p:spPr bwMode="auto">
            <a:xfrm flipH="1">
              <a:off x="587" y="1750"/>
              <a:ext cx="356" cy="29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2" name="Text Box 10"/>
            <p:cNvSpPr txBox="1">
              <a:spLocks noChangeArrowheads="1"/>
            </p:cNvSpPr>
            <p:nvPr/>
          </p:nvSpPr>
          <p:spPr bwMode="auto">
            <a:xfrm>
              <a:off x="913" y="1584"/>
              <a:ext cx="590" cy="179"/>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Refund</a:t>
              </a:r>
              <a:endParaRPr lang="en-US" altLang="en-US" sz="1600">
                <a:solidFill>
                  <a:schemeClr val="bg2"/>
                </a:solidFill>
              </a:endParaRPr>
            </a:p>
          </p:txBody>
        </p:sp>
        <p:sp>
          <p:nvSpPr>
            <p:cNvPr id="32783" name="Text Box 11"/>
            <p:cNvSpPr txBox="1">
              <a:spLocks noChangeArrowheads="1"/>
            </p:cNvSpPr>
            <p:nvPr/>
          </p:nvSpPr>
          <p:spPr bwMode="auto">
            <a:xfrm>
              <a:off x="1553" y="2042"/>
              <a:ext cx="589" cy="179"/>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MarSt</a:t>
              </a:r>
              <a:endParaRPr lang="en-US" altLang="en-US" sz="1600">
                <a:solidFill>
                  <a:schemeClr val="bg2"/>
                </a:solidFill>
              </a:endParaRPr>
            </a:p>
          </p:txBody>
        </p:sp>
        <p:sp>
          <p:nvSpPr>
            <p:cNvPr id="32784" name="Text Box 12"/>
            <p:cNvSpPr txBox="1">
              <a:spLocks noChangeArrowheads="1"/>
            </p:cNvSpPr>
            <p:nvPr/>
          </p:nvSpPr>
          <p:spPr bwMode="auto">
            <a:xfrm>
              <a:off x="1096" y="2541"/>
              <a:ext cx="610" cy="179"/>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TaxInc</a:t>
              </a:r>
              <a:endParaRPr lang="en-US" altLang="en-US" sz="1600">
                <a:solidFill>
                  <a:schemeClr val="bg2"/>
                </a:solidFill>
              </a:endParaRPr>
            </a:p>
          </p:txBody>
        </p:sp>
        <p:sp>
          <p:nvSpPr>
            <p:cNvPr id="32785" name="AutoShape 13"/>
            <p:cNvSpPr>
              <a:spLocks noChangeArrowheads="1"/>
            </p:cNvSpPr>
            <p:nvPr/>
          </p:nvSpPr>
          <p:spPr bwMode="auto">
            <a:xfrm>
              <a:off x="1680" y="3038"/>
              <a:ext cx="395" cy="231"/>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2786" name="Text Box 14"/>
            <p:cNvSpPr txBox="1">
              <a:spLocks noChangeArrowheads="1"/>
            </p:cNvSpPr>
            <p:nvPr/>
          </p:nvSpPr>
          <p:spPr bwMode="auto">
            <a:xfrm>
              <a:off x="1632" y="3038"/>
              <a:ext cx="4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YES</a:t>
              </a:r>
              <a:endParaRPr lang="en-US" altLang="en-US" sz="1600">
                <a:solidFill>
                  <a:schemeClr val="bg2"/>
                </a:solidFill>
              </a:endParaRPr>
            </a:p>
          </p:txBody>
        </p:sp>
        <p:sp>
          <p:nvSpPr>
            <p:cNvPr id="32787" name="AutoShape 15"/>
            <p:cNvSpPr>
              <a:spLocks noChangeArrowheads="1"/>
            </p:cNvSpPr>
            <p:nvPr/>
          </p:nvSpPr>
          <p:spPr bwMode="auto">
            <a:xfrm>
              <a:off x="740" y="3049"/>
              <a:ext cx="412" cy="229"/>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2788" name="Text Box 16"/>
            <p:cNvSpPr txBox="1">
              <a:spLocks noChangeArrowheads="1"/>
            </p:cNvSpPr>
            <p:nvPr/>
          </p:nvSpPr>
          <p:spPr bwMode="auto">
            <a:xfrm>
              <a:off x="820" y="3040"/>
              <a:ext cx="26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2789" name="AutoShape 17"/>
            <p:cNvSpPr>
              <a:spLocks noChangeArrowheads="1"/>
            </p:cNvSpPr>
            <p:nvPr/>
          </p:nvSpPr>
          <p:spPr bwMode="auto">
            <a:xfrm>
              <a:off x="384" y="2051"/>
              <a:ext cx="432" cy="219"/>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2790" name="Text Box 18"/>
            <p:cNvSpPr txBox="1">
              <a:spLocks noChangeArrowheads="1"/>
            </p:cNvSpPr>
            <p:nvPr/>
          </p:nvSpPr>
          <p:spPr bwMode="auto">
            <a:xfrm>
              <a:off x="464" y="2042"/>
              <a:ext cx="26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rgbClr val="00FFFF"/>
                </a:solidFill>
              </a:endParaRPr>
            </a:p>
          </p:txBody>
        </p:sp>
        <p:sp>
          <p:nvSpPr>
            <p:cNvPr id="32791" name="AutoShape 19"/>
            <p:cNvSpPr>
              <a:spLocks noChangeArrowheads="1"/>
            </p:cNvSpPr>
            <p:nvPr/>
          </p:nvSpPr>
          <p:spPr bwMode="auto">
            <a:xfrm>
              <a:off x="2208" y="2558"/>
              <a:ext cx="432" cy="240"/>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2792" name="Text Box 20"/>
            <p:cNvSpPr txBox="1">
              <a:spLocks noChangeArrowheads="1"/>
            </p:cNvSpPr>
            <p:nvPr/>
          </p:nvSpPr>
          <p:spPr bwMode="auto">
            <a:xfrm>
              <a:off x="2276" y="2558"/>
              <a:ext cx="26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2793" name="Text Box 21"/>
            <p:cNvSpPr txBox="1">
              <a:spLocks noChangeArrowheads="1"/>
            </p:cNvSpPr>
            <p:nvPr/>
          </p:nvSpPr>
          <p:spPr bwMode="auto">
            <a:xfrm>
              <a:off x="510" y="1750"/>
              <a:ext cx="2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Yes</a:t>
              </a:r>
              <a:endParaRPr lang="en-US" altLang="en-US" sz="1600">
                <a:solidFill>
                  <a:schemeClr val="bg2"/>
                </a:solidFill>
              </a:endParaRPr>
            </a:p>
          </p:txBody>
        </p:sp>
        <p:sp>
          <p:nvSpPr>
            <p:cNvPr id="32794" name="Text Box 22"/>
            <p:cNvSpPr txBox="1">
              <a:spLocks noChangeArrowheads="1"/>
            </p:cNvSpPr>
            <p:nvPr/>
          </p:nvSpPr>
          <p:spPr bwMode="auto">
            <a:xfrm>
              <a:off x="1654" y="1750"/>
              <a:ext cx="25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No</a:t>
              </a:r>
              <a:endParaRPr lang="en-US" altLang="en-US" sz="1600">
                <a:solidFill>
                  <a:schemeClr val="bg2"/>
                </a:solidFill>
              </a:endParaRPr>
            </a:p>
          </p:txBody>
        </p:sp>
        <p:sp>
          <p:nvSpPr>
            <p:cNvPr id="32795" name="Text Box 23"/>
            <p:cNvSpPr txBox="1">
              <a:spLocks noChangeArrowheads="1"/>
            </p:cNvSpPr>
            <p:nvPr/>
          </p:nvSpPr>
          <p:spPr bwMode="auto">
            <a:xfrm>
              <a:off x="2301" y="2232"/>
              <a:ext cx="5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Married</a:t>
              </a:r>
              <a:r>
                <a:rPr lang="en-US" altLang="en-US" sz="1600">
                  <a:solidFill>
                    <a:schemeClr val="bg2"/>
                  </a:solidFill>
                </a:rPr>
                <a:t> </a:t>
              </a:r>
            </a:p>
          </p:txBody>
        </p:sp>
        <p:sp>
          <p:nvSpPr>
            <p:cNvPr id="32796" name="Text Box 24"/>
            <p:cNvSpPr txBox="1">
              <a:spLocks noChangeArrowheads="1"/>
            </p:cNvSpPr>
            <p:nvPr/>
          </p:nvSpPr>
          <p:spPr bwMode="auto">
            <a:xfrm>
              <a:off x="945" y="2250"/>
              <a:ext cx="95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Single, Divorced</a:t>
              </a:r>
              <a:endParaRPr lang="en-US" altLang="en-US" sz="1600">
                <a:solidFill>
                  <a:schemeClr val="bg2"/>
                </a:solidFill>
              </a:endParaRPr>
            </a:p>
          </p:txBody>
        </p:sp>
        <p:sp>
          <p:nvSpPr>
            <p:cNvPr id="32797" name="Text Box 25"/>
            <p:cNvSpPr txBox="1">
              <a:spLocks noChangeArrowheads="1"/>
            </p:cNvSpPr>
            <p:nvPr/>
          </p:nvSpPr>
          <p:spPr bwMode="auto">
            <a:xfrm>
              <a:off x="642" y="2749"/>
              <a:ext cx="42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&lt; 80K</a:t>
              </a:r>
              <a:endParaRPr lang="en-US" altLang="en-US" sz="1600">
                <a:solidFill>
                  <a:schemeClr val="bg2"/>
                </a:solidFill>
              </a:endParaRPr>
            </a:p>
          </p:txBody>
        </p:sp>
        <p:sp>
          <p:nvSpPr>
            <p:cNvPr id="32798" name="Text Box 26"/>
            <p:cNvSpPr txBox="1">
              <a:spLocks noChangeArrowheads="1"/>
            </p:cNvSpPr>
            <p:nvPr/>
          </p:nvSpPr>
          <p:spPr bwMode="auto">
            <a:xfrm>
              <a:off x="1760" y="2749"/>
              <a:ext cx="42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&gt; 80K</a:t>
              </a:r>
              <a:endParaRPr lang="en-US" altLang="en-US" sz="1600">
                <a:solidFill>
                  <a:schemeClr val="bg2"/>
                </a:solidFill>
              </a:endParaRPr>
            </a:p>
          </p:txBody>
        </p:sp>
      </p:grpSp>
      <p:graphicFrame>
        <p:nvGraphicFramePr>
          <p:cNvPr id="32772" name="Object 2"/>
          <p:cNvGraphicFramePr>
            <a:graphicFrameLocks noChangeAspect="1"/>
          </p:cNvGraphicFramePr>
          <p:nvPr>
            <p:extLst/>
          </p:nvPr>
        </p:nvGraphicFramePr>
        <p:xfrm>
          <a:off x="7070836" y="1823484"/>
          <a:ext cx="3343275" cy="1133475"/>
        </p:xfrm>
        <a:graphic>
          <a:graphicData uri="http://schemas.openxmlformats.org/presentationml/2006/ole">
            <mc:AlternateContent xmlns:mc="http://schemas.openxmlformats.org/markup-compatibility/2006">
              <mc:Choice xmlns:v="urn:schemas-microsoft-com:vml" Requires="v">
                <p:oleObj spid="_x0000_s6153" name="Document" r:id="rId4" imgW="4651248" imgH="1575816" progId="Word.Document.8">
                  <p:embed/>
                </p:oleObj>
              </mc:Choice>
              <mc:Fallback>
                <p:oleObj name="Document" r:id="rId4" imgW="4651248" imgH="15758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70836" y="1823484"/>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3" name="Text Box 28"/>
          <p:cNvSpPr txBox="1">
            <a:spLocks noChangeArrowheads="1"/>
          </p:cNvSpPr>
          <p:nvPr/>
        </p:nvSpPr>
        <p:spPr bwMode="auto">
          <a:xfrm>
            <a:off x="6323012" y="1143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lnSpc>
                <a:spcPct val="80000"/>
              </a:lnSpc>
              <a:spcBef>
                <a:spcPct val="20000"/>
              </a:spcBef>
              <a:buClr>
                <a:schemeClr val="accent2"/>
              </a:buClr>
              <a:buSzPct val="75000"/>
              <a:buFont typeface="Monotype Sorts" pitchFamily="2" charset="2"/>
              <a:buNone/>
            </a:pPr>
            <a:r>
              <a:rPr lang="en-US" altLang="en-US" sz="2000">
                <a:solidFill>
                  <a:schemeClr val="tx2"/>
                </a:solidFill>
              </a:rPr>
              <a:t>Test Data</a:t>
            </a:r>
            <a:endParaRPr lang="en-US" altLang="en-US" sz="2000">
              <a:solidFill>
                <a:schemeClr val="bg2"/>
              </a:solidFill>
            </a:endParaRPr>
          </a:p>
        </p:txBody>
      </p:sp>
      <p:sp>
        <p:nvSpPr>
          <p:cNvPr id="32774" name="Text Box 29"/>
          <p:cNvSpPr txBox="1">
            <a:spLocks noChangeArrowheads="1"/>
          </p:cNvSpPr>
          <p:nvPr/>
        </p:nvSpPr>
        <p:spPr bwMode="auto">
          <a:xfrm>
            <a:off x="3108435" y="1671083"/>
            <a:ext cx="3429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80000"/>
              </a:lnSpc>
              <a:spcBef>
                <a:spcPct val="20000"/>
              </a:spcBef>
              <a:buClr>
                <a:schemeClr val="accent2"/>
              </a:buClr>
              <a:buSzPct val="75000"/>
              <a:buFont typeface="Monotype Sorts" pitchFamily="2" charset="2"/>
              <a:buNone/>
            </a:pPr>
            <a:r>
              <a:rPr lang="en-US" altLang="en-US" sz="2000"/>
              <a:t>Start from the root of tree.</a:t>
            </a:r>
          </a:p>
        </p:txBody>
      </p:sp>
      <p:sp>
        <p:nvSpPr>
          <p:cNvPr id="32775" name="Line 30"/>
          <p:cNvSpPr>
            <a:spLocks noChangeShapeType="1"/>
          </p:cNvSpPr>
          <p:nvPr/>
        </p:nvSpPr>
        <p:spPr bwMode="auto">
          <a:xfrm>
            <a:off x="4251435" y="2052083"/>
            <a:ext cx="0" cy="457200"/>
          </a:xfrm>
          <a:prstGeom prst="line">
            <a:avLst/>
          </a:prstGeom>
          <a:noFill/>
          <a:ln w="158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17</a:t>
            </a:fld>
            <a:endParaRPr lang="en-IN"/>
          </a:p>
        </p:txBody>
      </p:sp>
    </p:spTree>
    <p:extLst>
      <p:ext uri="{BB962C8B-B14F-4D97-AF65-F5344CB8AC3E}">
        <p14:creationId xmlns:p14="http://schemas.microsoft.com/office/powerpoint/2010/main" val="19385604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218883" y="152400"/>
            <a:ext cx="9751060" cy="998599"/>
          </a:xfrm>
        </p:spPr>
        <p:txBody>
          <a:bodyPr/>
          <a:lstStyle/>
          <a:p>
            <a:r>
              <a:rPr lang="en-US" altLang="en-US" b="1" dirty="0" smtClean="0">
                <a:solidFill>
                  <a:srgbClr val="C00000"/>
                </a:solidFill>
              </a:rPr>
              <a:t>Apply Model to Test Data</a:t>
            </a:r>
          </a:p>
        </p:txBody>
      </p:sp>
      <p:grpSp>
        <p:nvGrpSpPr>
          <p:cNvPr id="33795" name="Group 3"/>
          <p:cNvGrpSpPr>
            <a:grpSpLocks/>
          </p:cNvGrpSpPr>
          <p:nvPr/>
        </p:nvGrpSpPr>
        <p:grpSpPr bwMode="auto">
          <a:xfrm>
            <a:off x="2814268" y="2423891"/>
            <a:ext cx="4267200" cy="3298825"/>
            <a:chOff x="384" y="1584"/>
            <a:chExt cx="2451" cy="1694"/>
          </a:xfrm>
        </p:grpSpPr>
        <p:sp>
          <p:nvSpPr>
            <p:cNvPr id="33799" name="Line 4"/>
            <p:cNvSpPr>
              <a:spLocks noChangeShapeType="1"/>
            </p:cNvSpPr>
            <p:nvPr/>
          </p:nvSpPr>
          <p:spPr bwMode="auto">
            <a:xfrm>
              <a:off x="1655" y="2708"/>
              <a:ext cx="153" cy="33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0" name="Line 5"/>
            <p:cNvSpPr>
              <a:spLocks noChangeShapeType="1"/>
            </p:cNvSpPr>
            <p:nvPr/>
          </p:nvSpPr>
          <p:spPr bwMode="auto">
            <a:xfrm flipH="1">
              <a:off x="943" y="2708"/>
              <a:ext cx="204" cy="33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1" name="Line 6"/>
            <p:cNvSpPr>
              <a:spLocks noChangeShapeType="1"/>
            </p:cNvSpPr>
            <p:nvPr/>
          </p:nvSpPr>
          <p:spPr bwMode="auto">
            <a:xfrm flipH="1">
              <a:off x="1350" y="2208"/>
              <a:ext cx="254" cy="33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2" name="Line 7"/>
            <p:cNvSpPr>
              <a:spLocks noChangeShapeType="1"/>
            </p:cNvSpPr>
            <p:nvPr/>
          </p:nvSpPr>
          <p:spPr bwMode="auto">
            <a:xfrm>
              <a:off x="2113" y="2208"/>
              <a:ext cx="305" cy="333"/>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3" name="Line 8"/>
            <p:cNvSpPr>
              <a:spLocks noChangeShapeType="1"/>
            </p:cNvSpPr>
            <p:nvPr/>
          </p:nvSpPr>
          <p:spPr bwMode="auto">
            <a:xfrm>
              <a:off x="1452" y="1750"/>
              <a:ext cx="356" cy="29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4" name="Line 9"/>
            <p:cNvSpPr>
              <a:spLocks noChangeShapeType="1"/>
            </p:cNvSpPr>
            <p:nvPr/>
          </p:nvSpPr>
          <p:spPr bwMode="auto">
            <a:xfrm flipH="1">
              <a:off x="587" y="1750"/>
              <a:ext cx="356" cy="29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5" name="Text Box 10"/>
            <p:cNvSpPr txBox="1">
              <a:spLocks noChangeArrowheads="1"/>
            </p:cNvSpPr>
            <p:nvPr/>
          </p:nvSpPr>
          <p:spPr bwMode="auto">
            <a:xfrm>
              <a:off x="913" y="1584"/>
              <a:ext cx="590" cy="179"/>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Refund</a:t>
              </a:r>
              <a:endParaRPr lang="en-US" altLang="en-US" sz="1600">
                <a:solidFill>
                  <a:schemeClr val="bg2"/>
                </a:solidFill>
              </a:endParaRPr>
            </a:p>
          </p:txBody>
        </p:sp>
        <p:sp>
          <p:nvSpPr>
            <p:cNvPr id="33806" name="Text Box 11"/>
            <p:cNvSpPr txBox="1">
              <a:spLocks noChangeArrowheads="1"/>
            </p:cNvSpPr>
            <p:nvPr/>
          </p:nvSpPr>
          <p:spPr bwMode="auto">
            <a:xfrm>
              <a:off x="1553" y="2042"/>
              <a:ext cx="589" cy="179"/>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MarSt</a:t>
              </a:r>
              <a:endParaRPr lang="en-US" altLang="en-US" sz="1600">
                <a:solidFill>
                  <a:schemeClr val="bg2"/>
                </a:solidFill>
              </a:endParaRPr>
            </a:p>
          </p:txBody>
        </p:sp>
        <p:sp>
          <p:nvSpPr>
            <p:cNvPr id="33807" name="Text Box 12"/>
            <p:cNvSpPr txBox="1">
              <a:spLocks noChangeArrowheads="1"/>
            </p:cNvSpPr>
            <p:nvPr/>
          </p:nvSpPr>
          <p:spPr bwMode="auto">
            <a:xfrm>
              <a:off x="1096" y="2541"/>
              <a:ext cx="610" cy="179"/>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TaxInc</a:t>
              </a:r>
              <a:endParaRPr lang="en-US" altLang="en-US" sz="1600">
                <a:solidFill>
                  <a:schemeClr val="bg2"/>
                </a:solidFill>
              </a:endParaRPr>
            </a:p>
          </p:txBody>
        </p:sp>
        <p:sp>
          <p:nvSpPr>
            <p:cNvPr id="33808" name="AutoShape 13"/>
            <p:cNvSpPr>
              <a:spLocks noChangeArrowheads="1"/>
            </p:cNvSpPr>
            <p:nvPr/>
          </p:nvSpPr>
          <p:spPr bwMode="auto">
            <a:xfrm>
              <a:off x="1680" y="3038"/>
              <a:ext cx="395" cy="231"/>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3809" name="Text Box 14"/>
            <p:cNvSpPr txBox="1">
              <a:spLocks noChangeArrowheads="1"/>
            </p:cNvSpPr>
            <p:nvPr/>
          </p:nvSpPr>
          <p:spPr bwMode="auto">
            <a:xfrm>
              <a:off x="1632" y="3038"/>
              <a:ext cx="4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YES</a:t>
              </a:r>
              <a:endParaRPr lang="en-US" altLang="en-US" sz="1600">
                <a:solidFill>
                  <a:schemeClr val="bg2"/>
                </a:solidFill>
              </a:endParaRPr>
            </a:p>
          </p:txBody>
        </p:sp>
        <p:sp>
          <p:nvSpPr>
            <p:cNvPr id="33810" name="AutoShape 15"/>
            <p:cNvSpPr>
              <a:spLocks noChangeArrowheads="1"/>
            </p:cNvSpPr>
            <p:nvPr/>
          </p:nvSpPr>
          <p:spPr bwMode="auto">
            <a:xfrm>
              <a:off x="740" y="3049"/>
              <a:ext cx="412" cy="229"/>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3811" name="Text Box 16"/>
            <p:cNvSpPr txBox="1">
              <a:spLocks noChangeArrowheads="1"/>
            </p:cNvSpPr>
            <p:nvPr/>
          </p:nvSpPr>
          <p:spPr bwMode="auto">
            <a:xfrm>
              <a:off x="820" y="3040"/>
              <a:ext cx="26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3812" name="AutoShape 17"/>
            <p:cNvSpPr>
              <a:spLocks noChangeArrowheads="1"/>
            </p:cNvSpPr>
            <p:nvPr/>
          </p:nvSpPr>
          <p:spPr bwMode="auto">
            <a:xfrm>
              <a:off x="384" y="2051"/>
              <a:ext cx="432" cy="219"/>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3813" name="Text Box 18"/>
            <p:cNvSpPr txBox="1">
              <a:spLocks noChangeArrowheads="1"/>
            </p:cNvSpPr>
            <p:nvPr/>
          </p:nvSpPr>
          <p:spPr bwMode="auto">
            <a:xfrm>
              <a:off x="464" y="2042"/>
              <a:ext cx="26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rgbClr val="00FFFF"/>
                </a:solidFill>
              </a:endParaRPr>
            </a:p>
          </p:txBody>
        </p:sp>
        <p:sp>
          <p:nvSpPr>
            <p:cNvPr id="33814" name="AutoShape 19"/>
            <p:cNvSpPr>
              <a:spLocks noChangeArrowheads="1"/>
            </p:cNvSpPr>
            <p:nvPr/>
          </p:nvSpPr>
          <p:spPr bwMode="auto">
            <a:xfrm>
              <a:off x="2208" y="2558"/>
              <a:ext cx="432" cy="240"/>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3815" name="Text Box 20"/>
            <p:cNvSpPr txBox="1">
              <a:spLocks noChangeArrowheads="1"/>
            </p:cNvSpPr>
            <p:nvPr/>
          </p:nvSpPr>
          <p:spPr bwMode="auto">
            <a:xfrm>
              <a:off x="2276" y="2558"/>
              <a:ext cx="26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3816" name="Text Box 21"/>
            <p:cNvSpPr txBox="1">
              <a:spLocks noChangeArrowheads="1"/>
            </p:cNvSpPr>
            <p:nvPr/>
          </p:nvSpPr>
          <p:spPr bwMode="auto">
            <a:xfrm>
              <a:off x="510" y="1750"/>
              <a:ext cx="28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Yes</a:t>
              </a:r>
              <a:endParaRPr lang="en-US" altLang="en-US" sz="1600">
                <a:solidFill>
                  <a:schemeClr val="bg2"/>
                </a:solidFill>
              </a:endParaRPr>
            </a:p>
          </p:txBody>
        </p:sp>
        <p:sp>
          <p:nvSpPr>
            <p:cNvPr id="33817" name="Text Box 22"/>
            <p:cNvSpPr txBox="1">
              <a:spLocks noChangeArrowheads="1"/>
            </p:cNvSpPr>
            <p:nvPr/>
          </p:nvSpPr>
          <p:spPr bwMode="auto">
            <a:xfrm>
              <a:off x="1654" y="1750"/>
              <a:ext cx="25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No</a:t>
              </a:r>
              <a:endParaRPr lang="en-US" altLang="en-US" sz="1600">
                <a:solidFill>
                  <a:schemeClr val="bg2"/>
                </a:solidFill>
              </a:endParaRPr>
            </a:p>
          </p:txBody>
        </p:sp>
        <p:sp>
          <p:nvSpPr>
            <p:cNvPr id="33818" name="Text Box 23"/>
            <p:cNvSpPr txBox="1">
              <a:spLocks noChangeArrowheads="1"/>
            </p:cNvSpPr>
            <p:nvPr/>
          </p:nvSpPr>
          <p:spPr bwMode="auto">
            <a:xfrm>
              <a:off x="2301" y="2232"/>
              <a:ext cx="5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Married</a:t>
              </a:r>
              <a:r>
                <a:rPr lang="en-US" altLang="en-US" sz="1600">
                  <a:solidFill>
                    <a:schemeClr val="bg2"/>
                  </a:solidFill>
                </a:rPr>
                <a:t> </a:t>
              </a:r>
            </a:p>
          </p:txBody>
        </p:sp>
        <p:sp>
          <p:nvSpPr>
            <p:cNvPr id="33819" name="Text Box 24"/>
            <p:cNvSpPr txBox="1">
              <a:spLocks noChangeArrowheads="1"/>
            </p:cNvSpPr>
            <p:nvPr/>
          </p:nvSpPr>
          <p:spPr bwMode="auto">
            <a:xfrm>
              <a:off x="945" y="2250"/>
              <a:ext cx="95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Single, Divorced</a:t>
              </a:r>
              <a:endParaRPr lang="en-US" altLang="en-US" sz="1600">
                <a:solidFill>
                  <a:schemeClr val="bg2"/>
                </a:solidFill>
              </a:endParaRPr>
            </a:p>
          </p:txBody>
        </p:sp>
        <p:sp>
          <p:nvSpPr>
            <p:cNvPr id="33820" name="Text Box 25"/>
            <p:cNvSpPr txBox="1">
              <a:spLocks noChangeArrowheads="1"/>
            </p:cNvSpPr>
            <p:nvPr/>
          </p:nvSpPr>
          <p:spPr bwMode="auto">
            <a:xfrm>
              <a:off x="642" y="2749"/>
              <a:ext cx="42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&lt; 80K</a:t>
              </a:r>
              <a:endParaRPr lang="en-US" altLang="en-US" sz="1600">
                <a:solidFill>
                  <a:schemeClr val="bg2"/>
                </a:solidFill>
              </a:endParaRPr>
            </a:p>
          </p:txBody>
        </p:sp>
        <p:sp>
          <p:nvSpPr>
            <p:cNvPr id="33821" name="Text Box 26"/>
            <p:cNvSpPr txBox="1">
              <a:spLocks noChangeArrowheads="1"/>
            </p:cNvSpPr>
            <p:nvPr/>
          </p:nvSpPr>
          <p:spPr bwMode="auto">
            <a:xfrm>
              <a:off x="1760" y="2749"/>
              <a:ext cx="42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&gt; 80K</a:t>
              </a:r>
              <a:endParaRPr lang="en-US" altLang="en-US" sz="1600">
                <a:solidFill>
                  <a:schemeClr val="bg2"/>
                </a:solidFill>
              </a:endParaRPr>
            </a:p>
          </p:txBody>
        </p:sp>
      </p:grpSp>
      <p:graphicFrame>
        <p:nvGraphicFramePr>
          <p:cNvPr id="33796" name="Object 2"/>
          <p:cNvGraphicFramePr>
            <a:graphicFrameLocks noChangeAspect="1"/>
          </p:cNvGraphicFramePr>
          <p:nvPr>
            <p:extLst/>
          </p:nvPr>
        </p:nvGraphicFramePr>
        <p:xfrm>
          <a:off x="7081469" y="1661891"/>
          <a:ext cx="3343275" cy="1133475"/>
        </p:xfrm>
        <a:graphic>
          <a:graphicData uri="http://schemas.openxmlformats.org/presentationml/2006/ole">
            <mc:AlternateContent xmlns:mc="http://schemas.openxmlformats.org/markup-compatibility/2006">
              <mc:Choice xmlns:v="urn:schemas-microsoft-com:vml" Requires="v">
                <p:oleObj spid="_x0000_s7177" name="Document" r:id="rId4" imgW="4651248" imgH="1575816" progId="Word.Document.8">
                  <p:embed/>
                </p:oleObj>
              </mc:Choice>
              <mc:Fallback>
                <p:oleObj name="Document" r:id="rId4" imgW="4651248" imgH="15758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1469" y="1661891"/>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7" name="Text Box 28"/>
          <p:cNvSpPr txBox="1">
            <a:spLocks noChangeArrowheads="1"/>
          </p:cNvSpPr>
          <p:nvPr/>
        </p:nvSpPr>
        <p:spPr bwMode="auto">
          <a:xfrm>
            <a:off x="6897170" y="1340181"/>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lnSpc>
                <a:spcPct val="80000"/>
              </a:lnSpc>
              <a:spcBef>
                <a:spcPct val="20000"/>
              </a:spcBef>
              <a:buClr>
                <a:schemeClr val="accent2"/>
              </a:buClr>
              <a:buSzPct val="75000"/>
              <a:buFont typeface="Monotype Sorts" pitchFamily="2" charset="2"/>
              <a:buNone/>
            </a:pPr>
            <a:r>
              <a:rPr lang="en-US" altLang="en-US" sz="2000" dirty="0">
                <a:solidFill>
                  <a:schemeClr val="tx2"/>
                </a:solidFill>
              </a:rPr>
              <a:t>Test Data</a:t>
            </a:r>
            <a:endParaRPr lang="en-US" altLang="en-US" sz="2000" dirty="0">
              <a:solidFill>
                <a:schemeClr val="bg2"/>
              </a:solidFill>
            </a:endParaRPr>
          </a:p>
        </p:txBody>
      </p:sp>
      <p:sp>
        <p:nvSpPr>
          <p:cNvPr id="33798" name="Line 29"/>
          <p:cNvSpPr>
            <a:spLocks noChangeShapeType="1"/>
          </p:cNvSpPr>
          <p:nvPr/>
        </p:nvSpPr>
        <p:spPr bwMode="auto">
          <a:xfrm flipH="1">
            <a:off x="4795468" y="1890490"/>
            <a:ext cx="2362200" cy="6858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18</a:t>
            </a:fld>
            <a:endParaRPr lang="en-IN"/>
          </a:p>
        </p:txBody>
      </p:sp>
    </p:spTree>
    <p:extLst>
      <p:ext uri="{BB962C8B-B14F-4D97-AF65-F5344CB8AC3E}">
        <p14:creationId xmlns:p14="http://schemas.microsoft.com/office/powerpoint/2010/main" val="1116481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218883" y="152400"/>
            <a:ext cx="9751060" cy="933451"/>
          </a:xfrm>
        </p:spPr>
        <p:txBody>
          <a:bodyPr/>
          <a:lstStyle/>
          <a:p>
            <a:r>
              <a:rPr lang="en-US" altLang="en-US" b="1" dirty="0" smtClean="0">
                <a:solidFill>
                  <a:srgbClr val="C00000"/>
                </a:solidFill>
              </a:rPr>
              <a:t>Apply Model to Test Data</a:t>
            </a:r>
          </a:p>
        </p:txBody>
      </p:sp>
      <p:sp>
        <p:nvSpPr>
          <p:cNvPr id="34819" name="Line 3"/>
          <p:cNvSpPr>
            <a:spLocks noChangeShapeType="1"/>
          </p:cNvSpPr>
          <p:nvPr/>
        </p:nvSpPr>
        <p:spPr bwMode="auto">
          <a:xfrm>
            <a:off x="4421187"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20" name="Line 4"/>
          <p:cNvSpPr>
            <a:spLocks noChangeShapeType="1"/>
          </p:cNvSpPr>
          <p:nvPr/>
        </p:nvSpPr>
        <p:spPr bwMode="auto">
          <a:xfrm flipH="1">
            <a:off x="3181350"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21" name="Line 5"/>
          <p:cNvSpPr>
            <a:spLocks noChangeShapeType="1"/>
          </p:cNvSpPr>
          <p:nvPr/>
        </p:nvSpPr>
        <p:spPr bwMode="auto">
          <a:xfrm flipH="1">
            <a:off x="3889375" y="3576639"/>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22" name="Line 6"/>
          <p:cNvSpPr>
            <a:spLocks noChangeShapeType="1"/>
          </p:cNvSpPr>
          <p:nvPr/>
        </p:nvSpPr>
        <p:spPr bwMode="auto">
          <a:xfrm>
            <a:off x="5218113" y="3576639"/>
            <a:ext cx="531813"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23" name="Line 7"/>
          <p:cNvSpPr>
            <a:spLocks noChangeShapeType="1"/>
          </p:cNvSpPr>
          <p:nvPr/>
        </p:nvSpPr>
        <p:spPr bwMode="auto">
          <a:xfrm>
            <a:off x="4067175" y="2686051"/>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24" name="Line 8"/>
          <p:cNvSpPr>
            <a:spLocks noChangeShapeType="1"/>
          </p:cNvSpPr>
          <p:nvPr/>
        </p:nvSpPr>
        <p:spPr bwMode="auto">
          <a:xfrm flipH="1">
            <a:off x="2562226" y="2686051"/>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25" name="Text Box 9"/>
          <p:cNvSpPr txBox="1">
            <a:spLocks noChangeArrowheads="1"/>
          </p:cNvSpPr>
          <p:nvPr/>
        </p:nvSpPr>
        <p:spPr bwMode="auto">
          <a:xfrm>
            <a:off x="3128963" y="2362200"/>
            <a:ext cx="1027113"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Refund</a:t>
            </a:r>
            <a:endParaRPr lang="en-US" altLang="en-US" sz="1600">
              <a:solidFill>
                <a:schemeClr val="bg2"/>
              </a:solidFill>
            </a:endParaRPr>
          </a:p>
        </p:txBody>
      </p:sp>
      <p:sp>
        <p:nvSpPr>
          <p:cNvPr id="34826" name="Text Box 10"/>
          <p:cNvSpPr txBox="1">
            <a:spLocks noChangeArrowheads="1"/>
          </p:cNvSpPr>
          <p:nvPr/>
        </p:nvSpPr>
        <p:spPr bwMode="auto">
          <a:xfrm>
            <a:off x="4243388" y="3254376"/>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MarSt</a:t>
            </a:r>
            <a:endParaRPr lang="en-US" altLang="en-US" sz="1600">
              <a:solidFill>
                <a:schemeClr val="bg2"/>
              </a:solidFill>
            </a:endParaRPr>
          </a:p>
        </p:txBody>
      </p:sp>
      <p:sp>
        <p:nvSpPr>
          <p:cNvPr id="34827" name="Text Box 11"/>
          <p:cNvSpPr txBox="1">
            <a:spLocks noChangeArrowheads="1"/>
          </p:cNvSpPr>
          <p:nvPr/>
        </p:nvSpPr>
        <p:spPr bwMode="auto">
          <a:xfrm>
            <a:off x="3448051"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TaxInc</a:t>
            </a:r>
            <a:endParaRPr lang="en-US" altLang="en-US" sz="1600">
              <a:solidFill>
                <a:schemeClr val="bg2"/>
              </a:solidFill>
            </a:endParaRPr>
          </a:p>
        </p:txBody>
      </p:sp>
      <p:sp>
        <p:nvSpPr>
          <p:cNvPr id="34828" name="AutoShape 12"/>
          <p:cNvSpPr>
            <a:spLocks noChangeArrowheads="1"/>
          </p:cNvSpPr>
          <p:nvPr/>
        </p:nvSpPr>
        <p:spPr bwMode="auto">
          <a:xfrm>
            <a:off x="4464051" y="5194301"/>
            <a:ext cx="688975" cy="44926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4829" name="Text Box 13"/>
          <p:cNvSpPr txBox="1">
            <a:spLocks noChangeArrowheads="1"/>
          </p:cNvSpPr>
          <p:nvPr/>
        </p:nvSpPr>
        <p:spPr bwMode="auto">
          <a:xfrm>
            <a:off x="4381501" y="5194300"/>
            <a:ext cx="750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YES</a:t>
            </a:r>
            <a:endParaRPr lang="en-US" altLang="en-US" sz="1600">
              <a:solidFill>
                <a:schemeClr val="bg2"/>
              </a:solidFill>
            </a:endParaRPr>
          </a:p>
        </p:txBody>
      </p:sp>
      <p:sp>
        <p:nvSpPr>
          <p:cNvPr id="34830" name="AutoShape 14"/>
          <p:cNvSpPr>
            <a:spLocks noChangeArrowheads="1"/>
          </p:cNvSpPr>
          <p:nvPr/>
        </p:nvSpPr>
        <p:spPr bwMode="auto">
          <a:xfrm>
            <a:off x="2827337" y="5214939"/>
            <a:ext cx="717550" cy="44608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4831" name="Text Box 15"/>
          <p:cNvSpPr txBox="1">
            <a:spLocks noChangeArrowheads="1"/>
          </p:cNvSpPr>
          <p:nvPr/>
        </p:nvSpPr>
        <p:spPr bwMode="auto">
          <a:xfrm>
            <a:off x="2968590" y="51974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4832" name="AutoShape 16"/>
          <p:cNvSpPr>
            <a:spLocks noChangeArrowheads="1"/>
          </p:cNvSpPr>
          <p:nvPr/>
        </p:nvSpPr>
        <p:spPr bwMode="auto">
          <a:xfrm>
            <a:off x="2208213" y="3271839"/>
            <a:ext cx="752475" cy="4270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4833" name="Text Box 17"/>
          <p:cNvSpPr txBox="1">
            <a:spLocks noChangeArrowheads="1"/>
          </p:cNvSpPr>
          <p:nvPr/>
        </p:nvSpPr>
        <p:spPr bwMode="auto">
          <a:xfrm>
            <a:off x="2347878" y="32543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rgbClr val="00FFFF"/>
              </a:solidFill>
            </a:endParaRPr>
          </a:p>
        </p:txBody>
      </p:sp>
      <p:sp>
        <p:nvSpPr>
          <p:cNvPr id="34834" name="AutoShape 18"/>
          <p:cNvSpPr>
            <a:spLocks noChangeArrowheads="1"/>
          </p:cNvSpPr>
          <p:nvPr/>
        </p:nvSpPr>
        <p:spPr bwMode="auto">
          <a:xfrm>
            <a:off x="5383213" y="4259264"/>
            <a:ext cx="752475" cy="466725"/>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4835" name="Text Box 19"/>
          <p:cNvSpPr txBox="1">
            <a:spLocks noChangeArrowheads="1"/>
          </p:cNvSpPr>
          <p:nvPr/>
        </p:nvSpPr>
        <p:spPr bwMode="auto">
          <a:xfrm>
            <a:off x="5503034" y="4259263"/>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4836" name="Text Box 20"/>
          <p:cNvSpPr txBox="1">
            <a:spLocks noChangeArrowheads="1"/>
          </p:cNvSpPr>
          <p:nvPr/>
        </p:nvSpPr>
        <p:spPr bwMode="auto">
          <a:xfrm>
            <a:off x="2426489" y="2686050"/>
            <a:ext cx="489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Yes</a:t>
            </a:r>
            <a:endParaRPr lang="en-US" altLang="en-US" sz="1600">
              <a:solidFill>
                <a:schemeClr val="bg2"/>
              </a:solidFill>
            </a:endParaRPr>
          </a:p>
        </p:txBody>
      </p:sp>
      <p:sp>
        <p:nvSpPr>
          <p:cNvPr id="34837" name="Text Box 21"/>
          <p:cNvSpPr txBox="1">
            <a:spLocks noChangeArrowheads="1"/>
          </p:cNvSpPr>
          <p:nvPr/>
        </p:nvSpPr>
        <p:spPr bwMode="auto">
          <a:xfrm>
            <a:off x="4419600" y="268605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solidFill>
                  <a:srgbClr val="FF0000"/>
                </a:solidFill>
              </a:rPr>
              <a:t>No</a:t>
            </a:r>
          </a:p>
        </p:txBody>
      </p:sp>
      <p:sp>
        <p:nvSpPr>
          <p:cNvPr id="34838" name="Text Box 22"/>
          <p:cNvSpPr txBox="1">
            <a:spLocks noChangeArrowheads="1"/>
          </p:cNvSpPr>
          <p:nvPr/>
        </p:nvSpPr>
        <p:spPr bwMode="auto">
          <a:xfrm>
            <a:off x="5545138" y="3624263"/>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Married</a:t>
            </a:r>
            <a:r>
              <a:rPr lang="en-US" altLang="en-US" sz="1600">
                <a:solidFill>
                  <a:schemeClr val="bg2"/>
                </a:solidFill>
              </a:rPr>
              <a:t> </a:t>
            </a:r>
          </a:p>
        </p:txBody>
      </p:sp>
      <p:sp>
        <p:nvSpPr>
          <p:cNvPr id="34839" name="Text Box 23"/>
          <p:cNvSpPr txBox="1">
            <a:spLocks noChangeArrowheads="1"/>
          </p:cNvSpPr>
          <p:nvPr/>
        </p:nvSpPr>
        <p:spPr bwMode="auto">
          <a:xfrm>
            <a:off x="3184526" y="365918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Single, Divorced</a:t>
            </a:r>
            <a:endParaRPr lang="en-US" altLang="en-US" sz="1600">
              <a:solidFill>
                <a:schemeClr val="bg2"/>
              </a:solidFill>
            </a:endParaRPr>
          </a:p>
        </p:txBody>
      </p:sp>
      <p:sp>
        <p:nvSpPr>
          <p:cNvPr id="34840" name="Text Box 24"/>
          <p:cNvSpPr txBox="1">
            <a:spLocks noChangeArrowheads="1"/>
          </p:cNvSpPr>
          <p:nvPr/>
        </p:nvSpPr>
        <p:spPr bwMode="auto">
          <a:xfrm>
            <a:off x="2656327" y="4630738"/>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&lt; 80K</a:t>
            </a:r>
            <a:endParaRPr lang="en-US" altLang="en-US" sz="1600">
              <a:solidFill>
                <a:schemeClr val="bg2"/>
              </a:solidFill>
            </a:endParaRPr>
          </a:p>
        </p:txBody>
      </p:sp>
      <p:sp>
        <p:nvSpPr>
          <p:cNvPr id="34841" name="Text Box 25"/>
          <p:cNvSpPr txBox="1">
            <a:spLocks noChangeArrowheads="1"/>
          </p:cNvSpPr>
          <p:nvPr/>
        </p:nvSpPr>
        <p:spPr bwMode="auto">
          <a:xfrm>
            <a:off x="4602602" y="4630738"/>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&gt; 80K</a:t>
            </a:r>
            <a:endParaRPr lang="en-US" altLang="en-US" sz="1600">
              <a:solidFill>
                <a:schemeClr val="bg2"/>
              </a:solidFill>
            </a:endParaRPr>
          </a:p>
        </p:txBody>
      </p:sp>
      <p:graphicFrame>
        <p:nvGraphicFramePr>
          <p:cNvPr id="34842" name="Object 2"/>
          <p:cNvGraphicFramePr>
            <a:graphicFrameLocks noChangeAspect="1"/>
          </p:cNvGraphicFramePr>
          <p:nvPr/>
        </p:nvGraphicFramePr>
        <p:xfrm>
          <a:off x="6475413" y="1600201"/>
          <a:ext cx="3343275" cy="1133475"/>
        </p:xfrm>
        <a:graphic>
          <a:graphicData uri="http://schemas.openxmlformats.org/presentationml/2006/ole">
            <mc:AlternateContent xmlns:mc="http://schemas.openxmlformats.org/markup-compatibility/2006">
              <mc:Choice xmlns:v="urn:schemas-microsoft-com:vml" Requires="v">
                <p:oleObj spid="_x0000_s8201" name="Document" r:id="rId4" imgW="4651248" imgH="1575816" progId="Word.Document.8">
                  <p:embed/>
                </p:oleObj>
              </mc:Choice>
              <mc:Fallback>
                <p:oleObj name="Document" r:id="rId4" imgW="4651248" imgH="15758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5413" y="1600201"/>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43" name="Text Box 27"/>
          <p:cNvSpPr txBox="1">
            <a:spLocks noChangeArrowheads="1"/>
          </p:cNvSpPr>
          <p:nvPr/>
        </p:nvSpPr>
        <p:spPr bwMode="auto">
          <a:xfrm>
            <a:off x="6323012" y="1143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lnSpc>
                <a:spcPct val="80000"/>
              </a:lnSpc>
              <a:spcBef>
                <a:spcPct val="20000"/>
              </a:spcBef>
              <a:buClr>
                <a:schemeClr val="accent2"/>
              </a:buClr>
              <a:buSzPct val="75000"/>
              <a:buFont typeface="Monotype Sorts" pitchFamily="2" charset="2"/>
              <a:buNone/>
            </a:pPr>
            <a:r>
              <a:rPr lang="en-US" altLang="en-US" sz="2000">
                <a:solidFill>
                  <a:schemeClr val="tx2"/>
                </a:solidFill>
              </a:rPr>
              <a:t>Test Data</a:t>
            </a:r>
            <a:endParaRPr lang="en-US" altLang="en-US" sz="2000">
              <a:solidFill>
                <a:schemeClr val="bg2"/>
              </a:solidFill>
            </a:endParaRPr>
          </a:p>
        </p:txBody>
      </p:sp>
      <p:sp>
        <p:nvSpPr>
          <p:cNvPr id="34844" name="Line 28"/>
          <p:cNvSpPr>
            <a:spLocks noChangeShapeType="1"/>
          </p:cNvSpPr>
          <p:nvPr/>
        </p:nvSpPr>
        <p:spPr bwMode="auto">
          <a:xfrm flipH="1">
            <a:off x="4875212" y="2362200"/>
            <a:ext cx="1600200" cy="457200"/>
          </a:xfrm>
          <a:prstGeom prst="line">
            <a:avLst/>
          </a:prstGeom>
          <a:noFill/>
          <a:ln w="15875">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19</a:t>
            </a:fld>
            <a:endParaRPr lang="en-IN"/>
          </a:p>
        </p:txBody>
      </p:sp>
    </p:spTree>
    <p:extLst>
      <p:ext uri="{BB962C8B-B14F-4D97-AF65-F5344CB8AC3E}">
        <p14:creationId xmlns:p14="http://schemas.microsoft.com/office/powerpoint/2010/main" val="24643060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218883" y="152400"/>
            <a:ext cx="9751060" cy="990599"/>
          </a:xfrm>
        </p:spPr>
        <p:txBody>
          <a:bodyPr/>
          <a:lstStyle/>
          <a:p>
            <a:r>
              <a:rPr lang="en-US" altLang="en-US" b="1" dirty="0" smtClean="0">
                <a:solidFill>
                  <a:srgbClr val="C00000"/>
                </a:solidFill>
              </a:rPr>
              <a:t>Apply Model to Test Data</a:t>
            </a:r>
          </a:p>
        </p:txBody>
      </p:sp>
      <p:sp>
        <p:nvSpPr>
          <p:cNvPr id="35843" name="Line 3"/>
          <p:cNvSpPr>
            <a:spLocks noChangeShapeType="1"/>
          </p:cNvSpPr>
          <p:nvPr/>
        </p:nvSpPr>
        <p:spPr bwMode="auto">
          <a:xfrm>
            <a:off x="4421187"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4" name="Line 4"/>
          <p:cNvSpPr>
            <a:spLocks noChangeShapeType="1"/>
          </p:cNvSpPr>
          <p:nvPr/>
        </p:nvSpPr>
        <p:spPr bwMode="auto">
          <a:xfrm flipH="1">
            <a:off x="3181350"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5" name="Line 5"/>
          <p:cNvSpPr>
            <a:spLocks noChangeShapeType="1"/>
          </p:cNvSpPr>
          <p:nvPr/>
        </p:nvSpPr>
        <p:spPr bwMode="auto">
          <a:xfrm flipH="1">
            <a:off x="3889375" y="3576639"/>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6" name="Line 6"/>
          <p:cNvSpPr>
            <a:spLocks noChangeShapeType="1"/>
          </p:cNvSpPr>
          <p:nvPr/>
        </p:nvSpPr>
        <p:spPr bwMode="auto">
          <a:xfrm>
            <a:off x="5218113" y="3576639"/>
            <a:ext cx="531813"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7" name="Line 7"/>
          <p:cNvSpPr>
            <a:spLocks noChangeShapeType="1"/>
          </p:cNvSpPr>
          <p:nvPr/>
        </p:nvSpPr>
        <p:spPr bwMode="auto">
          <a:xfrm>
            <a:off x="4067175" y="2686051"/>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8" name="Line 8"/>
          <p:cNvSpPr>
            <a:spLocks noChangeShapeType="1"/>
          </p:cNvSpPr>
          <p:nvPr/>
        </p:nvSpPr>
        <p:spPr bwMode="auto">
          <a:xfrm flipH="1">
            <a:off x="2562226" y="2686051"/>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849" name="Text Box 9"/>
          <p:cNvSpPr txBox="1">
            <a:spLocks noChangeArrowheads="1"/>
          </p:cNvSpPr>
          <p:nvPr/>
        </p:nvSpPr>
        <p:spPr bwMode="auto">
          <a:xfrm>
            <a:off x="3128963" y="2362200"/>
            <a:ext cx="1027113"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Refund</a:t>
            </a:r>
            <a:endParaRPr lang="en-US" altLang="en-US" sz="1600">
              <a:solidFill>
                <a:schemeClr val="bg2"/>
              </a:solidFill>
            </a:endParaRPr>
          </a:p>
        </p:txBody>
      </p:sp>
      <p:sp>
        <p:nvSpPr>
          <p:cNvPr id="35850" name="Text Box 10"/>
          <p:cNvSpPr txBox="1">
            <a:spLocks noChangeArrowheads="1"/>
          </p:cNvSpPr>
          <p:nvPr/>
        </p:nvSpPr>
        <p:spPr bwMode="auto">
          <a:xfrm>
            <a:off x="4243388" y="3254376"/>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MarSt</a:t>
            </a:r>
            <a:endParaRPr lang="en-US" altLang="en-US" sz="1600">
              <a:solidFill>
                <a:schemeClr val="bg2"/>
              </a:solidFill>
            </a:endParaRPr>
          </a:p>
        </p:txBody>
      </p:sp>
      <p:sp>
        <p:nvSpPr>
          <p:cNvPr id="35851" name="Text Box 11"/>
          <p:cNvSpPr txBox="1">
            <a:spLocks noChangeArrowheads="1"/>
          </p:cNvSpPr>
          <p:nvPr/>
        </p:nvSpPr>
        <p:spPr bwMode="auto">
          <a:xfrm>
            <a:off x="3448051"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TaxInc</a:t>
            </a:r>
            <a:endParaRPr lang="en-US" altLang="en-US" sz="1600">
              <a:solidFill>
                <a:schemeClr val="bg2"/>
              </a:solidFill>
            </a:endParaRPr>
          </a:p>
        </p:txBody>
      </p:sp>
      <p:sp>
        <p:nvSpPr>
          <p:cNvPr id="35852" name="AutoShape 12"/>
          <p:cNvSpPr>
            <a:spLocks noChangeArrowheads="1"/>
          </p:cNvSpPr>
          <p:nvPr/>
        </p:nvSpPr>
        <p:spPr bwMode="auto">
          <a:xfrm>
            <a:off x="4464051" y="5194301"/>
            <a:ext cx="688975" cy="44926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5853" name="Text Box 13"/>
          <p:cNvSpPr txBox="1">
            <a:spLocks noChangeArrowheads="1"/>
          </p:cNvSpPr>
          <p:nvPr/>
        </p:nvSpPr>
        <p:spPr bwMode="auto">
          <a:xfrm>
            <a:off x="4381501" y="5194300"/>
            <a:ext cx="750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YES</a:t>
            </a:r>
            <a:endParaRPr lang="en-US" altLang="en-US" sz="1600">
              <a:solidFill>
                <a:schemeClr val="bg2"/>
              </a:solidFill>
            </a:endParaRPr>
          </a:p>
        </p:txBody>
      </p:sp>
      <p:sp>
        <p:nvSpPr>
          <p:cNvPr id="35854" name="AutoShape 14"/>
          <p:cNvSpPr>
            <a:spLocks noChangeArrowheads="1"/>
          </p:cNvSpPr>
          <p:nvPr/>
        </p:nvSpPr>
        <p:spPr bwMode="auto">
          <a:xfrm>
            <a:off x="2827337" y="5214939"/>
            <a:ext cx="717550" cy="44608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5855" name="Text Box 15"/>
          <p:cNvSpPr txBox="1">
            <a:spLocks noChangeArrowheads="1"/>
          </p:cNvSpPr>
          <p:nvPr/>
        </p:nvSpPr>
        <p:spPr bwMode="auto">
          <a:xfrm>
            <a:off x="2968590" y="51974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5856" name="AutoShape 16"/>
          <p:cNvSpPr>
            <a:spLocks noChangeArrowheads="1"/>
          </p:cNvSpPr>
          <p:nvPr/>
        </p:nvSpPr>
        <p:spPr bwMode="auto">
          <a:xfrm>
            <a:off x="2208213" y="3271839"/>
            <a:ext cx="752475" cy="4270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5857" name="Text Box 17"/>
          <p:cNvSpPr txBox="1">
            <a:spLocks noChangeArrowheads="1"/>
          </p:cNvSpPr>
          <p:nvPr/>
        </p:nvSpPr>
        <p:spPr bwMode="auto">
          <a:xfrm>
            <a:off x="2347878" y="32543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rgbClr val="00FFFF"/>
              </a:solidFill>
            </a:endParaRPr>
          </a:p>
        </p:txBody>
      </p:sp>
      <p:sp>
        <p:nvSpPr>
          <p:cNvPr id="35858" name="AutoShape 18"/>
          <p:cNvSpPr>
            <a:spLocks noChangeArrowheads="1"/>
          </p:cNvSpPr>
          <p:nvPr/>
        </p:nvSpPr>
        <p:spPr bwMode="auto">
          <a:xfrm>
            <a:off x="5383213" y="4259264"/>
            <a:ext cx="752475" cy="466725"/>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5859" name="Text Box 19"/>
          <p:cNvSpPr txBox="1">
            <a:spLocks noChangeArrowheads="1"/>
          </p:cNvSpPr>
          <p:nvPr/>
        </p:nvSpPr>
        <p:spPr bwMode="auto">
          <a:xfrm>
            <a:off x="5503034" y="4259263"/>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5860" name="Text Box 20"/>
          <p:cNvSpPr txBox="1">
            <a:spLocks noChangeArrowheads="1"/>
          </p:cNvSpPr>
          <p:nvPr/>
        </p:nvSpPr>
        <p:spPr bwMode="auto">
          <a:xfrm>
            <a:off x="2426489" y="2686050"/>
            <a:ext cx="489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Yes</a:t>
            </a:r>
            <a:endParaRPr lang="en-US" altLang="en-US" sz="1600">
              <a:solidFill>
                <a:schemeClr val="bg2"/>
              </a:solidFill>
            </a:endParaRPr>
          </a:p>
        </p:txBody>
      </p:sp>
      <p:sp>
        <p:nvSpPr>
          <p:cNvPr id="35861" name="Text Box 21"/>
          <p:cNvSpPr txBox="1">
            <a:spLocks noChangeArrowheads="1"/>
          </p:cNvSpPr>
          <p:nvPr/>
        </p:nvSpPr>
        <p:spPr bwMode="auto">
          <a:xfrm>
            <a:off x="4419600" y="268605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solidFill>
                  <a:srgbClr val="FF0000"/>
                </a:solidFill>
              </a:rPr>
              <a:t>No</a:t>
            </a:r>
          </a:p>
        </p:txBody>
      </p:sp>
      <p:sp>
        <p:nvSpPr>
          <p:cNvPr id="35862" name="Text Box 22"/>
          <p:cNvSpPr txBox="1">
            <a:spLocks noChangeArrowheads="1"/>
          </p:cNvSpPr>
          <p:nvPr/>
        </p:nvSpPr>
        <p:spPr bwMode="auto">
          <a:xfrm>
            <a:off x="5545138" y="3624263"/>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Married</a:t>
            </a:r>
            <a:r>
              <a:rPr lang="en-US" altLang="en-US" sz="1600">
                <a:solidFill>
                  <a:schemeClr val="bg2"/>
                </a:solidFill>
              </a:rPr>
              <a:t> </a:t>
            </a:r>
          </a:p>
        </p:txBody>
      </p:sp>
      <p:sp>
        <p:nvSpPr>
          <p:cNvPr id="35863" name="Text Box 23"/>
          <p:cNvSpPr txBox="1">
            <a:spLocks noChangeArrowheads="1"/>
          </p:cNvSpPr>
          <p:nvPr/>
        </p:nvSpPr>
        <p:spPr bwMode="auto">
          <a:xfrm>
            <a:off x="3184526" y="365918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Single, Divorced</a:t>
            </a:r>
            <a:endParaRPr lang="en-US" altLang="en-US" sz="1600">
              <a:solidFill>
                <a:schemeClr val="bg2"/>
              </a:solidFill>
            </a:endParaRPr>
          </a:p>
        </p:txBody>
      </p:sp>
      <p:sp>
        <p:nvSpPr>
          <p:cNvPr id="35864" name="Text Box 24"/>
          <p:cNvSpPr txBox="1">
            <a:spLocks noChangeArrowheads="1"/>
          </p:cNvSpPr>
          <p:nvPr/>
        </p:nvSpPr>
        <p:spPr bwMode="auto">
          <a:xfrm>
            <a:off x="2656327" y="4630738"/>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&lt; 80K</a:t>
            </a:r>
            <a:endParaRPr lang="en-US" altLang="en-US" sz="1600">
              <a:solidFill>
                <a:schemeClr val="bg2"/>
              </a:solidFill>
            </a:endParaRPr>
          </a:p>
        </p:txBody>
      </p:sp>
      <p:sp>
        <p:nvSpPr>
          <p:cNvPr id="35865" name="Text Box 25"/>
          <p:cNvSpPr txBox="1">
            <a:spLocks noChangeArrowheads="1"/>
          </p:cNvSpPr>
          <p:nvPr/>
        </p:nvSpPr>
        <p:spPr bwMode="auto">
          <a:xfrm>
            <a:off x="4602602" y="4630738"/>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&gt; 80K</a:t>
            </a:r>
            <a:endParaRPr lang="en-US" altLang="en-US" sz="1600">
              <a:solidFill>
                <a:schemeClr val="bg2"/>
              </a:solidFill>
            </a:endParaRPr>
          </a:p>
        </p:txBody>
      </p:sp>
      <p:graphicFrame>
        <p:nvGraphicFramePr>
          <p:cNvPr id="35866" name="Object 2"/>
          <p:cNvGraphicFramePr>
            <a:graphicFrameLocks noChangeAspect="1"/>
          </p:cNvGraphicFramePr>
          <p:nvPr/>
        </p:nvGraphicFramePr>
        <p:xfrm>
          <a:off x="6475413" y="1600201"/>
          <a:ext cx="3343275" cy="1133475"/>
        </p:xfrm>
        <a:graphic>
          <a:graphicData uri="http://schemas.openxmlformats.org/presentationml/2006/ole">
            <mc:AlternateContent xmlns:mc="http://schemas.openxmlformats.org/markup-compatibility/2006">
              <mc:Choice xmlns:v="urn:schemas-microsoft-com:vml" Requires="v">
                <p:oleObj spid="_x0000_s9225" name="Document" r:id="rId4" imgW="4651248" imgH="1575816" progId="Word.Document.8">
                  <p:embed/>
                </p:oleObj>
              </mc:Choice>
              <mc:Fallback>
                <p:oleObj name="Document" r:id="rId4" imgW="4651248" imgH="15758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5413" y="1600201"/>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67" name="Text Box 27"/>
          <p:cNvSpPr txBox="1">
            <a:spLocks noChangeArrowheads="1"/>
          </p:cNvSpPr>
          <p:nvPr/>
        </p:nvSpPr>
        <p:spPr bwMode="auto">
          <a:xfrm>
            <a:off x="6323012" y="1143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lnSpc>
                <a:spcPct val="80000"/>
              </a:lnSpc>
              <a:spcBef>
                <a:spcPct val="20000"/>
              </a:spcBef>
              <a:buClr>
                <a:schemeClr val="accent2"/>
              </a:buClr>
              <a:buSzPct val="75000"/>
              <a:buFont typeface="Monotype Sorts" pitchFamily="2" charset="2"/>
              <a:buNone/>
            </a:pPr>
            <a:r>
              <a:rPr lang="en-US" altLang="en-US" sz="2000" dirty="0">
                <a:solidFill>
                  <a:schemeClr val="tx2"/>
                </a:solidFill>
              </a:rPr>
              <a:t>Test Data</a:t>
            </a:r>
            <a:endParaRPr lang="en-US" altLang="en-US" sz="2000" dirty="0">
              <a:solidFill>
                <a:schemeClr val="bg2"/>
              </a:solidFill>
            </a:endParaRPr>
          </a:p>
        </p:txBody>
      </p:sp>
      <p:sp>
        <p:nvSpPr>
          <p:cNvPr id="35868" name="Line 28"/>
          <p:cNvSpPr>
            <a:spLocks noChangeShapeType="1"/>
          </p:cNvSpPr>
          <p:nvPr/>
        </p:nvSpPr>
        <p:spPr bwMode="auto">
          <a:xfrm flipH="1">
            <a:off x="5332412" y="2057400"/>
            <a:ext cx="2057400" cy="12954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20</a:t>
            </a:fld>
            <a:endParaRPr lang="en-IN"/>
          </a:p>
        </p:txBody>
      </p:sp>
    </p:spTree>
    <p:extLst>
      <p:ext uri="{BB962C8B-B14F-4D97-AF65-F5344CB8AC3E}">
        <p14:creationId xmlns:p14="http://schemas.microsoft.com/office/powerpoint/2010/main" val="217385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218883" y="152400"/>
            <a:ext cx="9751060" cy="933451"/>
          </a:xfrm>
        </p:spPr>
        <p:txBody>
          <a:bodyPr/>
          <a:lstStyle/>
          <a:p>
            <a:r>
              <a:rPr lang="en-US" altLang="en-US" dirty="0" smtClean="0"/>
              <a:t>Apply Model to Test Data</a:t>
            </a:r>
          </a:p>
        </p:txBody>
      </p:sp>
      <p:sp>
        <p:nvSpPr>
          <p:cNvPr id="36867" name="Line 3"/>
          <p:cNvSpPr>
            <a:spLocks noChangeShapeType="1"/>
          </p:cNvSpPr>
          <p:nvPr/>
        </p:nvSpPr>
        <p:spPr bwMode="auto">
          <a:xfrm>
            <a:off x="4421187"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68" name="Line 4"/>
          <p:cNvSpPr>
            <a:spLocks noChangeShapeType="1"/>
          </p:cNvSpPr>
          <p:nvPr/>
        </p:nvSpPr>
        <p:spPr bwMode="auto">
          <a:xfrm flipH="1">
            <a:off x="3181350"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69" name="Line 5"/>
          <p:cNvSpPr>
            <a:spLocks noChangeShapeType="1"/>
          </p:cNvSpPr>
          <p:nvPr/>
        </p:nvSpPr>
        <p:spPr bwMode="auto">
          <a:xfrm flipH="1">
            <a:off x="3889375" y="3576639"/>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70" name="Line 6"/>
          <p:cNvSpPr>
            <a:spLocks noChangeShapeType="1"/>
          </p:cNvSpPr>
          <p:nvPr/>
        </p:nvSpPr>
        <p:spPr bwMode="auto">
          <a:xfrm>
            <a:off x="5218113" y="3576639"/>
            <a:ext cx="531813" cy="6492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71" name="Line 7"/>
          <p:cNvSpPr>
            <a:spLocks noChangeShapeType="1"/>
          </p:cNvSpPr>
          <p:nvPr/>
        </p:nvSpPr>
        <p:spPr bwMode="auto">
          <a:xfrm>
            <a:off x="4067175" y="2686051"/>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72" name="Line 8"/>
          <p:cNvSpPr>
            <a:spLocks noChangeShapeType="1"/>
          </p:cNvSpPr>
          <p:nvPr/>
        </p:nvSpPr>
        <p:spPr bwMode="auto">
          <a:xfrm flipH="1">
            <a:off x="2562226" y="2686051"/>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6873" name="Text Box 9"/>
          <p:cNvSpPr txBox="1">
            <a:spLocks noChangeArrowheads="1"/>
          </p:cNvSpPr>
          <p:nvPr/>
        </p:nvSpPr>
        <p:spPr bwMode="auto">
          <a:xfrm>
            <a:off x="3128963" y="2362200"/>
            <a:ext cx="1027113"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Refund</a:t>
            </a:r>
            <a:endParaRPr lang="en-US" altLang="en-US" sz="1600">
              <a:solidFill>
                <a:schemeClr val="bg2"/>
              </a:solidFill>
            </a:endParaRPr>
          </a:p>
        </p:txBody>
      </p:sp>
      <p:sp>
        <p:nvSpPr>
          <p:cNvPr id="36874" name="Text Box 10"/>
          <p:cNvSpPr txBox="1">
            <a:spLocks noChangeArrowheads="1"/>
          </p:cNvSpPr>
          <p:nvPr/>
        </p:nvSpPr>
        <p:spPr bwMode="auto">
          <a:xfrm>
            <a:off x="4243388" y="3254376"/>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MarSt</a:t>
            </a:r>
            <a:endParaRPr lang="en-US" altLang="en-US" sz="1600">
              <a:solidFill>
                <a:schemeClr val="bg2"/>
              </a:solidFill>
            </a:endParaRPr>
          </a:p>
        </p:txBody>
      </p:sp>
      <p:sp>
        <p:nvSpPr>
          <p:cNvPr id="36875" name="Text Box 11"/>
          <p:cNvSpPr txBox="1">
            <a:spLocks noChangeArrowheads="1"/>
          </p:cNvSpPr>
          <p:nvPr/>
        </p:nvSpPr>
        <p:spPr bwMode="auto">
          <a:xfrm>
            <a:off x="3448051"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TaxInc</a:t>
            </a:r>
            <a:endParaRPr lang="en-US" altLang="en-US" sz="1600">
              <a:solidFill>
                <a:schemeClr val="bg2"/>
              </a:solidFill>
            </a:endParaRPr>
          </a:p>
        </p:txBody>
      </p:sp>
      <p:sp>
        <p:nvSpPr>
          <p:cNvPr id="36876" name="AutoShape 12"/>
          <p:cNvSpPr>
            <a:spLocks noChangeArrowheads="1"/>
          </p:cNvSpPr>
          <p:nvPr/>
        </p:nvSpPr>
        <p:spPr bwMode="auto">
          <a:xfrm>
            <a:off x="4464051" y="5194301"/>
            <a:ext cx="688975" cy="44926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6877" name="Text Box 13"/>
          <p:cNvSpPr txBox="1">
            <a:spLocks noChangeArrowheads="1"/>
          </p:cNvSpPr>
          <p:nvPr/>
        </p:nvSpPr>
        <p:spPr bwMode="auto">
          <a:xfrm>
            <a:off x="4381501" y="5194300"/>
            <a:ext cx="750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YES</a:t>
            </a:r>
            <a:endParaRPr lang="en-US" altLang="en-US" sz="1600">
              <a:solidFill>
                <a:schemeClr val="bg2"/>
              </a:solidFill>
            </a:endParaRPr>
          </a:p>
        </p:txBody>
      </p:sp>
      <p:sp>
        <p:nvSpPr>
          <p:cNvPr id="36878" name="AutoShape 14"/>
          <p:cNvSpPr>
            <a:spLocks noChangeArrowheads="1"/>
          </p:cNvSpPr>
          <p:nvPr/>
        </p:nvSpPr>
        <p:spPr bwMode="auto">
          <a:xfrm>
            <a:off x="2827337" y="5214939"/>
            <a:ext cx="717550" cy="44608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6879" name="Text Box 15"/>
          <p:cNvSpPr txBox="1">
            <a:spLocks noChangeArrowheads="1"/>
          </p:cNvSpPr>
          <p:nvPr/>
        </p:nvSpPr>
        <p:spPr bwMode="auto">
          <a:xfrm>
            <a:off x="2968590" y="51974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6880" name="AutoShape 16"/>
          <p:cNvSpPr>
            <a:spLocks noChangeArrowheads="1"/>
          </p:cNvSpPr>
          <p:nvPr/>
        </p:nvSpPr>
        <p:spPr bwMode="auto">
          <a:xfrm>
            <a:off x="2208213" y="3271839"/>
            <a:ext cx="752475" cy="4270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6881" name="Text Box 17"/>
          <p:cNvSpPr txBox="1">
            <a:spLocks noChangeArrowheads="1"/>
          </p:cNvSpPr>
          <p:nvPr/>
        </p:nvSpPr>
        <p:spPr bwMode="auto">
          <a:xfrm>
            <a:off x="2347878" y="32543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rgbClr val="00FFFF"/>
              </a:solidFill>
            </a:endParaRPr>
          </a:p>
        </p:txBody>
      </p:sp>
      <p:sp>
        <p:nvSpPr>
          <p:cNvPr id="36882" name="AutoShape 18"/>
          <p:cNvSpPr>
            <a:spLocks noChangeArrowheads="1"/>
          </p:cNvSpPr>
          <p:nvPr/>
        </p:nvSpPr>
        <p:spPr bwMode="auto">
          <a:xfrm>
            <a:off x="5383213" y="4259264"/>
            <a:ext cx="752475" cy="466725"/>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6883" name="Text Box 19"/>
          <p:cNvSpPr txBox="1">
            <a:spLocks noChangeArrowheads="1"/>
          </p:cNvSpPr>
          <p:nvPr/>
        </p:nvSpPr>
        <p:spPr bwMode="auto">
          <a:xfrm>
            <a:off x="5503034" y="4259263"/>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6884" name="Text Box 20"/>
          <p:cNvSpPr txBox="1">
            <a:spLocks noChangeArrowheads="1"/>
          </p:cNvSpPr>
          <p:nvPr/>
        </p:nvSpPr>
        <p:spPr bwMode="auto">
          <a:xfrm>
            <a:off x="2426489" y="2686050"/>
            <a:ext cx="489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Yes</a:t>
            </a:r>
            <a:endParaRPr lang="en-US" altLang="en-US" sz="1600">
              <a:solidFill>
                <a:schemeClr val="bg2"/>
              </a:solidFill>
            </a:endParaRPr>
          </a:p>
        </p:txBody>
      </p:sp>
      <p:sp>
        <p:nvSpPr>
          <p:cNvPr id="36885" name="Text Box 21"/>
          <p:cNvSpPr txBox="1">
            <a:spLocks noChangeArrowheads="1"/>
          </p:cNvSpPr>
          <p:nvPr/>
        </p:nvSpPr>
        <p:spPr bwMode="auto">
          <a:xfrm>
            <a:off x="4419600" y="268605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solidFill>
                  <a:srgbClr val="FF0000"/>
                </a:solidFill>
              </a:rPr>
              <a:t>No</a:t>
            </a:r>
          </a:p>
        </p:txBody>
      </p:sp>
      <p:sp>
        <p:nvSpPr>
          <p:cNvPr id="36886" name="Text Box 22"/>
          <p:cNvSpPr txBox="1">
            <a:spLocks noChangeArrowheads="1"/>
          </p:cNvSpPr>
          <p:nvPr/>
        </p:nvSpPr>
        <p:spPr bwMode="auto">
          <a:xfrm>
            <a:off x="5545138" y="3624263"/>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solidFill>
                  <a:srgbClr val="FF0000"/>
                </a:solidFill>
              </a:rPr>
              <a:t>Married </a:t>
            </a:r>
          </a:p>
        </p:txBody>
      </p:sp>
      <p:sp>
        <p:nvSpPr>
          <p:cNvPr id="36887" name="Text Box 23"/>
          <p:cNvSpPr txBox="1">
            <a:spLocks noChangeArrowheads="1"/>
          </p:cNvSpPr>
          <p:nvPr/>
        </p:nvSpPr>
        <p:spPr bwMode="auto">
          <a:xfrm>
            <a:off x="3184526" y="365918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Single, Divorced</a:t>
            </a:r>
            <a:endParaRPr lang="en-US" altLang="en-US" sz="1600">
              <a:solidFill>
                <a:schemeClr val="bg2"/>
              </a:solidFill>
            </a:endParaRPr>
          </a:p>
        </p:txBody>
      </p:sp>
      <p:sp>
        <p:nvSpPr>
          <p:cNvPr id="36888" name="Text Box 24"/>
          <p:cNvSpPr txBox="1">
            <a:spLocks noChangeArrowheads="1"/>
          </p:cNvSpPr>
          <p:nvPr/>
        </p:nvSpPr>
        <p:spPr bwMode="auto">
          <a:xfrm>
            <a:off x="2656327" y="4630738"/>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&lt; 80K</a:t>
            </a:r>
            <a:endParaRPr lang="en-US" altLang="en-US" sz="1600">
              <a:solidFill>
                <a:schemeClr val="bg2"/>
              </a:solidFill>
            </a:endParaRPr>
          </a:p>
        </p:txBody>
      </p:sp>
      <p:sp>
        <p:nvSpPr>
          <p:cNvPr id="36889" name="Text Box 25"/>
          <p:cNvSpPr txBox="1">
            <a:spLocks noChangeArrowheads="1"/>
          </p:cNvSpPr>
          <p:nvPr/>
        </p:nvSpPr>
        <p:spPr bwMode="auto">
          <a:xfrm>
            <a:off x="4602602" y="4630738"/>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&gt; 80K</a:t>
            </a:r>
            <a:endParaRPr lang="en-US" altLang="en-US" sz="1600">
              <a:solidFill>
                <a:schemeClr val="bg2"/>
              </a:solidFill>
            </a:endParaRPr>
          </a:p>
        </p:txBody>
      </p:sp>
      <p:graphicFrame>
        <p:nvGraphicFramePr>
          <p:cNvPr id="36890" name="Object 2"/>
          <p:cNvGraphicFramePr>
            <a:graphicFrameLocks noChangeAspect="1"/>
          </p:cNvGraphicFramePr>
          <p:nvPr/>
        </p:nvGraphicFramePr>
        <p:xfrm>
          <a:off x="6475413" y="1600201"/>
          <a:ext cx="3343275" cy="1133475"/>
        </p:xfrm>
        <a:graphic>
          <a:graphicData uri="http://schemas.openxmlformats.org/presentationml/2006/ole">
            <mc:AlternateContent xmlns:mc="http://schemas.openxmlformats.org/markup-compatibility/2006">
              <mc:Choice xmlns:v="urn:schemas-microsoft-com:vml" Requires="v">
                <p:oleObj spid="_x0000_s10249" name="Document" r:id="rId4" imgW="4651248" imgH="1575816" progId="Word.Document.8">
                  <p:embed/>
                </p:oleObj>
              </mc:Choice>
              <mc:Fallback>
                <p:oleObj name="Document" r:id="rId4" imgW="4651248" imgH="15758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5413" y="1600201"/>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1" name="Text Box 27"/>
          <p:cNvSpPr txBox="1">
            <a:spLocks noChangeArrowheads="1"/>
          </p:cNvSpPr>
          <p:nvPr/>
        </p:nvSpPr>
        <p:spPr bwMode="auto">
          <a:xfrm>
            <a:off x="6323012" y="1143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lnSpc>
                <a:spcPct val="80000"/>
              </a:lnSpc>
              <a:spcBef>
                <a:spcPct val="20000"/>
              </a:spcBef>
              <a:buClr>
                <a:schemeClr val="accent2"/>
              </a:buClr>
              <a:buSzPct val="75000"/>
              <a:buFont typeface="Monotype Sorts" pitchFamily="2" charset="2"/>
              <a:buNone/>
            </a:pPr>
            <a:r>
              <a:rPr lang="en-US" altLang="en-US" sz="2000">
                <a:solidFill>
                  <a:schemeClr val="tx2"/>
                </a:solidFill>
              </a:rPr>
              <a:t>Test Data</a:t>
            </a:r>
            <a:endParaRPr lang="en-US" altLang="en-US" sz="2000">
              <a:solidFill>
                <a:schemeClr val="bg2"/>
              </a:solidFill>
            </a:endParaRPr>
          </a:p>
        </p:txBody>
      </p:sp>
      <p:sp>
        <p:nvSpPr>
          <p:cNvPr id="36892" name="Line 28"/>
          <p:cNvSpPr>
            <a:spLocks noChangeShapeType="1"/>
          </p:cNvSpPr>
          <p:nvPr/>
        </p:nvSpPr>
        <p:spPr bwMode="auto">
          <a:xfrm flipH="1">
            <a:off x="6170612" y="2590800"/>
            <a:ext cx="1295400" cy="990600"/>
          </a:xfrm>
          <a:prstGeom prst="line">
            <a:avLst/>
          </a:prstGeom>
          <a:noFill/>
          <a:ln w="15875">
            <a:solidFill>
              <a:srgbClr val="FF0000"/>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21</a:t>
            </a:fld>
            <a:endParaRPr lang="en-IN"/>
          </a:p>
        </p:txBody>
      </p:sp>
    </p:spTree>
    <p:extLst>
      <p:ext uri="{BB962C8B-B14F-4D97-AF65-F5344CB8AC3E}">
        <p14:creationId xmlns:p14="http://schemas.microsoft.com/office/powerpoint/2010/main" val="1174320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8883" y="152400"/>
            <a:ext cx="9751060" cy="933451"/>
          </a:xfrm>
        </p:spPr>
        <p:txBody>
          <a:bodyPr/>
          <a:lstStyle/>
          <a:p>
            <a:r>
              <a:rPr lang="en-US" altLang="en-US" dirty="0" smtClean="0"/>
              <a:t>Apply Model to Test Data</a:t>
            </a:r>
          </a:p>
        </p:txBody>
      </p:sp>
      <p:sp>
        <p:nvSpPr>
          <p:cNvPr id="37891" name="Line 3"/>
          <p:cNvSpPr>
            <a:spLocks noChangeShapeType="1"/>
          </p:cNvSpPr>
          <p:nvPr/>
        </p:nvSpPr>
        <p:spPr bwMode="auto">
          <a:xfrm>
            <a:off x="4421187" y="4551363"/>
            <a:ext cx="2667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2" name="Line 4"/>
          <p:cNvSpPr>
            <a:spLocks noChangeShapeType="1"/>
          </p:cNvSpPr>
          <p:nvPr/>
        </p:nvSpPr>
        <p:spPr bwMode="auto">
          <a:xfrm flipH="1">
            <a:off x="3181350" y="4551363"/>
            <a:ext cx="355600" cy="646112"/>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3" name="Line 5"/>
          <p:cNvSpPr>
            <a:spLocks noChangeShapeType="1"/>
          </p:cNvSpPr>
          <p:nvPr/>
        </p:nvSpPr>
        <p:spPr bwMode="auto">
          <a:xfrm flipH="1">
            <a:off x="3889375" y="3576639"/>
            <a:ext cx="442912" cy="649287"/>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4" name="Line 6"/>
          <p:cNvSpPr>
            <a:spLocks noChangeShapeType="1"/>
          </p:cNvSpPr>
          <p:nvPr/>
        </p:nvSpPr>
        <p:spPr bwMode="auto">
          <a:xfrm>
            <a:off x="5218113" y="3576639"/>
            <a:ext cx="531813" cy="64928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5" name="Line 7"/>
          <p:cNvSpPr>
            <a:spLocks noChangeShapeType="1"/>
          </p:cNvSpPr>
          <p:nvPr/>
        </p:nvSpPr>
        <p:spPr bwMode="auto">
          <a:xfrm>
            <a:off x="4067175" y="2686051"/>
            <a:ext cx="620712" cy="56832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6" name="Line 8"/>
          <p:cNvSpPr>
            <a:spLocks noChangeShapeType="1"/>
          </p:cNvSpPr>
          <p:nvPr/>
        </p:nvSpPr>
        <p:spPr bwMode="auto">
          <a:xfrm flipH="1">
            <a:off x="2562226" y="2686051"/>
            <a:ext cx="619125" cy="56832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7897" name="Text Box 9"/>
          <p:cNvSpPr txBox="1">
            <a:spLocks noChangeArrowheads="1"/>
          </p:cNvSpPr>
          <p:nvPr/>
        </p:nvSpPr>
        <p:spPr bwMode="auto">
          <a:xfrm>
            <a:off x="3128963" y="2362200"/>
            <a:ext cx="1027113"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Refund</a:t>
            </a:r>
            <a:endParaRPr lang="en-US" altLang="en-US" sz="1600">
              <a:solidFill>
                <a:schemeClr val="bg2"/>
              </a:solidFill>
            </a:endParaRPr>
          </a:p>
        </p:txBody>
      </p:sp>
      <p:sp>
        <p:nvSpPr>
          <p:cNvPr id="37898" name="Text Box 10"/>
          <p:cNvSpPr txBox="1">
            <a:spLocks noChangeArrowheads="1"/>
          </p:cNvSpPr>
          <p:nvPr/>
        </p:nvSpPr>
        <p:spPr bwMode="auto">
          <a:xfrm>
            <a:off x="4243388" y="3254376"/>
            <a:ext cx="1025525" cy="347663"/>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MarSt</a:t>
            </a:r>
            <a:endParaRPr lang="en-US" altLang="en-US" sz="1600">
              <a:solidFill>
                <a:schemeClr val="bg2"/>
              </a:solidFill>
            </a:endParaRPr>
          </a:p>
        </p:txBody>
      </p:sp>
      <p:sp>
        <p:nvSpPr>
          <p:cNvPr id="37899" name="Text Box 11"/>
          <p:cNvSpPr txBox="1">
            <a:spLocks noChangeArrowheads="1"/>
          </p:cNvSpPr>
          <p:nvPr/>
        </p:nvSpPr>
        <p:spPr bwMode="auto">
          <a:xfrm>
            <a:off x="3448051" y="4225925"/>
            <a:ext cx="1062037" cy="349250"/>
          </a:xfrm>
          <a:prstGeom prst="rect">
            <a:avLst/>
          </a:prstGeom>
          <a:solidFill>
            <a:srgbClr val="FFFF00"/>
          </a:solidFill>
          <a:ln w="12700">
            <a:solidFill>
              <a:srgbClr val="0000FF"/>
            </a:solidFill>
            <a:miter lim="800000"/>
            <a:headEnd/>
            <a:tailEnd/>
          </a:ln>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2D1993"/>
                </a:solidFill>
              </a:rPr>
              <a:t>TaxInc</a:t>
            </a:r>
            <a:endParaRPr lang="en-US" altLang="en-US" sz="1600">
              <a:solidFill>
                <a:schemeClr val="bg2"/>
              </a:solidFill>
            </a:endParaRPr>
          </a:p>
        </p:txBody>
      </p:sp>
      <p:sp>
        <p:nvSpPr>
          <p:cNvPr id="37900" name="AutoShape 12"/>
          <p:cNvSpPr>
            <a:spLocks noChangeArrowheads="1"/>
          </p:cNvSpPr>
          <p:nvPr/>
        </p:nvSpPr>
        <p:spPr bwMode="auto">
          <a:xfrm>
            <a:off x="4464051" y="5194301"/>
            <a:ext cx="688975" cy="449263"/>
          </a:xfrm>
          <a:prstGeom prst="roundRect">
            <a:avLst>
              <a:gd name="adj" fmla="val 16769"/>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7901" name="Text Box 13"/>
          <p:cNvSpPr txBox="1">
            <a:spLocks noChangeArrowheads="1"/>
          </p:cNvSpPr>
          <p:nvPr/>
        </p:nvSpPr>
        <p:spPr bwMode="auto">
          <a:xfrm>
            <a:off x="4381501" y="5194300"/>
            <a:ext cx="750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YES</a:t>
            </a:r>
            <a:endParaRPr lang="en-US" altLang="en-US" sz="1600">
              <a:solidFill>
                <a:schemeClr val="bg2"/>
              </a:solidFill>
            </a:endParaRPr>
          </a:p>
        </p:txBody>
      </p:sp>
      <p:sp>
        <p:nvSpPr>
          <p:cNvPr id="37902" name="AutoShape 14"/>
          <p:cNvSpPr>
            <a:spLocks noChangeArrowheads="1"/>
          </p:cNvSpPr>
          <p:nvPr/>
        </p:nvSpPr>
        <p:spPr bwMode="auto">
          <a:xfrm>
            <a:off x="2827337" y="5214939"/>
            <a:ext cx="717550" cy="44608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7903" name="Text Box 15"/>
          <p:cNvSpPr txBox="1">
            <a:spLocks noChangeArrowheads="1"/>
          </p:cNvSpPr>
          <p:nvPr/>
        </p:nvSpPr>
        <p:spPr bwMode="auto">
          <a:xfrm>
            <a:off x="2968590" y="51974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7904" name="AutoShape 16"/>
          <p:cNvSpPr>
            <a:spLocks noChangeArrowheads="1"/>
          </p:cNvSpPr>
          <p:nvPr/>
        </p:nvSpPr>
        <p:spPr bwMode="auto">
          <a:xfrm>
            <a:off x="2208213" y="3271839"/>
            <a:ext cx="752475" cy="427037"/>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7905" name="Text Box 17"/>
          <p:cNvSpPr txBox="1">
            <a:spLocks noChangeArrowheads="1"/>
          </p:cNvSpPr>
          <p:nvPr/>
        </p:nvSpPr>
        <p:spPr bwMode="auto">
          <a:xfrm>
            <a:off x="2347878" y="3254375"/>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rgbClr val="00FFFF"/>
              </a:solidFill>
            </a:endParaRPr>
          </a:p>
        </p:txBody>
      </p:sp>
      <p:sp>
        <p:nvSpPr>
          <p:cNvPr id="37906" name="AutoShape 18"/>
          <p:cNvSpPr>
            <a:spLocks noChangeArrowheads="1"/>
          </p:cNvSpPr>
          <p:nvPr/>
        </p:nvSpPr>
        <p:spPr bwMode="auto">
          <a:xfrm>
            <a:off x="5383213" y="4259264"/>
            <a:ext cx="752475" cy="466725"/>
          </a:xfrm>
          <a:prstGeom prst="roundRect">
            <a:avLst>
              <a:gd name="adj" fmla="val 16667"/>
            </a:avLst>
          </a:prstGeom>
          <a:solidFill>
            <a:srgbClr val="33CCFF"/>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37907" name="Text Box 19"/>
          <p:cNvSpPr txBox="1">
            <a:spLocks noChangeArrowheads="1"/>
          </p:cNvSpPr>
          <p:nvPr/>
        </p:nvSpPr>
        <p:spPr bwMode="auto">
          <a:xfrm>
            <a:off x="5503034" y="4259263"/>
            <a:ext cx="4667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spcBef>
                <a:spcPct val="20000"/>
              </a:spcBef>
              <a:buClr>
                <a:schemeClr val="accent2"/>
              </a:buClr>
              <a:buSzPct val="75000"/>
              <a:buFont typeface="Monotype Sorts" pitchFamily="2" charset="2"/>
              <a:buNone/>
            </a:pPr>
            <a:r>
              <a:rPr lang="en-US" altLang="en-US" sz="1600">
                <a:solidFill>
                  <a:srgbClr val="800000"/>
                </a:solidFill>
              </a:rPr>
              <a:t>NO</a:t>
            </a:r>
            <a:endParaRPr lang="en-US" altLang="en-US" sz="1600">
              <a:solidFill>
                <a:schemeClr val="bg2"/>
              </a:solidFill>
            </a:endParaRPr>
          </a:p>
        </p:txBody>
      </p:sp>
      <p:sp>
        <p:nvSpPr>
          <p:cNvPr id="37908" name="Text Box 20"/>
          <p:cNvSpPr txBox="1">
            <a:spLocks noChangeArrowheads="1"/>
          </p:cNvSpPr>
          <p:nvPr/>
        </p:nvSpPr>
        <p:spPr bwMode="auto">
          <a:xfrm>
            <a:off x="2426489" y="2686050"/>
            <a:ext cx="4897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Yes</a:t>
            </a:r>
            <a:endParaRPr lang="en-US" altLang="en-US" sz="1600">
              <a:solidFill>
                <a:schemeClr val="bg2"/>
              </a:solidFill>
            </a:endParaRPr>
          </a:p>
        </p:txBody>
      </p:sp>
      <p:sp>
        <p:nvSpPr>
          <p:cNvPr id="37909" name="Text Box 21"/>
          <p:cNvSpPr txBox="1">
            <a:spLocks noChangeArrowheads="1"/>
          </p:cNvSpPr>
          <p:nvPr/>
        </p:nvSpPr>
        <p:spPr bwMode="auto">
          <a:xfrm>
            <a:off x="4419600" y="2686050"/>
            <a:ext cx="442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solidFill>
                  <a:srgbClr val="FF0000"/>
                </a:solidFill>
              </a:rPr>
              <a:t>No</a:t>
            </a:r>
          </a:p>
        </p:txBody>
      </p:sp>
      <p:sp>
        <p:nvSpPr>
          <p:cNvPr id="37910" name="Text Box 22"/>
          <p:cNvSpPr txBox="1">
            <a:spLocks noChangeArrowheads="1"/>
          </p:cNvSpPr>
          <p:nvPr/>
        </p:nvSpPr>
        <p:spPr bwMode="auto">
          <a:xfrm>
            <a:off x="5545138" y="3624263"/>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solidFill>
                  <a:srgbClr val="FF0000"/>
                </a:solidFill>
              </a:rPr>
              <a:t>Married </a:t>
            </a:r>
          </a:p>
        </p:txBody>
      </p:sp>
      <p:sp>
        <p:nvSpPr>
          <p:cNvPr id="37911" name="Text Box 23"/>
          <p:cNvSpPr txBox="1">
            <a:spLocks noChangeArrowheads="1"/>
          </p:cNvSpPr>
          <p:nvPr/>
        </p:nvSpPr>
        <p:spPr bwMode="auto">
          <a:xfrm>
            <a:off x="3184526" y="3659188"/>
            <a:ext cx="1660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Single, Divorced</a:t>
            </a:r>
            <a:endParaRPr lang="en-US" altLang="en-US" sz="1600">
              <a:solidFill>
                <a:schemeClr val="bg2"/>
              </a:solidFill>
            </a:endParaRPr>
          </a:p>
        </p:txBody>
      </p:sp>
      <p:sp>
        <p:nvSpPr>
          <p:cNvPr id="37912" name="Text Box 24"/>
          <p:cNvSpPr txBox="1">
            <a:spLocks noChangeArrowheads="1"/>
          </p:cNvSpPr>
          <p:nvPr/>
        </p:nvSpPr>
        <p:spPr bwMode="auto">
          <a:xfrm>
            <a:off x="2656327" y="4630738"/>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&lt; 80K</a:t>
            </a:r>
            <a:endParaRPr lang="en-US" altLang="en-US" sz="1600">
              <a:solidFill>
                <a:schemeClr val="bg2"/>
              </a:solidFill>
            </a:endParaRPr>
          </a:p>
        </p:txBody>
      </p:sp>
      <p:sp>
        <p:nvSpPr>
          <p:cNvPr id="37913" name="Text Box 25"/>
          <p:cNvSpPr txBox="1">
            <a:spLocks noChangeArrowheads="1"/>
          </p:cNvSpPr>
          <p:nvPr/>
        </p:nvSpPr>
        <p:spPr bwMode="auto">
          <a:xfrm>
            <a:off x="4602602" y="4630738"/>
            <a:ext cx="7425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r" eaLnBrk="1" hangingPunct="1">
              <a:spcBef>
                <a:spcPct val="20000"/>
              </a:spcBef>
              <a:buClr>
                <a:schemeClr val="accent2"/>
              </a:buClr>
              <a:buSzPct val="75000"/>
              <a:buFont typeface="Monotype Sorts" pitchFamily="2" charset="2"/>
              <a:buNone/>
            </a:pPr>
            <a:r>
              <a:rPr lang="en-US" altLang="en-US" sz="1600"/>
              <a:t>&gt; 80K</a:t>
            </a:r>
            <a:endParaRPr lang="en-US" altLang="en-US" sz="1600">
              <a:solidFill>
                <a:schemeClr val="bg2"/>
              </a:solidFill>
            </a:endParaRPr>
          </a:p>
        </p:txBody>
      </p:sp>
      <p:graphicFrame>
        <p:nvGraphicFramePr>
          <p:cNvPr id="37914" name="Object 2"/>
          <p:cNvGraphicFramePr>
            <a:graphicFrameLocks noChangeAspect="1"/>
          </p:cNvGraphicFramePr>
          <p:nvPr/>
        </p:nvGraphicFramePr>
        <p:xfrm>
          <a:off x="6475413" y="1600201"/>
          <a:ext cx="3343275" cy="1133475"/>
        </p:xfrm>
        <a:graphic>
          <a:graphicData uri="http://schemas.openxmlformats.org/presentationml/2006/ole">
            <mc:AlternateContent xmlns:mc="http://schemas.openxmlformats.org/markup-compatibility/2006">
              <mc:Choice xmlns:v="urn:schemas-microsoft-com:vml" Requires="v">
                <p:oleObj spid="_x0000_s11273" name="Document" r:id="rId4" imgW="4651248" imgH="1575816" progId="Word.Document.8">
                  <p:embed/>
                </p:oleObj>
              </mc:Choice>
              <mc:Fallback>
                <p:oleObj name="Document" r:id="rId4" imgW="4651248" imgH="157581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5413" y="1600201"/>
                        <a:ext cx="3343275"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15" name="Text Box 27"/>
          <p:cNvSpPr txBox="1">
            <a:spLocks noChangeArrowheads="1"/>
          </p:cNvSpPr>
          <p:nvPr/>
        </p:nvSpPr>
        <p:spPr bwMode="auto">
          <a:xfrm>
            <a:off x="6323012" y="11430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lnSpc>
                <a:spcPct val="80000"/>
              </a:lnSpc>
              <a:spcBef>
                <a:spcPct val="20000"/>
              </a:spcBef>
              <a:buClr>
                <a:schemeClr val="accent2"/>
              </a:buClr>
              <a:buSzPct val="75000"/>
              <a:buFont typeface="Monotype Sorts" pitchFamily="2" charset="2"/>
              <a:buNone/>
            </a:pPr>
            <a:r>
              <a:rPr lang="en-US" altLang="en-US" sz="2000">
                <a:solidFill>
                  <a:schemeClr val="tx2"/>
                </a:solidFill>
              </a:rPr>
              <a:t>Test Data</a:t>
            </a:r>
            <a:endParaRPr lang="en-US" altLang="en-US" sz="2000">
              <a:solidFill>
                <a:schemeClr val="bg2"/>
              </a:solidFill>
            </a:endParaRPr>
          </a:p>
        </p:txBody>
      </p:sp>
      <p:sp>
        <p:nvSpPr>
          <p:cNvPr id="37916" name="Line 28"/>
          <p:cNvSpPr>
            <a:spLocks noChangeShapeType="1"/>
          </p:cNvSpPr>
          <p:nvPr/>
        </p:nvSpPr>
        <p:spPr bwMode="auto">
          <a:xfrm flipH="1">
            <a:off x="6018212" y="2590800"/>
            <a:ext cx="3124200" cy="1828800"/>
          </a:xfrm>
          <a:prstGeom prst="line">
            <a:avLst/>
          </a:prstGeom>
          <a:noFill/>
          <a:ln w="15875">
            <a:solidFill>
              <a:srgbClr val="FF0000"/>
            </a:solidFill>
            <a:prstDash val="dash"/>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37917" name="Text Box 29"/>
          <p:cNvSpPr txBox="1">
            <a:spLocks noChangeArrowheads="1"/>
          </p:cNvSpPr>
          <p:nvPr/>
        </p:nvSpPr>
        <p:spPr bwMode="auto">
          <a:xfrm>
            <a:off x="7542212" y="3581400"/>
            <a:ext cx="2667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80000"/>
              </a:lnSpc>
              <a:spcBef>
                <a:spcPct val="20000"/>
              </a:spcBef>
              <a:buClr>
                <a:schemeClr val="accent2"/>
              </a:buClr>
              <a:buSzPct val="75000"/>
              <a:buFont typeface="Monotype Sorts" pitchFamily="2" charset="2"/>
              <a:buNone/>
            </a:pPr>
            <a:r>
              <a:rPr lang="en-US" altLang="en-US" sz="2000"/>
              <a:t>Assign Cheat to “No”</a:t>
            </a:r>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22</a:t>
            </a:fld>
            <a:endParaRPr lang="en-IN"/>
          </a:p>
        </p:txBody>
      </p:sp>
    </p:spTree>
    <p:extLst>
      <p:ext uri="{BB962C8B-B14F-4D97-AF65-F5344CB8AC3E}">
        <p14:creationId xmlns:p14="http://schemas.microsoft.com/office/powerpoint/2010/main" val="11643237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r>
              <a:rPr lang="en-US" altLang="en-US" smtClean="0"/>
              <a:t>Decision Tree Classification Task</a:t>
            </a:r>
          </a:p>
        </p:txBody>
      </p:sp>
      <p:graphicFrame>
        <p:nvGraphicFramePr>
          <p:cNvPr id="38915" name="Object 2"/>
          <p:cNvGraphicFramePr>
            <a:graphicFrameLocks noGrp="1" noChangeAspect="1"/>
          </p:cNvGraphicFramePr>
          <p:nvPr>
            <p:ph idx="1"/>
          </p:nvPr>
        </p:nvGraphicFramePr>
        <p:xfrm>
          <a:off x="2616200" y="1143000"/>
          <a:ext cx="6951662" cy="5181600"/>
        </p:xfrm>
        <a:graphic>
          <a:graphicData uri="http://schemas.openxmlformats.org/presentationml/2006/ole">
            <mc:AlternateContent xmlns:mc="http://schemas.openxmlformats.org/markup-compatibility/2006">
              <mc:Choice xmlns:v="urn:schemas-microsoft-com:vml" Requires="v">
                <p:oleObj spid="_x0000_s12297" name="Visio" r:id="rId4" imgW="8424875" imgH="6279741" progId="Visio.Drawing.6">
                  <p:embed/>
                </p:oleObj>
              </mc:Choice>
              <mc:Fallback>
                <p:oleObj name="Visio" r:id="rId4" imgW="8424875" imgH="6279741"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6200" y="1143000"/>
                        <a:ext cx="6951662"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6" name="Line 4"/>
          <p:cNvSpPr>
            <a:spLocks noChangeShapeType="1"/>
          </p:cNvSpPr>
          <p:nvPr/>
        </p:nvSpPr>
        <p:spPr bwMode="auto">
          <a:xfrm flipH="1">
            <a:off x="7923212" y="2362200"/>
            <a:ext cx="685800" cy="0"/>
          </a:xfrm>
          <a:prstGeom prst="line">
            <a:avLst/>
          </a:prstGeom>
          <a:noFill/>
          <a:ln w="635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17" name="Text Box 5"/>
          <p:cNvSpPr txBox="1">
            <a:spLocks noChangeArrowheads="1"/>
          </p:cNvSpPr>
          <p:nvPr/>
        </p:nvSpPr>
        <p:spPr bwMode="auto">
          <a:xfrm>
            <a:off x="8609012" y="4283076"/>
            <a:ext cx="121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a:t>Decision Tree</a:t>
            </a:r>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pPr/>
              <a:t>23</a:t>
            </a:fld>
            <a:endParaRPr lang="en-IN" dirty="0"/>
          </a:p>
        </p:txBody>
      </p:sp>
    </p:spTree>
    <p:extLst>
      <p:ext uri="{BB962C8B-B14F-4D97-AF65-F5344CB8AC3E}">
        <p14:creationId xmlns:p14="http://schemas.microsoft.com/office/powerpoint/2010/main" val="1975541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Tree Problem</a:t>
            </a:r>
            <a:endParaRPr lang="en-US" dirty="0"/>
          </a:p>
        </p:txBody>
      </p:sp>
      <p:sp>
        <p:nvSpPr>
          <p:cNvPr id="3" name="Content Placeholder 2"/>
          <p:cNvSpPr>
            <a:spLocks noGrp="1"/>
          </p:cNvSpPr>
          <p:nvPr>
            <p:ph idx="1"/>
          </p:nvPr>
        </p:nvSpPr>
        <p:spPr/>
        <p:txBody>
          <a:bodyPr>
            <a:normAutofit/>
          </a:bodyPr>
          <a:lstStyle/>
          <a:p>
            <a:r>
              <a:rPr lang="en-US" dirty="0"/>
              <a:t>Imagine a conversation between a doctor and a patient. </a:t>
            </a:r>
            <a:endParaRPr lang="en-US" dirty="0" smtClean="0"/>
          </a:p>
          <a:p>
            <a:r>
              <a:rPr lang="en-US" dirty="0" smtClean="0"/>
              <a:t>The </a:t>
            </a:r>
            <a:r>
              <a:rPr lang="en-US" dirty="0"/>
              <a:t>doctor </a:t>
            </a:r>
            <a:r>
              <a:rPr lang="en-US" dirty="0" smtClean="0"/>
              <a:t>asks questions </a:t>
            </a:r>
            <a:r>
              <a:rPr lang="en-US" dirty="0"/>
              <a:t>to determine the cause of the ailment. </a:t>
            </a:r>
            <a:endParaRPr lang="en-US" dirty="0" smtClean="0"/>
          </a:p>
          <a:p>
            <a:r>
              <a:rPr lang="en-US" dirty="0" smtClean="0"/>
              <a:t>The </a:t>
            </a:r>
            <a:r>
              <a:rPr lang="en-US" dirty="0"/>
              <a:t>doctor would </a:t>
            </a:r>
            <a:r>
              <a:rPr lang="en-US" dirty="0" smtClean="0"/>
              <a:t>continue to </a:t>
            </a:r>
            <a:r>
              <a:rPr lang="en-US" dirty="0"/>
              <a:t>ask questions, till he or she is able to arrive at a reasonable decision</a:t>
            </a:r>
            <a:r>
              <a:rPr lang="en-US" dirty="0" smtClean="0"/>
              <a:t>.</a:t>
            </a:r>
          </a:p>
          <a:p>
            <a:r>
              <a:rPr lang="en-US" dirty="0"/>
              <a:t>This is how experts in any field solve problems. They use decision </a:t>
            </a:r>
            <a:r>
              <a:rPr lang="en-US" dirty="0" smtClean="0"/>
              <a:t>trees or </a:t>
            </a:r>
            <a:r>
              <a:rPr lang="en-US" dirty="0"/>
              <a:t>decision rules</a:t>
            </a:r>
            <a:r>
              <a:rPr lang="en-US" dirty="0" smtClean="0"/>
              <a:t>.</a:t>
            </a:r>
          </a:p>
          <a:p>
            <a:r>
              <a:rPr lang="en-US" dirty="0"/>
              <a:t>Human experts learn from past experiences or data points. </a:t>
            </a:r>
            <a:endParaRPr lang="en-US" dirty="0" smtClean="0"/>
          </a:p>
          <a:p>
            <a:r>
              <a:rPr lang="en-US" dirty="0" smtClean="0"/>
              <a:t>Similarly, a </a:t>
            </a:r>
            <a:r>
              <a:rPr lang="en-US" dirty="0"/>
              <a:t>machine can be trained to learn from the past data points and </a:t>
            </a:r>
            <a:r>
              <a:rPr lang="en-US" dirty="0" smtClean="0"/>
              <a:t>extract some </a:t>
            </a:r>
            <a:r>
              <a:rPr lang="en-US" dirty="0"/>
              <a:t>knowledge or rules from it.</a:t>
            </a:r>
          </a:p>
        </p:txBody>
      </p:sp>
      <p:sp>
        <p:nvSpPr>
          <p:cNvPr id="4" name="Slide Number Placeholder 3"/>
          <p:cNvSpPr>
            <a:spLocks noGrp="1"/>
          </p:cNvSpPr>
          <p:nvPr>
            <p:ph type="sldNum" sz="quarter" idx="12"/>
          </p:nvPr>
        </p:nvSpPr>
        <p:spPr/>
        <p:txBody>
          <a:bodyPr/>
          <a:lstStyle/>
          <a:p>
            <a:fld id="{18CE55FB-C8CE-43BD-8EBC-C060BF5D6D85}" type="slidenum">
              <a:rPr lang="en-US" smtClean="0"/>
              <a:t>24</a:t>
            </a:fld>
            <a:endParaRPr lang="en-US"/>
          </a:p>
        </p:txBody>
      </p:sp>
      <p:sp>
        <p:nvSpPr>
          <p:cNvPr id="5" name="Rectangle 4"/>
          <p:cNvSpPr/>
          <p:nvPr/>
        </p:nvSpPr>
        <p:spPr>
          <a:xfrm>
            <a:off x="2309222" y="1582994"/>
            <a:ext cx="1318438" cy="52750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290168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DT Problem…</a:t>
            </a:r>
            <a:endParaRPr lang="en-US" dirty="0"/>
          </a:p>
        </p:txBody>
      </p:sp>
      <p:sp>
        <p:nvSpPr>
          <p:cNvPr id="3" name="Content Placeholder 2"/>
          <p:cNvSpPr>
            <a:spLocks noGrp="1"/>
          </p:cNvSpPr>
          <p:nvPr>
            <p:ph idx="1"/>
          </p:nvPr>
        </p:nvSpPr>
        <p:spPr/>
        <p:txBody>
          <a:bodyPr/>
          <a:lstStyle/>
          <a:p>
            <a:r>
              <a:rPr lang="en-US" dirty="0"/>
              <a:t>M</a:t>
            </a:r>
            <a:r>
              <a:rPr lang="en-US" dirty="0" smtClean="0"/>
              <a:t>ore </a:t>
            </a:r>
            <a:r>
              <a:rPr lang="en-US" dirty="0"/>
              <a:t>training data is provided, the more accurate its </a:t>
            </a:r>
            <a:r>
              <a:rPr lang="en-US" dirty="0" smtClean="0"/>
              <a:t>knowledge</a:t>
            </a:r>
          </a:p>
          <a:p>
            <a:r>
              <a:rPr lang="en-US" dirty="0"/>
              <a:t>M</a:t>
            </a:r>
            <a:r>
              <a:rPr lang="en-US" dirty="0" smtClean="0"/>
              <a:t>ore </a:t>
            </a:r>
            <a:r>
              <a:rPr lang="en-US" dirty="0"/>
              <a:t>variables the tree can choose from, the tree will come </a:t>
            </a:r>
            <a:r>
              <a:rPr lang="en-US" dirty="0" smtClean="0"/>
              <a:t>out better </a:t>
            </a:r>
            <a:r>
              <a:rPr lang="en-US" dirty="0"/>
              <a:t>with higher accuracy</a:t>
            </a:r>
          </a:p>
        </p:txBody>
      </p:sp>
      <p:sp>
        <p:nvSpPr>
          <p:cNvPr id="4" name="Slide Number Placeholder 3"/>
          <p:cNvSpPr>
            <a:spLocks noGrp="1"/>
          </p:cNvSpPr>
          <p:nvPr>
            <p:ph type="sldNum" sz="quarter" idx="12"/>
          </p:nvPr>
        </p:nvSpPr>
        <p:spPr/>
        <p:txBody>
          <a:bodyPr/>
          <a:lstStyle/>
          <a:p>
            <a:fld id="{18CE55FB-C8CE-43BD-8EBC-C060BF5D6D85}" type="slidenum">
              <a:rPr lang="en-US" smtClean="0"/>
              <a:t>25</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11703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5" name="Content Placeholder 4" descr="Screen Clipping"/>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3467614" y="1928542"/>
            <a:ext cx="5104185" cy="4541799"/>
          </a:xfrm>
        </p:spPr>
      </p:pic>
      <p:sp>
        <p:nvSpPr>
          <p:cNvPr id="4" name="Slide Number Placeholder 3"/>
          <p:cNvSpPr>
            <a:spLocks noGrp="1"/>
          </p:cNvSpPr>
          <p:nvPr>
            <p:ph type="sldNum" sz="quarter" idx="12"/>
          </p:nvPr>
        </p:nvSpPr>
        <p:spPr/>
        <p:txBody>
          <a:bodyPr/>
          <a:lstStyle/>
          <a:p>
            <a:fld id="{18CE55FB-C8CE-43BD-8EBC-C060BF5D6D85}" type="slidenum">
              <a:rPr lang="en-US" smtClean="0"/>
              <a:t>26</a:t>
            </a:fld>
            <a:endParaRPr lang="en-US"/>
          </a:p>
        </p:txBody>
      </p:sp>
      <p:pic>
        <p:nvPicPr>
          <p:cNvPr id="6" name="Picture 5" descr="Screen Clipping"/>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3467614" y="1266187"/>
            <a:ext cx="5104185" cy="704886"/>
          </a:xfrm>
          <a:prstGeom prst="rect">
            <a:avLst/>
          </a:prstGeom>
        </p:spPr>
      </p:pic>
      <p:sp>
        <p:nvSpPr>
          <p:cNvPr id="7" name="Rectangle 6"/>
          <p:cNvSpPr/>
          <p:nvPr/>
        </p:nvSpPr>
        <p:spPr>
          <a:xfrm>
            <a:off x="7827520" y="2115879"/>
            <a:ext cx="648586" cy="42955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26345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 Construction</a:t>
            </a:r>
          </a:p>
        </p:txBody>
      </p:sp>
      <p:sp>
        <p:nvSpPr>
          <p:cNvPr id="3" name="Content Placeholder 2"/>
          <p:cNvSpPr>
            <a:spLocks noGrp="1"/>
          </p:cNvSpPr>
          <p:nvPr>
            <p:ph idx="1"/>
          </p:nvPr>
        </p:nvSpPr>
        <p:spPr/>
        <p:txBody>
          <a:bodyPr/>
          <a:lstStyle/>
          <a:p>
            <a:r>
              <a:rPr lang="en-US" dirty="0"/>
              <a:t>How should the root node of the </a:t>
            </a:r>
            <a:r>
              <a:rPr lang="en-US" dirty="0" smtClean="0"/>
              <a:t>tree be </a:t>
            </a:r>
            <a:r>
              <a:rPr lang="en-US" dirty="0"/>
              <a:t>determined</a:t>
            </a:r>
            <a:r>
              <a:rPr lang="en-US" dirty="0" smtClean="0"/>
              <a:t>?</a:t>
            </a:r>
          </a:p>
          <a:p>
            <a:r>
              <a:rPr lang="en-US" dirty="0"/>
              <a:t>A criterion should be used by which one of these </a:t>
            </a:r>
            <a:r>
              <a:rPr lang="en-US" dirty="0" smtClean="0"/>
              <a:t>questions gives </a:t>
            </a:r>
            <a:r>
              <a:rPr lang="en-US" dirty="0"/>
              <a:t>the most insight about the </a:t>
            </a:r>
            <a:r>
              <a:rPr lang="en-US" dirty="0" smtClean="0"/>
              <a:t>situation</a:t>
            </a:r>
          </a:p>
          <a:p>
            <a:r>
              <a:rPr lang="en-US" dirty="0" smtClean="0"/>
              <a:t>Start with “Outlook”</a:t>
            </a:r>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t>27</a:t>
            </a:fld>
            <a:endParaRPr lang="en-US"/>
          </a:p>
        </p:txBody>
      </p:sp>
      <p:pic>
        <p:nvPicPr>
          <p:cNvPr id="5" name="Picture 4" descr="Screen Clipping"/>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2926060" y="3284984"/>
            <a:ext cx="6952419" cy="1521600"/>
          </a:xfrm>
          <a:prstGeom prst="rect">
            <a:avLst/>
          </a:prstGeom>
        </p:spPr>
      </p:pic>
      <p:sp>
        <p:nvSpPr>
          <p:cNvPr id="6" name="Footer Placeholder 5"/>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63450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Variables</a:t>
            </a:r>
            <a:endParaRPr lang="en-US" dirty="0"/>
          </a:p>
        </p:txBody>
      </p:sp>
      <p:pic>
        <p:nvPicPr>
          <p:cNvPr id="5" name="Content Placeholder 4" descr="Screen Clipping"/>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989956" y="1340768"/>
            <a:ext cx="6538758" cy="4046660"/>
          </a:xfrm>
        </p:spPr>
      </p:pic>
      <p:sp>
        <p:nvSpPr>
          <p:cNvPr id="4" name="Slide Number Placeholder 3"/>
          <p:cNvSpPr>
            <a:spLocks noGrp="1"/>
          </p:cNvSpPr>
          <p:nvPr>
            <p:ph type="sldNum" sz="quarter" idx="12"/>
          </p:nvPr>
        </p:nvSpPr>
        <p:spPr/>
        <p:txBody>
          <a:bodyPr/>
          <a:lstStyle/>
          <a:p>
            <a:fld id="{18CE55FB-C8CE-43BD-8EBC-C060BF5D6D85}" type="slidenum">
              <a:rPr lang="en-US" smtClean="0"/>
              <a:t>28</a:t>
            </a:fld>
            <a:endParaRPr lang="en-US"/>
          </a:p>
        </p:txBody>
      </p:sp>
      <p:sp>
        <p:nvSpPr>
          <p:cNvPr id="6" name="Rectangle 5"/>
          <p:cNvSpPr/>
          <p:nvPr/>
        </p:nvSpPr>
        <p:spPr>
          <a:xfrm>
            <a:off x="2085517" y="1916832"/>
            <a:ext cx="6347636" cy="10207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542888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a:t>
            </a:r>
            <a:endParaRPr lang="en-US" dirty="0"/>
          </a:p>
        </p:txBody>
      </p:sp>
      <p:pic>
        <p:nvPicPr>
          <p:cNvPr id="5" name="Content Placeholder 4" descr="Screen Clipping"/>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2494012" y="1052736"/>
            <a:ext cx="6512293" cy="4004130"/>
          </a:xfrm>
        </p:spPr>
      </p:pic>
      <p:sp>
        <p:nvSpPr>
          <p:cNvPr id="4" name="Slide Number Placeholder 3"/>
          <p:cNvSpPr>
            <a:spLocks noGrp="1"/>
          </p:cNvSpPr>
          <p:nvPr>
            <p:ph type="sldNum" sz="quarter" idx="12"/>
          </p:nvPr>
        </p:nvSpPr>
        <p:spPr/>
        <p:txBody>
          <a:bodyPr/>
          <a:lstStyle/>
          <a:p>
            <a:fld id="{18CE55FB-C8CE-43BD-8EBC-C060BF5D6D85}" type="slidenum">
              <a:rPr lang="en-US" smtClean="0"/>
              <a:t>29</a:t>
            </a:fld>
            <a:endParaRPr lang="en-US"/>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531400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Determining the next </a:t>
            </a:r>
            <a:r>
              <a:rPr lang="en-US" dirty="0" smtClean="0"/>
              <a:t>nodes of </a:t>
            </a:r>
            <a:r>
              <a:rPr lang="en-US" dirty="0"/>
              <a:t>the </a:t>
            </a:r>
            <a:r>
              <a:rPr lang="en-US" dirty="0" smtClean="0"/>
              <a:t>tree</a:t>
            </a:r>
            <a:endParaRPr lang="en-US" dirty="0"/>
          </a:p>
        </p:txBody>
      </p:sp>
      <p:sp>
        <p:nvSpPr>
          <p:cNvPr id="3" name="Content Placeholder 2"/>
          <p:cNvSpPr>
            <a:spLocks noGrp="1"/>
          </p:cNvSpPr>
          <p:nvPr>
            <p:ph idx="1"/>
          </p:nvPr>
        </p:nvSpPr>
        <p:spPr>
          <a:xfrm>
            <a:off x="1516811" y="1234406"/>
            <a:ext cx="9258121" cy="4549706"/>
          </a:xfrm>
        </p:spPr>
        <p:txBody>
          <a:bodyPr/>
          <a:lstStyle/>
          <a:p>
            <a:r>
              <a:rPr lang="en-US" dirty="0"/>
              <a:t>For the sunny branch on the left, </a:t>
            </a:r>
            <a:r>
              <a:rPr lang="en-US" dirty="0" smtClean="0"/>
              <a:t>error values </a:t>
            </a:r>
            <a:r>
              <a:rPr lang="en-US" dirty="0"/>
              <a:t>will be calculated for the three other variables: temp, humidity, </a:t>
            </a:r>
            <a:r>
              <a:rPr lang="en-US" dirty="0" smtClean="0"/>
              <a:t>and windy</a:t>
            </a:r>
            <a:r>
              <a:rPr lang="en-US" dirty="0"/>
              <a:t>.</a:t>
            </a:r>
          </a:p>
        </p:txBody>
      </p:sp>
      <p:sp>
        <p:nvSpPr>
          <p:cNvPr id="4" name="Slide Number Placeholder 3"/>
          <p:cNvSpPr>
            <a:spLocks noGrp="1"/>
          </p:cNvSpPr>
          <p:nvPr>
            <p:ph type="sldNum" sz="quarter" idx="12"/>
          </p:nvPr>
        </p:nvSpPr>
        <p:spPr/>
        <p:txBody>
          <a:bodyPr/>
          <a:lstStyle/>
          <a:p>
            <a:fld id="{18CE55FB-C8CE-43BD-8EBC-C060BF5D6D85}" type="slidenum">
              <a:rPr lang="en-US" smtClean="0"/>
              <a:t>30</a:t>
            </a:fld>
            <a:endParaRPr lang="en-US"/>
          </a:p>
        </p:txBody>
      </p:sp>
      <p:pic>
        <p:nvPicPr>
          <p:cNvPr id="5" name="Picture 4" descr="Screen Clipping"/>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4798268" y="2348880"/>
            <a:ext cx="5283162" cy="2692456"/>
          </a:xfrm>
          <a:prstGeom prst="rect">
            <a:avLst/>
          </a:prstGeom>
        </p:spPr>
      </p:pic>
      <p:sp>
        <p:nvSpPr>
          <p:cNvPr id="6" name="Rectangle 5"/>
          <p:cNvSpPr/>
          <p:nvPr/>
        </p:nvSpPr>
        <p:spPr>
          <a:xfrm>
            <a:off x="4879529" y="3695108"/>
            <a:ext cx="5120640" cy="62732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4" descr="Screen Clipping"/>
          <p:cNvPicPr>
            <a:picLocks noChangeAspect="1"/>
          </p:cNvPicPr>
          <p:nvPr/>
        </p:nvPicPr>
        <p:blipFill rotWithShape="1">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t="51406" r="56436"/>
          <a:stretch/>
        </p:blipFill>
        <p:spPr>
          <a:xfrm>
            <a:off x="1717137" y="2606480"/>
            <a:ext cx="2836972" cy="1945758"/>
          </a:xfrm>
          <a:prstGeom prst="rect">
            <a:avLst/>
          </a:prstGeom>
        </p:spPr>
      </p:pic>
      <p:sp>
        <p:nvSpPr>
          <p:cNvPr id="8" name="Footer Placeholder 7"/>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121836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DT</a:t>
            </a:r>
            <a:endParaRPr lang="en-US" dirty="0"/>
          </a:p>
        </p:txBody>
      </p:sp>
      <p:pic>
        <p:nvPicPr>
          <p:cNvPr id="5" name="Content Placeholder 4" descr="Screen Clipping"/>
          <p:cNvPicPr>
            <a:picLocks noGrp="1" noChangeAspect="1"/>
          </p:cNvPicPr>
          <p:nvPr>
            <p:ph idx="1"/>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11056" y="1641658"/>
            <a:ext cx="5377071" cy="2386761"/>
          </a:xfrm>
        </p:spPr>
      </p:pic>
      <p:sp>
        <p:nvSpPr>
          <p:cNvPr id="4" name="Slide Number Placeholder 3"/>
          <p:cNvSpPr>
            <a:spLocks noGrp="1"/>
          </p:cNvSpPr>
          <p:nvPr>
            <p:ph type="sldNum" sz="quarter" idx="12"/>
          </p:nvPr>
        </p:nvSpPr>
        <p:spPr/>
        <p:txBody>
          <a:bodyPr/>
          <a:lstStyle/>
          <a:p>
            <a:fld id="{18CE55FB-C8CE-43BD-8EBC-C060BF5D6D85}" type="slidenum">
              <a:rPr lang="en-US" smtClean="0"/>
              <a:t>31</a:t>
            </a:fld>
            <a:endParaRPr lang="en-US"/>
          </a:p>
        </p:txBody>
      </p:sp>
      <p:pic>
        <p:nvPicPr>
          <p:cNvPr id="6" name="Picture 5" descr="Screen Clipping"/>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2205980" y="4430864"/>
            <a:ext cx="6208257" cy="968098"/>
          </a:xfrm>
          <a:prstGeom prst="rect">
            <a:avLst/>
          </a:prstGeom>
        </p:spPr>
      </p:pic>
      <p:sp>
        <p:nvSpPr>
          <p:cNvPr id="7" name="TextBox 6"/>
          <p:cNvSpPr txBox="1"/>
          <p:nvPr/>
        </p:nvSpPr>
        <p:spPr>
          <a:xfrm>
            <a:off x="2205979" y="4061533"/>
            <a:ext cx="1326066" cy="461665"/>
          </a:xfrm>
          <a:prstGeom prst="rect">
            <a:avLst/>
          </a:prstGeom>
          <a:noFill/>
        </p:spPr>
        <p:txBody>
          <a:bodyPr wrap="square" rtlCol="0">
            <a:spAutoFit/>
          </a:bodyPr>
          <a:lstStyle/>
          <a:p>
            <a:r>
              <a:rPr lang="en-US" dirty="0">
                <a:solidFill>
                  <a:srgbClr val="FF0000"/>
                </a:solidFill>
                <a:latin typeface="Arial" panose="020B0604020202020204" pitchFamily="34" charset="0"/>
                <a:cs typeface="Arial" panose="020B0604020202020204" pitchFamily="34" charset="0"/>
              </a:rPr>
              <a:t>Result</a:t>
            </a:r>
            <a:endParaRPr lang="en-US" dirty="0">
              <a:solidFill>
                <a:srgbClr val="FF0000"/>
              </a:solidFill>
              <a:latin typeface="Arial" panose="020B0604020202020204" pitchFamily="34" charset="0"/>
              <a:cs typeface="Arial" panose="020B0604020202020204" pitchFamily="34" charset="0"/>
            </a:endParaRPr>
          </a:p>
        </p:txBody>
      </p:sp>
      <p:pic>
        <p:nvPicPr>
          <p:cNvPr id="8" name="Content Placeholder 4" descr="Screen Clipping"/>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tretch>
            <a:fillRect/>
          </a:stretch>
        </p:blipFill>
        <p:spPr>
          <a:xfrm>
            <a:off x="7246540" y="602568"/>
            <a:ext cx="3556500" cy="3164640"/>
          </a:xfrm>
          <a:prstGeom prst="rect">
            <a:avLst/>
          </a:prstGeom>
        </p:spPr>
      </p:pic>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336092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Example-2 (hair Length)</a:t>
            </a:r>
            <a:endParaRPr lang="en-US" dirty="0"/>
          </a:p>
        </p:txBody>
      </p:sp>
      <p:graphicFrame>
        <p:nvGraphicFramePr>
          <p:cNvPr id="5" name="Content Placeholder 4"/>
          <p:cNvGraphicFramePr>
            <a:graphicFrameLocks noGrp="1"/>
          </p:cNvGraphicFramePr>
          <p:nvPr>
            <p:ph idx="1"/>
            <p:extLst/>
          </p:nvPr>
        </p:nvGraphicFramePr>
        <p:xfrm>
          <a:off x="2881312" y="1582738"/>
          <a:ext cx="7175500" cy="4937760"/>
        </p:xfrm>
        <a:graphic>
          <a:graphicData uri="http://schemas.openxmlformats.org/drawingml/2006/table">
            <a:tbl>
              <a:tblPr firstRow="1">
                <a:tableStyleId>{5C22544A-7EE6-4342-B048-85BDC9FD1C3A}</a:tableStyleId>
              </a:tblPr>
              <a:tblGrid>
                <a:gridCol w="1203547">
                  <a:extLst>
                    <a:ext uri="{9D8B030D-6E8A-4147-A177-3AD203B41FA5}">
                      <a16:colId xmlns:a16="http://schemas.microsoft.com/office/drawing/2014/main" xmlns="" val="3364388029"/>
                    </a:ext>
                  </a:extLst>
                </a:gridCol>
                <a:gridCol w="1666653">
                  <a:extLst>
                    <a:ext uri="{9D8B030D-6E8A-4147-A177-3AD203B41FA5}">
                      <a16:colId xmlns:a16="http://schemas.microsoft.com/office/drawing/2014/main" xmlns="" val="4254213316"/>
                    </a:ext>
                  </a:extLst>
                </a:gridCol>
                <a:gridCol w="1435100">
                  <a:extLst>
                    <a:ext uri="{9D8B030D-6E8A-4147-A177-3AD203B41FA5}">
                      <a16:colId xmlns:a16="http://schemas.microsoft.com/office/drawing/2014/main" xmlns="" val="2196428321"/>
                    </a:ext>
                  </a:extLst>
                </a:gridCol>
                <a:gridCol w="1435100">
                  <a:extLst>
                    <a:ext uri="{9D8B030D-6E8A-4147-A177-3AD203B41FA5}">
                      <a16:colId xmlns:a16="http://schemas.microsoft.com/office/drawing/2014/main" xmlns="" val="3371400455"/>
                    </a:ext>
                  </a:extLst>
                </a:gridCol>
                <a:gridCol w="1435100">
                  <a:extLst>
                    <a:ext uri="{9D8B030D-6E8A-4147-A177-3AD203B41FA5}">
                      <a16:colId xmlns:a16="http://schemas.microsoft.com/office/drawing/2014/main" xmlns="" val="1391666217"/>
                    </a:ext>
                  </a:extLst>
                </a:gridCol>
              </a:tblGrid>
              <a:tr h="370840">
                <a:tc>
                  <a:txBody>
                    <a:bodyPr/>
                    <a:lstStyle/>
                    <a:p>
                      <a:pPr algn="ctr"/>
                      <a:r>
                        <a:rPr lang="en-US" dirty="0" smtClean="0">
                          <a:latin typeface="Arial Black" panose="020B0A04020102020204" pitchFamily="34" charset="0"/>
                        </a:rPr>
                        <a:t>Sl. No.</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Hair Length</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Weight</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Age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Class</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45857788"/>
                  </a:ext>
                </a:extLst>
              </a:tr>
              <a:tr h="370840">
                <a:tc>
                  <a:txBody>
                    <a:bodyPr/>
                    <a:lstStyle/>
                    <a:p>
                      <a:pPr algn="ctr"/>
                      <a:r>
                        <a:rPr lang="en-US" dirty="0" smtClean="0">
                          <a:latin typeface="Arial Black" panose="020B0A04020102020204" pitchFamily="34" charset="0"/>
                        </a:rPr>
                        <a:t>1</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0000"/>
                          </a:solidFill>
                          <a:latin typeface="Arial Black" panose="020B0A04020102020204" pitchFamily="34" charset="0"/>
                        </a:rPr>
                        <a:t>short</a:t>
                      </a:r>
                      <a:endParaRPr lang="en-US" dirty="0">
                        <a:solidFill>
                          <a:srgbClr val="FF0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over</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middle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22395775"/>
                  </a:ext>
                </a:extLst>
              </a:tr>
              <a:tr h="370840">
                <a:tc>
                  <a:txBody>
                    <a:bodyPr/>
                    <a:lstStyle/>
                    <a:p>
                      <a:pPr algn="ctr"/>
                      <a:r>
                        <a:rPr lang="en-US" dirty="0" smtClean="0">
                          <a:latin typeface="Arial Black" panose="020B0A04020102020204" pitchFamily="34" charset="0"/>
                        </a:rPr>
                        <a:t>2</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70C0"/>
                          </a:solidFill>
                          <a:latin typeface="Arial Black" panose="020B0A04020102020204" pitchFamily="34" charset="0"/>
                        </a:rPr>
                        <a:t>long</a:t>
                      </a:r>
                      <a:endParaRPr lang="en-US" dirty="0">
                        <a:solidFill>
                          <a:srgbClr val="0070C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correct</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middle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7030A0"/>
                          </a:solidFill>
                          <a:latin typeface="Arial Black" panose="020B0A04020102020204" pitchFamily="34" charset="0"/>
                        </a:rPr>
                        <a:t>F</a:t>
                      </a:r>
                      <a:endParaRPr lang="en-US" dirty="0">
                        <a:solidFill>
                          <a:srgbClr val="7030A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075574904"/>
                  </a:ext>
                </a:extLst>
              </a:tr>
              <a:tr h="370840">
                <a:tc>
                  <a:txBody>
                    <a:bodyPr/>
                    <a:lstStyle/>
                    <a:p>
                      <a:pPr algn="ctr"/>
                      <a:r>
                        <a:rPr lang="en-US" dirty="0" smtClean="0">
                          <a:latin typeface="Arial Black" panose="020B0A04020102020204" pitchFamily="34" charset="0"/>
                        </a:rPr>
                        <a:t>3</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0000"/>
                          </a:solidFill>
                          <a:latin typeface="Arial Black" panose="020B0A04020102020204" pitchFamily="34" charset="0"/>
                        </a:rPr>
                        <a:t>short</a:t>
                      </a:r>
                      <a:endParaRPr lang="en-US" dirty="0">
                        <a:solidFill>
                          <a:srgbClr val="FF0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low</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child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18526952"/>
                  </a:ext>
                </a:extLst>
              </a:tr>
              <a:tr h="370840">
                <a:tc>
                  <a:txBody>
                    <a:bodyPr/>
                    <a:lstStyle/>
                    <a:p>
                      <a:pPr algn="ctr"/>
                      <a:r>
                        <a:rPr lang="en-US" dirty="0" smtClean="0">
                          <a:latin typeface="Arial Black" panose="020B0A04020102020204" pitchFamily="34" charset="0"/>
                        </a:rPr>
                        <a:t>4</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B050"/>
                          </a:solidFill>
                          <a:latin typeface="Arial Black" panose="020B0A04020102020204" pitchFamily="34" charset="0"/>
                        </a:rPr>
                        <a:t>medium</a:t>
                      </a:r>
                      <a:endParaRPr lang="en-US" dirty="0">
                        <a:solidFill>
                          <a:srgbClr val="00B05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low</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child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7030A0"/>
                          </a:solidFill>
                          <a:latin typeface="Arial Black" panose="020B0A04020102020204" pitchFamily="34" charset="0"/>
                        </a:rPr>
                        <a:t>F</a:t>
                      </a:r>
                      <a:endParaRPr lang="en-US" dirty="0">
                        <a:solidFill>
                          <a:srgbClr val="7030A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48951574"/>
                  </a:ext>
                </a:extLst>
              </a:tr>
              <a:tr h="370840">
                <a:tc>
                  <a:txBody>
                    <a:bodyPr/>
                    <a:lstStyle/>
                    <a:p>
                      <a:pPr algn="ctr"/>
                      <a:r>
                        <a:rPr lang="en-US" dirty="0" smtClean="0">
                          <a:latin typeface="Arial Black" panose="020B0A04020102020204" pitchFamily="34" charset="0"/>
                        </a:rPr>
                        <a:t>5</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B050"/>
                          </a:solidFill>
                          <a:latin typeface="Arial Black" panose="020B0A04020102020204" pitchFamily="34" charset="0"/>
                        </a:rPr>
                        <a:t>medium</a:t>
                      </a:r>
                      <a:endParaRPr lang="en-US" dirty="0">
                        <a:solidFill>
                          <a:srgbClr val="00B05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low</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child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7030A0"/>
                          </a:solidFill>
                          <a:latin typeface="Arial Black" panose="020B0A04020102020204" pitchFamily="34" charset="0"/>
                        </a:rPr>
                        <a:t>F</a:t>
                      </a:r>
                      <a:endParaRPr lang="en-US" dirty="0">
                        <a:solidFill>
                          <a:srgbClr val="7030A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012163149"/>
                  </a:ext>
                </a:extLst>
              </a:tr>
              <a:tr h="370840">
                <a:tc>
                  <a:txBody>
                    <a:bodyPr/>
                    <a:lstStyle/>
                    <a:p>
                      <a:pPr algn="ctr"/>
                      <a:r>
                        <a:rPr lang="en-US" dirty="0" smtClean="0">
                          <a:latin typeface="Arial Black" panose="020B0A04020102020204" pitchFamily="34" charset="0"/>
                        </a:rPr>
                        <a:t>6</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0000"/>
                          </a:solidFill>
                          <a:latin typeface="Arial Black" panose="020B0A04020102020204" pitchFamily="34" charset="0"/>
                        </a:rPr>
                        <a:t>short</a:t>
                      </a:r>
                      <a:endParaRPr lang="en-US" dirty="0">
                        <a:solidFill>
                          <a:srgbClr val="FF0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correct</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480885728"/>
                  </a:ext>
                </a:extLst>
              </a:tr>
              <a:tr h="370840">
                <a:tc>
                  <a:txBody>
                    <a:bodyPr/>
                    <a:lstStyle/>
                    <a:p>
                      <a:pPr algn="ctr"/>
                      <a:r>
                        <a:rPr lang="en-US" dirty="0" smtClean="0">
                          <a:latin typeface="Arial Black" panose="020B0A04020102020204" pitchFamily="34" charset="0"/>
                        </a:rPr>
                        <a:t>7</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70C0"/>
                          </a:solidFill>
                          <a:latin typeface="Arial Black" panose="020B0A04020102020204" pitchFamily="34" charset="0"/>
                        </a:rPr>
                        <a:t>long</a:t>
                      </a:r>
                      <a:endParaRPr lang="en-US" dirty="0">
                        <a:solidFill>
                          <a:srgbClr val="0070C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correct</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7030A0"/>
                          </a:solidFill>
                          <a:latin typeface="Arial Black" panose="020B0A04020102020204" pitchFamily="34" charset="0"/>
                        </a:rPr>
                        <a:t>F</a:t>
                      </a:r>
                      <a:endParaRPr lang="en-US" dirty="0">
                        <a:solidFill>
                          <a:srgbClr val="7030A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727384772"/>
                  </a:ext>
                </a:extLst>
              </a:tr>
              <a:tr h="370840">
                <a:tc>
                  <a:txBody>
                    <a:bodyPr/>
                    <a:lstStyle/>
                    <a:p>
                      <a:pPr algn="ctr"/>
                      <a:r>
                        <a:rPr lang="en-US" dirty="0" smtClean="0">
                          <a:latin typeface="Arial Black" panose="020B0A04020102020204" pitchFamily="34" charset="0"/>
                        </a:rPr>
                        <a:t>8</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70C0"/>
                          </a:solidFill>
                          <a:latin typeface="Arial Black" panose="020B0A04020102020204" pitchFamily="34" charset="0"/>
                        </a:rPr>
                        <a:t>long</a:t>
                      </a:r>
                      <a:endParaRPr lang="en-US" dirty="0">
                        <a:solidFill>
                          <a:srgbClr val="0070C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over</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middle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177875451"/>
                  </a:ext>
                </a:extLst>
              </a:tr>
              <a:tr h="370840">
                <a:tc>
                  <a:txBody>
                    <a:bodyPr/>
                    <a:lstStyle/>
                    <a:p>
                      <a:pPr algn="ctr"/>
                      <a:r>
                        <a:rPr lang="en-US" dirty="0" smtClean="0">
                          <a:latin typeface="Arial Black" panose="020B0A04020102020204" pitchFamily="34" charset="0"/>
                        </a:rPr>
                        <a:t>9</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B050"/>
                          </a:solidFill>
                          <a:latin typeface="Arial Black" panose="020B0A04020102020204" pitchFamily="34" charset="0"/>
                        </a:rPr>
                        <a:t>medium</a:t>
                      </a:r>
                      <a:endParaRPr lang="en-US" dirty="0">
                        <a:solidFill>
                          <a:srgbClr val="00B05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over</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185751749"/>
                  </a:ext>
                </a:extLst>
              </a:tr>
            </a:tbl>
          </a:graphicData>
        </a:graphic>
      </p:graphicFrame>
      <p:sp>
        <p:nvSpPr>
          <p:cNvPr id="4" name="Slide Number Placeholder 3"/>
          <p:cNvSpPr>
            <a:spLocks noGrp="1"/>
          </p:cNvSpPr>
          <p:nvPr>
            <p:ph type="sldNum" sz="quarter" idx="12"/>
          </p:nvPr>
        </p:nvSpPr>
        <p:spPr/>
        <p:txBody>
          <a:bodyPr/>
          <a:lstStyle/>
          <a:p>
            <a:fld id="{18CE55FB-C8CE-43BD-8EBC-C060BF5D6D85}" type="slidenum">
              <a:rPr lang="en-US" smtClean="0"/>
              <a:t>32</a:t>
            </a:fld>
            <a:endParaRPr lang="en-US"/>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293943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Example-2  (Weight)</a:t>
            </a:r>
            <a:endParaRPr lang="en-US" dirty="0"/>
          </a:p>
        </p:txBody>
      </p:sp>
      <p:graphicFrame>
        <p:nvGraphicFramePr>
          <p:cNvPr id="5" name="Content Placeholder 4"/>
          <p:cNvGraphicFramePr>
            <a:graphicFrameLocks noGrp="1"/>
          </p:cNvGraphicFramePr>
          <p:nvPr>
            <p:ph idx="1"/>
            <p:extLst/>
          </p:nvPr>
        </p:nvGraphicFramePr>
        <p:xfrm>
          <a:off x="2881312" y="1582738"/>
          <a:ext cx="7175500" cy="4937760"/>
        </p:xfrm>
        <a:graphic>
          <a:graphicData uri="http://schemas.openxmlformats.org/drawingml/2006/table">
            <a:tbl>
              <a:tblPr firstRow="1">
                <a:tableStyleId>{5C22544A-7EE6-4342-B048-85BDC9FD1C3A}</a:tableStyleId>
              </a:tblPr>
              <a:tblGrid>
                <a:gridCol w="1203547">
                  <a:extLst>
                    <a:ext uri="{9D8B030D-6E8A-4147-A177-3AD203B41FA5}">
                      <a16:colId xmlns:a16="http://schemas.microsoft.com/office/drawing/2014/main" xmlns="" val="3364388029"/>
                    </a:ext>
                  </a:extLst>
                </a:gridCol>
                <a:gridCol w="1666653">
                  <a:extLst>
                    <a:ext uri="{9D8B030D-6E8A-4147-A177-3AD203B41FA5}">
                      <a16:colId xmlns:a16="http://schemas.microsoft.com/office/drawing/2014/main" xmlns="" val="4254213316"/>
                    </a:ext>
                  </a:extLst>
                </a:gridCol>
                <a:gridCol w="1435100">
                  <a:extLst>
                    <a:ext uri="{9D8B030D-6E8A-4147-A177-3AD203B41FA5}">
                      <a16:colId xmlns:a16="http://schemas.microsoft.com/office/drawing/2014/main" xmlns="" val="2196428321"/>
                    </a:ext>
                  </a:extLst>
                </a:gridCol>
                <a:gridCol w="1435100">
                  <a:extLst>
                    <a:ext uri="{9D8B030D-6E8A-4147-A177-3AD203B41FA5}">
                      <a16:colId xmlns:a16="http://schemas.microsoft.com/office/drawing/2014/main" xmlns="" val="3371400455"/>
                    </a:ext>
                  </a:extLst>
                </a:gridCol>
                <a:gridCol w="1435100">
                  <a:extLst>
                    <a:ext uri="{9D8B030D-6E8A-4147-A177-3AD203B41FA5}">
                      <a16:colId xmlns:a16="http://schemas.microsoft.com/office/drawing/2014/main" xmlns="" val="1391666217"/>
                    </a:ext>
                  </a:extLst>
                </a:gridCol>
              </a:tblGrid>
              <a:tr h="370840">
                <a:tc>
                  <a:txBody>
                    <a:bodyPr/>
                    <a:lstStyle/>
                    <a:p>
                      <a:pPr algn="ctr"/>
                      <a:r>
                        <a:rPr lang="en-US" dirty="0" smtClean="0">
                          <a:latin typeface="Arial Black" panose="020B0A04020102020204" pitchFamily="34" charset="0"/>
                        </a:rPr>
                        <a:t>Sl. No.</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Hair Length</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Weight</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Age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Class</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45857788"/>
                  </a:ext>
                </a:extLst>
              </a:tr>
              <a:tr h="370840">
                <a:tc>
                  <a:txBody>
                    <a:bodyPr/>
                    <a:lstStyle/>
                    <a:p>
                      <a:pPr algn="ctr"/>
                      <a:r>
                        <a:rPr lang="en-US" dirty="0" smtClean="0">
                          <a:latin typeface="Arial Black" panose="020B0A04020102020204" pitchFamily="34" charset="0"/>
                        </a:rPr>
                        <a:t>1</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short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0000"/>
                          </a:solidFill>
                          <a:latin typeface="Arial Black" panose="020B0A04020102020204" pitchFamily="34" charset="0"/>
                        </a:rPr>
                        <a:t>over</a:t>
                      </a:r>
                      <a:endParaRPr lang="en-US" dirty="0">
                        <a:solidFill>
                          <a:srgbClr val="FF0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middle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22395775"/>
                  </a:ext>
                </a:extLst>
              </a:tr>
              <a:tr h="370840">
                <a:tc>
                  <a:txBody>
                    <a:bodyPr/>
                    <a:lstStyle/>
                    <a:p>
                      <a:pPr algn="ctr"/>
                      <a:r>
                        <a:rPr lang="en-US" dirty="0" smtClean="0">
                          <a:latin typeface="Arial Black" panose="020B0A04020102020204" pitchFamily="34" charset="0"/>
                        </a:rPr>
                        <a:t>2</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long</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B050"/>
                          </a:solidFill>
                          <a:latin typeface="Arial Black" panose="020B0A04020102020204" pitchFamily="34" charset="0"/>
                        </a:rPr>
                        <a:t>correct</a:t>
                      </a:r>
                      <a:endParaRPr lang="en-US" dirty="0">
                        <a:solidFill>
                          <a:srgbClr val="00B05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middle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7030A0"/>
                          </a:solidFill>
                          <a:latin typeface="Arial Black" panose="020B0A04020102020204" pitchFamily="34" charset="0"/>
                        </a:rPr>
                        <a:t>F</a:t>
                      </a:r>
                      <a:endParaRPr lang="en-US" dirty="0">
                        <a:solidFill>
                          <a:srgbClr val="7030A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075574904"/>
                  </a:ext>
                </a:extLst>
              </a:tr>
              <a:tr h="370840">
                <a:tc>
                  <a:txBody>
                    <a:bodyPr/>
                    <a:lstStyle/>
                    <a:p>
                      <a:pPr algn="ctr"/>
                      <a:r>
                        <a:rPr lang="en-US" dirty="0" smtClean="0">
                          <a:latin typeface="Arial Black" panose="020B0A04020102020204" pitchFamily="34" charset="0"/>
                        </a:rPr>
                        <a:t>3</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short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70C0"/>
                          </a:solidFill>
                          <a:latin typeface="Arial Black" panose="020B0A04020102020204" pitchFamily="34" charset="0"/>
                        </a:rPr>
                        <a:t>low</a:t>
                      </a:r>
                      <a:endParaRPr lang="en-US" dirty="0">
                        <a:solidFill>
                          <a:srgbClr val="0070C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child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18526952"/>
                  </a:ext>
                </a:extLst>
              </a:tr>
              <a:tr h="370840">
                <a:tc>
                  <a:txBody>
                    <a:bodyPr/>
                    <a:lstStyle/>
                    <a:p>
                      <a:pPr algn="ctr"/>
                      <a:r>
                        <a:rPr lang="en-US" dirty="0" smtClean="0">
                          <a:latin typeface="Arial Black" panose="020B0A04020102020204" pitchFamily="34" charset="0"/>
                        </a:rPr>
                        <a:t>4</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medium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70C0"/>
                          </a:solidFill>
                          <a:latin typeface="Arial Black" panose="020B0A04020102020204" pitchFamily="34" charset="0"/>
                        </a:rPr>
                        <a:t>low</a:t>
                      </a:r>
                      <a:endParaRPr lang="en-US" dirty="0">
                        <a:solidFill>
                          <a:srgbClr val="0070C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child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7030A0"/>
                          </a:solidFill>
                          <a:latin typeface="Arial Black" panose="020B0A04020102020204" pitchFamily="34" charset="0"/>
                        </a:rPr>
                        <a:t>F</a:t>
                      </a:r>
                      <a:endParaRPr lang="en-US" dirty="0">
                        <a:solidFill>
                          <a:srgbClr val="7030A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48951574"/>
                  </a:ext>
                </a:extLst>
              </a:tr>
              <a:tr h="370840">
                <a:tc>
                  <a:txBody>
                    <a:bodyPr/>
                    <a:lstStyle/>
                    <a:p>
                      <a:pPr algn="ctr"/>
                      <a:r>
                        <a:rPr lang="en-US" dirty="0" smtClean="0">
                          <a:latin typeface="Arial Black" panose="020B0A04020102020204" pitchFamily="34" charset="0"/>
                        </a:rPr>
                        <a:t>5</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medium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70C0"/>
                          </a:solidFill>
                          <a:latin typeface="Arial Black" panose="020B0A04020102020204" pitchFamily="34" charset="0"/>
                        </a:rPr>
                        <a:t>low</a:t>
                      </a:r>
                      <a:endParaRPr lang="en-US" dirty="0">
                        <a:solidFill>
                          <a:srgbClr val="0070C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child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7030A0"/>
                          </a:solidFill>
                          <a:latin typeface="Arial Black" panose="020B0A04020102020204" pitchFamily="34" charset="0"/>
                        </a:rPr>
                        <a:t>F</a:t>
                      </a:r>
                      <a:endParaRPr lang="en-US" dirty="0">
                        <a:solidFill>
                          <a:srgbClr val="7030A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012163149"/>
                  </a:ext>
                </a:extLst>
              </a:tr>
              <a:tr h="370840">
                <a:tc>
                  <a:txBody>
                    <a:bodyPr/>
                    <a:lstStyle/>
                    <a:p>
                      <a:pPr algn="ctr"/>
                      <a:r>
                        <a:rPr lang="en-US" dirty="0" smtClean="0">
                          <a:latin typeface="Arial Black" panose="020B0A04020102020204" pitchFamily="34" charset="0"/>
                        </a:rPr>
                        <a:t>6</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short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B050"/>
                          </a:solidFill>
                          <a:latin typeface="Arial Black" panose="020B0A04020102020204" pitchFamily="34" charset="0"/>
                        </a:rPr>
                        <a:t>correct</a:t>
                      </a:r>
                      <a:endParaRPr lang="en-US" dirty="0">
                        <a:solidFill>
                          <a:srgbClr val="00B05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480885728"/>
                  </a:ext>
                </a:extLst>
              </a:tr>
              <a:tr h="370840">
                <a:tc>
                  <a:txBody>
                    <a:bodyPr/>
                    <a:lstStyle/>
                    <a:p>
                      <a:pPr algn="ctr"/>
                      <a:r>
                        <a:rPr lang="en-US" dirty="0" smtClean="0">
                          <a:latin typeface="Arial Black" panose="020B0A04020102020204" pitchFamily="34" charset="0"/>
                        </a:rPr>
                        <a:t>7</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long</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00B050"/>
                          </a:solidFill>
                          <a:latin typeface="Arial Black" panose="020B0A04020102020204" pitchFamily="34" charset="0"/>
                        </a:rPr>
                        <a:t>correct</a:t>
                      </a:r>
                      <a:endParaRPr lang="en-US" dirty="0">
                        <a:solidFill>
                          <a:srgbClr val="00B05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7030A0"/>
                          </a:solidFill>
                          <a:latin typeface="Arial Black" panose="020B0A04020102020204" pitchFamily="34" charset="0"/>
                        </a:rPr>
                        <a:t>F</a:t>
                      </a:r>
                      <a:endParaRPr lang="en-US" dirty="0">
                        <a:solidFill>
                          <a:srgbClr val="7030A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727384772"/>
                  </a:ext>
                </a:extLst>
              </a:tr>
              <a:tr h="370840">
                <a:tc>
                  <a:txBody>
                    <a:bodyPr/>
                    <a:lstStyle/>
                    <a:p>
                      <a:pPr algn="ctr"/>
                      <a:r>
                        <a:rPr lang="en-US" dirty="0" smtClean="0">
                          <a:latin typeface="Arial Black" panose="020B0A04020102020204" pitchFamily="34" charset="0"/>
                        </a:rPr>
                        <a:t>8</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long</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0000"/>
                          </a:solidFill>
                          <a:latin typeface="Arial Black" panose="020B0A04020102020204" pitchFamily="34" charset="0"/>
                        </a:rPr>
                        <a:t>over</a:t>
                      </a:r>
                      <a:endParaRPr lang="en-US" dirty="0">
                        <a:solidFill>
                          <a:srgbClr val="FF0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middle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177875451"/>
                  </a:ext>
                </a:extLst>
              </a:tr>
              <a:tr h="370840">
                <a:tc>
                  <a:txBody>
                    <a:bodyPr/>
                    <a:lstStyle/>
                    <a:p>
                      <a:pPr algn="ctr"/>
                      <a:r>
                        <a:rPr lang="en-US" dirty="0" smtClean="0">
                          <a:latin typeface="Arial Black" panose="020B0A04020102020204" pitchFamily="34" charset="0"/>
                        </a:rPr>
                        <a:t>9</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medium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0000"/>
                          </a:solidFill>
                          <a:latin typeface="Arial Black" panose="020B0A04020102020204" pitchFamily="34" charset="0"/>
                        </a:rPr>
                        <a:t>over</a:t>
                      </a:r>
                      <a:endParaRPr lang="en-US" dirty="0">
                        <a:solidFill>
                          <a:srgbClr val="FF0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latin typeface="Arial Black" panose="020B0A04020102020204" pitchFamily="34" charset="0"/>
                        </a:rPr>
                        <a:t>old</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rgbClr val="FFC000"/>
                          </a:solidFill>
                          <a:latin typeface="Arial Black" panose="020B0A04020102020204" pitchFamily="34" charset="0"/>
                        </a:rPr>
                        <a:t>M</a:t>
                      </a:r>
                      <a:endParaRPr lang="en-US" dirty="0">
                        <a:solidFill>
                          <a:srgbClr val="FFC000"/>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185751749"/>
                  </a:ext>
                </a:extLst>
              </a:tr>
            </a:tbl>
          </a:graphicData>
        </a:graphic>
      </p:graphicFrame>
      <p:sp>
        <p:nvSpPr>
          <p:cNvPr id="4" name="Slide Number Placeholder 3"/>
          <p:cNvSpPr>
            <a:spLocks noGrp="1"/>
          </p:cNvSpPr>
          <p:nvPr>
            <p:ph type="sldNum" sz="quarter" idx="12"/>
          </p:nvPr>
        </p:nvSpPr>
        <p:spPr/>
        <p:txBody>
          <a:bodyPr/>
          <a:lstStyle/>
          <a:p>
            <a:fld id="{18CE55FB-C8CE-43BD-8EBC-C060BF5D6D85}" type="slidenum">
              <a:rPr lang="en-US" smtClean="0"/>
              <a:t>33</a:t>
            </a:fld>
            <a:endParaRPr lang="en-US"/>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368407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Example-2  (Age)</a:t>
            </a:r>
            <a:endParaRPr lang="en-US" dirty="0"/>
          </a:p>
        </p:txBody>
      </p:sp>
      <p:graphicFrame>
        <p:nvGraphicFramePr>
          <p:cNvPr id="5" name="Content Placeholder 4"/>
          <p:cNvGraphicFramePr>
            <a:graphicFrameLocks noGrp="1"/>
          </p:cNvGraphicFramePr>
          <p:nvPr>
            <p:ph idx="1"/>
            <p:extLst/>
          </p:nvPr>
        </p:nvGraphicFramePr>
        <p:xfrm>
          <a:off x="2881312" y="1582738"/>
          <a:ext cx="7175500" cy="4937760"/>
        </p:xfrm>
        <a:graphic>
          <a:graphicData uri="http://schemas.openxmlformats.org/drawingml/2006/table">
            <a:tbl>
              <a:tblPr firstRow="1">
                <a:tableStyleId>{5C22544A-7EE6-4342-B048-85BDC9FD1C3A}</a:tableStyleId>
              </a:tblPr>
              <a:tblGrid>
                <a:gridCol w="1203547">
                  <a:extLst>
                    <a:ext uri="{9D8B030D-6E8A-4147-A177-3AD203B41FA5}">
                      <a16:colId xmlns:a16="http://schemas.microsoft.com/office/drawing/2014/main" xmlns="" val="3364388029"/>
                    </a:ext>
                  </a:extLst>
                </a:gridCol>
                <a:gridCol w="1666653">
                  <a:extLst>
                    <a:ext uri="{9D8B030D-6E8A-4147-A177-3AD203B41FA5}">
                      <a16:colId xmlns:a16="http://schemas.microsoft.com/office/drawing/2014/main" xmlns="" val="4254213316"/>
                    </a:ext>
                  </a:extLst>
                </a:gridCol>
                <a:gridCol w="1435100">
                  <a:extLst>
                    <a:ext uri="{9D8B030D-6E8A-4147-A177-3AD203B41FA5}">
                      <a16:colId xmlns:a16="http://schemas.microsoft.com/office/drawing/2014/main" xmlns="" val="2196428321"/>
                    </a:ext>
                  </a:extLst>
                </a:gridCol>
                <a:gridCol w="1435100">
                  <a:extLst>
                    <a:ext uri="{9D8B030D-6E8A-4147-A177-3AD203B41FA5}">
                      <a16:colId xmlns:a16="http://schemas.microsoft.com/office/drawing/2014/main" xmlns="" val="3371400455"/>
                    </a:ext>
                  </a:extLst>
                </a:gridCol>
                <a:gridCol w="1435100">
                  <a:extLst>
                    <a:ext uri="{9D8B030D-6E8A-4147-A177-3AD203B41FA5}">
                      <a16:colId xmlns:a16="http://schemas.microsoft.com/office/drawing/2014/main" xmlns="" val="1391666217"/>
                    </a:ext>
                  </a:extLst>
                </a:gridCol>
              </a:tblGrid>
              <a:tr h="370840">
                <a:tc>
                  <a:txBody>
                    <a:bodyPr/>
                    <a:lstStyle/>
                    <a:p>
                      <a:pPr algn="ctr"/>
                      <a:r>
                        <a:rPr lang="en-US" dirty="0" smtClean="0">
                          <a:latin typeface="Arial Black" panose="020B0A04020102020204" pitchFamily="34" charset="0"/>
                        </a:rPr>
                        <a:t>Sl. No.</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Hair Length</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Weight</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Age</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latin typeface="Arial Black" panose="020B0A04020102020204" pitchFamily="34" charset="0"/>
                        </a:rPr>
                        <a:t>Gender</a:t>
                      </a:r>
                      <a:endParaRPr lang="en-US" dirty="0">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45857788"/>
                  </a:ext>
                </a:extLst>
              </a:tr>
              <a:tr h="370840">
                <a:tc>
                  <a:txBody>
                    <a:bodyPr/>
                    <a:lstStyle/>
                    <a:p>
                      <a:pPr algn="ctr"/>
                      <a:r>
                        <a:rPr lang="en-US" dirty="0" smtClean="0">
                          <a:solidFill>
                            <a:schemeClr val="tx1"/>
                          </a:solidFill>
                          <a:latin typeface="Arial Black" panose="020B0A04020102020204" pitchFamily="34" charset="0"/>
                        </a:rPr>
                        <a:t>1</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short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over</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middle</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22395775"/>
                  </a:ext>
                </a:extLst>
              </a:tr>
              <a:tr h="370840">
                <a:tc>
                  <a:txBody>
                    <a:bodyPr/>
                    <a:lstStyle/>
                    <a:p>
                      <a:pPr algn="ctr"/>
                      <a:r>
                        <a:rPr lang="en-US" dirty="0" smtClean="0">
                          <a:solidFill>
                            <a:schemeClr val="tx1"/>
                          </a:solidFill>
                          <a:latin typeface="Arial Black" panose="020B0A04020102020204" pitchFamily="34" charset="0"/>
                        </a:rPr>
                        <a:t>2</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long</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correct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middle</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F</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075574904"/>
                  </a:ext>
                </a:extLst>
              </a:tr>
              <a:tr h="370840">
                <a:tc>
                  <a:txBody>
                    <a:bodyPr/>
                    <a:lstStyle/>
                    <a:p>
                      <a:pPr algn="ctr"/>
                      <a:r>
                        <a:rPr lang="en-US" dirty="0" smtClean="0">
                          <a:solidFill>
                            <a:schemeClr val="tx1"/>
                          </a:solidFill>
                          <a:latin typeface="Arial Black" panose="020B0A04020102020204" pitchFamily="34" charset="0"/>
                        </a:rPr>
                        <a:t>3</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short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low</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child</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18526952"/>
                  </a:ext>
                </a:extLst>
              </a:tr>
              <a:tr h="370840">
                <a:tc>
                  <a:txBody>
                    <a:bodyPr/>
                    <a:lstStyle/>
                    <a:p>
                      <a:pPr algn="ctr"/>
                      <a:r>
                        <a:rPr lang="en-US" dirty="0" smtClean="0">
                          <a:solidFill>
                            <a:schemeClr val="tx1"/>
                          </a:solidFill>
                          <a:latin typeface="Arial Black" panose="020B0A04020102020204" pitchFamily="34" charset="0"/>
                        </a:rPr>
                        <a:t>4</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medium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low</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child</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F</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48951574"/>
                  </a:ext>
                </a:extLst>
              </a:tr>
              <a:tr h="370840">
                <a:tc>
                  <a:txBody>
                    <a:bodyPr/>
                    <a:lstStyle/>
                    <a:p>
                      <a:pPr algn="ctr"/>
                      <a:r>
                        <a:rPr lang="en-US" dirty="0" smtClean="0">
                          <a:solidFill>
                            <a:schemeClr val="tx1"/>
                          </a:solidFill>
                          <a:latin typeface="Arial Black" panose="020B0A04020102020204" pitchFamily="34" charset="0"/>
                        </a:rPr>
                        <a:t>5</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medium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low</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child</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F</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012163149"/>
                  </a:ext>
                </a:extLst>
              </a:tr>
              <a:tr h="370840">
                <a:tc>
                  <a:txBody>
                    <a:bodyPr/>
                    <a:lstStyle/>
                    <a:p>
                      <a:pPr algn="ctr"/>
                      <a:r>
                        <a:rPr lang="en-US" dirty="0" smtClean="0">
                          <a:solidFill>
                            <a:schemeClr val="tx1"/>
                          </a:solidFill>
                          <a:latin typeface="Arial Black" panose="020B0A04020102020204" pitchFamily="34" charset="0"/>
                        </a:rPr>
                        <a:t>6</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short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correct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old</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480885728"/>
                  </a:ext>
                </a:extLst>
              </a:tr>
              <a:tr h="370840">
                <a:tc>
                  <a:txBody>
                    <a:bodyPr/>
                    <a:lstStyle/>
                    <a:p>
                      <a:pPr algn="ctr"/>
                      <a:r>
                        <a:rPr lang="en-US" dirty="0" smtClean="0">
                          <a:solidFill>
                            <a:schemeClr val="tx1"/>
                          </a:solidFill>
                          <a:latin typeface="Arial Black" panose="020B0A04020102020204" pitchFamily="34" charset="0"/>
                        </a:rPr>
                        <a:t>7</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long</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correct</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old</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F</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727384772"/>
                  </a:ext>
                </a:extLst>
              </a:tr>
              <a:tr h="370840">
                <a:tc>
                  <a:txBody>
                    <a:bodyPr/>
                    <a:lstStyle/>
                    <a:p>
                      <a:pPr algn="ctr"/>
                      <a:r>
                        <a:rPr lang="en-US" dirty="0" smtClean="0">
                          <a:solidFill>
                            <a:schemeClr val="tx1"/>
                          </a:solidFill>
                          <a:latin typeface="Arial Black" panose="020B0A04020102020204" pitchFamily="34" charset="0"/>
                        </a:rPr>
                        <a:t>8</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long</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over</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middle</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177875451"/>
                  </a:ext>
                </a:extLst>
              </a:tr>
              <a:tr h="370840">
                <a:tc>
                  <a:txBody>
                    <a:bodyPr/>
                    <a:lstStyle/>
                    <a:p>
                      <a:pPr algn="ctr"/>
                      <a:r>
                        <a:rPr lang="en-US" dirty="0" smtClean="0">
                          <a:solidFill>
                            <a:schemeClr val="tx1"/>
                          </a:solidFill>
                          <a:latin typeface="Arial Black" panose="020B0A04020102020204" pitchFamily="34" charset="0"/>
                        </a:rPr>
                        <a:t>9</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medium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over</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old</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smtClean="0">
                          <a:solidFill>
                            <a:schemeClr val="tx1"/>
                          </a:solidFill>
                          <a:latin typeface="Arial Black" panose="020B0A04020102020204" pitchFamily="34" charset="0"/>
                        </a:rPr>
                        <a:t>M</a:t>
                      </a:r>
                      <a:endParaRPr lang="en-US" dirty="0">
                        <a:solidFill>
                          <a:schemeClr val="tx1"/>
                        </a:solidFill>
                        <a:latin typeface="Arial Black" panose="020B0A040201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185751749"/>
                  </a:ext>
                </a:extLst>
              </a:tr>
            </a:tbl>
          </a:graphicData>
        </a:graphic>
      </p:graphicFrame>
      <p:sp>
        <p:nvSpPr>
          <p:cNvPr id="4" name="Slide Number Placeholder 3"/>
          <p:cNvSpPr>
            <a:spLocks noGrp="1"/>
          </p:cNvSpPr>
          <p:nvPr>
            <p:ph type="sldNum" sz="quarter" idx="12"/>
          </p:nvPr>
        </p:nvSpPr>
        <p:spPr/>
        <p:txBody>
          <a:bodyPr/>
          <a:lstStyle/>
          <a:p>
            <a:fld id="{18CE55FB-C8CE-43BD-8EBC-C060BF5D6D85}" type="slidenum">
              <a:rPr lang="en-US" smtClean="0"/>
              <a:t>34</a:t>
            </a:fld>
            <a:endParaRPr lang="en-US"/>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3924670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DT</a:t>
            </a:r>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t>35</a:t>
            </a:fld>
            <a:endParaRPr lang="en-US"/>
          </a:p>
        </p:txBody>
      </p:sp>
      <p:sp>
        <p:nvSpPr>
          <p:cNvPr id="5" name="Oval 4"/>
          <p:cNvSpPr/>
          <p:nvPr/>
        </p:nvSpPr>
        <p:spPr>
          <a:xfrm>
            <a:off x="4903565" y="1063257"/>
            <a:ext cx="1626782" cy="946297"/>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Arial Black" panose="020B0A04020102020204" pitchFamily="34" charset="0"/>
              </a:rPr>
              <a:t>Hair Length</a:t>
            </a:r>
            <a:endParaRPr lang="en-US" dirty="0">
              <a:latin typeface="Arial Black" panose="020B0A04020102020204" pitchFamily="34" charset="0"/>
            </a:endParaRPr>
          </a:p>
        </p:txBody>
      </p:sp>
      <p:sp>
        <p:nvSpPr>
          <p:cNvPr id="6" name="Oval 5"/>
          <p:cNvSpPr/>
          <p:nvPr/>
        </p:nvSpPr>
        <p:spPr>
          <a:xfrm>
            <a:off x="5066597" y="2698899"/>
            <a:ext cx="1626782" cy="946297"/>
          </a:xfrm>
          <a:prstGeom prst="ellipse">
            <a:avLst/>
          </a:prstGeom>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a:latin typeface="Arial Black" panose="020B0A04020102020204" pitchFamily="34" charset="0"/>
              </a:rPr>
              <a:t>Weight</a:t>
            </a:r>
            <a:endParaRPr lang="en-US" dirty="0">
              <a:latin typeface="Arial Black" panose="020B0A04020102020204" pitchFamily="34" charset="0"/>
            </a:endParaRPr>
          </a:p>
        </p:txBody>
      </p:sp>
      <p:sp>
        <p:nvSpPr>
          <p:cNvPr id="8" name="Oval 7"/>
          <p:cNvSpPr/>
          <p:nvPr/>
        </p:nvSpPr>
        <p:spPr>
          <a:xfrm>
            <a:off x="7253365" y="2784312"/>
            <a:ext cx="1626782" cy="946297"/>
          </a:xfrm>
          <a:prstGeom prst="ellipse">
            <a:avLst/>
          </a:prstGeom>
          <a:solidFill>
            <a:srgbClr val="002060"/>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a:latin typeface="Arial Black" panose="020B0A04020102020204" pitchFamily="34" charset="0"/>
              </a:rPr>
              <a:t>Weight</a:t>
            </a:r>
            <a:endParaRPr lang="en-US" dirty="0">
              <a:latin typeface="Arial Black" panose="020B0A04020102020204" pitchFamily="34" charset="0"/>
            </a:endParaRPr>
          </a:p>
        </p:txBody>
      </p:sp>
      <p:cxnSp>
        <p:nvCxnSpPr>
          <p:cNvPr id="10" name="Straight Connector 9"/>
          <p:cNvCxnSpPr>
            <a:stCxn id="5" idx="4"/>
            <a:endCxn id="6" idx="0"/>
          </p:cNvCxnSpPr>
          <p:nvPr/>
        </p:nvCxnSpPr>
        <p:spPr>
          <a:xfrm>
            <a:off x="5716956" y="2009554"/>
            <a:ext cx="163032" cy="689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3"/>
          </p:cNvCxnSpPr>
          <p:nvPr/>
        </p:nvCxnSpPr>
        <p:spPr>
          <a:xfrm flipH="1">
            <a:off x="3553232" y="1870971"/>
            <a:ext cx="1588571" cy="11486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5"/>
            <a:endCxn id="8" idx="0"/>
          </p:cNvCxnSpPr>
          <p:nvPr/>
        </p:nvCxnSpPr>
        <p:spPr>
          <a:xfrm>
            <a:off x="6292110" y="1870971"/>
            <a:ext cx="1774646" cy="913340"/>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223621" y="3019648"/>
            <a:ext cx="797442" cy="4465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rial Black" panose="020B0A04020102020204" pitchFamily="34" charset="0"/>
              </a:rPr>
              <a:t>M</a:t>
            </a:r>
            <a:endParaRPr lang="en-US" dirty="0">
              <a:solidFill>
                <a:srgbClr val="C00000"/>
              </a:solidFill>
              <a:latin typeface="Arial Black" panose="020B0A04020102020204" pitchFamily="34" charset="0"/>
            </a:endParaRPr>
          </a:p>
        </p:txBody>
      </p:sp>
      <p:sp>
        <p:nvSpPr>
          <p:cNvPr id="18" name="Rectangle 17"/>
          <p:cNvSpPr/>
          <p:nvPr/>
        </p:nvSpPr>
        <p:spPr>
          <a:xfrm>
            <a:off x="5879988" y="4334541"/>
            <a:ext cx="797442" cy="4465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rial Black" panose="020B0A04020102020204" pitchFamily="34" charset="0"/>
              </a:rPr>
              <a:t>M</a:t>
            </a:r>
            <a:endParaRPr lang="en-US" dirty="0">
              <a:solidFill>
                <a:srgbClr val="C00000"/>
              </a:solidFill>
              <a:latin typeface="Arial Black" panose="020B0A04020102020204" pitchFamily="34" charset="0"/>
            </a:endParaRPr>
          </a:p>
        </p:txBody>
      </p:sp>
      <p:cxnSp>
        <p:nvCxnSpPr>
          <p:cNvPr id="20" name="Straight Connector 19"/>
          <p:cNvCxnSpPr>
            <a:endCxn id="35" idx="0"/>
          </p:cNvCxnSpPr>
          <p:nvPr/>
        </p:nvCxnSpPr>
        <p:spPr>
          <a:xfrm flipH="1">
            <a:off x="7294113" y="3673651"/>
            <a:ext cx="557823" cy="6802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8" idx="0"/>
          </p:cNvCxnSpPr>
          <p:nvPr/>
        </p:nvCxnSpPr>
        <p:spPr>
          <a:xfrm>
            <a:off x="6151953" y="3635386"/>
            <a:ext cx="126756" cy="699154"/>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783063" y="4334541"/>
            <a:ext cx="797442" cy="4465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rial Black" panose="020B0A04020102020204" pitchFamily="34" charset="0"/>
              </a:rPr>
              <a:t>F</a:t>
            </a:r>
            <a:endParaRPr lang="en-US" dirty="0">
              <a:solidFill>
                <a:srgbClr val="C00000"/>
              </a:solidFill>
              <a:latin typeface="Arial Black" panose="020B0A04020102020204" pitchFamily="34" charset="0"/>
            </a:endParaRPr>
          </a:p>
        </p:txBody>
      </p:sp>
      <p:cxnSp>
        <p:nvCxnSpPr>
          <p:cNvPr id="29" name="Straight Connector 28"/>
          <p:cNvCxnSpPr/>
          <p:nvPr/>
        </p:nvCxnSpPr>
        <p:spPr>
          <a:xfrm>
            <a:off x="8477871" y="3673651"/>
            <a:ext cx="583019" cy="653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endCxn id="26" idx="0"/>
          </p:cNvCxnSpPr>
          <p:nvPr/>
        </p:nvCxnSpPr>
        <p:spPr>
          <a:xfrm flipH="1">
            <a:off x="5181785" y="3608338"/>
            <a:ext cx="424807" cy="726202"/>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8662168" y="4364288"/>
            <a:ext cx="797442" cy="4465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rial Black" panose="020B0A04020102020204" pitchFamily="34" charset="0"/>
              </a:rPr>
              <a:t>M</a:t>
            </a:r>
            <a:endParaRPr lang="en-US" dirty="0">
              <a:solidFill>
                <a:srgbClr val="C00000"/>
              </a:solidFill>
              <a:latin typeface="Arial Black" panose="020B0A04020102020204" pitchFamily="34" charset="0"/>
            </a:endParaRPr>
          </a:p>
        </p:txBody>
      </p:sp>
      <p:sp>
        <p:nvSpPr>
          <p:cNvPr id="35" name="Rectangle 34"/>
          <p:cNvSpPr/>
          <p:nvPr/>
        </p:nvSpPr>
        <p:spPr>
          <a:xfrm>
            <a:off x="6895391" y="4353914"/>
            <a:ext cx="797442" cy="4465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latin typeface="Arial Black" panose="020B0A04020102020204" pitchFamily="34" charset="0"/>
              </a:rPr>
              <a:t>F</a:t>
            </a:r>
            <a:endParaRPr lang="en-US" dirty="0">
              <a:solidFill>
                <a:srgbClr val="C00000"/>
              </a:solidFill>
              <a:latin typeface="Arial Black" panose="020B0A04020102020204" pitchFamily="34" charset="0"/>
            </a:endParaRPr>
          </a:p>
        </p:txBody>
      </p:sp>
      <p:sp>
        <p:nvSpPr>
          <p:cNvPr id="36" name="Rectangle 35"/>
          <p:cNvSpPr/>
          <p:nvPr/>
        </p:nvSpPr>
        <p:spPr>
          <a:xfrm>
            <a:off x="3619510" y="2060765"/>
            <a:ext cx="958202" cy="446567"/>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Narrow" panose="020B0606020202030204" pitchFamily="34" charset="0"/>
              </a:rPr>
              <a:t>short</a:t>
            </a:r>
            <a:endParaRPr lang="en-US" dirty="0">
              <a:solidFill>
                <a:schemeClr val="tx1"/>
              </a:solidFill>
              <a:latin typeface="Arial Narrow" panose="020B0606020202030204" pitchFamily="34" charset="0"/>
            </a:endParaRPr>
          </a:p>
        </p:txBody>
      </p:sp>
      <p:sp>
        <p:nvSpPr>
          <p:cNvPr id="37" name="Rectangle 36"/>
          <p:cNvSpPr/>
          <p:nvPr/>
        </p:nvSpPr>
        <p:spPr>
          <a:xfrm>
            <a:off x="4874788" y="2061230"/>
            <a:ext cx="958202" cy="446567"/>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Narrow" panose="020B0606020202030204" pitchFamily="34" charset="0"/>
              </a:rPr>
              <a:t>medium</a:t>
            </a:r>
            <a:endParaRPr lang="en-US" dirty="0">
              <a:solidFill>
                <a:schemeClr val="tx1"/>
              </a:solidFill>
              <a:latin typeface="Arial Narrow" panose="020B0606020202030204" pitchFamily="34" charset="0"/>
            </a:endParaRPr>
          </a:p>
        </p:txBody>
      </p:sp>
      <p:sp>
        <p:nvSpPr>
          <p:cNvPr id="38" name="Rectangle 37"/>
          <p:cNvSpPr/>
          <p:nvPr/>
        </p:nvSpPr>
        <p:spPr>
          <a:xfrm>
            <a:off x="7021965" y="1960736"/>
            <a:ext cx="958202" cy="446567"/>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Narrow" panose="020B0606020202030204" pitchFamily="34" charset="0"/>
              </a:rPr>
              <a:t>long</a:t>
            </a:r>
            <a:endParaRPr lang="en-US" dirty="0">
              <a:solidFill>
                <a:schemeClr val="tx1"/>
              </a:solidFill>
              <a:latin typeface="Arial Narrow" panose="020B0606020202030204" pitchFamily="34" charset="0"/>
            </a:endParaRPr>
          </a:p>
        </p:txBody>
      </p:sp>
      <p:sp>
        <p:nvSpPr>
          <p:cNvPr id="41" name="Rectangle 40"/>
          <p:cNvSpPr/>
          <p:nvPr/>
        </p:nvSpPr>
        <p:spPr>
          <a:xfrm>
            <a:off x="4707494" y="3634438"/>
            <a:ext cx="958202" cy="446567"/>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Narrow" panose="020B0606020202030204" pitchFamily="34" charset="0"/>
              </a:rPr>
              <a:t>low</a:t>
            </a:r>
            <a:endParaRPr lang="en-US" dirty="0">
              <a:solidFill>
                <a:schemeClr val="tx1"/>
              </a:solidFill>
              <a:latin typeface="Arial Narrow" panose="020B0606020202030204" pitchFamily="34" charset="0"/>
            </a:endParaRPr>
          </a:p>
        </p:txBody>
      </p:sp>
      <p:sp>
        <p:nvSpPr>
          <p:cNvPr id="42" name="Rectangle 41"/>
          <p:cNvSpPr/>
          <p:nvPr/>
        </p:nvSpPr>
        <p:spPr>
          <a:xfrm>
            <a:off x="5979405" y="3672248"/>
            <a:ext cx="958202" cy="446567"/>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Narrow" panose="020B0606020202030204" pitchFamily="34" charset="0"/>
              </a:rPr>
              <a:t>over</a:t>
            </a:r>
            <a:endParaRPr lang="en-US" dirty="0">
              <a:solidFill>
                <a:schemeClr val="tx1"/>
              </a:solidFill>
              <a:latin typeface="Arial Narrow" panose="020B0606020202030204" pitchFamily="34" charset="0"/>
            </a:endParaRPr>
          </a:p>
        </p:txBody>
      </p:sp>
      <p:sp>
        <p:nvSpPr>
          <p:cNvPr id="43" name="Rectangle 42"/>
          <p:cNvSpPr/>
          <p:nvPr/>
        </p:nvSpPr>
        <p:spPr>
          <a:xfrm>
            <a:off x="6689057" y="3769448"/>
            <a:ext cx="958202" cy="446567"/>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Narrow" panose="020B0606020202030204" pitchFamily="34" charset="0"/>
              </a:rPr>
              <a:t>correct</a:t>
            </a:r>
            <a:endParaRPr lang="en-US" dirty="0">
              <a:solidFill>
                <a:schemeClr val="tx1"/>
              </a:solidFill>
              <a:latin typeface="Arial Narrow" panose="020B0606020202030204" pitchFamily="34" charset="0"/>
            </a:endParaRPr>
          </a:p>
        </p:txBody>
      </p:sp>
      <p:sp>
        <p:nvSpPr>
          <p:cNvPr id="44" name="Rectangle 43"/>
          <p:cNvSpPr/>
          <p:nvPr/>
        </p:nvSpPr>
        <p:spPr>
          <a:xfrm>
            <a:off x="8545709" y="3778084"/>
            <a:ext cx="958202" cy="446567"/>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Narrow" panose="020B0606020202030204" pitchFamily="34" charset="0"/>
              </a:rPr>
              <a:t>over</a:t>
            </a:r>
            <a:endParaRPr lang="en-US" dirty="0">
              <a:solidFill>
                <a:schemeClr val="tx1"/>
              </a:solidFill>
              <a:latin typeface="Arial Narrow" panose="020B0606020202030204" pitchFamily="34" charset="0"/>
            </a:endParaRPr>
          </a:p>
        </p:txBody>
      </p:sp>
      <p:sp>
        <p:nvSpPr>
          <p:cNvPr id="45" name="Rectangle 44"/>
          <p:cNvSpPr/>
          <p:nvPr/>
        </p:nvSpPr>
        <p:spPr>
          <a:xfrm>
            <a:off x="6498117" y="438288"/>
            <a:ext cx="3890133" cy="446567"/>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70C0"/>
                </a:solidFill>
                <a:latin typeface="Arial Narrow" panose="020B0606020202030204" pitchFamily="34" charset="0"/>
              </a:rPr>
              <a:t>X = &lt;long, over, middle&gt;</a:t>
            </a:r>
            <a:endParaRPr lang="en-US" sz="2800" b="1" dirty="0">
              <a:solidFill>
                <a:srgbClr val="0070C0"/>
              </a:solidFill>
              <a:latin typeface="Arial Narrow" panose="020B0606020202030204" pitchFamily="34" charset="0"/>
            </a:endParaRPr>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355855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Inferences</a:t>
            </a:r>
            <a:endParaRPr lang="en-US" dirty="0"/>
          </a:p>
        </p:txBody>
      </p:sp>
      <p:sp>
        <p:nvSpPr>
          <p:cNvPr id="3" name="Content Placeholder 2"/>
          <p:cNvSpPr>
            <a:spLocks noGrp="1"/>
          </p:cNvSpPr>
          <p:nvPr>
            <p:ph idx="1"/>
          </p:nvPr>
        </p:nvSpPr>
        <p:spPr>
          <a:xfrm>
            <a:off x="3464828" y="1582993"/>
            <a:ext cx="6744385" cy="4699820"/>
          </a:xfrm>
        </p:spPr>
        <p:txBody>
          <a:bodyPr>
            <a:normAutofit fontScale="92500" lnSpcReduction="20000"/>
          </a:bodyPr>
          <a:lstStyle/>
          <a:p>
            <a:r>
              <a:rPr lang="en-US" dirty="0" smtClean="0"/>
              <a:t>Accuracy = 100%</a:t>
            </a:r>
          </a:p>
          <a:p>
            <a:r>
              <a:rPr lang="en-US" dirty="0"/>
              <a:t>The decision tree algorithm selected the minimum number of </a:t>
            </a:r>
            <a:r>
              <a:rPr lang="en-US" dirty="0" smtClean="0"/>
              <a:t>variables that </a:t>
            </a:r>
            <a:r>
              <a:rPr lang="en-US" dirty="0"/>
              <a:t>are needed to solve the </a:t>
            </a:r>
            <a:r>
              <a:rPr lang="en-US" dirty="0" smtClean="0"/>
              <a:t>problem</a:t>
            </a:r>
          </a:p>
          <a:p>
            <a:r>
              <a:rPr lang="en-US" dirty="0"/>
              <a:t>This tree is symmetric </a:t>
            </a:r>
            <a:r>
              <a:rPr lang="en-US" dirty="0" smtClean="0"/>
              <a:t> </a:t>
            </a:r>
          </a:p>
          <a:p>
            <a:r>
              <a:rPr lang="en-US" dirty="0"/>
              <a:t>It is possible to increase predictive accuracy by making more </a:t>
            </a:r>
            <a:r>
              <a:rPr lang="en-US" dirty="0" smtClean="0"/>
              <a:t>subtrees and </a:t>
            </a:r>
            <a:r>
              <a:rPr lang="en-US" dirty="0"/>
              <a:t>making the tree </a:t>
            </a:r>
            <a:r>
              <a:rPr lang="en-US" dirty="0" smtClean="0"/>
              <a:t>longer</a:t>
            </a:r>
          </a:p>
          <a:p>
            <a:r>
              <a:rPr lang="en-US" dirty="0"/>
              <a:t>A perfectly fitting tree has the danger of overfitting the data, </a:t>
            </a:r>
            <a:r>
              <a:rPr lang="en-US" dirty="0" smtClean="0"/>
              <a:t>thus capturing </a:t>
            </a:r>
            <a:r>
              <a:rPr lang="en-US" dirty="0"/>
              <a:t>all the random variations in the </a:t>
            </a:r>
            <a:r>
              <a:rPr lang="en-US" dirty="0" smtClean="0"/>
              <a:t>data</a:t>
            </a:r>
            <a:endParaRPr lang="en-US" dirty="0"/>
          </a:p>
          <a:p>
            <a:r>
              <a:rPr lang="en-US" dirty="0"/>
              <a:t>Decision trees are based strictly on observing patterns within the data</a:t>
            </a:r>
            <a:r>
              <a:rPr lang="en-US" dirty="0" smtClean="0"/>
              <a:t>, and </a:t>
            </a:r>
            <a:r>
              <a:rPr lang="en-US" dirty="0"/>
              <a:t>do not rely on any underlying theory of the problem domain</a:t>
            </a:r>
          </a:p>
        </p:txBody>
      </p:sp>
      <p:sp>
        <p:nvSpPr>
          <p:cNvPr id="4" name="Slide Number Placeholder 3"/>
          <p:cNvSpPr>
            <a:spLocks noGrp="1"/>
          </p:cNvSpPr>
          <p:nvPr>
            <p:ph type="sldNum" sz="quarter" idx="12"/>
          </p:nvPr>
        </p:nvSpPr>
        <p:spPr/>
        <p:txBody>
          <a:bodyPr/>
          <a:lstStyle/>
          <a:p>
            <a:fld id="{18CE55FB-C8CE-43BD-8EBC-C060BF5D6D85}" type="slidenum">
              <a:rPr lang="en-US" smtClean="0"/>
              <a:t>36</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2665883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 Algorithms</a:t>
            </a:r>
          </a:p>
        </p:txBody>
      </p:sp>
      <p:pic>
        <p:nvPicPr>
          <p:cNvPr id="5" name="Content Placeholder 4" descr="Screen Clipping"/>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2618618" y="1717021"/>
            <a:ext cx="7827854" cy="3982030"/>
          </a:xfrm>
        </p:spPr>
      </p:pic>
      <p:sp>
        <p:nvSpPr>
          <p:cNvPr id="4" name="Slide Number Placeholder 3"/>
          <p:cNvSpPr>
            <a:spLocks noGrp="1"/>
          </p:cNvSpPr>
          <p:nvPr>
            <p:ph type="sldNum" sz="quarter" idx="12"/>
          </p:nvPr>
        </p:nvSpPr>
        <p:spPr/>
        <p:txBody>
          <a:bodyPr/>
          <a:lstStyle/>
          <a:p>
            <a:fld id="{18CE55FB-C8CE-43BD-8EBC-C060BF5D6D85}" type="slidenum">
              <a:rPr lang="en-US" smtClean="0"/>
              <a:t>37</a:t>
            </a:fld>
            <a:endParaRPr lang="en-US"/>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412079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 </a:t>
            </a:r>
            <a:r>
              <a:rPr lang="en-US" dirty="0" smtClean="0"/>
              <a:t>Algorithms…</a:t>
            </a:r>
            <a:endParaRPr lang="en-US" dirty="0"/>
          </a:p>
        </p:txBody>
      </p:sp>
      <p:sp>
        <p:nvSpPr>
          <p:cNvPr id="3" name="Content Placeholder 2"/>
          <p:cNvSpPr>
            <a:spLocks noGrp="1"/>
          </p:cNvSpPr>
          <p:nvPr>
            <p:ph idx="1"/>
          </p:nvPr>
        </p:nvSpPr>
        <p:spPr/>
        <p:txBody>
          <a:bodyPr>
            <a:normAutofit/>
          </a:bodyPr>
          <a:lstStyle/>
          <a:p>
            <a:pPr marL="457200" indent="-457200">
              <a:buClr>
                <a:srgbClr val="FF0000"/>
              </a:buClr>
              <a:buSzPct val="110000"/>
              <a:buFont typeface="+mj-lt"/>
              <a:buAutoNum type="arabicPeriod"/>
            </a:pPr>
            <a:r>
              <a:rPr lang="en-US" i="1" dirty="0" smtClean="0"/>
              <a:t>Create </a:t>
            </a:r>
            <a:r>
              <a:rPr lang="en-US" i="1" dirty="0"/>
              <a:t>a root node and assign all of the training data to it.</a:t>
            </a:r>
          </a:p>
          <a:p>
            <a:pPr marL="457200" indent="-457200">
              <a:buClr>
                <a:srgbClr val="FF0000"/>
              </a:buClr>
              <a:buSzPct val="110000"/>
              <a:buFont typeface="+mj-lt"/>
              <a:buAutoNum type="arabicPeriod"/>
            </a:pPr>
            <a:r>
              <a:rPr lang="en-US" i="1" dirty="0" smtClean="0"/>
              <a:t>Select </a:t>
            </a:r>
            <a:r>
              <a:rPr lang="en-US" i="1" dirty="0"/>
              <a:t>the best splitting attribute according to </a:t>
            </a:r>
            <a:r>
              <a:rPr lang="en-US" b="1" i="1" dirty="0">
                <a:solidFill>
                  <a:srgbClr val="0070C0"/>
                </a:solidFill>
              </a:rPr>
              <a:t>certain criteria</a:t>
            </a:r>
            <a:r>
              <a:rPr lang="en-US" i="1" dirty="0"/>
              <a:t>.</a:t>
            </a:r>
          </a:p>
          <a:p>
            <a:pPr marL="457200" indent="-457200">
              <a:buClr>
                <a:srgbClr val="FF0000"/>
              </a:buClr>
              <a:buSzPct val="110000"/>
              <a:buFont typeface="+mj-lt"/>
              <a:buAutoNum type="arabicPeriod"/>
            </a:pPr>
            <a:r>
              <a:rPr lang="en-US" i="1" dirty="0" smtClean="0"/>
              <a:t>Add </a:t>
            </a:r>
            <a:r>
              <a:rPr lang="en-US" i="1" dirty="0"/>
              <a:t>a branch to the root node for each value of the split</a:t>
            </a:r>
            <a:r>
              <a:rPr lang="en-US" i="1" dirty="0" smtClean="0"/>
              <a:t>.</a:t>
            </a:r>
          </a:p>
          <a:p>
            <a:pPr marL="457200" indent="-457200">
              <a:buClr>
                <a:srgbClr val="FF0000"/>
              </a:buClr>
              <a:buSzPct val="110000"/>
              <a:buFont typeface="+mj-lt"/>
              <a:buAutoNum type="arabicPeriod"/>
            </a:pPr>
            <a:r>
              <a:rPr lang="en-US" i="1" dirty="0" smtClean="0"/>
              <a:t>Split </a:t>
            </a:r>
            <a:r>
              <a:rPr lang="en-US" i="1" dirty="0"/>
              <a:t>the data into mutually exclusive subsets along the lines of </a:t>
            </a:r>
            <a:r>
              <a:rPr lang="en-US" i="1" dirty="0" smtClean="0"/>
              <a:t>the specific </a:t>
            </a:r>
            <a:r>
              <a:rPr lang="en-US" i="1" dirty="0"/>
              <a:t>split.</a:t>
            </a:r>
          </a:p>
          <a:p>
            <a:pPr marL="457200" indent="-457200">
              <a:buClr>
                <a:srgbClr val="FF0000"/>
              </a:buClr>
              <a:buSzPct val="110000"/>
              <a:buFont typeface="+mj-lt"/>
              <a:buAutoNum type="arabicPeriod"/>
            </a:pPr>
            <a:r>
              <a:rPr lang="en-US" i="1" dirty="0" smtClean="0"/>
              <a:t>Repeat </a:t>
            </a:r>
            <a:r>
              <a:rPr lang="en-US" i="1" dirty="0"/>
              <a:t>Steps 2 and 3 for each and every leaf node until the </a:t>
            </a:r>
            <a:r>
              <a:rPr lang="en-US" i="1" dirty="0" smtClean="0"/>
              <a:t>stopping criteria </a:t>
            </a:r>
            <a:r>
              <a:rPr lang="en-US" i="1" dirty="0"/>
              <a:t>is reached.</a:t>
            </a:r>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t>38</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3711856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Algorithms</a:t>
            </a:r>
            <a:endParaRPr lang="en-US" dirty="0"/>
          </a:p>
        </p:txBody>
      </p:sp>
      <p:sp>
        <p:nvSpPr>
          <p:cNvPr id="3" name="Content Placeholder 2"/>
          <p:cNvSpPr>
            <a:spLocks noGrp="1"/>
          </p:cNvSpPr>
          <p:nvPr>
            <p:ph idx="1"/>
          </p:nvPr>
        </p:nvSpPr>
        <p:spPr/>
        <p:txBody>
          <a:bodyPr>
            <a:normAutofit lnSpcReduction="10000"/>
          </a:bodyPr>
          <a:lstStyle/>
          <a:p>
            <a:r>
              <a:rPr lang="en-US" smtClean="0"/>
              <a:t>C5, CART, and CHAID</a:t>
            </a:r>
          </a:p>
          <a:p>
            <a:r>
              <a:rPr lang="en-US" smtClean="0"/>
              <a:t>1. Splitting criteria</a:t>
            </a:r>
          </a:p>
          <a:p>
            <a:pPr lvl="1"/>
            <a:r>
              <a:rPr lang="en-US" smtClean="0"/>
              <a:t>a. Which variable to use for the first split? How should one determine the most important variable for the first branch, and subsequently, for each subtree? There are many measures like least errors, information gain, and Gini coefficient.</a:t>
            </a:r>
          </a:p>
          <a:p>
            <a:pPr lvl="1"/>
            <a:r>
              <a:rPr lang="en-US" smtClean="0"/>
              <a:t>b. What values to use for the split? If the variables have continuous values, such as for age or BP, what value-ranges should be used to make bins?</a:t>
            </a:r>
          </a:p>
          <a:p>
            <a:pPr lvl="1"/>
            <a:r>
              <a:rPr lang="en-US" smtClean="0"/>
              <a:t>c. How many branches should be allowed for each node? There could be binary trees, with just two branches at each node. Or there could be more branches allowed.</a:t>
            </a:r>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39</a:t>
            </a:fld>
            <a:endParaRPr lang="en-US"/>
          </a:p>
        </p:txBody>
      </p:sp>
      <p:sp>
        <p:nvSpPr>
          <p:cNvPr id="8" name="Footer Placeholder 7"/>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76643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Stopping criteria</a:t>
            </a:r>
          </a:p>
        </p:txBody>
      </p:sp>
      <p:sp>
        <p:nvSpPr>
          <p:cNvPr id="3" name="Content Placeholder 2"/>
          <p:cNvSpPr>
            <a:spLocks noGrp="1"/>
          </p:cNvSpPr>
          <p:nvPr>
            <p:ph idx="1"/>
          </p:nvPr>
        </p:nvSpPr>
        <p:spPr/>
        <p:txBody>
          <a:bodyPr/>
          <a:lstStyle/>
          <a:p>
            <a:r>
              <a:rPr lang="en-US" dirty="0"/>
              <a:t>When to stop building the tree? </a:t>
            </a:r>
            <a:endParaRPr lang="en-US" dirty="0" smtClean="0"/>
          </a:p>
          <a:p>
            <a:r>
              <a:rPr lang="en-US" dirty="0" smtClean="0"/>
              <a:t>There </a:t>
            </a:r>
            <a:r>
              <a:rPr lang="en-US" dirty="0"/>
              <a:t>are two major ways to </a:t>
            </a:r>
            <a:r>
              <a:rPr lang="en-US" dirty="0" smtClean="0"/>
              <a:t>make that </a:t>
            </a:r>
            <a:r>
              <a:rPr lang="en-US" dirty="0"/>
              <a:t>determination. </a:t>
            </a:r>
            <a:endParaRPr lang="en-US" dirty="0" smtClean="0"/>
          </a:p>
          <a:p>
            <a:pPr lvl="1"/>
            <a:r>
              <a:rPr lang="en-US" dirty="0"/>
              <a:t>depth </a:t>
            </a:r>
            <a:r>
              <a:rPr lang="en-US" dirty="0"/>
              <a:t>of the branches has been </a:t>
            </a:r>
            <a:r>
              <a:rPr lang="en-US" dirty="0"/>
              <a:t>reached to some value and </a:t>
            </a:r>
            <a:r>
              <a:rPr lang="en-US" dirty="0"/>
              <a:t>the tree </a:t>
            </a:r>
            <a:r>
              <a:rPr lang="en-US" dirty="0"/>
              <a:t>becomes unreadable </a:t>
            </a:r>
            <a:r>
              <a:rPr lang="en-US" dirty="0"/>
              <a:t>after that. </a:t>
            </a:r>
            <a:endParaRPr lang="en-US" dirty="0"/>
          </a:p>
          <a:p>
            <a:pPr lvl="1"/>
            <a:r>
              <a:rPr lang="en-US" dirty="0"/>
              <a:t>when the </a:t>
            </a:r>
            <a:r>
              <a:rPr lang="en-US" dirty="0"/>
              <a:t>error level at any node is within predefined tolerable levels.</a:t>
            </a:r>
          </a:p>
        </p:txBody>
      </p:sp>
      <p:sp>
        <p:nvSpPr>
          <p:cNvPr id="4" name="Slide Number Placeholder 3"/>
          <p:cNvSpPr>
            <a:spLocks noGrp="1"/>
          </p:cNvSpPr>
          <p:nvPr>
            <p:ph type="sldNum" sz="quarter" idx="12"/>
          </p:nvPr>
        </p:nvSpPr>
        <p:spPr/>
        <p:txBody>
          <a:bodyPr/>
          <a:lstStyle/>
          <a:p>
            <a:fld id="{18CE55FB-C8CE-43BD-8EBC-C060BF5D6D85}" type="slidenum">
              <a:rPr lang="en-US" smtClean="0"/>
              <a:t>40</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637494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Pruning</a:t>
            </a:r>
          </a:p>
        </p:txBody>
      </p:sp>
      <p:sp>
        <p:nvSpPr>
          <p:cNvPr id="3" name="Content Placeholder 2"/>
          <p:cNvSpPr>
            <a:spLocks noGrp="1"/>
          </p:cNvSpPr>
          <p:nvPr>
            <p:ph idx="1"/>
          </p:nvPr>
        </p:nvSpPr>
        <p:spPr/>
        <p:txBody>
          <a:bodyPr>
            <a:normAutofit/>
          </a:bodyPr>
          <a:lstStyle/>
          <a:p>
            <a:r>
              <a:rPr lang="en-US" sz="2800" dirty="0"/>
              <a:t>The tree could be trimmed to </a:t>
            </a:r>
            <a:r>
              <a:rPr lang="en-US" sz="2800" dirty="0"/>
              <a:t>make it </a:t>
            </a:r>
            <a:r>
              <a:rPr lang="en-US" sz="2800" dirty="0"/>
              <a:t>more balanced and more easily usable. </a:t>
            </a:r>
            <a:endParaRPr lang="en-US" sz="2800" dirty="0"/>
          </a:p>
          <a:p>
            <a:r>
              <a:rPr lang="en-US" sz="2800" dirty="0"/>
              <a:t>The </a:t>
            </a:r>
            <a:r>
              <a:rPr lang="en-US" sz="2800" dirty="0"/>
              <a:t>pruning is </a:t>
            </a:r>
            <a:r>
              <a:rPr lang="en-US" sz="2800" dirty="0"/>
              <a:t>often done </a:t>
            </a:r>
            <a:r>
              <a:rPr lang="en-US" sz="2800" dirty="0"/>
              <a:t>after the tree is constructed, to balance out the tree </a:t>
            </a:r>
            <a:r>
              <a:rPr lang="en-US" sz="2800" dirty="0"/>
              <a:t>and improve </a:t>
            </a:r>
            <a:r>
              <a:rPr lang="en-US" sz="2800" dirty="0"/>
              <a:t>usability.</a:t>
            </a:r>
          </a:p>
        </p:txBody>
      </p:sp>
      <p:sp>
        <p:nvSpPr>
          <p:cNvPr id="4" name="Slide Number Placeholder 3"/>
          <p:cNvSpPr>
            <a:spLocks noGrp="1"/>
          </p:cNvSpPr>
          <p:nvPr>
            <p:ph type="sldNum" sz="quarter" idx="12"/>
          </p:nvPr>
        </p:nvSpPr>
        <p:spPr/>
        <p:txBody>
          <a:bodyPr/>
          <a:lstStyle/>
          <a:p>
            <a:fld id="{18CE55FB-C8CE-43BD-8EBC-C060BF5D6D85}" type="slidenum">
              <a:rPr lang="en-US" smtClean="0"/>
              <a:t>41</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578564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a:t>
            </a:r>
            <a:endParaRPr lang="en-US" dirty="0"/>
          </a:p>
        </p:txBody>
      </p:sp>
      <p:pic>
        <p:nvPicPr>
          <p:cNvPr id="5" name="Content Placeholder 4" descr="Screen Clipping"/>
          <p:cNvPicPr>
            <a:picLocks noGrp="1" noChangeAspect="1"/>
          </p:cNvPicPr>
          <p:nvPr>
            <p:ph idx="1"/>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t="1012" b="1"/>
          <a:stretch/>
        </p:blipFill>
        <p:spPr>
          <a:xfrm>
            <a:off x="3713201" y="1286540"/>
            <a:ext cx="5241369" cy="5345292"/>
          </a:xfrm>
        </p:spPr>
      </p:pic>
      <p:sp>
        <p:nvSpPr>
          <p:cNvPr id="4" name="Slide Number Placeholder 3"/>
          <p:cNvSpPr>
            <a:spLocks noGrp="1"/>
          </p:cNvSpPr>
          <p:nvPr>
            <p:ph type="sldNum" sz="quarter" idx="12"/>
          </p:nvPr>
        </p:nvSpPr>
        <p:spPr/>
        <p:txBody>
          <a:bodyPr/>
          <a:lstStyle/>
          <a:p>
            <a:fld id="{18CE55FB-C8CE-43BD-8EBC-C060BF5D6D85}" type="slidenum">
              <a:rPr lang="en-US" smtClean="0"/>
              <a:t>42</a:t>
            </a:fld>
            <a:endParaRPr lang="en-US"/>
          </a:p>
        </p:txBody>
      </p:sp>
      <p:sp>
        <p:nvSpPr>
          <p:cNvPr id="3" name="Footer Placeholder 2"/>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1820029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smtClean="0"/>
              <a:t>Entropy</a:t>
            </a:r>
            <a:endParaRPr lang="en-US" altLang="en-US" smtClean="0"/>
          </a:p>
        </p:txBody>
      </p:sp>
      <p:sp>
        <p:nvSpPr>
          <p:cNvPr id="46083" name="Content Placeholder 2"/>
          <p:cNvSpPr>
            <a:spLocks noGrp="1"/>
          </p:cNvSpPr>
          <p:nvPr>
            <p:ph sz="quarter" idx="1"/>
          </p:nvPr>
        </p:nvSpPr>
        <p:spPr/>
        <p:txBody>
          <a:bodyPr/>
          <a:lstStyle/>
          <a:p>
            <a:r>
              <a:rPr lang="en-US" altLang="en-US" smtClean="0"/>
              <a:t>A formula to calculate the homogeneity of a sample</a:t>
            </a:r>
          </a:p>
          <a:p>
            <a:r>
              <a:rPr lang="en-US" altLang="en-US" smtClean="0"/>
              <a:t>A completely homogeneous sample has entropy of 0</a:t>
            </a:r>
          </a:p>
          <a:p>
            <a:r>
              <a:rPr lang="en-US" altLang="en-US" smtClean="0"/>
              <a:t>An equally divided sample has entropy of 1</a:t>
            </a:r>
          </a:p>
          <a:p>
            <a:endParaRPr lang="en-US" altLang="en-US" smtClean="0"/>
          </a:p>
          <a:p>
            <a:endParaRPr lang="en-US" altLang="en-US" smtClean="0"/>
          </a:p>
          <a:p>
            <a:r>
              <a:rPr lang="en-US" altLang="en-US" smtClean="0"/>
              <a:t>Entropy(s) = - p+log2 (p+) -p-log2 (p-) for a sample of negative and positive elements</a:t>
            </a:r>
          </a:p>
          <a:p>
            <a:r>
              <a:rPr lang="en-US" altLang="en-US" smtClean="0"/>
              <a:t>The formula for entropy is: </a:t>
            </a:r>
          </a:p>
          <a:p>
            <a:r>
              <a:rPr lang="en-US" altLang="en-US" smtClean="0"/>
              <a:t>Entropy(S) 	=  - (9/14) Log2 (9/14) - (5/14) Log2 (5/14) </a:t>
            </a:r>
          </a:p>
          <a:p>
            <a:r>
              <a:rPr lang="en-US" altLang="en-US" smtClean="0"/>
              <a:t>				=  0.940</a:t>
            </a:r>
          </a:p>
          <a:p>
            <a:endParaRPr lang="en-US" altLang="en-US" smtClean="0"/>
          </a:p>
          <a:p>
            <a:endParaRPr lang="en-US" altLang="en-US" dirty="0" smtClean="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D8AB6CA2-9751-4856-98EB-17928B37887A}" type="slidenum">
              <a:rPr lang="en-US" altLang="en-US" smtClean="0"/>
              <a:pPr/>
              <a:t>43</a:t>
            </a:fld>
            <a:endParaRPr lang="en-US" altLang="en-US" dirty="0"/>
          </a:p>
        </p:txBody>
      </p:sp>
      <p:graphicFrame>
        <p:nvGraphicFramePr>
          <p:cNvPr id="46087" name="Object 4"/>
          <p:cNvGraphicFramePr>
            <a:graphicFrameLocks noChangeAspect="1"/>
          </p:cNvGraphicFramePr>
          <p:nvPr>
            <p:extLst>
              <p:ext uri="{D42A27DB-BD31-4B8C-83A1-F6EECF244321}">
                <p14:modId xmlns:p14="http://schemas.microsoft.com/office/powerpoint/2010/main" val="774601539"/>
              </p:ext>
            </p:extLst>
          </p:nvPr>
        </p:nvGraphicFramePr>
        <p:xfrm>
          <a:off x="3430116" y="2780928"/>
          <a:ext cx="2971800" cy="762000"/>
        </p:xfrm>
        <a:graphic>
          <a:graphicData uri="http://schemas.openxmlformats.org/presentationml/2006/ole">
            <mc:AlternateContent xmlns:mc="http://schemas.openxmlformats.org/markup-compatibility/2006">
              <mc:Choice xmlns:v="urn:schemas-microsoft-com:vml" Requires="v">
                <p:oleObj spid="_x0000_s13321" name="Equation" r:id="rId4" imgW="1612900" imgH="431800" progId="Equation.3">
                  <p:embed/>
                </p:oleObj>
              </mc:Choice>
              <mc:Fallback>
                <p:oleObj name="Equation" r:id="rId4" imgW="16129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0116" y="2780928"/>
                        <a:ext cx="29718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2188592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smtClean="0"/>
              <a:t>Information Gain (IG)</a:t>
            </a:r>
            <a:endParaRPr lang="en-US" altLang="en-US" smtClean="0"/>
          </a:p>
        </p:txBody>
      </p:sp>
      <p:sp>
        <p:nvSpPr>
          <p:cNvPr id="47107" name="Content Placeholder 2"/>
          <p:cNvSpPr>
            <a:spLocks noGrp="1"/>
          </p:cNvSpPr>
          <p:nvPr>
            <p:ph sz="quarter" idx="1"/>
          </p:nvPr>
        </p:nvSpPr>
        <p:spPr/>
        <p:txBody>
          <a:bodyPr>
            <a:normAutofit fontScale="77500" lnSpcReduction="20000"/>
          </a:bodyPr>
          <a:lstStyle/>
          <a:p>
            <a:r>
              <a:rPr lang="en-US" altLang="en-US" smtClean="0"/>
              <a:t>The information gain is based on the decrease in entropy after a dataset is split on an attribute.</a:t>
            </a:r>
          </a:p>
          <a:p>
            <a:r>
              <a:rPr lang="en-US" altLang="en-US" smtClean="0"/>
              <a:t>Which attribute creates the most homogeneous branches?</a:t>
            </a:r>
          </a:p>
          <a:p>
            <a:r>
              <a:rPr lang="en-US" altLang="en-US" smtClean="0"/>
              <a:t>First the entropy of the total dataset is calculated.</a:t>
            </a:r>
          </a:p>
          <a:p>
            <a:r>
              <a:rPr lang="en-US" altLang="en-US" smtClean="0"/>
              <a:t>The dataset is then split on the different attributes.</a:t>
            </a:r>
          </a:p>
          <a:p>
            <a:r>
              <a:rPr lang="en-US" altLang="en-US" smtClean="0"/>
              <a:t>The entropy for each branch is calculated. Then it is added proportionally, to get total entropy for the split. </a:t>
            </a:r>
          </a:p>
          <a:p>
            <a:r>
              <a:rPr lang="en-US" altLang="en-US" smtClean="0"/>
              <a:t>The resulting entropy is subtracted from the entropy before the split.</a:t>
            </a:r>
          </a:p>
          <a:p>
            <a:r>
              <a:rPr lang="en-US" altLang="en-US" smtClean="0"/>
              <a:t>The result is the Information Gain, or decrease in entropy.</a:t>
            </a:r>
          </a:p>
          <a:p>
            <a:r>
              <a:rPr lang="en-US" altLang="en-US" smtClean="0"/>
              <a:t>The attribute that yields the largest IG is chosen for the decision node.</a:t>
            </a:r>
          </a:p>
          <a:p>
            <a:r>
              <a:rPr lang="en-US" altLang="en-US" smtClean="0"/>
              <a:t>A branch set with entropy of 0 is a leaf node.</a:t>
            </a:r>
          </a:p>
          <a:p>
            <a:r>
              <a:rPr lang="en-US" altLang="en-US" smtClean="0"/>
              <a:t>Otherwise, the branch needs further splitting to classify its dataset.</a:t>
            </a:r>
          </a:p>
          <a:p>
            <a:r>
              <a:rPr lang="en-US" altLang="en-US" smtClean="0"/>
              <a:t>The ID3 algorithm is run recursively on the non-leaf branches, until all data is classified.</a:t>
            </a:r>
            <a:endParaRPr lang="en-US" altLang="en-US" dirty="0" smtClean="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581543B5-169E-4F18-A386-D1E238827DD6}" type="slidenum">
              <a:rPr lang="en-US" altLang="en-US" smtClean="0"/>
              <a:pPr/>
              <a:t>44</a:t>
            </a:fld>
            <a:endParaRPr lang="en-US" altLang="en-US"/>
          </a:p>
        </p:txBody>
      </p:sp>
      <p:sp>
        <p:nvSpPr>
          <p:cNvPr id="5" name="Footer Placeholder 4"/>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30570667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Slide Number Placeholder 3"/>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7F6E112-5A40-4B2E-9055-12FDD2FDC47E}" type="slidenum">
              <a:rPr lang="en-US" altLang="en-US" smtClean="0"/>
              <a:pPr/>
              <a:t>45</a:t>
            </a:fld>
            <a:endParaRPr lang="en-US" altLang="en-US"/>
          </a:p>
        </p:txBody>
      </p:sp>
      <p:sp>
        <p:nvSpPr>
          <p:cNvPr id="9224" name="Rectangle 2"/>
          <p:cNvSpPr>
            <a:spLocks noChangeArrowheads="1"/>
          </p:cNvSpPr>
          <p:nvPr/>
        </p:nvSpPr>
        <p:spPr bwMode="auto">
          <a:xfrm>
            <a:off x="1701924" y="152400"/>
            <a:ext cx="9000999" cy="1066800"/>
          </a:xfrm>
          <a:prstGeom prst="rect">
            <a:avLst/>
          </a:prstGeom>
          <a:noFill/>
          <a:ln w="9525">
            <a:noFill/>
            <a:miter lim="800000"/>
            <a:headEnd/>
            <a:tailEnd/>
          </a:ln>
        </p:spPr>
        <p:txBody>
          <a:bodyPr anchor="b"/>
          <a:lstStyle/>
          <a:p>
            <a:pPr>
              <a:defRPr/>
            </a:pPr>
            <a:r>
              <a:rPr lang="en-US" sz="3200" b="1" dirty="0">
                <a:solidFill>
                  <a:srgbClr val="C00000"/>
                </a:solidFill>
                <a:latin typeface="+mj-lt"/>
              </a:rPr>
              <a:t>Attribute Selection Measure: Information Gain (ID3/C4.5)</a:t>
            </a:r>
          </a:p>
        </p:txBody>
      </p:sp>
      <p:sp>
        <p:nvSpPr>
          <p:cNvPr id="48134" name="Rectangle 3"/>
          <p:cNvSpPr>
            <a:spLocks noChangeArrowheads="1"/>
          </p:cNvSpPr>
          <p:nvPr/>
        </p:nvSpPr>
        <p:spPr bwMode="auto">
          <a:xfrm>
            <a:off x="1701924" y="1253580"/>
            <a:ext cx="7666794"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20000"/>
              </a:spcBef>
              <a:buClr>
                <a:schemeClr val="folHlink"/>
              </a:buClr>
              <a:buSzPct val="60000"/>
              <a:buFont typeface="Wingdings" panose="05000000000000000000" pitchFamily="2" charset="2"/>
              <a:buChar char="n"/>
            </a:pPr>
            <a:r>
              <a:rPr lang="en-US" altLang="en-US" sz="2000" dirty="0"/>
              <a:t>Select the attribute with the highest information gain</a:t>
            </a:r>
          </a:p>
          <a:p>
            <a:pPr eaLnBrk="1" hangingPunct="1">
              <a:spcBef>
                <a:spcPct val="20000"/>
              </a:spcBef>
              <a:buClr>
                <a:schemeClr val="folHlink"/>
              </a:buClr>
              <a:buSzPct val="60000"/>
              <a:buFont typeface="Wingdings" panose="05000000000000000000" pitchFamily="2" charset="2"/>
              <a:buChar char="n"/>
            </a:pPr>
            <a:r>
              <a:rPr lang="en-US" altLang="en-US" sz="2000" dirty="0"/>
              <a:t>Let </a:t>
            </a:r>
            <a:r>
              <a:rPr lang="en-US" altLang="en-US" sz="2000" i="1" dirty="0"/>
              <a:t>p</a:t>
            </a:r>
            <a:r>
              <a:rPr lang="en-US" altLang="en-US" sz="2000" i="1" baseline="-25000" dirty="0"/>
              <a:t>i</a:t>
            </a:r>
            <a:r>
              <a:rPr lang="en-US" altLang="en-US" sz="2000" dirty="0"/>
              <a:t> be the probability that an arbitrary tuple in D belongs to class C</a:t>
            </a:r>
            <a:r>
              <a:rPr lang="en-US" altLang="en-US" sz="2000" baseline="-25000" dirty="0"/>
              <a:t>i</a:t>
            </a:r>
            <a:r>
              <a:rPr lang="en-US" altLang="en-US" sz="2000" dirty="0"/>
              <a:t>, estimated by |C</a:t>
            </a:r>
            <a:r>
              <a:rPr lang="en-US" altLang="en-US" sz="2000" i="1" baseline="-25000" dirty="0"/>
              <a:t>i</a:t>
            </a:r>
            <a:r>
              <a:rPr lang="en-US" altLang="en-US" sz="2000" baseline="-25000" dirty="0"/>
              <a:t>, D</a:t>
            </a:r>
            <a:r>
              <a:rPr lang="en-US" altLang="en-US" sz="2000" dirty="0"/>
              <a:t>|/|D|</a:t>
            </a:r>
          </a:p>
          <a:p>
            <a:pPr eaLnBrk="1" hangingPunct="1">
              <a:spcBef>
                <a:spcPct val="20000"/>
              </a:spcBef>
              <a:buClr>
                <a:schemeClr val="folHlink"/>
              </a:buClr>
              <a:buSzPct val="60000"/>
              <a:buFont typeface="Wingdings" panose="05000000000000000000" pitchFamily="2" charset="2"/>
              <a:buChar char="n"/>
            </a:pPr>
            <a:r>
              <a:rPr lang="en-US" altLang="en-US" sz="2000" dirty="0"/>
              <a:t>Expected information (entropy) needed to classify a tuple in D:</a:t>
            </a:r>
          </a:p>
          <a:p>
            <a:pPr eaLnBrk="1" hangingPunct="1">
              <a:spcBef>
                <a:spcPct val="20000"/>
              </a:spcBef>
              <a:buClr>
                <a:schemeClr val="folHlink"/>
              </a:buClr>
              <a:buSzPct val="60000"/>
              <a:buFont typeface="Wingdings" panose="05000000000000000000" pitchFamily="2" charset="2"/>
              <a:buChar char="n"/>
            </a:pPr>
            <a:endParaRPr lang="en-US" altLang="en-US" sz="2000" dirty="0"/>
          </a:p>
          <a:p>
            <a:pPr eaLnBrk="1" hangingPunct="1">
              <a:spcBef>
                <a:spcPct val="20000"/>
              </a:spcBef>
              <a:buClr>
                <a:schemeClr val="folHlink"/>
              </a:buClr>
              <a:buSzPct val="60000"/>
              <a:buFont typeface="Wingdings" panose="05000000000000000000" pitchFamily="2" charset="2"/>
              <a:buChar char="n"/>
            </a:pPr>
            <a:r>
              <a:rPr lang="en-US" altLang="en-US" sz="2000" dirty="0"/>
              <a:t>Information needed (after using A to split D into v partitions) to classify D:</a:t>
            </a:r>
          </a:p>
          <a:p>
            <a:pPr eaLnBrk="1" hangingPunct="1">
              <a:spcBef>
                <a:spcPct val="20000"/>
              </a:spcBef>
              <a:buClr>
                <a:schemeClr val="folHlink"/>
              </a:buClr>
              <a:buSzPct val="60000"/>
              <a:buFont typeface="Wingdings" panose="05000000000000000000" pitchFamily="2" charset="2"/>
              <a:buChar char="n"/>
            </a:pPr>
            <a:endParaRPr lang="en-US" altLang="en-US" sz="2000" dirty="0"/>
          </a:p>
          <a:p>
            <a:pPr eaLnBrk="1" hangingPunct="1">
              <a:spcBef>
                <a:spcPct val="20000"/>
              </a:spcBef>
              <a:buClr>
                <a:schemeClr val="folHlink"/>
              </a:buClr>
              <a:buSzPct val="60000"/>
              <a:buFont typeface="Wingdings" panose="05000000000000000000" pitchFamily="2" charset="2"/>
              <a:buChar char="n"/>
            </a:pPr>
            <a:r>
              <a:rPr lang="en-US" altLang="en-US" sz="2000" dirty="0"/>
              <a:t>Information gained by branching on attribute A</a:t>
            </a:r>
          </a:p>
          <a:p>
            <a:pPr eaLnBrk="1" hangingPunct="1">
              <a:spcBef>
                <a:spcPct val="20000"/>
              </a:spcBef>
              <a:buClr>
                <a:schemeClr val="folHlink"/>
              </a:buClr>
              <a:buSzPct val="60000"/>
              <a:buFont typeface="Wingdings" panose="05000000000000000000" pitchFamily="2" charset="2"/>
              <a:buChar char="n"/>
            </a:pPr>
            <a:endParaRPr lang="en-US" altLang="en-US" sz="2000" dirty="0"/>
          </a:p>
        </p:txBody>
      </p:sp>
      <p:graphicFrame>
        <p:nvGraphicFramePr>
          <p:cNvPr id="48135" name="Object 4"/>
          <p:cNvGraphicFramePr>
            <a:graphicFrameLocks noChangeAspect="1"/>
          </p:cNvGraphicFramePr>
          <p:nvPr>
            <p:extLst>
              <p:ext uri="{D42A27DB-BD31-4B8C-83A1-F6EECF244321}">
                <p14:modId xmlns:p14="http://schemas.microsoft.com/office/powerpoint/2010/main" val="2106691463"/>
              </p:ext>
            </p:extLst>
          </p:nvPr>
        </p:nvGraphicFramePr>
        <p:xfrm>
          <a:off x="3790156" y="3231333"/>
          <a:ext cx="2708275" cy="695325"/>
        </p:xfrm>
        <a:graphic>
          <a:graphicData uri="http://schemas.openxmlformats.org/presentationml/2006/ole">
            <mc:AlternateContent xmlns:mc="http://schemas.openxmlformats.org/markup-compatibility/2006">
              <mc:Choice xmlns:v="urn:schemas-microsoft-com:vml" Requires="v">
                <p:oleObj spid="_x0000_s14359" name="Equation" r:id="rId4" imgW="1612900" imgH="431800" progId="Equation.3">
                  <p:embed/>
                </p:oleObj>
              </mc:Choice>
              <mc:Fallback>
                <p:oleObj name="Equation" r:id="rId4" imgW="16129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0156" y="3231333"/>
                        <a:ext cx="2708275" cy="69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6" name="Object 5"/>
          <p:cNvGraphicFramePr>
            <a:graphicFrameLocks noChangeAspect="1"/>
          </p:cNvGraphicFramePr>
          <p:nvPr>
            <p:extLst>
              <p:ext uri="{D42A27DB-BD31-4B8C-83A1-F6EECF244321}">
                <p14:modId xmlns:p14="http://schemas.microsoft.com/office/powerpoint/2010/main" val="3704424907"/>
              </p:ext>
            </p:extLst>
          </p:nvPr>
        </p:nvGraphicFramePr>
        <p:xfrm>
          <a:off x="3540125" y="4488247"/>
          <a:ext cx="2568575" cy="766763"/>
        </p:xfrm>
        <a:graphic>
          <a:graphicData uri="http://schemas.openxmlformats.org/presentationml/2006/ole">
            <mc:AlternateContent xmlns:mc="http://schemas.openxmlformats.org/markup-compatibility/2006">
              <mc:Choice xmlns:v="urn:schemas-microsoft-com:vml" Requires="v">
                <p:oleObj spid="_x0000_s14360" name="Equation" r:id="rId6" imgW="1714500" imgH="457200" progId="Equation.3">
                  <p:embed/>
                </p:oleObj>
              </mc:Choice>
              <mc:Fallback>
                <p:oleObj name="Equation" r:id="rId6" imgW="17145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40125" y="4488247"/>
                        <a:ext cx="2568575"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7" name="Object 6"/>
          <p:cNvGraphicFramePr>
            <a:graphicFrameLocks noChangeAspect="1"/>
          </p:cNvGraphicFramePr>
          <p:nvPr>
            <p:extLst>
              <p:ext uri="{D42A27DB-BD31-4B8C-83A1-F6EECF244321}">
                <p14:modId xmlns:p14="http://schemas.microsoft.com/office/powerpoint/2010/main" val="4189253457"/>
              </p:ext>
            </p:extLst>
          </p:nvPr>
        </p:nvGraphicFramePr>
        <p:xfrm>
          <a:off x="3574355" y="5391647"/>
          <a:ext cx="3324225" cy="376238"/>
        </p:xfrm>
        <a:graphic>
          <a:graphicData uri="http://schemas.openxmlformats.org/presentationml/2006/ole">
            <mc:AlternateContent xmlns:mc="http://schemas.openxmlformats.org/markup-compatibility/2006">
              <mc:Choice xmlns:v="urn:schemas-microsoft-com:vml" Requires="v">
                <p:oleObj spid="_x0000_s14361" name="Equation" r:id="rId8" imgW="1511300" imgH="190500" progId="Equation.3">
                  <p:embed/>
                </p:oleObj>
              </mc:Choice>
              <mc:Fallback>
                <p:oleObj name="Equation" r:id="rId8" imgW="1511300" imgH="1905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4355" y="5391647"/>
                        <a:ext cx="33242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Footer Placeholder 3"/>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3717019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6"/>
          <p:cNvSpPr>
            <a:spLocks noGrp="1" noChangeArrowheads="1"/>
          </p:cNvSpPr>
          <p:nvPr>
            <p:ph type="title"/>
          </p:nvPr>
        </p:nvSpPr>
        <p:spPr/>
        <p:txBody>
          <a:bodyPr/>
          <a:lstStyle/>
          <a:p>
            <a:r>
              <a:rPr lang="en-US" altLang="en-US" smtClean="0"/>
              <a:t>What is ID3?</a:t>
            </a:r>
          </a:p>
        </p:txBody>
      </p:sp>
      <p:sp>
        <p:nvSpPr>
          <p:cNvPr id="49158" name="Rectangle 1027"/>
          <p:cNvSpPr>
            <a:spLocks noGrp="1" noChangeArrowheads="1"/>
          </p:cNvSpPr>
          <p:nvPr>
            <p:ph sz="quarter" idx="1"/>
          </p:nvPr>
        </p:nvSpPr>
        <p:spPr/>
        <p:txBody>
          <a:bodyPr>
            <a:normAutofit/>
          </a:bodyPr>
          <a:lstStyle/>
          <a:p>
            <a:r>
              <a:rPr lang="en-US" altLang="en-US" smtClean="0"/>
              <a:t>A mathematical algorithm for building the decision tree</a:t>
            </a:r>
          </a:p>
          <a:p>
            <a:r>
              <a:rPr lang="en-US" altLang="en-US" smtClean="0"/>
              <a:t>Invented by J. Ross Quinlan in 1979</a:t>
            </a:r>
          </a:p>
          <a:p>
            <a:r>
              <a:rPr lang="en-US" altLang="en-US" smtClean="0"/>
              <a:t>Uses Information Theory invented by Shannon in 1948</a:t>
            </a:r>
          </a:p>
          <a:p>
            <a:r>
              <a:rPr lang="en-US" altLang="en-US" smtClean="0"/>
              <a:t>Builds the tree from the top down, with no backtracking</a:t>
            </a:r>
          </a:p>
          <a:p>
            <a:r>
              <a:rPr lang="en-US" altLang="en-US" smtClean="0"/>
              <a:t>An attribute selection measure is a heuristic for selecting the splitting criteria that best separates a given data set into individual classes</a:t>
            </a:r>
          </a:p>
          <a:p>
            <a:r>
              <a:rPr lang="en-US" altLang="en-US" smtClean="0"/>
              <a:t>Information Gain (IG) is used to select the most useful attribute for classification</a:t>
            </a:r>
          </a:p>
          <a:p>
            <a:endParaRPr lang="en-US" altLang="en-US" smtClean="0"/>
          </a:p>
        </p:txBody>
      </p:sp>
      <p:sp>
        <p:nvSpPr>
          <p:cNvPr id="45061"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9A87C68-6D45-4C52-B05C-3F54CB2EF534}" type="slidenum">
              <a:rPr lang="en-US" altLang="en-US" smtClean="0"/>
              <a:pPr/>
              <a:t>46</a:t>
            </a:fld>
            <a:endParaRPr lang="en-US" altLang="en-US"/>
          </a:p>
        </p:txBody>
      </p:sp>
      <p:sp>
        <p:nvSpPr>
          <p:cNvPr id="2" name="Footer Placeholder 1"/>
          <p:cNvSpPr>
            <a:spLocks noGrp="1"/>
          </p:cNvSpPr>
          <p:nvPr>
            <p:ph type="ftr" sz="quarter" idx="11"/>
          </p:nvPr>
        </p:nvSpPr>
        <p:spPr/>
        <p:txBody>
          <a:bodyPr/>
          <a:lstStyle/>
          <a:p>
            <a:r>
              <a:rPr lang="en-US" smtClean="0"/>
              <a:t>Dr. S. Nandagopalan</a:t>
            </a:r>
            <a:endParaRPr lang="en-US" dirty="0"/>
          </a:p>
        </p:txBody>
      </p:sp>
    </p:spTree>
    <p:extLst>
      <p:ext uri="{BB962C8B-B14F-4D97-AF65-F5344CB8AC3E}">
        <p14:creationId xmlns:p14="http://schemas.microsoft.com/office/powerpoint/2010/main" val="6967582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865" name="Group 105"/>
          <p:cNvGraphicFramePr>
            <a:graphicFrameLocks noGrp="1"/>
          </p:cNvGraphicFramePr>
          <p:nvPr>
            <p:extLst/>
          </p:nvPr>
        </p:nvGraphicFramePr>
        <p:xfrm>
          <a:off x="3198812" y="1219200"/>
          <a:ext cx="7106093" cy="4475170"/>
        </p:xfrm>
        <a:graphic>
          <a:graphicData uri="http://schemas.openxmlformats.org/drawingml/2006/table">
            <a:tbl>
              <a:tblPr/>
              <a:tblGrid>
                <a:gridCol w="2368698">
                  <a:extLst>
                    <a:ext uri="{9D8B030D-6E8A-4147-A177-3AD203B41FA5}">
                      <a16:colId xmlns:a16="http://schemas.microsoft.com/office/drawing/2014/main" xmlns="" val="20000"/>
                    </a:ext>
                  </a:extLst>
                </a:gridCol>
                <a:gridCol w="1259248">
                  <a:extLst>
                    <a:ext uri="{9D8B030D-6E8A-4147-A177-3AD203B41FA5}">
                      <a16:colId xmlns:a16="http://schemas.microsoft.com/office/drawing/2014/main" xmlns="" val="20001"/>
                    </a:ext>
                  </a:extLst>
                </a:gridCol>
                <a:gridCol w="1296698">
                  <a:extLst>
                    <a:ext uri="{9D8B030D-6E8A-4147-A177-3AD203B41FA5}">
                      <a16:colId xmlns:a16="http://schemas.microsoft.com/office/drawing/2014/main" xmlns="" val="20002"/>
                    </a:ext>
                  </a:extLst>
                </a:gridCol>
                <a:gridCol w="926882">
                  <a:extLst>
                    <a:ext uri="{9D8B030D-6E8A-4147-A177-3AD203B41FA5}">
                      <a16:colId xmlns:a16="http://schemas.microsoft.com/office/drawing/2014/main" xmlns="" val="20003"/>
                    </a:ext>
                  </a:extLst>
                </a:gridCol>
                <a:gridCol w="1254567">
                  <a:extLst>
                    <a:ext uri="{9D8B030D-6E8A-4147-A177-3AD203B41FA5}">
                      <a16:colId xmlns:a16="http://schemas.microsoft.com/office/drawing/2014/main" xmlns="" val="20004"/>
                    </a:ext>
                  </a:extLst>
                </a:gridCol>
              </a:tblGrid>
              <a:tr h="701032">
                <a:tc>
                  <a:txBody>
                    <a:bodyPr/>
                    <a:lstStyle/>
                    <a:p>
                      <a:pPr marL="342900" marR="0" lvl="0" indent="-342900" algn="ctr" defTabSz="914400" rtl="0" eaLnBrk="0" fontAlgn="base" latinLnBrk="0" hangingPunct="0">
                        <a:lnSpc>
                          <a:spcPct val="100000"/>
                        </a:lnSpc>
                        <a:spcBef>
                          <a:spcPct val="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chemeClr val="tx1"/>
                          </a:solidFill>
                          <a:effectLst/>
                          <a:latin typeface="Verdana" pitchFamily="34" charset="0"/>
                        </a:rPr>
                        <a:t>Person</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chemeClr val="tx1"/>
                          </a:solidFill>
                          <a:effectLst/>
                          <a:latin typeface="Verdana" pitchFamily="34" charset="0"/>
                        </a:rPr>
                        <a:t>Hair Length</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chemeClr val="tx1"/>
                          </a:solidFill>
                          <a:effectLst/>
                          <a:latin typeface="Verdana" pitchFamily="34" charset="0"/>
                        </a:rPr>
                        <a:t>Weight</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chemeClr val="tx1"/>
                          </a:solidFill>
                          <a:effectLst/>
                          <a:latin typeface="Verdana" pitchFamily="34" charset="0"/>
                        </a:rPr>
                        <a:t>Age</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chemeClr val="tx1"/>
                          </a:solidFill>
                          <a:effectLst/>
                          <a:latin typeface="Verdana" pitchFamily="34" charset="0"/>
                        </a:rPr>
                        <a:t>Class</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solidFill>
                  </a:tcPr>
                </a:tc>
                <a:extLst>
                  <a:ext uri="{0D108BD9-81ED-4DB2-BD59-A6C34878D82A}">
                    <a16:rowId xmlns:a16="http://schemas.microsoft.com/office/drawing/2014/main" xmlns="" val="10000"/>
                  </a:ext>
                </a:extLst>
              </a:tr>
              <a:tr h="425345">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       </a:t>
                      </a:r>
                      <a:r>
                        <a:rPr kumimoji="0" lang="en-US" sz="1800" b="0" i="0" u="none" strike="noStrike" cap="none" normalizeH="0" baseline="0" dirty="0" smtClean="0">
                          <a:ln>
                            <a:noFill/>
                          </a:ln>
                          <a:solidFill>
                            <a:schemeClr val="tx1"/>
                          </a:solidFill>
                          <a:effectLst/>
                          <a:latin typeface="Verdana" pitchFamily="34" charset="0"/>
                        </a:rPr>
                        <a:t> </a:t>
                      </a:r>
                      <a:r>
                        <a:rPr kumimoji="0" lang="en-US" sz="1800" b="0" i="0" u="none" strike="noStrike" cap="none" normalizeH="0" baseline="0" dirty="0" err="1" smtClean="0">
                          <a:ln>
                            <a:noFill/>
                          </a:ln>
                          <a:solidFill>
                            <a:schemeClr val="tx1"/>
                          </a:solidFill>
                          <a:effectLst/>
                          <a:latin typeface="Verdana" pitchFamily="34" charset="0"/>
                        </a:rPr>
                        <a:t>ShivKumar</a:t>
                      </a:r>
                      <a:endParaRPr kumimoji="0" lang="en-US" sz="2000" b="0" i="0" u="none" strike="noStrike" cap="none" normalizeH="0" baseline="0" dirty="0" smtClean="0">
                        <a:ln>
                          <a:noFill/>
                        </a:ln>
                        <a:solidFill>
                          <a:schemeClr val="tx1"/>
                        </a:solidFill>
                        <a:effectLst/>
                        <a:latin typeface="Verdana" pitchFamily="34" charset="0"/>
                      </a:endParaRP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250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36</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0000FF"/>
                          </a:solidFill>
                          <a:effectLst/>
                          <a:latin typeface="Verdana" pitchFamily="34" charset="0"/>
                        </a:rPr>
                        <a:t>M</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2406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err="1" smtClean="0">
                          <a:ln>
                            <a:noFill/>
                          </a:ln>
                          <a:solidFill>
                            <a:schemeClr val="tx1"/>
                          </a:solidFill>
                          <a:effectLst/>
                          <a:latin typeface="Verdana" pitchFamily="34" charset="0"/>
                        </a:rPr>
                        <a:t>Pallavi</a:t>
                      </a:r>
                      <a:endParaRPr kumimoji="0" lang="en-US" sz="2000" b="0" i="0" u="none" strike="noStrike" cap="none" normalizeH="0" baseline="0" dirty="0" smtClean="0">
                        <a:ln>
                          <a:noFill/>
                        </a:ln>
                        <a:solidFill>
                          <a:schemeClr val="tx1"/>
                        </a:solidFill>
                        <a:effectLst/>
                        <a:latin typeface="Verdana" pitchFamily="34" charset="0"/>
                      </a:endParaRP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10”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150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34</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FF0000"/>
                          </a:solidFill>
                          <a:effectLst/>
                          <a:latin typeface="Verdana" pitchFamily="34" charset="0"/>
                        </a:rPr>
                        <a:t>F</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2406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err="1" smtClean="0">
                          <a:ln>
                            <a:noFill/>
                          </a:ln>
                          <a:solidFill>
                            <a:schemeClr val="tx1"/>
                          </a:solidFill>
                          <a:effectLst/>
                          <a:latin typeface="Verdana" pitchFamily="34" charset="0"/>
                        </a:rPr>
                        <a:t>Chavan</a:t>
                      </a:r>
                      <a:endParaRPr kumimoji="0" lang="en-US" sz="2000" b="0" i="0" u="none" strike="noStrike" cap="none" normalizeH="0" baseline="0" dirty="0" smtClean="0">
                        <a:ln>
                          <a:noFill/>
                        </a:ln>
                        <a:solidFill>
                          <a:schemeClr val="tx1"/>
                        </a:solidFill>
                        <a:effectLst/>
                        <a:latin typeface="Verdana" pitchFamily="34" charset="0"/>
                      </a:endParaRP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2”</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90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10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0000FF"/>
                          </a:solidFill>
                          <a:effectLst/>
                          <a:latin typeface="Verdana" pitchFamily="34" charset="0"/>
                        </a:rPr>
                        <a:t>M</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22776">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err="1" smtClean="0">
                          <a:ln>
                            <a:noFill/>
                          </a:ln>
                          <a:solidFill>
                            <a:schemeClr val="tx1"/>
                          </a:solidFill>
                          <a:effectLst/>
                          <a:latin typeface="Verdana" pitchFamily="34" charset="0"/>
                        </a:rPr>
                        <a:t>Vasudha</a:t>
                      </a:r>
                      <a:endParaRPr kumimoji="0" lang="en-US" sz="2000" b="0" i="0" u="none" strike="noStrike" cap="none" normalizeH="0" baseline="0" dirty="0" smtClean="0">
                        <a:ln>
                          <a:noFill/>
                        </a:ln>
                        <a:solidFill>
                          <a:schemeClr val="tx1"/>
                        </a:solidFill>
                        <a:effectLst/>
                        <a:latin typeface="Verdana" pitchFamily="34" charset="0"/>
                      </a:endParaRP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6”</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78</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8</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FF0000"/>
                          </a:solidFill>
                          <a:effectLst/>
                          <a:latin typeface="Verdana" pitchFamily="34" charset="0"/>
                        </a:rPr>
                        <a:t>F</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2406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err="1" smtClean="0">
                          <a:ln>
                            <a:noFill/>
                          </a:ln>
                          <a:solidFill>
                            <a:schemeClr val="tx1"/>
                          </a:solidFill>
                          <a:effectLst/>
                          <a:latin typeface="Verdana" pitchFamily="34" charset="0"/>
                        </a:rPr>
                        <a:t>Yamini</a:t>
                      </a:r>
                      <a:endParaRPr kumimoji="0" lang="en-US" sz="2000" b="0" i="0" u="none" strike="noStrike" cap="none" normalizeH="0" baseline="0" dirty="0" smtClean="0">
                        <a:ln>
                          <a:noFill/>
                        </a:ln>
                        <a:solidFill>
                          <a:schemeClr val="tx1"/>
                        </a:solidFill>
                        <a:effectLst/>
                        <a:latin typeface="Verdana" pitchFamily="34" charset="0"/>
                      </a:endParaRP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4”</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20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1</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FF0000"/>
                          </a:solidFill>
                          <a:effectLst/>
                          <a:latin typeface="Verdana" pitchFamily="34" charset="0"/>
                        </a:rPr>
                        <a:t>F</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2406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err="1" smtClean="0">
                          <a:ln>
                            <a:noFill/>
                          </a:ln>
                          <a:solidFill>
                            <a:schemeClr val="tx1"/>
                          </a:solidFill>
                          <a:effectLst/>
                          <a:latin typeface="Verdana" pitchFamily="34" charset="0"/>
                        </a:rPr>
                        <a:t>Murali</a:t>
                      </a:r>
                      <a:endParaRPr kumimoji="0" lang="en-US" sz="2000" b="0" i="0" u="none" strike="noStrike" cap="none" normalizeH="0" baseline="0" dirty="0" smtClean="0">
                        <a:ln>
                          <a:noFill/>
                        </a:ln>
                        <a:solidFill>
                          <a:schemeClr val="tx1"/>
                        </a:solidFill>
                        <a:effectLst/>
                        <a:latin typeface="Verdana" pitchFamily="34" charset="0"/>
                      </a:endParaRP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1”</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170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70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0000FF"/>
                          </a:solidFill>
                          <a:effectLst/>
                          <a:latin typeface="Verdana" pitchFamily="34" charset="0"/>
                        </a:rPr>
                        <a:t>M</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424060">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Pooja</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8”</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160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41</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FF0000"/>
                          </a:solidFill>
                          <a:effectLst/>
                          <a:latin typeface="Verdana" pitchFamily="34" charset="0"/>
                        </a:rPr>
                        <a:t>F</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403499">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Deepak</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10”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180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38</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0000FF"/>
                          </a:solidFill>
                          <a:effectLst/>
                          <a:latin typeface="Verdana" pitchFamily="34" charset="0"/>
                        </a:rPr>
                        <a:t>M</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402214">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Ameer</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6”</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200</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45</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0000FF"/>
                          </a:solidFill>
                          <a:effectLst/>
                          <a:latin typeface="Verdana" pitchFamily="34" charset="0"/>
                        </a:rPr>
                        <a:t>M</a:t>
                      </a:r>
                    </a:p>
                  </a:txBody>
                  <a:tcPr marT="45718" marB="457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bl>
          </a:graphicData>
        </a:graphic>
      </p:graphicFrame>
      <p:sp>
        <p:nvSpPr>
          <p:cNvPr id="52294" name="Rectangle 70"/>
          <p:cNvSpPr>
            <a:spLocks noChangeArrowheads="1"/>
          </p:cNvSpPr>
          <p:nvPr/>
        </p:nvSpPr>
        <p:spPr bwMode="auto">
          <a:xfrm>
            <a:off x="4718051" y="110013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2295" name="Rectangle 71"/>
          <p:cNvSpPr>
            <a:spLocks noChangeArrowheads="1"/>
          </p:cNvSpPr>
          <p:nvPr/>
        </p:nvSpPr>
        <p:spPr bwMode="auto">
          <a:xfrm>
            <a:off x="4718051" y="110013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2296" name="Rectangle 72"/>
          <p:cNvSpPr>
            <a:spLocks noChangeArrowheads="1"/>
          </p:cNvSpPr>
          <p:nvPr/>
        </p:nvSpPr>
        <p:spPr bwMode="auto">
          <a:xfrm>
            <a:off x="4718051" y="110013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2297" name="Rectangle 73"/>
          <p:cNvSpPr>
            <a:spLocks noChangeArrowheads="1"/>
          </p:cNvSpPr>
          <p:nvPr/>
        </p:nvSpPr>
        <p:spPr bwMode="auto">
          <a:xfrm>
            <a:off x="4718051" y="110013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2298" name="Rectangle 74"/>
          <p:cNvSpPr>
            <a:spLocks noChangeArrowheads="1"/>
          </p:cNvSpPr>
          <p:nvPr/>
        </p:nvSpPr>
        <p:spPr bwMode="auto">
          <a:xfrm>
            <a:off x="4718051" y="110013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2299" name="Rectangle 75"/>
          <p:cNvSpPr>
            <a:spLocks noChangeArrowheads="1"/>
          </p:cNvSpPr>
          <p:nvPr/>
        </p:nvSpPr>
        <p:spPr bwMode="auto">
          <a:xfrm>
            <a:off x="4718051" y="110013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2300" name="Rectangle 76"/>
          <p:cNvSpPr>
            <a:spLocks noChangeArrowheads="1"/>
          </p:cNvSpPr>
          <p:nvPr/>
        </p:nvSpPr>
        <p:spPr bwMode="auto">
          <a:xfrm>
            <a:off x="4718051" y="110013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2301" name="Rectangle 77"/>
          <p:cNvSpPr>
            <a:spLocks noChangeArrowheads="1"/>
          </p:cNvSpPr>
          <p:nvPr/>
        </p:nvSpPr>
        <p:spPr bwMode="auto">
          <a:xfrm>
            <a:off x="4718051" y="110013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grpSp>
        <p:nvGrpSpPr>
          <p:cNvPr id="52302" name="Group 78"/>
          <p:cNvGrpSpPr>
            <a:grpSpLocks/>
          </p:cNvGrpSpPr>
          <p:nvPr/>
        </p:nvGrpSpPr>
        <p:grpSpPr bwMode="auto">
          <a:xfrm>
            <a:off x="3597276" y="1928814"/>
            <a:ext cx="566737" cy="3786187"/>
            <a:chOff x="1011" y="744"/>
            <a:chExt cx="423" cy="3469"/>
          </a:xfrm>
        </p:grpSpPr>
        <p:pic>
          <p:nvPicPr>
            <p:cNvPr id="52320" name="Picture 79" descr="homer"/>
            <p:cNvPicPr>
              <a:picLocks noChangeAspect="1" noChangeArrowheads="1"/>
            </p:cNvPicPr>
            <p:nvPr/>
          </p:nvPicPr>
          <p:blipFill>
            <a:blip r:embed="rId3">
              <a:clrChange>
                <a:clrFrom>
                  <a:srgbClr val="65CBFF"/>
                </a:clrFrom>
                <a:clrTo>
                  <a:srgbClr val="65CBFF">
                    <a:alpha val="0"/>
                  </a:srgbClr>
                </a:clrTo>
              </a:clrChange>
              <a:extLst>
                <a:ext uri="{28A0092B-C50C-407E-A947-70E740481C1C}">
                  <a14:useLocalDpi xmlns:a14="http://schemas.microsoft.com/office/drawing/2010/main" val="0"/>
                </a:ext>
              </a:extLst>
            </a:blip>
            <a:srcRect b="42667"/>
            <a:stretch>
              <a:fillRect/>
            </a:stretch>
          </p:blipFill>
          <p:spPr bwMode="auto">
            <a:xfrm>
              <a:off x="1019" y="744"/>
              <a:ext cx="406"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21" name="Picture 80" descr="marge"/>
            <p:cNvPicPr>
              <a:picLocks noChangeAspect="1" noChangeArrowheads="1"/>
            </p:cNvPicPr>
            <p:nvPr/>
          </p:nvPicPr>
          <p:blipFill>
            <a:blip r:embed="rId4">
              <a:clrChange>
                <a:clrFrom>
                  <a:srgbClr val="65CBFF"/>
                </a:clrFrom>
                <a:clrTo>
                  <a:srgbClr val="65CBFF">
                    <a:alpha val="0"/>
                  </a:srgbClr>
                </a:clrTo>
              </a:clrChange>
              <a:extLst>
                <a:ext uri="{28A0092B-C50C-407E-A947-70E740481C1C}">
                  <a14:useLocalDpi xmlns:a14="http://schemas.microsoft.com/office/drawing/2010/main" val="0"/>
                </a:ext>
              </a:extLst>
            </a:blip>
            <a:srcRect b="40851"/>
            <a:stretch>
              <a:fillRect/>
            </a:stretch>
          </p:blipFill>
          <p:spPr bwMode="auto">
            <a:xfrm>
              <a:off x="1019" y="1099"/>
              <a:ext cx="415"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22" name="Picture 81" descr="bart"/>
            <p:cNvPicPr>
              <a:picLocks noChangeAspect="1" noChangeArrowheads="1"/>
            </p:cNvPicPr>
            <p:nvPr/>
          </p:nvPicPr>
          <p:blipFill>
            <a:blip r:embed="rId5">
              <a:clrChange>
                <a:clrFrom>
                  <a:srgbClr val="65CBFF"/>
                </a:clrFrom>
                <a:clrTo>
                  <a:srgbClr val="65CBFF">
                    <a:alpha val="0"/>
                  </a:srgbClr>
                </a:clrTo>
              </a:clrChange>
              <a:extLst>
                <a:ext uri="{28A0092B-C50C-407E-A947-70E740481C1C}">
                  <a14:useLocalDpi xmlns:a14="http://schemas.microsoft.com/office/drawing/2010/main" val="0"/>
                </a:ext>
              </a:extLst>
            </a:blip>
            <a:srcRect b="42667"/>
            <a:stretch>
              <a:fillRect/>
            </a:stretch>
          </p:blipFill>
          <p:spPr bwMode="auto">
            <a:xfrm>
              <a:off x="1019" y="1501"/>
              <a:ext cx="40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23" name="Picture 82" descr="lisa"/>
            <p:cNvPicPr>
              <a:picLocks noChangeAspect="1" noChangeArrowheads="1"/>
            </p:cNvPicPr>
            <p:nvPr/>
          </p:nvPicPr>
          <p:blipFill>
            <a:blip r:embed="rId6">
              <a:clrChange>
                <a:clrFrom>
                  <a:srgbClr val="65CBFF"/>
                </a:clrFrom>
                <a:clrTo>
                  <a:srgbClr val="65CBFF">
                    <a:alpha val="0"/>
                  </a:srgbClr>
                </a:clrTo>
              </a:clrChange>
              <a:extLst>
                <a:ext uri="{28A0092B-C50C-407E-A947-70E740481C1C}">
                  <a14:useLocalDpi xmlns:a14="http://schemas.microsoft.com/office/drawing/2010/main" val="0"/>
                </a:ext>
              </a:extLst>
            </a:blip>
            <a:srcRect b="42667"/>
            <a:stretch>
              <a:fillRect/>
            </a:stretch>
          </p:blipFill>
          <p:spPr bwMode="auto">
            <a:xfrm>
              <a:off x="1019" y="1884"/>
              <a:ext cx="392"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24" name="Picture 83" descr="maggie"/>
            <p:cNvPicPr>
              <a:picLocks noChangeAspect="1" noChangeArrowheads="1"/>
            </p:cNvPicPr>
            <p:nvPr/>
          </p:nvPicPr>
          <p:blipFill>
            <a:blip r:embed="rId7">
              <a:clrChange>
                <a:clrFrom>
                  <a:srgbClr val="65CBFF"/>
                </a:clrFrom>
                <a:clrTo>
                  <a:srgbClr val="65CBFF">
                    <a:alpha val="0"/>
                  </a:srgbClr>
                </a:clrTo>
              </a:clrChange>
              <a:extLst>
                <a:ext uri="{28A0092B-C50C-407E-A947-70E740481C1C}">
                  <a14:useLocalDpi xmlns:a14="http://schemas.microsoft.com/office/drawing/2010/main" val="0"/>
                </a:ext>
              </a:extLst>
            </a:blip>
            <a:srcRect b="40851"/>
            <a:stretch>
              <a:fillRect/>
            </a:stretch>
          </p:blipFill>
          <p:spPr bwMode="auto">
            <a:xfrm>
              <a:off x="1019" y="2258"/>
              <a:ext cx="399"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25" name="Picture 84" descr="grandpa"/>
            <p:cNvPicPr>
              <a:picLocks noChangeAspect="1" noChangeArrowheads="1"/>
            </p:cNvPicPr>
            <p:nvPr/>
          </p:nvPicPr>
          <p:blipFill>
            <a:blip r:embed="rId8">
              <a:clrChange>
                <a:clrFrom>
                  <a:srgbClr val="65CBFF"/>
                </a:clrFrom>
                <a:clrTo>
                  <a:srgbClr val="65CBFF">
                    <a:alpha val="0"/>
                  </a:srgbClr>
                </a:clrTo>
              </a:clrChange>
              <a:extLst>
                <a:ext uri="{28A0092B-C50C-407E-A947-70E740481C1C}">
                  <a14:useLocalDpi xmlns:a14="http://schemas.microsoft.com/office/drawing/2010/main" val="0"/>
                </a:ext>
              </a:extLst>
            </a:blip>
            <a:srcRect r="3369" b="41739"/>
            <a:stretch>
              <a:fillRect/>
            </a:stretch>
          </p:blipFill>
          <p:spPr bwMode="auto">
            <a:xfrm>
              <a:off x="1019" y="2677"/>
              <a:ext cx="397"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26" name="Picture 85" descr="patty"/>
            <p:cNvPicPr>
              <a:picLocks noChangeAspect="1" noChangeArrowheads="1"/>
            </p:cNvPicPr>
            <p:nvPr/>
          </p:nvPicPr>
          <p:blipFill>
            <a:blip r:embed="rId9">
              <a:clrChange>
                <a:clrFrom>
                  <a:srgbClr val="65CBFF"/>
                </a:clrFrom>
                <a:clrTo>
                  <a:srgbClr val="65CBFF">
                    <a:alpha val="0"/>
                  </a:srgbClr>
                </a:clrTo>
              </a:clrChange>
              <a:extLst>
                <a:ext uri="{28A0092B-C50C-407E-A947-70E740481C1C}">
                  <a14:useLocalDpi xmlns:a14="http://schemas.microsoft.com/office/drawing/2010/main" val="0"/>
                </a:ext>
              </a:extLst>
            </a:blip>
            <a:srcRect r="1685" b="41739"/>
            <a:stretch>
              <a:fillRect/>
            </a:stretch>
          </p:blipFill>
          <p:spPr bwMode="auto">
            <a:xfrm>
              <a:off x="1019" y="3060"/>
              <a:ext cx="40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27" name="Picture 86" descr="otto"/>
            <p:cNvPicPr>
              <a:picLocks noChangeAspect="1" noChangeArrowheads="1"/>
            </p:cNvPicPr>
            <p:nvPr/>
          </p:nvPicPr>
          <p:blipFill>
            <a:blip r:embed="rId10">
              <a:clrChange>
                <a:clrFrom>
                  <a:srgbClr val="65CBFF"/>
                </a:clrFrom>
                <a:clrTo>
                  <a:srgbClr val="65CBFF">
                    <a:alpha val="0"/>
                  </a:srgbClr>
                </a:clrTo>
              </a:clrChange>
              <a:extLst>
                <a:ext uri="{28A0092B-C50C-407E-A947-70E740481C1C}">
                  <a14:useLocalDpi xmlns:a14="http://schemas.microsoft.com/office/drawing/2010/main" val="0"/>
                </a:ext>
              </a:extLst>
            </a:blip>
            <a:srcRect l="10521" r="13150" b="41290"/>
            <a:stretch>
              <a:fillRect/>
            </a:stretch>
          </p:blipFill>
          <p:spPr bwMode="auto">
            <a:xfrm>
              <a:off x="1017" y="3443"/>
              <a:ext cx="403"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328" name="Picture 87" descr="krusty"/>
            <p:cNvPicPr>
              <a:picLocks noChangeAspect="1" noChangeArrowheads="1"/>
            </p:cNvPicPr>
            <p:nvPr/>
          </p:nvPicPr>
          <p:blipFill>
            <a:blip r:embed="rId11">
              <a:clrChange>
                <a:clrFrom>
                  <a:srgbClr val="65CBFF"/>
                </a:clrFrom>
                <a:clrTo>
                  <a:srgbClr val="65CBFF">
                    <a:alpha val="0"/>
                  </a:srgbClr>
                </a:clrTo>
              </a:clrChange>
              <a:extLst>
                <a:ext uri="{28A0092B-C50C-407E-A947-70E740481C1C}">
                  <a14:useLocalDpi xmlns:a14="http://schemas.microsoft.com/office/drawing/2010/main" val="0"/>
                </a:ext>
              </a:extLst>
            </a:blip>
            <a:srcRect l="11111" t="1613" r="16872" b="39247"/>
            <a:stretch>
              <a:fillRect/>
            </a:stretch>
          </p:blipFill>
          <p:spPr bwMode="auto">
            <a:xfrm>
              <a:off x="1011" y="3818"/>
              <a:ext cx="419" cy="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117850" name="Group 90"/>
          <p:cNvGraphicFramePr>
            <a:graphicFrameLocks noGrp="1"/>
          </p:cNvGraphicFramePr>
          <p:nvPr>
            <p:extLst/>
          </p:nvPr>
        </p:nvGraphicFramePr>
        <p:xfrm>
          <a:off x="3198811" y="5805283"/>
          <a:ext cx="7106093" cy="517525"/>
        </p:xfrm>
        <a:graphic>
          <a:graphicData uri="http://schemas.openxmlformats.org/drawingml/2006/table">
            <a:tbl>
              <a:tblPr/>
              <a:tblGrid>
                <a:gridCol w="2385239">
                  <a:extLst>
                    <a:ext uri="{9D8B030D-6E8A-4147-A177-3AD203B41FA5}">
                      <a16:colId xmlns:a16="http://schemas.microsoft.com/office/drawing/2014/main" xmlns="" val="20000"/>
                    </a:ext>
                  </a:extLst>
                </a:gridCol>
                <a:gridCol w="1265275">
                  <a:extLst>
                    <a:ext uri="{9D8B030D-6E8A-4147-A177-3AD203B41FA5}">
                      <a16:colId xmlns:a16="http://schemas.microsoft.com/office/drawing/2014/main" xmlns="" val="20001"/>
                    </a:ext>
                  </a:extLst>
                </a:gridCol>
                <a:gridCol w="1265274">
                  <a:extLst>
                    <a:ext uri="{9D8B030D-6E8A-4147-A177-3AD203B41FA5}">
                      <a16:colId xmlns:a16="http://schemas.microsoft.com/office/drawing/2014/main" xmlns="" val="20002"/>
                    </a:ext>
                  </a:extLst>
                </a:gridCol>
                <a:gridCol w="935665">
                  <a:extLst>
                    <a:ext uri="{9D8B030D-6E8A-4147-A177-3AD203B41FA5}">
                      <a16:colId xmlns:a16="http://schemas.microsoft.com/office/drawing/2014/main" xmlns="" val="20003"/>
                    </a:ext>
                  </a:extLst>
                </a:gridCol>
                <a:gridCol w="1254640">
                  <a:extLst>
                    <a:ext uri="{9D8B030D-6E8A-4147-A177-3AD203B41FA5}">
                      <a16:colId xmlns:a16="http://schemas.microsoft.com/office/drawing/2014/main" xmlns="" val="20004"/>
                    </a:ext>
                  </a:extLst>
                </a:gridCol>
              </a:tblGrid>
              <a:tr h="517525">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X</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290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38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itchFamily="2" charset="2"/>
                        <a:buNone/>
                        <a:tabLst/>
                      </a:pPr>
                      <a:r>
                        <a:rPr kumimoji="0" lang="en-US" sz="2000" b="1" i="0" u="none" strike="noStrike" cap="none" normalizeH="0" baseline="0" dirty="0" smtClean="0">
                          <a:ln>
                            <a:noFill/>
                          </a:ln>
                          <a:solidFill>
                            <a:srgbClr val="800080"/>
                          </a:solidFill>
                          <a:effectLst/>
                          <a:latin typeface="Verdana" pitchFamily="34" charset="0"/>
                        </a:rPr>
                        <a:t>?</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xmlns="" val="10000"/>
                  </a:ext>
                </a:extLst>
              </a:tr>
            </a:tbl>
          </a:graphicData>
        </a:graphic>
      </p:graphicFrame>
      <p:sp>
        <p:nvSpPr>
          <p:cNvPr id="52319" name="Title 1"/>
          <p:cNvSpPr>
            <a:spLocks noGrp="1"/>
          </p:cNvSpPr>
          <p:nvPr>
            <p:ph type="title"/>
          </p:nvPr>
        </p:nvSpPr>
        <p:spPr>
          <a:xfrm>
            <a:off x="3198813" y="391623"/>
            <a:ext cx="6589199" cy="890058"/>
          </a:xfrm>
        </p:spPr>
        <p:txBody>
          <a:bodyPr>
            <a:normAutofit/>
          </a:bodyPr>
          <a:lstStyle/>
          <a:p>
            <a:r>
              <a:rPr lang="en-US" altLang="en-US" dirty="0" smtClean="0"/>
              <a:t>Example</a:t>
            </a:r>
          </a:p>
        </p:txBody>
      </p:sp>
      <p:pic>
        <p:nvPicPr>
          <p:cNvPr id="29698" name="Picture 2" descr="Image result for empty picture"/>
          <p:cNvPicPr>
            <a:picLocks noChangeAspect="1" noChangeArrowheads="1"/>
          </p:cNvPicPr>
          <p:nvPr/>
        </p:nvPicPr>
        <p:blipFill>
          <a:blip r:embed="rId12"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3534654" y="5861845"/>
            <a:ext cx="629359" cy="431562"/>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pPr/>
              <a:t>47</a:t>
            </a:fld>
            <a:endParaRPr lang="en-IN" dirty="0"/>
          </a:p>
        </p:txBody>
      </p:sp>
    </p:spTree>
    <p:extLst>
      <p:ext uri="{BB962C8B-B14F-4D97-AF65-F5344CB8AC3E}">
        <p14:creationId xmlns:p14="http://schemas.microsoft.com/office/powerpoint/2010/main" val="10404277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674812" y="5029200"/>
            <a:ext cx="8782050" cy="1238250"/>
          </a:xfrm>
          <a:prstGeom prst="rect">
            <a:avLst/>
          </a:prstGeom>
          <a:solidFill>
            <a:srgbClr val="FFFF99"/>
          </a:solidFill>
          <a:ln w="0">
            <a:solidFill>
              <a:srgbClr val="C0C0C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3251" name="Rectangle 3"/>
          <p:cNvSpPr>
            <a:spLocks noChangeArrowheads="1"/>
          </p:cNvSpPr>
          <p:nvPr/>
        </p:nvSpPr>
        <p:spPr bwMode="auto">
          <a:xfrm>
            <a:off x="2238376" y="268288"/>
            <a:ext cx="3303587" cy="1223962"/>
          </a:xfrm>
          <a:prstGeom prst="rect">
            <a:avLst/>
          </a:prstGeom>
          <a:solidFill>
            <a:schemeClr val="bg1"/>
          </a:solidFill>
          <a:ln w="1270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3252" name="Rectangle 4"/>
          <p:cNvSpPr>
            <a:spLocks noChangeArrowheads="1"/>
          </p:cNvSpPr>
          <p:nvPr/>
        </p:nvSpPr>
        <p:spPr bwMode="auto">
          <a:xfrm>
            <a:off x="1711325" y="2266951"/>
            <a:ext cx="1801812"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3253" name="Line 5"/>
          <p:cNvSpPr>
            <a:spLocks noChangeShapeType="1"/>
          </p:cNvSpPr>
          <p:nvPr/>
        </p:nvSpPr>
        <p:spPr bwMode="auto">
          <a:xfrm flipH="1">
            <a:off x="2693987" y="1492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53254" name="Picture 6" descr="maggi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38563" y="1071564"/>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7" descr="homerthin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55837" y="554038"/>
            <a:ext cx="4699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8" descr="margehopefu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09863" y="390526"/>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7" name="Picture 9" descr="lisawal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02001" y="887413"/>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8" name="Picture 10" descr="bart_look"/>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30538" y="877888"/>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9" name="Picture 11" descr="krusty"/>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70475" y="581025"/>
            <a:ext cx="4429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0" name="Picture 12" descr="ab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994151" y="633413"/>
            <a:ext cx="3000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1" name="Picture 13" descr="otto"/>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678362" y="641351"/>
            <a:ext cx="4206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2" name="Picture 14" descr="selma"/>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292600" y="679451"/>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63" name="Rectangle 15"/>
          <p:cNvSpPr>
            <a:spLocks noChangeArrowheads="1"/>
          </p:cNvSpPr>
          <p:nvPr/>
        </p:nvSpPr>
        <p:spPr bwMode="auto">
          <a:xfrm flipH="1">
            <a:off x="4121151" y="2266951"/>
            <a:ext cx="1849437"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3264" name="Line 16"/>
          <p:cNvSpPr>
            <a:spLocks noChangeShapeType="1"/>
          </p:cNvSpPr>
          <p:nvPr/>
        </p:nvSpPr>
        <p:spPr bwMode="auto">
          <a:xfrm>
            <a:off x="4503737" y="1492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65" name="Rectangle 17"/>
          <p:cNvSpPr>
            <a:spLocks noChangeArrowheads="1"/>
          </p:cNvSpPr>
          <p:nvPr/>
        </p:nvSpPr>
        <p:spPr bwMode="auto">
          <a:xfrm>
            <a:off x="3082925" y="1878013"/>
            <a:ext cx="1695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1600">
                <a:latin typeface="Times New Roman" panose="02020603050405020304" pitchFamily="18" charset="0"/>
              </a:rPr>
              <a:t>Hair Length &lt;= 5?</a:t>
            </a:r>
          </a:p>
        </p:txBody>
      </p:sp>
      <p:sp>
        <p:nvSpPr>
          <p:cNvPr id="53266" name="Text Box 18"/>
          <p:cNvSpPr txBox="1">
            <a:spLocks noChangeArrowheads="1"/>
          </p:cNvSpPr>
          <p:nvPr/>
        </p:nvSpPr>
        <p:spPr bwMode="auto">
          <a:xfrm>
            <a:off x="2766617" y="1641475"/>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3267" name="Text Box 19"/>
          <p:cNvSpPr txBox="1">
            <a:spLocks noChangeArrowheads="1"/>
          </p:cNvSpPr>
          <p:nvPr/>
        </p:nvSpPr>
        <p:spPr bwMode="auto">
          <a:xfrm>
            <a:off x="4665763" y="1593850"/>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pic>
        <p:nvPicPr>
          <p:cNvPr id="53268" name="Picture 20" descr="homerthin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41487" y="2382838"/>
            <a:ext cx="4699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69" name="Picture 21" descr="bart_look"/>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01863" y="2335213"/>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0" name="Picture 22" descr="maggi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76588" y="3052764"/>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1" name="Picture 23" descr="ab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460626" y="2566988"/>
            <a:ext cx="3000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2" name="Picture 24" descr="margehopefu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67188" y="2352676"/>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3" name="Picture 25" descr="krusty"/>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499100" y="2324100"/>
            <a:ext cx="4429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4" name="Picture 26" descr="lisawal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30751" y="2297113"/>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5" name="Picture 27" descr="selma"/>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483100" y="2708276"/>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6" name="Picture 28" descr="otto"/>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097462" y="2660651"/>
            <a:ext cx="4206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77" name="Text Box 29"/>
          <p:cNvSpPr txBox="1">
            <a:spLocks noChangeArrowheads="1"/>
          </p:cNvSpPr>
          <p:nvPr/>
        </p:nvSpPr>
        <p:spPr bwMode="auto">
          <a:xfrm>
            <a:off x="5599112" y="1009651"/>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(4</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,5</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-(4/9)log</a:t>
            </a:r>
            <a:r>
              <a:rPr lang="en-US" altLang="en-US" baseline="-25000">
                <a:latin typeface="Times New Roman" panose="02020603050405020304" pitchFamily="18" charset="0"/>
              </a:rPr>
              <a:t>2</a:t>
            </a:r>
            <a:r>
              <a:rPr lang="en-US" altLang="en-US">
                <a:latin typeface="Times New Roman" panose="02020603050405020304" pitchFamily="18" charset="0"/>
              </a:rPr>
              <a:t>(4/9) - (5/9)log</a:t>
            </a:r>
            <a:r>
              <a:rPr lang="en-US" altLang="en-US" baseline="-25000">
                <a:latin typeface="Times New Roman" panose="02020603050405020304" pitchFamily="18" charset="0"/>
              </a:rPr>
              <a:t>2</a:t>
            </a:r>
            <a:r>
              <a:rPr lang="en-US" altLang="en-US">
                <a:latin typeface="Times New Roman" panose="02020603050405020304" pitchFamily="18" charset="0"/>
              </a:rPr>
              <a:t>(5/9)</a:t>
            </a:r>
          </a:p>
          <a:p>
            <a:r>
              <a:rPr lang="en-US" altLang="en-US">
                <a:latin typeface="Times New Roman" panose="02020603050405020304" pitchFamily="18" charset="0"/>
              </a:rPr>
              <a:t>	            =  </a:t>
            </a:r>
            <a:r>
              <a:rPr lang="en-US" altLang="en-US" b="1">
                <a:solidFill>
                  <a:srgbClr val="FF33CC"/>
                </a:solidFill>
                <a:latin typeface="Times New Roman" panose="02020603050405020304" pitchFamily="18" charset="0"/>
              </a:rPr>
              <a:t>0.9911</a:t>
            </a:r>
            <a:r>
              <a:rPr lang="en-US" altLang="en-US">
                <a:latin typeface="Times New Roman" panose="02020603050405020304" pitchFamily="18" charset="0"/>
              </a:rPr>
              <a:t>	</a:t>
            </a:r>
            <a:endParaRPr lang="en-US" altLang="en-US" sz="2000">
              <a:latin typeface="Times New Roman" panose="02020603050405020304" pitchFamily="18" charset="0"/>
            </a:endParaRPr>
          </a:p>
        </p:txBody>
      </p:sp>
      <p:sp>
        <p:nvSpPr>
          <p:cNvPr id="53278" name="Text Box 30"/>
          <p:cNvSpPr txBox="1">
            <a:spLocks noChangeArrowheads="1"/>
          </p:cNvSpPr>
          <p:nvPr/>
        </p:nvSpPr>
        <p:spPr bwMode="auto">
          <a:xfrm rot="703679">
            <a:off x="919591" y="3954097"/>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(1</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,3</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-(1/4)log</a:t>
            </a:r>
            <a:r>
              <a:rPr lang="en-US" altLang="en-US" baseline="-25000">
                <a:latin typeface="Times New Roman" panose="02020603050405020304" pitchFamily="18" charset="0"/>
              </a:rPr>
              <a:t>2</a:t>
            </a:r>
            <a:r>
              <a:rPr lang="en-US" altLang="en-US">
                <a:latin typeface="Times New Roman" panose="02020603050405020304" pitchFamily="18" charset="0"/>
              </a:rPr>
              <a:t>(1/4) - (3/4)log</a:t>
            </a:r>
            <a:r>
              <a:rPr lang="en-US" altLang="en-US" baseline="-25000">
                <a:latin typeface="Times New Roman" panose="02020603050405020304" pitchFamily="18" charset="0"/>
              </a:rPr>
              <a:t>2</a:t>
            </a:r>
            <a:r>
              <a:rPr lang="en-US" altLang="en-US">
                <a:latin typeface="Times New Roman" panose="02020603050405020304" pitchFamily="18" charset="0"/>
              </a:rPr>
              <a:t>(3/4)</a:t>
            </a:r>
          </a:p>
          <a:p>
            <a:r>
              <a:rPr lang="en-US" altLang="en-US">
                <a:latin typeface="Times New Roman" panose="02020603050405020304" pitchFamily="18" charset="0"/>
              </a:rPr>
              <a:t>	            =  </a:t>
            </a:r>
            <a:r>
              <a:rPr lang="en-US" altLang="en-US" sz="2000" b="1">
                <a:solidFill>
                  <a:srgbClr val="006600"/>
                </a:solidFill>
                <a:latin typeface="Times New Roman" panose="02020603050405020304" pitchFamily="18" charset="0"/>
              </a:rPr>
              <a:t>0.8113</a:t>
            </a:r>
          </a:p>
        </p:txBody>
      </p:sp>
      <p:sp>
        <p:nvSpPr>
          <p:cNvPr id="53279" name="Text Box 31"/>
          <p:cNvSpPr txBox="1">
            <a:spLocks noChangeArrowheads="1"/>
          </p:cNvSpPr>
          <p:nvPr/>
        </p:nvSpPr>
        <p:spPr bwMode="auto">
          <a:xfrm rot="814016">
            <a:off x="4423204" y="3939809"/>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(3</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,2</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-(3/5)log</a:t>
            </a:r>
            <a:r>
              <a:rPr lang="en-US" altLang="en-US" baseline="-25000">
                <a:latin typeface="Times New Roman" panose="02020603050405020304" pitchFamily="18" charset="0"/>
              </a:rPr>
              <a:t>2</a:t>
            </a:r>
            <a:r>
              <a:rPr lang="en-US" altLang="en-US">
                <a:latin typeface="Times New Roman" panose="02020603050405020304" pitchFamily="18" charset="0"/>
              </a:rPr>
              <a:t>(3/5) - (2/5)log</a:t>
            </a:r>
            <a:r>
              <a:rPr lang="en-US" altLang="en-US" baseline="-25000">
                <a:latin typeface="Times New Roman" panose="02020603050405020304" pitchFamily="18" charset="0"/>
              </a:rPr>
              <a:t>2</a:t>
            </a:r>
            <a:r>
              <a:rPr lang="en-US" altLang="en-US">
                <a:latin typeface="Times New Roman" panose="02020603050405020304" pitchFamily="18" charset="0"/>
              </a:rPr>
              <a:t>(2/5)</a:t>
            </a:r>
          </a:p>
          <a:p>
            <a:r>
              <a:rPr lang="en-US" altLang="en-US">
                <a:latin typeface="Times New Roman" panose="02020603050405020304" pitchFamily="18" charset="0"/>
              </a:rPr>
              <a:t>	            =  </a:t>
            </a:r>
            <a:r>
              <a:rPr lang="en-US" altLang="en-US" sz="2000" b="1">
                <a:solidFill>
                  <a:srgbClr val="990099"/>
                </a:solidFill>
                <a:latin typeface="Times New Roman" panose="02020603050405020304" pitchFamily="18" charset="0"/>
              </a:rPr>
              <a:t>0.9710</a:t>
            </a:r>
          </a:p>
        </p:txBody>
      </p:sp>
      <p:graphicFrame>
        <p:nvGraphicFramePr>
          <p:cNvPr id="53280" name="Object 2"/>
          <p:cNvGraphicFramePr>
            <a:graphicFrameLocks noChangeAspect="1"/>
          </p:cNvGraphicFramePr>
          <p:nvPr/>
        </p:nvGraphicFramePr>
        <p:xfrm>
          <a:off x="5638801" y="169863"/>
          <a:ext cx="4841875" cy="615950"/>
        </p:xfrm>
        <a:graphic>
          <a:graphicData uri="http://schemas.openxmlformats.org/presentationml/2006/ole">
            <mc:AlternateContent xmlns:mc="http://schemas.openxmlformats.org/markup-compatibility/2006">
              <mc:Choice xmlns:v="urn:schemas-microsoft-com:vml" Requires="v">
                <p:oleObj spid="_x0000_s15376" name="Equation" r:id="rId13" imgW="3594100" imgH="457200" progId="Equation.3">
                  <p:embed/>
                </p:oleObj>
              </mc:Choice>
              <mc:Fallback>
                <p:oleObj name="Equation" r:id="rId13" imgW="3594100" imgH="4572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38801" y="169863"/>
                        <a:ext cx="4841875"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81" name="Text Box 33"/>
          <p:cNvSpPr txBox="1">
            <a:spLocks noChangeArrowheads="1"/>
          </p:cNvSpPr>
          <p:nvPr/>
        </p:nvSpPr>
        <p:spPr bwMode="auto">
          <a:xfrm>
            <a:off x="1811338" y="5735638"/>
            <a:ext cx="8550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2000" i="1">
                <a:latin typeface="Times New Roman" panose="02020603050405020304" pitchFamily="18" charset="0"/>
              </a:rPr>
              <a:t>Gain</a:t>
            </a:r>
            <a:r>
              <a:rPr lang="en-US" altLang="en-US" sz="2000">
                <a:latin typeface="Times New Roman" panose="02020603050405020304" pitchFamily="18" charset="0"/>
              </a:rPr>
              <a:t>(Hair Length &lt;= 5) = </a:t>
            </a:r>
            <a:r>
              <a:rPr lang="en-US" altLang="en-US" sz="2000" b="1">
                <a:solidFill>
                  <a:srgbClr val="FF33CC"/>
                </a:solidFill>
                <a:latin typeface="Times New Roman" panose="02020603050405020304" pitchFamily="18" charset="0"/>
              </a:rPr>
              <a:t>0.9911</a:t>
            </a:r>
            <a:r>
              <a:rPr lang="en-US" altLang="en-US" sz="2000">
                <a:latin typeface="Times New Roman" panose="02020603050405020304" pitchFamily="18" charset="0"/>
              </a:rPr>
              <a:t> – (4/9 * </a:t>
            </a:r>
            <a:r>
              <a:rPr lang="en-US" altLang="en-US" sz="2000" b="1">
                <a:solidFill>
                  <a:srgbClr val="006600"/>
                </a:solidFill>
                <a:latin typeface="Times New Roman" panose="02020603050405020304" pitchFamily="18" charset="0"/>
              </a:rPr>
              <a:t>0.8113</a:t>
            </a:r>
            <a:r>
              <a:rPr lang="en-US" altLang="en-US" sz="2000">
                <a:latin typeface="Times New Roman" panose="02020603050405020304" pitchFamily="18" charset="0"/>
              </a:rPr>
              <a:t> + 5/9 * </a:t>
            </a:r>
            <a:r>
              <a:rPr lang="en-US" altLang="en-US" sz="2000" b="1">
                <a:solidFill>
                  <a:srgbClr val="990099"/>
                </a:solidFill>
                <a:latin typeface="Times New Roman" panose="02020603050405020304" pitchFamily="18" charset="0"/>
              </a:rPr>
              <a:t>0.9710</a:t>
            </a:r>
            <a:r>
              <a:rPr lang="en-US" altLang="en-US" sz="2000">
                <a:latin typeface="Times New Roman" panose="02020603050405020304" pitchFamily="18" charset="0"/>
              </a:rPr>
              <a:t> ) = </a:t>
            </a:r>
            <a:r>
              <a:rPr lang="en-US" altLang="en-US" sz="2000" b="1">
                <a:latin typeface="Times New Roman" panose="02020603050405020304" pitchFamily="18" charset="0"/>
              </a:rPr>
              <a:t>0.0911</a:t>
            </a:r>
          </a:p>
        </p:txBody>
      </p:sp>
      <p:graphicFrame>
        <p:nvGraphicFramePr>
          <p:cNvPr id="53282" name="Object 3"/>
          <p:cNvGraphicFramePr>
            <a:graphicFrameLocks noChangeAspect="1"/>
          </p:cNvGraphicFramePr>
          <p:nvPr/>
        </p:nvGraphicFramePr>
        <p:xfrm>
          <a:off x="1928812" y="5172076"/>
          <a:ext cx="5746750" cy="479425"/>
        </p:xfrm>
        <a:graphic>
          <a:graphicData uri="http://schemas.openxmlformats.org/presentationml/2006/ole">
            <mc:AlternateContent xmlns:mc="http://schemas.openxmlformats.org/markup-compatibility/2006">
              <mc:Choice xmlns:v="urn:schemas-microsoft-com:vml" Requires="v">
                <p:oleObj spid="_x0000_s15377" name="Equation" r:id="rId15" imgW="3022600" imgH="254000" progId="Equation.3">
                  <p:embed/>
                </p:oleObj>
              </mc:Choice>
              <mc:Fallback>
                <p:oleObj name="Equation" r:id="rId15" imgW="3022600" imgH="2540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8812" y="5172076"/>
                        <a:ext cx="57467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83" name="Text Box 35"/>
          <p:cNvSpPr txBox="1">
            <a:spLocks noChangeArrowheads="1"/>
          </p:cNvSpPr>
          <p:nvPr/>
        </p:nvSpPr>
        <p:spPr bwMode="auto">
          <a:xfrm>
            <a:off x="7634287" y="2336801"/>
            <a:ext cx="2509838" cy="830997"/>
          </a:xfrm>
          <a:prstGeom prst="rect">
            <a:avLst/>
          </a:prstGeom>
          <a:solidFill>
            <a:srgbClr val="C00000"/>
          </a:solidFill>
          <a:ln>
            <a:noFill/>
          </a:ln>
          <a:effectLst>
            <a:outerShdw dist="107763" dir="8100000" algn="ctr" rotWithShape="0">
              <a:srgbClr val="808080"/>
            </a:outerShdw>
          </a:effectLst>
          <a:extLs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a:solidFill>
                  <a:schemeClr val="bg1"/>
                </a:solidFill>
                <a:latin typeface="Calibri" panose="020F0502020204030204" pitchFamily="34" charset="0"/>
              </a:rPr>
              <a:t>Let us try splitting on </a:t>
            </a:r>
            <a:r>
              <a:rPr lang="en-US" altLang="en-US" b="1" i="1">
                <a:solidFill>
                  <a:schemeClr val="bg1"/>
                </a:solidFill>
                <a:latin typeface="Calibri" panose="020F0502020204030204" pitchFamily="34" charset="0"/>
              </a:rPr>
              <a:t>Hair length</a:t>
            </a:r>
          </a:p>
        </p:txBody>
      </p:sp>
      <p:sp>
        <p:nvSpPr>
          <p:cNvPr id="2" name="Footer Placeholder 1"/>
          <p:cNvSpPr>
            <a:spLocks noGrp="1"/>
          </p:cNvSpPr>
          <p:nvPr>
            <p:ph type="ftr" sz="quarter" idx="11"/>
          </p:nvPr>
        </p:nvSpPr>
        <p:spPr/>
        <p:txBody>
          <a:bodyPr/>
          <a:lstStyle/>
          <a:p>
            <a:pPr>
              <a:defRPr/>
            </a:pPr>
            <a:r>
              <a:rPr lang="en-US" smtClean="0"/>
              <a:t>Dr. S. Nandagopalan</a:t>
            </a:r>
            <a:endParaRPr lang="en-US"/>
          </a:p>
        </p:txBody>
      </p:sp>
      <p:sp>
        <p:nvSpPr>
          <p:cNvPr id="3" name="Slide Number Placeholder 2"/>
          <p:cNvSpPr>
            <a:spLocks noGrp="1"/>
          </p:cNvSpPr>
          <p:nvPr>
            <p:ph type="sldNum" sz="quarter" idx="12"/>
          </p:nvPr>
        </p:nvSpPr>
        <p:spPr/>
        <p:txBody>
          <a:bodyPr/>
          <a:lstStyle/>
          <a:p>
            <a:fld id="{8A3F583C-57D4-49AA-9DD7-E040CE84DFC1}" type="slidenum">
              <a:rPr lang="en-US" altLang="en-US" smtClean="0"/>
              <a:pPr/>
              <a:t>48</a:t>
            </a:fld>
            <a:endParaRPr lang="en-US" altLang="en-US"/>
          </a:p>
        </p:txBody>
      </p:sp>
    </p:spTree>
    <p:extLst>
      <p:ext uri="{BB962C8B-B14F-4D97-AF65-F5344CB8AC3E}">
        <p14:creationId xmlns:p14="http://schemas.microsoft.com/office/powerpoint/2010/main" val="493658243"/>
      </p:ext>
    </p:extLst>
  </p:cSld>
  <p:clrMapOvr>
    <a:masterClrMapping/>
  </p:clrMapOvr>
  <p:transition>
    <p:zo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1684337" y="5419725"/>
            <a:ext cx="8782050" cy="1238250"/>
          </a:xfrm>
          <a:prstGeom prst="rect">
            <a:avLst/>
          </a:prstGeom>
          <a:solidFill>
            <a:srgbClr val="FFFF99"/>
          </a:solidFill>
          <a:ln w="0">
            <a:solidFill>
              <a:srgbClr val="C0C0C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4275" name="Rectangle 3"/>
          <p:cNvSpPr>
            <a:spLocks noChangeArrowheads="1"/>
          </p:cNvSpPr>
          <p:nvPr/>
        </p:nvSpPr>
        <p:spPr bwMode="auto">
          <a:xfrm>
            <a:off x="2238376" y="268288"/>
            <a:ext cx="3303587" cy="1223962"/>
          </a:xfrm>
          <a:prstGeom prst="rect">
            <a:avLst/>
          </a:prstGeom>
          <a:solidFill>
            <a:schemeClr val="bg1"/>
          </a:solidFill>
          <a:ln w="1270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4276" name="Rectangle 4"/>
          <p:cNvSpPr>
            <a:spLocks noChangeArrowheads="1"/>
          </p:cNvSpPr>
          <p:nvPr/>
        </p:nvSpPr>
        <p:spPr bwMode="auto">
          <a:xfrm>
            <a:off x="1711325" y="2266951"/>
            <a:ext cx="1801812"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4277" name="Line 5"/>
          <p:cNvSpPr>
            <a:spLocks noChangeShapeType="1"/>
          </p:cNvSpPr>
          <p:nvPr/>
        </p:nvSpPr>
        <p:spPr bwMode="auto">
          <a:xfrm flipH="1">
            <a:off x="2693987" y="1492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54278" name="Picture 6" descr="maggi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38563" y="1071564"/>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7" descr="homerthin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55837" y="554038"/>
            <a:ext cx="4699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8" descr="margehopefu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09863" y="390526"/>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1" name="Picture 9" descr="lisawal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02001" y="887413"/>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2" name="Picture 10" descr="bart_look"/>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30538" y="877888"/>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3" name="Picture 11" descr="krusty"/>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70475" y="581025"/>
            <a:ext cx="4429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4" name="Picture 12" descr="ab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994151" y="633413"/>
            <a:ext cx="3000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5" name="Picture 13" descr="otto"/>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678362" y="641351"/>
            <a:ext cx="4206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6" name="Picture 14" descr="selma"/>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292600" y="679451"/>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7" name="Rectangle 15"/>
          <p:cNvSpPr>
            <a:spLocks noChangeArrowheads="1"/>
          </p:cNvSpPr>
          <p:nvPr/>
        </p:nvSpPr>
        <p:spPr bwMode="auto">
          <a:xfrm flipH="1">
            <a:off x="4121151" y="2266951"/>
            <a:ext cx="1849437"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4288" name="Line 16"/>
          <p:cNvSpPr>
            <a:spLocks noChangeShapeType="1"/>
          </p:cNvSpPr>
          <p:nvPr/>
        </p:nvSpPr>
        <p:spPr bwMode="auto">
          <a:xfrm>
            <a:off x="4503737" y="1492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4289" name="Rectangle 17"/>
          <p:cNvSpPr>
            <a:spLocks noChangeArrowheads="1"/>
          </p:cNvSpPr>
          <p:nvPr/>
        </p:nvSpPr>
        <p:spPr bwMode="auto">
          <a:xfrm>
            <a:off x="3176588" y="1878013"/>
            <a:ext cx="1509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1600">
                <a:latin typeface="Times New Roman" panose="02020603050405020304" pitchFamily="18" charset="0"/>
              </a:rPr>
              <a:t>Weight &lt;= 160?</a:t>
            </a:r>
          </a:p>
        </p:txBody>
      </p:sp>
      <p:sp>
        <p:nvSpPr>
          <p:cNvPr id="54290" name="Text Box 18"/>
          <p:cNvSpPr txBox="1">
            <a:spLocks noChangeArrowheads="1"/>
          </p:cNvSpPr>
          <p:nvPr/>
        </p:nvSpPr>
        <p:spPr bwMode="auto">
          <a:xfrm>
            <a:off x="2766617" y="1641475"/>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4291" name="Text Box 19"/>
          <p:cNvSpPr txBox="1">
            <a:spLocks noChangeArrowheads="1"/>
          </p:cNvSpPr>
          <p:nvPr/>
        </p:nvSpPr>
        <p:spPr bwMode="auto">
          <a:xfrm>
            <a:off x="4665763" y="1593850"/>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pic>
        <p:nvPicPr>
          <p:cNvPr id="54292" name="Picture 20" descr="homerthin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98937" y="2392363"/>
            <a:ext cx="4699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3" name="Picture 21" descr="bart_look"/>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82938" y="2859088"/>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4" name="Picture 22" descr="maggi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62188" y="3043239"/>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5" name="Picture 23" descr="ab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46626" y="2462213"/>
            <a:ext cx="3000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6" name="Picture 24" descr="margehopefu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76413" y="2305051"/>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7" name="Picture 25" descr="krusty"/>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518150" y="2324100"/>
            <a:ext cx="4429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8" name="Picture 26" descr="lisawal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49476" y="2363788"/>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9" name="Picture 27" descr="selma"/>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587625" y="2308226"/>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300" name="Picture 28" descr="otto"/>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049837" y="2622551"/>
            <a:ext cx="4206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01" name="Text Box 29"/>
          <p:cNvSpPr txBox="1">
            <a:spLocks noChangeArrowheads="1"/>
          </p:cNvSpPr>
          <p:nvPr/>
        </p:nvSpPr>
        <p:spPr bwMode="auto">
          <a:xfrm>
            <a:off x="5599112" y="1009651"/>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(4</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,5</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-(4/9)log</a:t>
            </a:r>
            <a:r>
              <a:rPr lang="en-US" altLang="en-US" baseline="-25000">
                <a:latin typeface="Times New Roman" panose="02020603050405020304" pitchFamily="18" charset="0"/>
              </a:rPr>
              <a:t>2</a:t>
            </a:r>
            <a:r>
              <a:rPr lang="en-US" altLang="en-US">
                <a:latin typeface="Times New Roman" panose="02020603050405020304" pitchFamily="18" charset="0"/>
              </a:rPr>
              <a:t>(4/9) - (5/9)log</a:t>
            </a:r>
            <a:r>
              <a:rPr lang="en-US" altLang="en-US" baseline="-25000">
                <a:latin typeface="Times New Roman" panose="02020603050405020304" pitchFamily="18" charset="0"/>
              </a:rPr>
              <a:t>2</a:t>
            </a:r>
            <a:r>
              <a:rPr lang="en-US" altLang="en-US">
                <a:latin typeface="Times New Roman" panose="02020603050405020304" pitchFamily="18" charset="0"/>
              </a:rPr>
              <a:t>(5/9)</a:t>
            </a:r>
          </a:p>
          <a:p>
            <a:r>
              <a:rPr lang="en-US" altLang="en-US">
                <a:latin typeface="Times New Roman" panose="02020603050405020304" pitchFamily="18" charset="0"/>
              </a:rPr>
              <a:t>	            =  </a:t>
            </a:r>
            <a:r>
              <a:rPr lang="en-US" altLang="en-US" b="1">
                <a:solidFill>
                  <a:srgbClr val="FF33CC"/>
                </a:solidFill>
                <a:latin typeface="Times New Roman" panose="02020603050405020304" pitchFamily="18" charset="0"/>
              </a:rPr>
              <a:t>0.9911</a:t>
            </a:r>
            <a:r>
              <a:rPr lang="en-US" altLang="en-US">
                <a:latin typeface="Times New Roman" panose="02020603050405020304" pitchFamily="18" charset="0"/>
              </a:rPr>
              <a:t>	</a:t>
            </a:r>
            <a:endParaRPr lang="en-US" altLang="en-US" sz="2000">
              <a:latin typeface="Times New Roman" panose="02020603050405020304" pitchFamily="18" charset="0"/>
            </a:endParaRPr>
          </a:p>
        </p:txBody>
      </p:sp>
      <p:sp>
        <p:nvSpPr>
          <p:cNvPr id="54302" name="Text Box 30"/>
          <p:cNvSpPr txBox="1">
            <a:spLocks noChangeArrowheads="1"/>
          </p:cNvSpPr>
          <p:nvPr/>
        </p:nvSpPr>
        <p:spPr bwMode="auto">
          <a:xfrm rot="703679">
            <a:off x="919591" y="3954097"/>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(4</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,1</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-(4/5)log</a:t>
            </a:r>
            <a:r>
              <a:rPr lang="en-US" altLang="en-US" baseline="-25000">
                <a:latin typeface="Times New Roman" panose="02020603050405020304" pitchFamily="18" charset="0"/>
              </a:rPr>
              <a:t>2</a:t>
            </a:r>
            <a:r>
              <a:rPr lang="en-US" altLang="en-US">
                <a:latin typeface="Times New Roman" panose="02020603050405020304" pitchFamily="18" charset="0"/>
              </a:rPr>
              <a:t>(4/5) - (1/5)log</a:t>
            </a:r>
            <a:r>
              <a:rPr lang="en-US" altLang="en-US" baseline="-25000">
                <a:latin typeface="Times New Roman" panose="02020603050405020304" pitchFamily="18" charset="0"/>
              </a:rPr>
              <a:t>2</a:t>
            </a:r>
            <a:r>
              <a:rPr lang="en-US" altLang="en-US">
                <a:latin typeface="Times New Roman" panose="02020603050405020304" pitchFamily="18" charset="0"/>
              </a:rPr>
              <a:t>(1/5)</a:t>
            </a:r>
          </a:p>
          <a:p>
            <a:r>
              <a:rPr lang="en-US" altLang="en-US">
                <a:latin typeface="Times New Roman" panose="02020603050405020304" pitchFamily="18" charset="0"/>
              </a:rPr>
              <a:t>	            =  </a:t>
            </a:r>
            <a:r>
              <a:rPr lang="en-US" altLang="en-US" sz="2000" b="1">
                <a:solidFill>
                  <a:srgbClr val="006600"/>
                </a:solidFill>
                <a:latin typeface="Times New Roman" panose="02020603050405020304" pitchFamily="18" charset="0"/>
              </a:rPr>
              <a:t>0.7219</a:t>
            </a:r>
          </a:p>
        </p:txBody>
      </p:sp>
      <p:sp>
        <p:nvSpPr>
          <p:cNvPr id="54303" name="Text Box 31"/>
          <p:cNvSpPr txBox="1">
            <a:spLocks noChangeArrowheads="1"/>
          </p:cNvSpPr>
          <p:nvPr/>
        </p:nvSpPr>
        <p:spPr bwMode="auto">
          <a:xfrm rot="814016">
            <a:off x="4423204" y="3939809"/>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(0</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,4</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-(0/4)log</a:t>
            </a:r>
            <a:r>
              <a:rPr lang="en-US" altLang="en-US" baseline="-25000">
                <a:latin typeface="Times New Roman" panose="02020603050405020304" pitchFamily="18" charset="0"/>
              </a:rPr>
              <a:t>2</a:t>
            </a:r>
            <a:r>
              <a:rPr lang="en-US" altLang="en-US">
                <a:latin typeface="Times New Roman" panose="02020603050405020304" pitchFamily="18" charset="0"/>
              </a:rPr>
              <a:t>(0/4) - (4/4)log</a:t>
            </a:r>
            <a:r>
              <a:rPr lang="en-US" altLang="en-US" baseline="-25000">
                <a:latin typeface="Times New Roman" panose="02020603050405020304" pitchFamily="18" charset="0"/>
              </a:rPr>
              <a:t>2</a:t>
            </a:r>
            <a:r>
              <a:rPr lang="en-US" altLang="en-US">
                <a:latin typeface="Times New Roman" panose="02020603050405020304" pitchFamily="18" charset="0"/>
              </a:rPr>
              <a:t>(4/4)</a:t>
            </a:r>
          </a:p>
          <a:p>
            <a:r>
              <a:rPr lang="en-US" altLang="en-US">
                <a:latin typeface="Times New Roman" panose="02020603050405020304" pitchFamily="18" charset="0"/>
              </a:rPr>
              <a:t>	            =  </a:t>
            </a:r>
            <a:r>
              <a:rPr lang="en-US" altLang="en-US" sz="2000" b="1">
                <a:solidFill>
                  <a:srgbClr val="990099"/>
                </a:solidFill>
                <a:latin typeface="Times New Roman" panose="02020603050405020304" pitchFamily="18" charset="0"/>
              </a:rPr>
              <a:t>0</a:t>
            </a:r>
          </a:p>
        </p:txBody>
      </p:sp>
      <p:graphicFrame>
        <p:nvGraphicFramePr>
          <p:cNvPr id="54304" name="Object 2"/>
          <p:cNvGraphicFramePr>
            <a:graphicFrameLocks noChangeAspect="1"/>
          </p:cNvGraphicFramePr>
          <p:nvPr/>
        </p:nvGraphicFramePr>
        <p:xfrm>
          <a:off x="5638801" y="169863"/>
          <a:ext cx="4841875" cy="615950"/>
        </p:xfrm>
        <a:graphic>
          <a:graphicData uri="http://schemas.openxmlformats.org/presentationml/2006/ole">
            <mc:AlternateContent xmlns:mc="http://schemas.openxmlformats.org/markup-compatibility/2006">
              <mc:Choice xmlns:v="urn:schemas-microsoft-com:vml" Requires="v">
                <p:oleObj spid="_x0000_s16400" name="Equation" r:id="rId13" imgW="3594100" imgH="457200" progId="Equation.3">
                  <p:embed/>
                </p:oleObj>
              </mc:Choice>
              <mc:Fallback>
                <p:oleObj name="Equation" r:id="rId13" imgW="3594100" imgH="4572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38801" y="169863"/>
                        <a:ext cx="4841875"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05" name="Text Box 33"/>
          <p:cNvSpPr txBox="1">
            <a:spLocks noChangeArrowheads="1"/>
          </p:cNvSpPr>
          <p:nvPr/>
        </p:nvSpPr>
        <p:spPr bwMode="auto">
          <a:xfrm>
            <a:off x="1658938" y="6116639"/>
            <a:ext cx="92932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2200" i="1">
                <a:latin typeface="Times New Roman" panose="02020603050405020304" pitchFamily="18" charset="0"/>
              </a:rPr>
              <a:t>Gain</a:t>
            </a:r>
            <a:r>
              <a:rPr lang="en-US" altLang="en-US" sz="2200">
                <a:latin typeface="Times New Roman" panose="02020603050405020304" pitchFamily="18" charset="0"/>
              </a:rPr>
              <a:t>(Weight &lt;= 160) = </a:t>
            </a:r>
            <a:r>
              <a:rPr lang="en-US" altLang="en-US" sz="2200" b="1">
                <a:solidFill>
                  <a:srgbClr val="FF33CC"/>
                </a:solidFill>
                <a:latin typeface="Times New Roman" panose="02020603050405020304" pitchFamily="18" charset="0"/>
              </a:rPr>
              <a:t>0.9911</a:t>
            </a:r>
            <a:r>
              <a:rPr lang="en-US" altLang="en-US" sz="2200">
                <a:latin typeface="Times New Roman" panose="02020603050405020304" pitchFamily="18" charset="0"/>
              </a:rPr>
              <a:t> – (5/9 * </a:t>
            </a:r>
            <a:r>
              <a:rPr lang="en-US" altLang="en-US" sz="2000" b="1">
                <a:solidFill>
                  <a:srgbClr val="006600"/>
                </a:solidFill>
                <a:latin typeface="Times New Roman" panose="02020603050405020304" pitchFamily="18" charset="0"/>
              </a:rPr>
              <a:t>0.7219</a:t>
            </a:r>
            <a:r>
              <a:rPr lang="en-US" altLang="en-US" sz="2200">
                <a:latin typeface="Times New Roman" panose="02020603050405020304" pitchFamily="18" charset="0"/>
              </a:rPr>
              <a:t> + 4/9 * </a:t>
            </a:r>
            <a:r>
              <a:rPr lang="en-US" altLang="en-US" sz="2200" b="1">
                <a:solidFill>
                  <a:srgbClr val="990099"/>
                </a:solidFill>
                <a:latin typeface="Times New Roman" panose="02020603050405020304" pitchFamily="18" charset="0"/>
              </a:rPr>
              <a:t>0</a:t>
            </a:r>
            <a:r>
              <a:rPr lang="en-US" altLang="en-US" sz="2200">
                <a:latin typeface="Times New Roman" panose="02020603050405020304" pitchFamily="18" charset="0"/>
              </a:rPr>
              <a:t> ) = </a:t>
            </a:r>
            <a:r>
              <a:rPr lang="en-US" altLang="en-US" sz="2200" b="1">
                <a:latin typeface="Times New Roman" panose="02020603050405020304" pitchFamily="18" charset="0"/>
              </a:rPr>
              <a:t>0.5900</a:t>
            </a:r>
          </a:p>
        </p:txBody>
      </p:sp>
      <p:graphicFrame>
        <p:nvGraphicFramePr>
          <p:cNvPr id="54306" name="Object 3"/>
          <p:cNvGraphicFramePr>
            <a:graphicFrameLocks noChangeAspect="1"/>
          </p:cNvGraphicFramePr>
          <p:nvPr/>
        </p:nvGraphicFramePr>
        <p:xfrm>
          <a:off x="1776412" y="5553076"/>
          <a:ext cx="5746750" cy="479425"/>
        </p:xfrm>
        <a:graphic>
          <a:graphicData uri="http://schemas.openxmlformats.org/presentationml/2006/ole">
            <mc:AlternateContent xmlns:mc="http://schemas.openxmlformats.org/markup-compatibility/2006">
              <mc:Choice xmlns:v="urn:schemas-microsoft-com:vml" Requires="v">
                <p:oleObj spid="_x0000_s16401" name="Equation" r:id="rId15" imgW="3022600" imgH="254000" progId="Equation.3">
                  <p:embed/>
                </p:oleObj>
              </mc:Choice>
              <mc:Fallback>
                <p:oleObj name="Equation" r:id="rId15" imgW="3022600" imgH="2540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76412" y="5553076"/>
                        <a:ext cx="57467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07" name="Text Box 35"/>
          <p:cNvSpPr txBox="1">
            <a:spLocks noChangeArrowheads="1"/>
          </p:cNvSpPr>
          <p:nvPr/>
        </p:nvSpPr>
        <p:spPr bwMode="auto">
          <a:xfrm>
            <a:off x="7634287" y="2336801"/>
            <a:ext cx="2509838" cy="830997"/>
          </a:xfrm>
          <a:prstGeom prst="rect">
            <a:avLst/>
          </a:prstGeom>
          <a:solidFill>
            <a:srgbClr val="C00000"/>
          </a:solidFill>
          <a:ln>
            <a:noFill/>
          </a:ln>
          <a:effectLst>
            <a:outerShdw dist="107763" dir="8100000" algn="ctr" rotWithShape="0">
              <a:srgbClr val="808080"/>
            </a:outerShdw>
          </a:effectLst>
          <a:extLs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a:solidFill>
                  <a:schemeClr val="bg1"/>
                </a:solidFill>
                <a:latin typeface="Calibri" panose="020F0502020204030204" pitchFamily="34" charset="0"/>
              </a:rPr>
              <a:t>Let us try splitting on </a:t>
            </a:r>
            <a:r>
              <a:rPr lang="en-US" altLang="en-US" b="1" i="1">
                <a:solidFill>
                  <a:schemeClr val="bg1"/>
                </a:solidFill>
                <a:latin typeface="Calibri" panose="020F0502020204030204" pitchFamily="34" charset="0"/>
              </a:rPr>
              <a:t>Weight</a:t>
            </a:r>
          </a:p>
        </p:txBody>
      </p:sp>
      <p:sp>
        <p:nvSpPr>
          <p:cNvPr id="2" name="Footer Placeholder 1"/>
          <p:cNvSpPr>
            <a:spLocks noGrp="1"/>
          </p:cNvSpPr>
          <p:nvPr>
            <p:ph type="ftr" sz="quarter" idx="11"/>
          </p:nvPr>
        </p:nvSpPr>
        <p:spPr/>
        <p:txBody>
          <a:bodyPr/>
          <a:lstStyle/>
          <a:p>
            <a:pPr>
              <a:defRPr/>
            </a:pPr>
            <a:r>
              <a:rPr lang="en-US" smtClean="0"/>
              <a:t>Dr. S. Nandagopalan</a:t>
            </a:r>
            <a:endParaRPr lang="en-US"/>
          </a:p>
        </p:txBody>
      </p:sp>
      <p:sp>
        <p:nvSpPr>
          <p:cNvPr id="3" name="Slide Number Placeholder 2"/>
          <p:cNvSpPr>
            <a:spLocks noGrp="1"/>
          </p:cNvSpPr>
          <p:nvPr>
            <p:ph type="sldNum" sz="quarter" idx="12"/>
          </p:nvPr>
        </p:nvSpPr>
        <p:spPr/>
        <p:txBody>
          <a:bodyPr/>
          <a:lstStyle/>
          <a:p>
            <a:fld id="{8A3F583C-57D4-49AA-9DD7-E040CE84DFC1}" type="slidenum">
              <a:rPr lang="en-US" altLang="en-US" smtClean="0"/>
              <a:pPr/>
              <a:t>49</a:t>
            </a:fld>
            <a:endParaRPr lang="en-US" altLang="en-US"/>
          </a:p>
        </p:txBody>
      </p:sp>
    </p:spTree>
    <p:extLst>
      <p:ext uri="{BB962C8B-B14F-4D97-AF65-F5344CB8AC3E}">
        <p14:creationId xmlns:p14="http://schemas.microsoft.com/office/powerpoint/2010/main" val="3030956254"/>
      </p:ext>
    </p:extLst>
  </p:cSld>
  <p:clrMapOvr>
    <a:masterClrMapping/>
  </p:clrMapOvr>
  <p:transition>
    <p:zo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1684337" y="5419725"/>
            <a:ext cx="8782050" cy="1238250"/>
          </a:xfrm>
          <a:prstGeom prst="rect">
            <a:avLst/>
          </a:prstGeom>
          <a:solidFill>
            <a:srgbClr val="FFFF99"/>
          </a:solidFill>
          <a:ln w="0">
            <a:solidFill>
              <a:srgbClr val="C0C0C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5299" name="Rectangle 3"/>
          <p:cNvSpPr>
            <a:spLocks noChangeArrowheads="1"/>
          </p:cNvSpPr>
          <p:nvPr/>
        </p:nvSpPr>
        <p:spPr bwMode="auto">
          <a:xfrm>
            <a:off x="2238376" y="268288"/>
            <a:ext cx="3303587" cy="1223962"/>
          </a:xfrm>
          <a:prstGeom prst="rect">
            <a:avLst/>
          </a:prstGeom>
          <a:solidFill>
            <a:schemeClr val="bg1"/>
          </a:solidFill>
          <a:ln w="1270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5300" name="Rectangle 4"/>
          <p:cNvSpPr>
            <a:spLocks noChangeArrowheads="1"/>
          </p:cNvSpPr>
          <p:nvPr/>
        </p:nvSpPr>
        <p:spPr bwMode="auto">
          <a:xfrm>
            <a:off x="1711325" y="2266951"/>
            <a:ext cx="1801812"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5301" name="Line 5"/>
          <p:cNvSpPr>
            <a:spLocks noChangeShapeType="1"/>
          </p:cNvSpPr>
          <p:nvPr/>
        </p:nvSpPr>
        <p:spPr bwMode="auto">
          <a:xfrm flipH="1">
            <a:off x="2693987" y="1492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55302" name="Picture 6" descr="maggi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38563" y="1071564"/>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7" descr="homerthin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55837" y="554038"/>
            <a:ext cx="4699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4" name="Picture 8" descr="margehopefu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09863" y="390526"/>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5" name="Picture 9" descr="lisawal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02001" y="887413"/>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6" name="Picture 10" descr="bart_look"/>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30538" y="877888"/>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7" name="Picture 11" descr="krusty"/>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70475" y="581025"/>
            <a:ext cx="4429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8" name="Picture 12" descr="ab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994151" y="633413"/>
            <a:ext cx="3000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9" name="Picture 13" descr="otto"/>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678362" y="641351"/>
            <a:ext cx="4206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0" name="Picture 14" descr="selma"/>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292600" y="679451"/>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11" name="Rectangle 15"/>
          <p:cNvSpPr>
            <a:spLocks noChangeArrowheads="1"/>
          </p:cNvSpPr>
          <p:nvPr/>
        </p:nvSpPr>
        <p:spPr bwMode="auto">
          <a:xfrm flipH="1">
            <a:off x="4121151" y="2266951"/>
            <a:ext cx="1849437"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5312" name="Line 16"/>
          <p:cNvSpPr>
            <a:spLocks noChangeShapeType="1"/>
          </p:cNvSpPr>
          <p:nvPr/>
        </p:nvSpPr>
        <p:spPr bwMode="auto">
          <a:xfrm>
            <a:off x="4503737" y="1492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5313" name="Rectangle 17"/>
          <p:cNvSpPr>
            <a:spLocks noChangeArrowheads="1"/>
          </p:cNvSpPr>
          <p:nvPr/>
        </p:nvSpPr>
        <p:spPr bwMode="auto">
          <a:xfrm>
            <a:off x="3386138" y="1878013"/>
            <a:ext cx="10906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1600">
                <a:latin typeface="Times New Roman" panose="02020603050405020304" pitchFamily="18" charset="0"/>
              </a:rPr>
              <a:t>age &lt;= 40?</a:t>
            </a:r>
          </a:p>
        </p:txBody>
      </p:sp>
      <p:sp>
        <p:nvSpPr>
          <p:cNvPr id="55314" name="Text Box 18"/>
          <p:cNvSpPr txBox="1">
            <a:spLocks noChangeArrowheads="1"/>
          </p:cNvSpPr>
          <p:nvPr/>
        </p:nvSpPr>
        <p:spPr bwMode="auto">
          <a:xfrm>
            <a:off x="2766617" y="1641475"/>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5315" name="Text Box 19"/>
          <p:cNvSpPr txBox="1">
            <a:spLocks noChangeArrowheads="1"/>
          </p:cNvSpPr>
          <p:nvPr/>
        </p:nvSpPr>
        <p:spPr bwMode="auto">
          <a:xfrm>
            <a:off x="4665763" y="1593850"/>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pic>
        <p:nvPicPr>
          <p:cNvPr id="55316" name="Picture 20" descr="homerthin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03512" y="2457450"/>
            <a:ext cx="4508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7" name="Picture 21" descr="maggi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66938" y="2338389"/>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8" name="Picture 22" descr="ab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127626" y="2500313"/>
            <a:ext cx="3000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9" name="Picture 23" descr="margehopefu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76413" y="2305051"/>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0" name="Picture 24" descr="krusty"/>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480050" y="2457450"/>
            <a:ext cx="4429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1" name="Picture 25" descr="lisawal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01851" y="2897188"/>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2" name="Picture 26" descr="selma"/>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187825" y="2641601"/>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23" name="Picture 27" descr="otto"/>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097212" y="2279651"/>
            <a:ext cx="401638"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24" name="Text Box 28"/>
          <p:cNvSpPr txBox="1">
            <a:spLocks noChangeArrowheads="1"/>
          </p:cNvSpPr>
          <p:nvPr/>
        </p:nvSpPr>
        <p:spPr bwMode="auto">
          <a:xfrm>
            <a:off x="5599112" y="1009651"/>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(4</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,5</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-(4/9)log</a:t>
            </a:r>
            <a:r>
              <a:rPr lang="en-US" altLang="en-US" baseline="-25000">
                <a:latin typeface="Times New Roman" panose="02020603050405020304" pitchFamily="18" charset="0"/>
              </a:rPr>
              <a:t>2</a:t>
            </a:r>
            <a:r>
              <a:rPr lang="en-US" altLang="en-US">
                <a:latin typeface="Times New Roman" panose="02020603050405020304" pitchFamily="18" charset="0"/>
              </a:rPr>
              <a:t>(4/9) - (5/9)log</a:t>
            </a:r>
            <a:r>
              <a:rPr lang="en-US" altLang="en-US" baseline="-25000">
                <a:latin typeface="Times New Roman" panose="02020603050405020304" pitchFamily="18" charset="0"/>
              </a:rPr>
              <a:t>2</a:t>
            </a:r>
            <a:r>
              <a:rPr lang="en-US" altLang="en-US">
                <a:latin typeface="Times New Roman" panose="02020603050405020304" pitchFamily="18" charset="0"/>
              </a:rPr>
              <a:t>(5/9)</a:t>
            </a:r>
          </a:p>
          <a:p>
            <a:r>
              <a:rPr lang="en-US" altLang="en-US">
                <a:latin typeface="Times New Roman" panose="02020603050405020304" pitchFamily="18" charset="0"/>
              </a:rPr>
              <a:t>	            =  </a:t>
            </a:r>
            <a:r>
              <a:rPr lang="en-US" altLang="en-US" b="1">
                <a:solidFill>
                  <a:srgbClr val="FF33CC"/>
                </a:solidFill>
                <a:latin typeface="Times New Roman" panose="02020603050405020304" pitchFamily="18" charset="0"/>
              </a:rPr>
              <a:t>0.9911</a:t>
            </a:r>
            <a:r>
              <a:rPr lang="en-US" altLang="en-US">
                <a:latin typeface="Times New Roman" panose="02020603050405020304" pitchFamily="18" charset="0"/>
              </a:rPr>
              <a:t>	</a:t>
            </a:r>
            <a:endParaRPr lang="en-US" altLang="en-US" sz="2000">
              <a:latin typeface="Times New Roman" panose="02020603050405020304" pitchFamily="18" charset="0"/>
            </a:endParaRPr>
          </a:p>
        </p:txBody>
      </p:sp>
      <p:sp>
        <p:nvSpPr>
          <p:cNvPr id="55325" name="Text Box 29"/>
          <p:cNvSpPr txBox="1">
            <a:spLocks noChangeArrowheads="1"/>
          </p:cNvSpPr>
          <p:nvPr/>
        </p:nvSpPr>
        <p:spPr bwMode="auto">
          <a:xfrm rot="703679">
            <a:off x="919591" y="3954097"/>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(3</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,3</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-(3/6)log</a:t>
            </a:r>
            <a:r>
              <a:rPr lang="en-US" altLang="en-US" baseline="-25000">
                <a:latin typeface="Times New Roman" panose="02020603050405020304" pitchFamily="18" charset="0"/>
              </a:rPr>
              <a:t>2</a:t>
            </a:r>
            <a:r>
              <a:rPr lang="en-US" altLang="en-US">
                <a:latin typeface="Times New Roman" panose="02020603050405020304" pitchFamily="18" charset="0"/>
              </a:rPr>
              <a:t>(3/6) - (3/6)log</a:t>
            </a:r>
            <a:r>
              <a:rPr lang="en-US" altLang="en-US" baseline="-25000">
                <a:latin typeface="Times New Roman" panose="02020603050405020304" pitchFamily="18" charset="0"/>
              </a:rPr>
              <a:t>2</a:t>
            </a:r>
            <a:r>
              <a:rPr lang="en-US" altLang="en-US">
                <a:latin typeface="Times New Roman" panose="02020603050405020304" pitchFamily="18" charset="0"/>
              </a:rPr>
              <a:t>(3/6)</a:t>
            </a:r>
          </a:p>
          <a:p>
            <a:r>
              <a:rPr lang="en-US" altLang="en-US">
                <a:latin typeface="Times New Roman" panose="02020603050405020304" pitchFamily="18" charset="0"/>
              </a:rPr>
              <a:t>	            =  </a:t>
            </a:r>
            <a:r>
              <a:rPr lang="en-US" altLang="en-US" sz="2000" b="1">
                <a:solidFill>
                  <a:srgbClr val="006600"/>
                </a:solidFill>
                <a:latin typeface="Times New Roman" panose="02020603050405020304" pitchFamily="18" charset="0"/>
              </a:rPr>
              <a:t>1</a:t>
            </a:r>
          </a:p>
        </p:txBody>
      </p:sp>
      <p:sp>
        <p:nvSpPr>
          <p:cNvPr id="55326" name="Text Box 30"/>
          <p:cNvSpPr txBox="1">
            <a:spLocks noChangeArrowheads="1"/>
          </p:cNvSpPr>
          <p:nvPr/>
        </p:nvSpPr>
        <p:spPr bwMode="auto">
          <a:xfrm rot="814016">
            <a:off x="4423204" y="3939809"/>
            <a:ext cx="62999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i="1">
                <a:latin typeface="Times New Roman" panose="02020603050405020304" pitchFamily="18" charset="0"/>
              </a:rPr>
              <a:t>Entropy</a:t>
            </a:r>
            <a:r>
              <a:rPr lang="en-US" altLang="en-US">
                <a:latin typeface="Times New Roman" panose="02020603050405020304" pitchFamily="18" charset="0"/>
              </a:rPr>
              <a:t>(1</a:t>
            </a:r>
            <a:r>
              <a:rPr lang="en-US" altLang="en-US" b="1">
                <a:solidFill>
                  <a:srgbClr val="FF0000"/>
                </a:solidFill>
                <a:latin typeface="Times New Roman" panose="02020603050405020304" pitchFamily="18" charset="0"/>
              </a:rPr>
              <a:t>F</a:t>
            </a:r>
            <a:r>
              <a:rPr lang="en-US" altLang="en-US">
                <a:latin typeface="Times New Roman" panose="02020603050405020304" pitchFamily="18" charset="0"/>
              </a:rPr>
              <a:t>,2</a:t>
            </a:r>
            <a:r>
              <a:rPr lang="en-US" altLang="en-US" b="1">
                <a:solidFill>
                  <a:srgbClr val="0000FF"/>
                </a:solidFill>
                <a:latin typeface="Times New Roman" panose="02020603050405020304" pitchFamily="18" charset="0"/>
              </a:rPr>
              <a:t>M</a:t>
            </a:r>
            <a:r>
              <a:rPr lang="en-US" altLang="en-US">
                <a:latin typeface="Times New Roman" panose="02020603050405020304" pitchFamily="18" charset="0"/>
              </a:rPr>
              <a:t>) = -(1/3)log</a:t>
            </a:r>
            <a:r>
              <a:rPr lang="en-US" altLang="en-US" baseline="-25000">
                <a:latin typeface="Times New Roman" panose="02020603050405020304" pitchFamily="18" charset="0"/>
              </a:rPr>
              <a:t>2</a:t>
            </a:r>
            <a:r>
              <a:rPr lang="en-US" altLang="en-US">
                <a:latin typeface="Times New Roman" panose="02020603050405020304" pitchFamily="18" charset="0"/>
              </a:rPr>
              <a:t>(1/3) - (2/3)log</a:t>
            </a:r>
            <a:r>
              <a:rPr lang="en-US" altLang="en-US" baseline="-25000">
                <a:latin typeface="Times New Roman" panose="02020603050405020304" pitchFamily="18" charset="0"/>
              </a:rPr>
              <a:t>2</a:t>
            </a:r>
            <a:r>
              <a:rPr lang="en-US" altLang="en-US">
                <a:latin typeface="Times New Roman" panose="02020603050405020304" pitchFamily="18" charset="0"/>
              </a:rPr>
              <a:t>(2/3)</a:t>
            </a:r>
          </a:p>
          <a:p>
            <a:r>
              <a:rPr lang="en-US" altLang="en-US">
                <a:latin typeface="Times New Roman" panose="02020603050405020304" pitchFamily="18" charset="0"/>
              </a:rPr>
              <a:t>	            =  </a:t>
            </a:r>
            <a:r>
              <a:rPr lang="en-US" altLang="en-US" sz="2000" b="1">
                <a:solidFill>
                  <a:srgbClr val="990099"/>
                </a:solidFill>
                <a:latin typeface="Times New Roman" panose="02020603050405020304" pitchFamily="18" charset="0"/>
              </a:rPr>
              <a:t>0.9183</a:t>
            </a:r>
          </a:p>
        </p:txBody>
      </p:sp>
      <p:graphicFrame>
        <p:nvGraphicFramePr>
          <p:cNvPr id="55327" name="Object 2"/>
          <p:cNvGraphicFramePr>
            <a:graphicFrameLocks noChangeAspect="1"/>
          </p:cNvGraphicFramePr>
          <p:nvPr/>
        </p:nvGraphicFramePr>
        <p:xfrm>
          <a:off x="5638801" y="169863"/>
          <a:ext cx="4841875" cy="615950"/>
        </p:xfrm>
        <a:graphic>
          <a:graphicData uri="http://schemas.openxmlformats.org/presentationml/2006/ole">
            <mc:AlternateContent xmlns:mc="http://schemas.openxmlformats.org/markup-compatibility/2006">
              <mc:Choice xmlns:v="urn:schemas-microsoft-com:vml" Requires="v">
                <p:oleObj spid="_x0000_s17424" name="Equation" r:id="rId13" imgW="3594100" imgH="457200" progId="Equation.3">
                  <p:embed/>
                </p:oleObj>
              </mc:Choice>
              <mc:Fallback>
                <p:oleObj name="Equation" r:id="rId13" imgW="3594100" imgH="4572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38801" y="169863"/>
                        <a:ext cx="4841875"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28" name="Text Box 32"/>
          <p:cNvSpPr txBox="1">
            <a:spLocks noChangeArrowheads="1"/>
          </p:cNvSpPr>
          <p:nvPr/>
        </p:nvSpPr>
        <p:spPr bwMode="auto">
          <a:xfrm>
            <a:off x="1658937" y="6116639"/>
            <a:ext cx="86169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n-US" altLang="en-US" sz="2200" i="1">
                <a:latin typeface="Times New Roman" panose="02020603050405020304" pitchFamily="18" charset="0"/>
              </a:rPr>
              <a:t>Gain</a:t>
            </a:r>
            <a:r>
              <a:rPr lang="en-US" altLang="en-US" sz="2200">
                <a:latin typeface="Times New Roman" panose="02020603050405020304" pitchFamily="18" charset="0"/>
              </a:rPr>
              <a:t>(Age &lt;= 40) = </a:t>
            </a:r>
            <a:r>
              <a:rPr lang="en-US" altLang="en-US" sz="2200" b="1">
                <a:solidFill>
                  <a:srgbClr val="FF33CC"/>
                </a:solidFill>
                <a:latin typeface="Times New Roman" panose="02020603050405020304" pitchFamily="18" charset="0"/>
              </a:rPr>
              <a:t>0.9911</a:t>
            </a:r>
            <a:r>
              <a:rPr lang="en-US" altLang="en-US" sz="2200">
                <a:latin typeface="Times New Roman" panose="02020603050405020304" pitchFamily="18" charset="0"/>
              </a:rPr>
              <a:t> – (6/9 * </a:t>
            </a:r>
            <a:r>
              <a:rPr lang="en-US" altLang="en-US" sz="2000" b="1">
                <a:solidFill>
                  <a:srgbClr val="006600"/>
                </a:solidFill>
                <a:latin typeface="Times New Roman" panose="02020603050405020304" pitchFamily="18" charset="0"/>
              </a:rPr>
              <a:t>1</a:t>
            </a:r>
            <a:r>
              <a:rPr lang="en-US" altLang="en-US" sz="2200">
                <a:latin typeface="Times New Roman" panose="02020603050405020304" pitchFamily="18" charset="0"/>
              </a:rPr>
              <a:t> + 3/9 * </a:t>
            </a:r>
            <a:r>
              <a:rPr lang="en-US" altLang="en-US" sz="2000" b="1">
                <a:solidFill>
                  <a:srgbClr val="990099"/>
                </a:solidFill>
                <a:latin typeface="Times New Roman" panose="02020603050405020304" pitchFamily="18" charset="0"/>
              </a:rPr>
              <a:t>0.9183</a:t>
            </a:r>
            <a:r>
              <a:rPr lang="en-US" altLang="en-US" sz="2200">
                <a:latin typeface="Times New Roman" panose="02020603050405020304" pitchFamily="18" charset="0"/>
              </a:rPr>
              <a:t> ) = </a:t>
            </a:r>
            <a:r>
              <a:rPr lang="en-US" altLang="en-US" sz="2200" b="1">
                <a:latin typeface="Times New Roman" panose="02020603050405020304" pitchFamily="18" charset="0"/>
              </a:rPr>
              <a:t>0.0183</a:t>
            </a:r>
          </a:p>
        </p:txBody>
      </p:sp>
      <p:graphicFrame>
        <p:nvGraphicFramePr>
          <p:cNvPr id="55329" name="Object 3"/>
          <p:cNvGraphicFramePr>
            <a:graphicFrameLocks noChangeAspect="1"/>
          </p:cNvGraphicFramePr>
          <p:nvPr/>
        </p:nvGraphicFramePr>
        <p:xfrm>
          <a:off x="1776412" y="5553076"/>
          <a:ext cx="5746750" cy="479425"/>
        </p:xfrm>
        <a:graphic>
          <a:graphicData uri="http://schemas.openxmlformats.org/presentationml/2006/ole">
            <mc:AlternateContent xmlns:mc="http://schemas.openxmlformats.org/markup-compatibility/2006">
              <mc:Choice xmlns:v="urn:schemas-microsoft-com:vml" Requires="v">
                <p:oleObj spid="_x0000_s17425" name="Equation" r:id="rId15" imgW="3022600" imgH="254000" progId="Equation.3">
                  <p:embed/>
                </p:oleObj>
              </mc:Choice>
              <mc:Fallback>
                <p:oleObj name="Equation" r:id="rId15" imgW="3022600" imgH="2540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76412" y="5553076"/>
                        <a:ext cx="57467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5330" name="Picture 34" descr="bart_look"/>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63888" y="2887663"/>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31" name="Text Box 35"/>
          <p:cNvSpPr txBox="1">
            <a:spLocks noChangeArrowheads="1"/>
          </p:cNvSpPr>
          <p:nvPr/>
        </p:nvSpPr>
        <p:spPr bwMode="auto">
          <a:xfrm>
            <a:off x="7634287" y="2336801"/>
            <a:ext cx="2509838" cy="830997"/>
          </a:xfrm>
          <a:prstGeom prst="rect">
            <a:avLst/>
          </a:prstGeom>
          <a:solidFill>
            <a:srgbClr val="C00000"/>
          </a:solidFill>
          <a:ln>
            <a:noFill/>
          </a:ln>
          <a:effectLst>
            <a:outerShdw dist="107763" dir="8100000" algn="ctr" rotWithShape="0">
              <a:srgbClr val="808080"/>
            </a:outerShdw>
          </a:effectLst>
          <a:extLs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a:solidFill>
                  <a:schemeClr val="bg1"/>
                </a:solidFill>
                <a:latin typeface="Calibri" panose="020F0502020204030204" pitchFamily="34" charset="0"/>
              </a:rPr>
              <a:t>Let us try splitting on </a:t>
            </a:r>
            <a:r>
              <a:rPr lang="en-US" altLang="en-US" b="1" i="1">
                <a:solidFill>
                  <a:schemeClr val="bg1"/>
                </a:solidFill>
                <a:latin typeface="Calibri" panose="020F0502020204030204" pitchFamily="34" charset="0"/>
              </a:rPr>
              <a:t>Age</a:t>
            </a:r>
          </a:p>
        </p:txBody>
      </p:sp>
      <p:sp>
        <p:nvSpPr>
          <p:cNvPr id="2" name="Footer Placeholder 1"/>
          <p:cNvSpPr>
            <a:spLocks noGrp="1"/>
          </p:cNvSpPr>
          <p:nvPr>
            <p:ph type="ftr" sz="quarter" idx="11"/>
          </p:nvPr>
        </p:nvSpPr>
        <p:spPr/>
        <p:txBody>
          <a:bodyPr/>
          <a:lstStyle/>
          <a:p>
            <a:pPr>
              <a:defRPr/>
            </a:pPr>
            <a:r>
              <a:rPr lang="en-US" smtClean="0"/>
              <a:t>Dr. S. Nandagopalan</a:t>
            </a:r>
            <a:endParaRPr lang="en-US"/>
          </a:p>
        </p:txBody>
      </p:sp>
      <p:sp>
        <p:nvSpPr>
          <p:cNvPr id="3" name="Slide Number Placeholder 2"/>
          <p:cNvSpPr>
            <a:spLocks noGrp="1"/>
          </p:cNvSpPr>
          <p:nvPr>
            <p:ph type="sldNum" sz="quarter" idx="12"/>
          </p:nvPr>
        </p:nvSpPr>
        <p:spPr/>
        <p:txBody>
          <a:bodyPr/>
          <a:lstStyle/>
          <a:p>
            <a:fld id="{8A3F583C-57D4-49AA-9DD7-E040CE84DFC1}" type="slidenum">
              <a:rPr lang="en-US" altLang="en-US" smtClean="0"/>
              <a:pPr/>
              <a:t>50</a:t>
            </a:fld>
            <a:endParaRPr lang="en-US" altLang="en-US"/>
          </a:p>
        </p:txBody>
      </p:sp>
    </p:spTree>
    <p:extLst>
      <p:ext uri="{BB962C8B-B14F-4D97-AF65-F5344CB8AC3E}">
        <p14:creationId xmlns:p14="http://schemas.microsoft.com/office/powerpoint/2010/main" val="4155887255"/>
      </p:ext>
    </p:extLst>
  </p:cSld>
  <p:clrMapOvr>
    <a:masterClrMapping/>
  </p:clrMapOvr>
  <p:transition>
    <p:zo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6759576" y="182563"/>
            <a:ext cx="3303587" cy="1223962"/>
          </a:xfrm>
          <a:prstGeom prst="rect">
            <a:avLst/>
          </a:prstGeom>
          <a:solidFill>
            <a:schemeClr val="bg1"/>
          </a:solidFill>
          <a:ln w="1270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6323" name="Rectangle 3"/>
          <p:cNvSpPr>
            <a:spLocks noChangeArrowheads="1"/>
          </p:cNvSpPr>
          <p:nvPr/>
        </p:nvSpPr>
        <p:spPr bwMode="auto">
          <a:xfrm>
            <a:off x="6232525" y="2181226"/>
            <a:ext cx="1801812"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6324" name="Line 4"/>
          <p:cNvSpPr>
            <a:spLocks noChangeShapeType="1"/>
          </p:cNvSpPr>
          <p:nvPr/>
        </p:nvSpPr>
        <p:spPr bwMode="auto">
          <a:xfrm flipH="1">
            <a:off x="7215187" y="1406525"/>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56325" name="Picture 5" descr="maggie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59763" y="985839"/>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6" descr="homerthin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77037" y="468313"/>
            <a:ext cx="4699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7" name="Picture 7" descr="margehopefu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1063" y="304801"/>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Picture 8" descr="lisawal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23201" y="801688"/>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9" name="Picture 9" descr="bart_loo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51738" y="792163"/>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0" name="Picture 10" descr="krust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591675" y="495300"/>
            <a:ext cx="4429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1" name="Picture 11" descr="ab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515351" y="547688"/>
            <a:ext cx="3000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2" name="Picture 12" descr="ott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199562" y="555626"/>
            <a:ext cx="4206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3" name="Picture 13" descr="selma"/>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813800" y="593726"/>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34" name="Rectangle 14"/>
          <p:cNvSpPr>
            <a:spLocks noChangeArrowheads="1"/>
          </p:cNvSpPr>
          <p:nvPr/>
        </p:nvSpPr>
        <p:spPr bwMode="auto">
          <a:xfrm flipH="1">
            <a:off x="8642351" y="2181226"/>
            <a:ext cx="1849437"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6335" name="Line 15"/>
          <p:cNvSpPr>
            <a:spLocks noChangeShapeType="1"/>
          </p:cNvSpPr>
          <p:nvPr/>
        </p:nvSpPr>
        <p:spPr bwMode="auto">
          <a:xfrm>
            <a:off x="9024937" y="1406525"/>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6" name="Rectangle 16"/>
          <p:cNvSpPr>
            <a:spLocks noChangeArrowheads="1"/>
          </p:cNvSpPr>
          <p:nvPr/>
        </p:nvSpPr>
        <p:spPr bwMode="auto">
          <a:xfrm>
            <a:off x="7697788" y="1792288"/>
            <a:ext cx="1509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1600">
                <a:latin typeface="Times New Roman" panose="02020603050405020304" pitchFamily="18" charset="0"/>
              </a:rPr>
              <a:t>Weight &lt;= 160?</a:t>
            </a:r>
          </a:p>
        </p:txBody>
      </p:sp>
      <p:sp>
        <p:nvSpPr>
          <p:cNvPr id="56337" name="Text Box 17"/>
          <p:cNvSpPr txBox="1">
            <a:spLocks noChangeArrowheads="1"/>
          </p:cNvSpPr>
          <p:nvPr/>
        </p:nvSpPr>
        <p:spPr bwMode="auto">
          <a:xfrm>
            <a:off x="7287817" y="1555750"/>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6338" name="Text Box 18"/>
          <p:cNvSpPr txBox="1">
            <a:spLocks noChangeArrowheads="1"/>
          </p:cNvSpPr>
          <p:nvPr/>
        </p:nvSpPr>
        <p:spPr bwMode="auto">
          <a:xfrm>
            <a:off x="9186963" y="1508125"/>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pic>
        <p:nvPicPr>
          <p:cNvPr id="56339" name="Picture 19" descr="homerthin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20137" y="2306638"/>
            <a:ext cx="46990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0" name="Picture 20" descr="bart_loo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704138" y="2773363"/>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1" name="Picture 21" descr="maggie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3388" y="2957514"/>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2" name="Picture 22" descr="ab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267826" y="2376488"/>
            <a:ext cx="300037"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3" name="Picture 23" descr="margehopefu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97613" y="2219326"/>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4" name="Picture 24" descr="krust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039350" y="2238375"/>
            <a:ext cx="4429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5" name="Picture 25" descr="lisawal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70676" y="2278063"/>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6" name="Picture 26" descr="selma"/>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108825" y="2222501"/>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47" name="Picture 27" descr="ott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571037" y="2536826"/>
            <a:ext cx="4206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48" name="Rectangle 28"/>
          <p:cNvSpPr>
            <a:spLocks noChangeArrowheads="1"/>
          </p:cNvSpPr>
          <p:nvPr/>
        </p:nvSpPr>
        <p:spPr bwMode="auto">
          <a:xfrm>
            <a:off x="7442200" y="4171951"/>
            <a:ext cx="1268412"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6349" name="Line 29"/>
          <p:cNvSpPr>
            <a:spLocks noChangeShapeType="1"/>
          </p:cNvSpPr>
          <p:nvPr/>
        </p:nvSpPr>
        <p:spPr bwMode="auto">
          <a:xfrm flipH="1">
            <a:off x="5938837" y="3397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50" name="Rectangle 30"/>
          <p:cNvSpPr>
            <a:spLocks noChangeArrowheads="1"/>
          </p:cNvSpPr>
          <p:nvPr/>
        </p:nvSpPr>
        <p:spPr bwMode="auto">
          <a:xfrm flipH="1">
            <a:off x="5727701" y="4171951"/>
            <a:ext cx="801687"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6351" name="Line 31"/>
          <p:cNvSpPr>
            <a:spLocks noChangeShapeType="1"/>
          </p:cNvSpPr>
          <p:nvPr/>
        </p:nvSpPr>
        <p:spPr bwMode="auto">
          <a:xfrm>
            <a:off x="7748587" y="3397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52" name="Rectangle 32"/>
          <p:cNvSpPr>
            <a:spLocks noChangeArrowheads="1"/>
          </p:cNvSpPr>
          <p:nvPr/>
        </p:nvSpPr>
        <p:spPr bwMode="auto">
          <a:xfrm>
            <a:off x="6329362" y="3783013"/>
            <a:ext cx="1695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1600">
                <a:latin typeface="Times New Roman" panose="02020603050405020304" pitchFamily="18" charset="0"/>
              </a:rPr>
              <a:t>Hair Length &lt;= 2?</a:t>
            </a:r>
          </a:p>
        </p:txBody>
      </p:sp>
      <p:sp>
        <p:nvSpPr>
          <p:cNvPr id="56353" name="Text Box 33"/>
          <p:cNvSpPr txBox="1">
            <a:spLocks noChangeArrowheads="1"/>
          </p:cNvSpPr>
          <p:nvPr/>
        </p:nvSpPr>
        <p:spPr bwMode="auto">
          <a:xfrm>
            <a:off x="6011467" y="3546475"/>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6354" name="Text Box 34"/>
          <p:cNvSpPr txBox="1">
            <a:spLocks noChangeArrowheads="1"/>
          </p:cNvSpPr>
          <p:nvPr/>
        </p:nvSpPr>
        <p:spPr bwMode="auto">
          <a:xfrm>
            <a:off x="7910613" y="3498850"/>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pic>
        <p:nvPicPr>
          <p:cNvPr id="56355" name="Picture 35" descr="bart_loo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61063" y="4583113"/>
            <a:ext cx="29051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6" name="Picture 36" descr="maggie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3063" y="4948239"/>
            <a:ext cx="2381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7" name="Picture 37" descr="margehopefu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07288" y="4210051"/>
            <a:ext cx="3095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8" name="Picture 38" descr="lisawal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80351" y="4268788"/>
            <a:ext cx="4524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59" name="Picture 39" descr="selma"/>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318500" y="4184651"/>
            <a:ext cx="3857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60" name="Text Box 40"/>
          <p:cNvSpPr txBox="1">
            <a:spLocks noChangeArrowheads="1"/>
          </p:cNvSpPr>
          <p:nvPr/>
        </p:nvSpPr>
        <p:spPr bwMode="auto">
          <a:xfrm>
            <a:off x="1979612" y="381000"/>
            <a:ext cx="452278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a:latin typeface="Calibri" panose="020F0502020204030204" pitchFamily="34" charset="0"/>
              </a:rPr>
              <a:t>Of the 3 features we had, </a:t>
            </a:r>
            <a:r>
              <a:rPr lang="en-US" altLang="en-US" b="1" i="1">
                <a:solidFill>
                  <a:srgbClr val="FF0000"/>
                </a:solidFill>
                <a:latin typeface="Calibri" panose="020F0502020204030204" pitchFamily="34" charset="0"/>
              </a:rPr>
              <a:t>Weight</a:t>
            </a:r>
            <a:r>
              <a:rPr lang="en-US" altLang="en-US">
                <a:latin typeface="Calibri" panose="020F0502020204030204" pitchFamily="34" charset="0"/>
              </a:rPr>
              <a:t> was best, because of highest IG. But while people who weigh over 160 are perfectly classified (as males), the under 160 people are not perfectly classified… So we simply recurse!</a:t>
            </a:r>
          </a:p>
        </p:txBody>
      </p:sp>
      <p:sp>
        <p:nvSpPr>
          <p:cNvPr id="56361" name="Text Box 41"/>
          <p:cNvSpPr txBox="1">
            <a:spLocks noChangeArrowheads="1"/>
          </p:cNvSpPr>
          <p:nvPr/>
        </p:nvSpPr>
        <p:spPr bwMode="auto">
          <a:xfrm>
            <a:off x="2055813" y="3048001"/>
            <a:ext cx="378301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a:latin typeface="Calibri" panose="020F0502020204030204" pitchFamily="34" charset="0"/>
              </a:rPr>
              <a:t>This time we find that we can split on </a:t>
            </a:r>
            <a:r>
              <a:rPr lang="en-US" altLang="en-US" i="1">
                <a:latin typeface="Calibri" panose="020F0502020204030204" pitchFamily="34" charset="0"/>
              </a:rPr>
              <a:t>Hair length,</a:t>
            </a:r>
            <a:r>
              <a:rPr lang="en-US" altLang="en-US">
                <a:latin typeface="Calibri" panose="020F0502020204030204" pitchFamily="34" charset="0"/>
              </a:rPr>
              <a:t> and we are done!</a:t>
            </a:r>
          </a:p>
        </p:txBody>
      </p:sp>
      <p:pic>
        <p:nvPicPr>
          <p:cNvPr id="42" name="Picture 41"/>
          <p:cNvPicPr>
            <a:picLocks noChangeAspect="1"/>
          </p:cNvPicPr>
          <p:nvPr/>
        </p:nvPicPr>
        <p:blipFill>
          <a:blip r:embed="rId12"/>
          <a:stretch>
            <a:fillRect/>
          </a:stretch>
        </p:blipFill>
        <p:spPr>
          <a:xfrm>
            <a:off x="1946633" y="3778325"/>
            <a:ext cx="3587392" cy="2739463"/>
          </a:xfrm>
          <a:prstGeom prst="rect">
            <a:avLst/>
          </a:prstGeom>
        </p:spPr>
      </p:pic>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51</a:t>
            </a:fld>
            <a:endParaRPr lang="en-IN"/>
          </a:p>
        </p:txBody>
      </p:sp>
    </p:spTree>
    <p:extLst>
      <p:ext uri="{BB962C8B-B14F-4D97-AF65-F5344CB8AC3E}">
        <p14:creationId xmlns:p14="http://schemas.microsoft.com/office/powerpoint/2010/main" val="713242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7454901" y="182563"/>
            <a:ext cx="2065337" cy="1223962"/>
          </a:xfrm>
          <a:prstGeom prst="rect">
            <a:avLst/>
          </a:prstGeom>
          <a:solidFill>
            <a:schemeClr val="bg1"/>
          </a:solidFill>
          <a:ln w="1270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7347" name="Rectangle 3"/>
          <p:cNvSpPr>
            <a:spLocks noChangeArrowheads="1"/>
          </p:cNvSpPr>
          <p:nvPr/>
        </p:nvSpPr>
        <p:spPr bwMode="auto">
          <a:xfrm>
            <a:off x="6099175" y="2181226"/>
            <a:ext cx="2049462"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7348" name="Line 4"/>
          <p:cNvSpPr>
            <a:spLocks noChangeShapeType="1"/>
          </p:cNvSpPr>
          <p:nvPr/>
        </p:nvSpPr>
        <p:spPr bwMode="auto">
          <a:xfrm flipH="1">
            <a:off x="7215187" y="1406525"/>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49" name="Rectangle 5"/>
          <p:cNvSpPr>
            <a:spLocks noChangeArrowheads="1"/>
          </p:cNvSpPr>
          <p:nvPr/>
        </p:nvSpPr>
        <p:spPr bwMode="auto">
          <a:xfrm flipH="1">
            <a:off x="8642351" y="2181226"/>
            <a:ext cx="1849437"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7350" name="Line 6"/>
          <p:cNvSpPr>
            <a:spLocks noChangeShapeType="1"/>
          </p:cNvSpPr>
          <p:nvPr/>
        </p:nvSpPr>
        <p:spPr bwMode="auto">
          <a:xfrm>
            <a:off x="9024937" y="1406525"/>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51" name="Rectangle 7"/>
          <p:cNvSpPr>
            <a:spLocks noChangeArrowheads="1"/>
          </p:cNvSpPr>
          <p:nvPr/>
        </p:nvSpPr>
        <p:spPr bwMode="auto">
          <a:xfrm>
            <a:off x="7496175" y="487364"/>
            <a:ext cx="1897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2000" b="1">
                <a:latin typeface="Times New Roman" panose="02020603050405020304" pitchFamily="18" charset="0"/>
              </a:rPr>
              <a:t>Weight &lt;= 160?</a:t>
            </a:r>
          </a:p>
        </p:txBody>
      </p:sp>
      <p:sp>
        <p:nvSpPr>
          <p:cNvPr id="57352" name="Text Box 8"/>
          <p:cNvSpPr txBox="1">
            <a:spLocks noChangeArrowheads="1"/>
          </p:cNvSpPr>
          <p:nvPr/>
        </p:nvSpPr>
        <p:spPr bwMode="auto">
          <a:xfrm>
            <a:off x="7306867" y="1546225"/>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7353" name="Text Box 9"/>
          <p:cNvSpPr txBox="1">
            <a:spLocks noChangeArrowheads="1"/>
          </p:cNvSpPr>
          <p:nvPr/>
        </p:nvSpPr>
        <p:spPr bwMode="auto">
          <a:xfrm>
            <a:off x="9186963" y="1546225"/>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sp>
        <p:nvSpPr>
          <p:cNvPr id="57354" name="Rectangle 10"/>
          <p:cNvSpPr>
            <a:spLocks noChangeArrowheads="1"/>
          </p:cNvSpPr>
          <p:nvPr/>
        </p:nvSpPr>
        <p:spPr bwMode="auto">
          <a:xfrm>
            <a:off x="7442201" y="4171951"/>
            <a:ext cx="1792287"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7355" name="Line 11"/>
          <p:cNvSpPr>
            <a:spLocks noChangeShapeType="1"/>
          </p:cNvSpPr>
          <p:nvPr/>
        </p:nvSpPr>
        <p:spPr bwMode="auto">
          <a:xfrm flipH="1">
            <a:off x="5938837" y="3397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56" name="Rectangle 12"/>
          <p:cNvSpPr>
            <a:spLocks noChangeArrowheads="1"/>
          </p:cNvSpPr>
          <p:nvPr/>
        </p:nvSpPr>
        <p:spPr bwMode="auto">
          <a:xfrm flipH="1">
            <a:off x="5365750" y="4171951"/>
            <a:ext cx="1497012" cy="1223963"/>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7357" name="Line 13"/>
          <p:cNvSpPr>
            <a:spLocks noChangeShapeType="1"/>
          </p:cNvSpPr>
          <p:nvPr/>
        </p:nvSpPr>
        <p:spPr bwMode="auto">
          <a:xfrm>
            <a:off x="7748587" y="3397250"/>
            <a:ext cx="700088" cy="78263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58" name="Rectangle 14"/>
          <p:cNvSpPr>
            <a:spLocks noChangeArrowheads="1"/>
          </p:cNvSpPr>
          <p:nvPr/>
        </p:nvSpPr>
        <p:spPr bwMode="auto">
          <a:xfrm>
            <a:off x="5808905" y="2549526"/>
            <a:ext cx="26220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Hair Length &lt;= 2?</a:t>
            </a:r>
          </a:p>
        </p:txBody>
      </p:sp>
      <p:sp>
        <p:nvSpPr>
          <p:cNvPr id="57359" name="Text Box 15"/>
          <p:cNvSpPr txBox="1">
            <a:spLocks noChangeArrowheads="1"/>
          </p:cNvSpPr>
          <p:nvPr/>
        </p:nvSpPr>
        <p:spPr bwMode="auto">
          <a:xfrm>
            <a:off x="6011467" y="3546475"/>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7360" name="Text Box 16"/>
          <p:cNvSpPr txBox="1">
            <a:spLocks noChangeArrowheads="1"/>
          </p:cNvSpPr>
          <p:nvPr/>
        </p:nvSpPr>
        <p:spPr bwMode="auto">
          <a:xfrm>
            <a:off x="7920138" y="3556000"/>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sp>
        <p:nvSpPr>
          <p:cNvPr id="57361" name="Text Box 17"/>
          <p:cNvSpPr txBox="1">
            <a:spLocks noChangeArrowheads="1"/>
          </p:cNvSpPr>
          <p:nvPr/>
        </p:nvSpPr>
        <p:spPr bwMode="auto">
          <a:xfrm>
            <a:off x="3081337" y="365035"/>
            <a:ext cx="4038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dirty="0">
                <a:latin typeface="Calibri" panose="020F0502020204030204" pitchFamily="34" charset="0"/>
              </a:rPr>
              <a:t>We don’t need to keep the data around, just the test conditions.</a:t>
            </a:r>
          </a:p>
        </p:txBody>
      </p:sp>
      <p:sp>
        <p:nvSpPr>
          <p:cNvPr id="57362" name="Text Box 18"/>
          <p:cNvSpPr txBox="1">
            <a:spLocks noChangeArrowheads="1"/>
          </p:cNvSpPr>
          <p:nvPr/>
        </p:nvSpPr>
        <p:spPr bwMode="auto">
          <a:xfrm>
            <a:off x="9107487" y="2559051"/>
            <a:ext cx="990600" cy="549275"/>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3600" b="1">
                <a:solidFill>
                  <a:srgbClr val="0000FF"/>
                </a:solidFill>
                <a:latin typeface="Times New Roman" panose="02020603050405020304" pitchFamily="18" charset="0"/>
              </a:rPr>
              <a:t>Male</a:t>
            </a:r>
          </a:p>
        </p:txBody>
      </p:sp>
      <p:sp>
        <p:nvSpPr>
          <p:cNvPr id="57363" name="Text Box 19"/>
          <p:cNvSpPr txBox="1">
            <a:spLocks noChangeArrowheads="1"/>
          </p:cNvSpPr>
          <p:nvPr/>
        </p:nvSpPr>
        <p:spPr bwMode="auto">
          <a:xfrm>
            <a:off x="5592762" y="4578351"/>
            <a:ext cx="990600" cy="549275"/>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3600" b="1">
                <a:solidFill>
                  <a:srgbClr val="0000FF"/>
                </a:solidFill>
                <a:latin typeface="Times New Roman" panose="02020603050405020304" pitchFamily="18" charset="0"/>
              </a:rPr>
              <a:t>Male</a:t>
            </a:r>
          </a:p>
        </p:txBody>
      </p:sp>
      <p:sp>
        <p:nvSpPr>
          <p:cNvPr id="57364" name="Text Box 20"/>
          <p:cNvSpPr txBox="1">
            <a:spLocks noChangeArrowheads="1"/>
          </p:cNvSpPr>
          <p:nvPr/>
        </p:nvSpPr>
        <p:spPr bwMode="auto">
          <a:xfrm>
            <a:off x="7605712" y="4578351"/>
            <a:ext cx="1422400" cy="549275"/>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3600" b="1">
                <a:solidFill>
                  <a:srgbClr val="FF0000"/>
                </a:solidFill>
                <a:latin typeface="Times New Roman" panose="02020603050405020304" pitchFamily="18" charset="0"/>
              </a:rPr>
              <a:t>Female</a:t>
            </a:r>
          </a:p>
        </p:txBody>
      </p:sp>
      <p:sp>
        <p:nvSpPr>
          <p:cNvPr id="57365" name="Text Box 24"/>
          <p:cNvSpPr txBox="1">
            <a:spLocks noChangeArrowheads="1"/>
          </p:cNvSpPr>
          <p:nvPr/>
        </p:nvSpPr>
        <p:spPr bwMode="auto">
          <a:xfrm>
            <a:off x="3332932" y="1877835"/>
            <a:ext cx="2590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dirty="0">
                <a:latin typeface="Calibri" panose="020F0502020204030204" pitchFamily="34" charset="0"/>
              </a:rPr>
              <a:t>How would these people be classified?</a:t>
            </a:r>
          </a:p>
        </p:txBody>
      </p:sp>
      <p:grpSp>
        <p:nvGrpSpPr>
          <p:cNvPr id="57366" name="Group 25"/>
          <p:cNvGrpSpPr>
            <a:grpSpLocks/>
          </p:cNvGrpSpPr>
          <p:nvPr/>
        </p:nvGrpSpPr>
        <p:grpSpPr bwMode="auto">
          <a:xfrm>
            <a:off x="2513013" y="2971800"/>
            <a:ext cx="2068513" cy="3430588"/>
            <a:chOff x="133350" y="3427413"/>
            <a:chExt cx="2068513" cy="3430587"/>
          </a:xfrm>
        </p:grpSpPr>
        <p:pic>
          <p:nvPicPr>
            <p:cNvPr id="57367" name="Picture 21" descr="comicbookguy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 y="3427413"/>
              <a:ext cx="1065213"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68" name="Picture 22" descr="hansmolema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4763" y="3895725"/>
              <a:ext cx="9271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69" name="Picture 23" descr="jani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913" y="5607050"/>
              <a:ext cx="506412"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0" name="Picture 25" descr="jimbojone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0000" y="5343525"/>
              <a:ext cx="468313"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52</a:t>
            </a:fld>
            <a:endParaRPr lang="en-IN"/>
          </a:p>
        </p:txBody>
      </p:sp>
    </p:spTree>
    <p:extLst>
      <p:ext uri="{BB962C8B-B14F-4D97-AF65-F5344CB8AC3E}">
        <p14:creationId xmlns:p14="http://schemas.microsoft.com/office/powerpoint/2010/main" val="15239655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3040856" y="1079500"/>
            <a:ext cx="3505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dirty="0">
                <a:latin typeface="Times New Roman" panose="02020603050405020304" pitchFamily="18" charset="0"/>
              </a:rPr>
              <a:t>It is trivial to convert Decision Trees to rules… </a:t>
            </a:r>
          </a:p>
        </p:txBody>
      </p:sp>
      <p:sp>
        <p:nvSpPr>
          <p:cNvPr id="58371" name="Rectangle 3"/>
          <p:cNvSpPr>
            <a:spLocks noChangeArrowheads="1"/>
          </p:cNvSpPr>
          <p:nvPr/>
        </p:nvSpPr>
        <p:spPr bwMode="auto">
          <a:xfrm>
            <a:off x="7454901" y="182564"/>
            <a:ext cx="2065337" cy="858837"/>
          </a:xfrm>
          <a:prstGeom prst="rect">
            <a:avLst/>
          </a:prstGeom>
          <a:solidFill>
            <a:schemeClr val="bg1"/>
          </a:solidFill>
          <a:ln w="1270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8372" name="Rectangle 4"/>
          <p:cNvSpPr>
            <a:spLocks noChangeArrowheads="1"/>
          </p:cNvSpPr>
          <p:nvPr/>
        </p:nvSpPr>
        <p:spPr bwMode="auto">
          <a:xfrm>
            <a:off x="6099175" y="1585914"/>
            <a:ext cx="2049462" cy="858837"/>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8373" name="Line 5"/>
          <p:cNvSpPr>
            <a:spLocks noChangeShapeType="1"/>
          </p:cNvSpPr>
          <p:nvPr/>
        </p:nvSpPr>
        <p:spPr bwMode="auto">
          <a:xfrm flipH="1">
            <a:off x="7215187" y="1041401"/>
            <a:ext cx="700088" cy="55086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74" name="Rectangle 6"/>
          <p:cNvSpPr>
            <a:spLocks noChangeArrowheads="1"/>
          </p:cNvSpPr>
          <p:nvPr/>
        </p:nvSpPr>
        <p:spPr bwMode="auto">
          <a:xfrm flipH="1">
            <a:off x="8642351" y="1585914"/>
            <a:ext cx="1849437" cy="858837"/>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8375" name="Line 7"/>
          <p:cNvSpPr>
            <a:spLocks noChangeShapeType="1"/>
          </p:cNvSpPr>
          <p:nvPr/>
        </p:nvSpPr>
        <p:spPr bwMode="auto">
          <a:xfrm>
            <a:off x="9024937" y="1041401"/>
            <a:ext cx="700088" cy="55086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76" name="Rectangle 8"/>
          <p:cNvSpPr>
            <a:spLocks noChangeArrowheads="1"/>
          </p:cNvSpPr>
          <p:nvPr/>
        </p:nvSpPr>
        <p:spPr bwMode="auto">
          <a:xfrm>
            <a:off x="7496175" y="396876"/>
            <a:ext cx="1897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2000" b="1">
                <a:latin typeface="Times New Roman" panose="02020603050405020304" pitchFamily="18" charset="0"/>
              </a:rPr>
              <a:t>Weight &lt;= 160?</a:t>
            </a:r>
          </a:p>
        </p:txBody>
      </p:sp>
      <p:sp>
        <p:nvSpPr>
          <p:cNvPr id="58377" name="Text Box 9"/>
          <p:cNvSpPr txBox="1">
            <a:spLocks noChangeArrowheads="1"/>
          </p:cNvSpPr>
          <p:nvPr/>
        </p:nvSpPr>
        <p:spPr bwMode="auto">
          <a:xfrm>
            <a:off x="7449742" y="1139825"/>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8378" name="Text Box 10"/>
          <p:cNvSpPr txBox="1">
            <a:spLocks noChangeArrowheads="1"/>
          </p:cNvSpPr>
          <p:nvPr/>
        </p:nvSpPr>
        <p:spPr bwMode="auto">
          <a:xfrm>
            <a:off x="9186963" y="1139825"/>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sp>
        <p:nvSpPr>
          <p:cNvPr id="58379" name="Rectangle 11"/>
          <p:cNvSpPr>
            <a:spLocks noChangeArrowheads="1"/>
          </p:cNvSpPr>
          <p:nvPr/>
        </p:nvSpPr>
        <p:spPr bwMode="auto">
          <a:xfrm>
            <a:off x="7442201" y="2984500"/>
            <a:ext cx="1792287" cy="858838"/>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8380" name="Line 12"/>
          <p:cNvSpPr>
            <a:spLocks noChangeShapeType="1"/>
          </p:cNvSpPr>
          <p:nvPr/>
        </p:nvSpPr>
        <p:spPr bwMode="auto">
          <a:xfrm flipH="1">
            <a:off x="5938837" y="2439989"/>
            <a:ext cx="700088" cy="54927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81" name="Rectangle 13"/>
          <p:cNvSpPr>
            <a:spLocks noChangeArrowheads="1"/>
          </p:cNvSpPr>
          <p:nvPr/>
        </p:nvSpPr>
        <p:spPr bwMode="auto">
          <a:xfrm flipH="1">
            <a:off x="5365750" y="2984500"/>
            <a:ext cx="1497012" cy="858838"/>
          </a:xfrm>
          <a:prstGeom prst="rect">
            <a:avLst/>
          </a:prstGeom>
          <a:solidFill>
            <a:schemeClr val="bg1"/>
          </a:solidFill>
          <a:ln w="0">
            <a:solidFill>
              <a:srgbClr val="808080"/>
            </a:solidFill>
            <a:miter lim="800000"/>
            <a:headEnd/>
            <a:tailEnd/>
          </a:ln>
          <a:effectLst>
            <a:outerShdw dist="107763" dir="8100000" algn="ctr" rotWithShape="0">
              <a:srgbClr val="808080"/>
            </a:outerShdw>
          </a:effec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58382" name="Line 14"/>
          <p:cNvSpPr>
            <a:spLocks noChangeShapeType="1"/>
          </p:cNvSpPr>
          <p:nvPr/>
        </p:nvSpPr>
        <p:spPr bwMode="auto">
          <a:xfrm>
            <a:off x="7748587" y="2439989"/>
            <a:ext cx="700088" cy="54927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8383" name="Rectangle 15"/>
          <p:cNvSpPr>
            <a:spLocks noChangeArrowheads="1"/>
          </p:cNvSpPr>
          <p:nvPr/>
        </p:nvSpPr>
        <p:spPr bwMode="auto">
          <a:xfrm>
            <a:off x="5808905" y="1844676"/>
            <a:ext cx="26220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wrap="non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b="1">
                <a:latin typeface="Times New Roman" panose="02020603050405020304" pitchFamily="18" charset="0"/>
              </a:rPr>
              <a:t>Hair Length &lt;= 2?</a:t>
            </a:r>
          </a:p>
        </p:txBody>
      </p:sp>
      <p:sp>
        <p:nvSpPr>
          <p:cNvPr id="58384" name="Text Box 16"/>
          <p:cNvSpPr txBox="1">
            <a:spLocks noChangeArrowheads="1"/>
          </p:cNvSpPr>
          <p:nvPr/>
        </p:nvSpPr>
        <p:spPr bwMode="auto">
          <a:xfrm>
            <a:off x="6154342" y="2563813"/>
            <a:ext cx="410369"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yes</a:t>
            </a:r>
          </a:p>
        </p:txBody>
      </p:sp>
      <p:sp>
        <p:nvSpPr>
          <p:cNvPr id="58385" name="Text Box 17"/>
          <p:cNvSpPr txBox="1">
            <a:spLocks noChangeArrowheads="1"/>
          </p:cNvSpPr>
          <p:nvPr/>
        </p:nvSpPr>
        <p:spPr bwMode="auto">
          <a:xfrm>
            <a:off x="7843938" y="2532063"/>
            <a:ext cx="307777" cy="369332"/>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a:latin typeface="Times New Roman" panose="02020603050405020304" pitchFamily="18" charset="0"/>
              </a:rPr>
              <a:t>no</a:t>
            </a:r>
          </a:p>
        </p:txBody>
      </p:sp>
      <p:sp>
        <p:nvSpPr>
          <p:cNvPr id="58386" name="Text Box 18"/>
          <p:cNvSpPr txBox="1">
            <a:spLocks noChangeArrowheads="1"/>
          </p:cNvSpPr>
          <p:nvPr/>
        </p:nvSpPr>
        <p:spPr bwMode="auto">
          <a:xfrm>
            <a:off x="9107487" y="1851026"/>
            <a:ext cx="990600" cy="549275"/>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3600" b="1">
                <a:solidFill>
                  <a:srgbClr val="0000FF"/>
                </a:solidFill>
                <a:latin typeface="Times New Roman" panose="02020603050405020304" pitchFamily="18" charset="0"/>
              </a:rPr>
              <a:t>Male</a:t>
            </a:r>
          </a:p>
        </p:txBody>
      </p:sp>
      <p:sp>
        <p:nvSpPr>
          <p:cNvPr id="58387" name="Text Box 19"/>
          <p:cNvSpPr txBox="1">
            <a:spLocks noChangeArrowheads="1"/>
          </p:cNvSpPr>
          <p:nvPr/>
        </p:nvSpPr>
        <p:spPr bwMode="auto">
          <a:xfrm>
            <a:off x="5592762" y="3268664"/>
            <a:ext cx="990600" cy="549275"/>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3600" b="1">
                <a:solidFill>
                  <a:srgbClr val="0000FF"/>
                </a:solidFill>
                <a:latin typeface="Times New Roman" panose="02020603050405020304" pitchFamily="18" charset="0"/>
              </a:rPr>
              <a:t>Male</a:t>
            </a:r>
          </a:p>
        </p:txBody>
      </p:sp>
      <p:sp>
        <p:nvSpPr>
          <p:cNvPr id="58388" name="Text Box 20"/>
          <p:cNvSpPr txBox="1">
            <a:spLocks noChangeArrowheads="1"/>
          </p:cNvSpPr>
          <p:nvPr/>
        </p:nvSpPr>
        <p:spPr bwMode="auto">
          <a:xfrm>
            <a:off x="7605712" y="3268664"/>
            <a:ext cx="1422400" cy="549275"/>
          </a:xfrm>
          <a:prstGeom prst="rect">
            <a:avLst/>
          </a:prstGeom>
          <a:solidFill>
            <a:schemeClr val="bg1"/>
          </a:solidFill>
          <a:ln>
            <a:noFill/>
          </a:ln>
          <a:extLst>
            <a:ext uri="{91240B29-F687-4F45-9708-019B960494DF}">
              <a14:hiddenLine xmlns:a14="http://schemas.microsoft.com/office/drawing/2010/main" w="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altLang="en-US" sz="3600" b="1">
                <a:solidFill>
                  <a:srgbClr val="FF0000"/>
                </a:solidFill>
                <a:latin typeface="Times New Roman" panose="02020603050405020304" pitchFamily="18" charset="0"/>
              </a:rPr>
              <a:t>Female</a:t>
            </a:r>
          </a:p>
        </p:txBody>
      </p:sp>
      <p:sp>
        <p:nvSpPr>
          <p:cNvPr id="58389" name="Text Box 21"/>
          <p:cNvSpPr txBox="1">
            <a:spLocks noChangeArrowheads="1"/>
          </p:cNvSpPr>
          <p:nvPr/>
        </p:nvSpPr>
        <p:spPr bwMode="auto">
          <a:xfrm>
            <a:off x="2894013" y="4419601"/>
            <a:ext cx="6297613" cy="1616075"/>
          </a:xfrm>
          <a:prstGeom prst="rect">
            <a:avLst/>
          </a:prstGeom>
          <a:solidFill>
            <a:srgbClr val="FFCC99"/>
          </a:solidFill>
          <a:ln>
            <a:noFill/>
          </a:ln>
          <a:effectLst>
            <a:outerShdw dist="107763" dir="8100000" algn="ctr" rotWithShape="0">
              <a:srgbClr val="808080"/>
            </a:outerShdw>
          </a:effectLst>
          <a:extLst>
            <a:ext uri="{91240B29-F687-4F45-9708-019B960494DF}">
              <a14:hiddenLine xmlns:a14="http://schemas.microsoft.com/office/drawing/2010/main" w="0">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000" b="1" u="sng">
                <a:latin typeface="Calibri" panose="020F0502020204030204" pitchFamily="34" charset="0"/>
              </a:rPr>
              <a:t>Rules to Classify Males/Females</a:t>
            </a:r>
          </a:p>
          <a:p>
            <a:pPr eaLnBrk="1" hangingPunct="1"/>
            <a:endParaRPr lang="en-US" altLang="en-US" sz="1600" b="1">
              <a:latin typeface="Calibri" panose="020F0502020204030204" pitchFamily="34" charset="0"/>
            </a:endParaRPr>
          </a:p>
          <a:p>
            <a:pPr eaLnBrk="1" hangingPunct="1"/>
            <a:r>
              <a:rPr lang="en-US" altLang="en-US" sz="2000" b="1">
                <a:latin typeface="Calibri" panose="020F0502020204030204" pitchFamily="34" charset="0"/>
              </a:rPr>
              <a:t>If</a:t>
            </a:r>
            <a:r>
              <a:rPr lang="en-US" altLang="en-US" sz="2000">
                <a:latin typeface="Calibri" panose="020F0502020204030204" pitchFamily="34" charset="0"/>
              </a:rPr>
              <a:t> </a:t>
            </a:r>
            <a:r>
              <a:rPr lang="en-US" altLang="en-US" sz="2000" i="1">
                <a:latin typeface="Calibri" panose="020F0502020204030204" pitchFamily="34" charset="0"/>
              </a:rPr>
              <a:t>Weight</a:t>
            </a:r>
            <a:r>
              <a:rPr lang="en-US" altLang="en-US" sz="2000">
                <a:latin typeface="Calibri" panose="020F0502020204030204" pitchFamily="34" charset="0"/>
              </a:rPr>
              <a:t> </a:t>
            </a:r>
            <a:r>
              <a:rPr lang="en-US" altLang="en-US" sz="2000" b="1">
                <a:latin typeface="Calibri" panose="020F0502020204030204" pitchFamily="34" charset="0"/>
              </a:rPr>
              <a:t>greater than</a:t>
            </a:r>
            <a:r>
              <a:rPr lang="en-US" altLang="en-US" sz="2000">
                <a:latin typeface="Calibri" panose="020F0502020204030204" pitchFamily="34" charset="0"/>
              </a:rPr>
              <a:t> 160, classify as </a:t>
            </a:r>
            <a:r>
              <a:rPr lang="en-US" altLang="en-US" sz="2000" b="1">
                <a:solidFill>
                  <a:srgbClr val="0000FF"/>
                </a:solidFill>
                <a:latin typeface="Calibri" panose="020F0502020204030204" pitchFamily="34" charset="0"/>
              </a:rPr>
              <a:t>Male</a:t>
            </a:r>
          </a:p>
          <a:p>
            <a:pPr eaLnBrk="1" hangingPunct="1"/>
            <a:r>
              <a:rPr lang="en-US" altLang="en-US" sz="2000" b="1">
                <a:latin typeface="Calibri" panose="020F0502020204030204" pitchFamily="34" charset="0"/>
              </a:rPr>
              <a:t>Elseif </a:t>
            </a:r>
            <a:r>
              <a:rPr lang="en-US" altLang="en-US" sz="2000" i="1">
                <a:latin typeface="Calibri" panose="020F0502020204030204" pitchFamily="34" charset="0"/>
              </a:rPr>
              <a:t>Hair Length</a:t>
            </a:r>
            <a:r>
              <a:rPr lang="en-US" altLang="en-US" sz="2000">
                <a:latin typeface="Calibri" panose="020F0502020204030204" pitchFamily="34" charset="0"/>
              </a:rPr>
              <a:t> </a:t>
            </a:r>
            <a:r>
              <a:rPr lang="en-US" altLang="en-US" sz="2000" b="1">
                <a:latin typeface="Calibri" panose="020F0502020204030204" pitchFamily="34" charset="0"/>
              </a:rPr>
              <a:t>less than or equal</a:t>
            </a:r>
            <a:r>
              <a:rPr lang="en-US" altLang="en-US" sz="2000">
                <a:latin typeface="Calibri" panose="020F0502020204030204" pitchFamily="34" charset="0"/>
              </a:rPr>
              <a:t> to 2, classify as </a:t>
            </a:r>
            <a:r>
              <a:rPr lang="en-US" altLang="en-US" sz="2000" b="1">
                <a:solidFill>
                  <a:srgbClr val="0000FF"/>
                </a:solidFill>
                <a:latin typeface="Calibri" panose="020F0502020204030204" pitchFamily="34" charset="0"/>
              </a:rPr>
              <a:t>Male</a:t>
            </a:r>
            <a:endParaRPr lang="en-US" altLang="en-US" sz="2000">
              <a:latin typeface="Calibri" panose="020F0502020204030204" pitchFamily="34" charset="0"/>
            </a:endParaRPr>
          </a:p>
          <a:p>
            <a:pPr eaLnBrk="1" hangingPunct="1"/>
            <a:r>
              <a:rPr lang="en-US" altLang="en-US" sz="2000" b="1">
                <a:latin typeface="Calibri" panose="020F0502020204030204" pitchFamily="34" charset="0"/>
              </a:rPr>
              <a:t>Else</a:t>
            </a:r>
            <a:r>
              <a:rPr lang="en-US" altLang="en-US" sz="2000">
                <a:latin typeface="Calibri" panose="020F0502020204030204" pitchFamily="34" charset="0"/>
              </a:rPr>
              <a:t> classify as </a:t>
            </a:r>
            <a:r>
              <a:rPr lang="en-US" altLang="en-US" sz="2000" b="1">
                <a:solidFill>
                  <a:srgbClr val="FF0000"/>
                </a:solidFill>
                <a:latin typeface="Calibri" panose="020F0502020204030204" pitchFamily="34" charset="0"/>
              </a:rPr>
              <a:t>Female</a:t>
            </a:r>
            <a:r>
              <a:rPr lang="en-US" altLang="en-US" sz="2000" b="1">
                <a:latin typeface="Calibri" panose="020F0502020204030204" pitchFamily="34" charset="0"/>
              </a:rPr>
              <a:t> </a:t>
            </a:r>
          </a:p>
        </p:txBody>
      </p:sp>
      <p:sp>
        <p:nvSpPr>
          <p:cNvPr id="2" name="Footer Placeholder 1"/>
          <p:cNvSpPr>
            <a:spLocks noGrp="1"/>
          </p:cNvSpPr>
          <p:nvPr>
            <p:ph type="ftr" sz="quarter" idx="11"/>
          </p:nvPr>
        </p:nvSpPr>
        <p:spPr/>
        <p:txBody>
          <a:bodyPr/>
          <a:lstStyle/>
          <a:p>
            <a:r>
              <a:rPr lang="en-US" smtClean="0"/>
              <a:t>Dr. S. Nandagopalan</a:t>
            </a:r>
            <a:endParaRPr lang="en-US" dirty="0"/>
          </a:p>
        </p:txBody>
      </p:sp>
      <p:sp>
        <p:nvSpPr>
          <p:cNvPr id="3" name="Slide Number Placeholder 2"/>
          <p:cNvSpPr>
            <a:spLocks noGrp="1"/>
          </p:cNvSpPr>
          <p:nvPr>
            <p:ph type="sldNum" sz="quarter" idx="12"/>
          </p:nvPr>
        </p:nvSpPr>
        <p:spPr/>
        <p:txBody>
          <a:bodyPr/>
          <a:lstStyle/>
          <a:p>
            <a:fld id="{34C99D79-8A4B-4031-B1E0-AF26F8EDF2BC}" type="slidenum">
              <a:rPr lang="en-IN" smtClean="0"/>
              <a:t>53</a:t>
            </a:fld>
            <a:endParaRPr lang="en-IN"/>
          </a:p>
        </p:txBody>
      </p:sp>
    </p:spTree>
    <p:extLst>
      <p:ext uri="{BB962C8B-B14F-4D97-AF65-F5344CB8AC3E}">
        <p14:creationId xmlns:p14="http://schemas.microsoft.com/office/powerpoint/2010/main" val="991298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54</a:t>
            </a:fld>
            <a:endParaRPr lang="en-IN" dirty="0"/>
          </a:p>
        </p:txBody>
      </p:sp>
    </p:spTree>
    <p:extLst>
      <p:ext uri="{BB962C8B-B14F-4D97-AF65-F5344CB8AC3E}">
        <p14:creationId xmlns:p14="http://schemas.microsoft.com/office/powerpoint/2010/main" val="2696038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43829" y="2295591"/>
            <a:ext cx="7945863" cy="1468800"/>
          </a:xfrm>
        </p:spPr>
        <p:txBody>
          <a:bodyPr>
            <a:normAutofit/>
          </a:bodyPr>
          <a:lstStyle/>
          <a:p>
            <a:r>
              <a:rPr lang="en-US" sz="3600" b="1" dirty="0">
                <a:solidFill>
                  <a:srgbClr val="0070C0"/>
                </a:solidFill>
                <a:latin typeface="Arial Black" panose="020B0A04020102020204" pitchFamily="34" charset="0"/>
              </a:rPr>
              <a:t>Naïve-Bayesian Classification</a:t>
            </a:r>
            <a:endParaRPr lang="en-US" sz="3600" b="1" dirty="0">
              <a:solidFill>
                <a:srgbClr val="0070C0"/>
              </a:solidFill>
              <a:latin typeface="Arial Black" panose="020B0A04020102020204" pitchFamily="34" charset="0"/>
            </a:endParaRPr>
          </a:p>
        </p:txBody>
      </p:sp>
      <p:sp>
        <p:nvSpPr>
          <p:cNvPr id="6" name="Text Placeholder 5"/>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18CE55FB-C8CE-43BD-8EBC-C060BF5D6D85}" type="slidenum">
              <a:rPr lang="en-US" smtClean="0"/>
              <a:pPr/>
              <a:t>55</a:t>
            </a:fld>
            <a:endParaRPr lang="en-US" dirty="0"/>
          </a:p>
        </p:txBody>
      </p:sp>
    </p:spTree>
    <p:extLst>
      <p:ext uri="{BB962C8B-B14F-4D97-AF65-F5344CB8AC3E}">
        <p14:creationId xmlns:p14="http://schemas.microsoft.com/office/powerpoint/2010/main" val="1511762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a:bodyPr>
          <a:lstStyle/>
          <a:p>
            <a:pPr>
              <a:lnSpc>
                <a:spcPct val="90000"/>
              </a:lnSpc>
            </a:pPr>
            <a:r>
              <a:rPr lang="en-US" altLang="en-US" b="1" dirty="0"/>
              <a:t>A statistical classifier</a:t>
            </a:r>
            <a:r>
              <a:rPr lang="en-US" altLang="en-US" dirty="0"/>
              <a:t>: performs </a:t>
            </a:r>
            <a:r>
              <a:rPr lang="en-US" altLang="en-US" i="1" dirty="0"/>
              <a:t>probabilistic prediction, i.e.,</a:t>
            </a:r>
            <a:r>
              <a:rPr lang="en-US" altLang="en-US" dirty="0"/>
              <a:t> predicts class membership probabilities</a:t>
            </a:r>
          </a:p>
          <a:p>
            <a:pPr>
              <a:lnSpc>
                <a:spcPct val="90000"/>
              </a:lnSpc>
            </a:pPr>
            <a:r>
              <a:rPr lang="en-US" altLang="en-US" b="1" dirty="0"/>
              <a:t>Foundation:</a:t>
            </a:r>
            <a:r>
              <a:rPr lang="en-US" altLang="en-US" dirty="0"/>
              <a:t> Based on Bayes’ Theorem. </a:t>
            </a:r>
          </a:p>
          <a:p>
            <a:pPr>
              <a:lnSpc>
                <a:spcPct val="90000"/>
              </a:lnSpc>
            </a:pPr>
            <a:r>
              <a:rPr lang="en-US" altLang="en-US" b="1" dirty="0"/>
              <a:t>Performance:  </a:t>
            </a:r>
            <a:r>
              <a:rPr lang="en-US" altLang="en-US" dirty="0"/>
              <a:t>A simple Bayesian classifier, </a:t>
            </a:r>
            <a:r>
              <a:rPr lang="en-US" altLang="en-US" i="1" dirty="0"/>
              <a:t>naïve Bayesian classifier</a:t>
            </a:r>
            <a:r>
              <a:rPr lang="en-US" altLang="en-US" dirty="0"/>
              <a:t>, has comparable performance with decision tree and selected neural network classifiers</a:t>
            </a:r>
          </a:p>
          <a:p>
            <a:pPr>
              <a:lnSpc>
                <a:spcPct val="90000"/>
              </a:lnSpc>
            </a:pPr>
            <a:r>
              <a:rPr lang="en-US" altLang="en-US" b="1" dirty="0"/>
              <a:t>Incremental:</a:t>
            </a:r>
            <a:r>
              <a:rPr lang="en-US" altLang="en-US" dirty="0"/>
              <a:t>  Each training example can incrementally increase/decrease the probability that a hypothesis is correct — prior knowledge can be combined with observed data</a:t>
            </a:r>
          </a:p>
          <a:p>
            <a:pPr>
              <a:lnSpc>
                <a:spcPct val="90000"/>
              </a:lnSpc>
            </a:pPr>
            <a:r>
              <a:rPr lang="en-US" altLang="en-US" b="1" dirty="0"/>
              <a:t>Standard:</a:t>
            </a:r>
            <a:r>
              <a:rPr lang="en-US" altLang="en-US" dirty="0"/>
              <a:t> Even when Bayesian methods are computationally intractable, they can provide a standard of optimal decision making against which other methods can be measured</a:t>
            </a:r>
          </a:p>
          <a:p>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56</a:t>
            </a:fld>
            <a:endParaRPr lang="en-US" dirty="0"/>
          </a:p>
        </p:txBody>
      </p:sp>
    </p:spTree>
    <p:extLst>
      <p:ext uri="{BB962C8B-B14F-4D97-AF65-F5344CB8AC3E}">
        <p14:creationId xmlns:p14="http://schemas.microsoft.com/office/powerpoint/2010/main" val="634023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Bayesian Theorem: Basics</a:t>
            </a:r>
            <a:endParaRPr lang="en-US" dirty="0"/>
          </a:p>
        </p:txBody>
      </p:sp>
      <p:sp>
        <p:nvSpPr>
          <p:cNvPr id="3" name="Content Placeholder 2"/>
          <p:cNvSpPr>
            <a:spLocks noGrp="1"/>
          </p:cNvSpPr>
          <p:nvPr>
            <p:ph idx="1"/>
          </p:nvPr>
        </p:nvSpPr>
        <p:spPr/>
        <p:txBody>
          <a:bodyPr>
            <a:normAutofit fontScale="92500" lnSpcReduction="10000"/>
          </a:bodyPr>
          <a:lstStyle/>
          <a:p>
            <a:r>
              <a:rPr lang="en-US" altLang="en-US" smtClean="0"/>
              <a:t>Let X be a data sample (“evidence”): class label is unknown</a:t>
            </a:r>
          </a:p>
          <a:p>
            <a:r>
              <a:rPr lang="en-US" altLang="en-US" smtClean="0"/>
              <a:t>Let H be a hypothesis that X belongs to class C </a:t>
            </a:r>
          </a:p>
          <a:p>
            <a:r>
              <a:rPr lang="en-US" altLang="en-US" smtClean="0"/>
              <a:t>Classification is to determine P(H|X), the probability that the hypothesis holds given the observed data sample X</a:t>
            </a:r>
          </a:p>
          <a:p>
            <a:pPr lvl="1"/>
            <a:r>
              <a:rPr lang="en-US" altLang="en-US" smtClean="0"/>
              <a:t>Probability that X will buy a computer given his age and income</a:t>
            </a:r>
          </a:p>
          <a:p>
            <a:r>
              <a:rPr lang="en-US" altLang="en-US" smtClean="0"/>
              <a:t>P(H) (prior probability), the initial probability</a:t>
            </a:r>
          </a:p>
          <a:p>
            <a:pPr lvl="1"/>
            <a:r>
              <a:rPr lang="en-US" altLang="en-US" smtClean="0"/>
              <a:t>E.g., X will buy computer, regardless of age, income, …</a:t>
            </a:r>
          </a:p>
          <a:p>
            <a:r>
              <a:rPr lang="en-US" altLang="en-US" smtClean="0"/>
              <a:t>P(X): probability that sample data is observed</a:t>
            </a:r>
          </a:p>
          <a:p>
            <a:r>
              <a:rPr lang="en-US" altLang="en-US" smtClean="0"/>
              <a:t>P(X|H) (posteriori probability), the probability of observing the sample X, given that the hypothesis holds</a:t>
            </a:r>
          </a:p>
          <a:p>
            <a:pPr lvl="1"/>
            <a:r>
              <a:rPr lang="en-US" altLang="en-US" smtClean="0"/>
              <a:t>E.g., Given that X will buy computer, the prob. that X is 31..40, medium income</a:t>
            </a:r>
            <a:endParaRPr lang="en-US" alt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57</a:t>
            </a:fld>
            <a:endParaRPr lang="en-US" dirty="0"/>
          </a:p>
        </p:txBody>
      </p:sp>
    </p:spTree>
    <p:extLst>
      <p:ext uri="{BB962C8B-B14F-4D97-AF65-F5344CB8AC3E}">
        <p14:creationId xmlns:p14="http://schemas.microsoft.com/office/powerpoint/2010/main" val="2786591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Bayesian Theorem</a:t>
            </a:r>
          </a:p>
        </p:txBody>
      </p:sp>
      <p:sp>
        <p:nvSpPr>
          <p:cNvPr id="3" name="Content Placeholder 2"/>
          <p:cNvSpPr>
            <a:spLocks noGrp="1"/>
          </p:cNvSpPr>
          <p:nvPr>
            <p:ph idx="1"/>
          </p:nvPr>
        </p:nvSpPr>
        <p:spPr/>
        <p:txBody>
          <a:bodyPr>
            <a:normAutofit fontScale="92500" lnSpcReduction="10000"/>
          </a:bodyPr>
          <a:lstStyle/>
          <a:p>
            <a:pPr>
              <a:lnSpc>
                <a:spcPct val="120000"/>
              </a:lnSpc>
            </a:pPr>
            <a:r>
              <a:rPr lang="en-US" altLang="en-US" dirty="0"/>
              <a:t>Given training data</a:t>
            </a:r>
            <a:r>
              <a:rPr lang="en-US" altLang="en-US" i="1" dirty="0"/>
              <a:t> </a:t>
            </a:r>
            <a:r>
              <a:rPr lang="en-US" altLang="en-US" b="1" dirty="0"/>
              <a:t>X</a:t>
            </a:r>
            <a:r>
              <a:rPr lang="en-US" altLang="en-US" i="1" dirty="0"/>
              <a:t>, posteriori probability of a hypothesis </a:t>
            </a:r>
            <a:r>
              <a:rPr lang="en-US" altLang="en-US" dirty="0"/>
              <a:t>H</a:t>
            </a:r>
            <a:r>
              <a:rPr lang="en-US" altLang="en-US" i="1" dirty="0"/>
              <a:t>, </a:t>
            </a:r>
            <a:r>
              <a:rPr lang="en-US" altLang="en-US" dirty="0"/>
              <a:t>P(H|</a:t>
            </a:r>
            <a:r>
              <a:rPr lang="en-US" altLang="en-US" b="1" dirty="0"/>
              <a:t>X</a:t>
            </a:r>
            <a:r>
              <a:rPr lang="en-US" altLang="en-US" dirty="0"/>
              <a:t>)</a:t>
            </a:r>
            <a:r>
              <a:rPr lang="en-US" altLang="en-US" i="1" dirty="0"/>
              <a:t>, </a:t>
            </a:r>
            <a:r>
              <a:rPr lang="en-US" altLang="en-US" dirty="0"/>
              <a:t>follows the Bayes theorem</a:t>
            </a:r>
          </a:p>
          <a:p>
            <a:pPr>
              <a:lnSpc>
                <a:spcPct val="120000"/>
              </a:lnSpc>
              <a:buNone/>
            </a:pPr>
            <a:r>
              <a:rPr lang="en-US" altLang="en-US" dirty="0"/>
              <a:t>			</a:t>
            </a:r>
          </a:p>
          <a:p>
            <a:pPr>
              <a:lnSpc>
                <a:spcPct val="120000"/>
              </a:lnSpc>
            </a:pPr>
            <a:endParaRPr lang="en-US" altLang="en-US" dirty="0"/>
          </a:p>
          <a:p>
            <a:pPr>
              <a:lnSpc>
                <a:spcPct val="120000"/>
              </a:lnSpc>
            </a:pPr>
            <a:r>
              <a:rPr lang="en-US" altLang="en-US" dirty="0"/>
              <a:t>Informally, this can be written as </a:t>
            </a:r>
          </a:p>
          <a:p>
            <a:pPr lvl="1">
              <a:lnSpc>
                <a:spcPct val="120000"/>
              </a:lnSpc>
              <a:buNone/>
            </a:pPr>
            <a:r>
              <a:rPr lang="en-US" altLang="en-US" dirty="0"/>
              <a:t>		</a:t>
            </a:r>
            <a:r>
              <a:rPr lang="en-US" altLang="en-US" b="1" dirty="0">
                <a:solidFill>
                  <a:srgbClr val="FF0000"/>
                </a:solidFill>
              </a:rPr>
              <a:t>posteriori = likelihood </a:t>
            </a:r>
            <a:r>
              <a:rPr lang="en-US" altLang="en-US" b="1" dirty="0">
                <a:solidFill>
                  <a:srgbClr val="FF0000"/>
                </a:solidFill>
                <a:sym typeface="Symbol" panose="05050102010706020507" pitchFamily="18" charset="2"/>
              </a:rPr>
              <a:t></a:t>
            </a:r>
            <a:r>
              <a:rPr lang="en-US" altLang="en-US" b="1" dirty="0">
                <a:solidFill>
                  <a:srgbClr val="FF0000"/>
                </a:solidFill>
              </a:rPr>
              <a:t> </a:t>
            </a:r>
            <a:r>
              <a:rPr lang="en-US" altLang="en-US" b="1" dirty="0">
                <a:solidFill>
                  <a:srgbClr val="FF0000"/>
                </a:solidFill>
              </a:rPr>
              <a:t>prior/evidence</a:t>
            </a:r>
          </a:p>
          <a:p>
            <a:pPr>
              <a:lnSpc>
                <a:spcPct val="120000"/>
              </a:lnSpc>
            </a:pPr>
            <a:r>
              <a:rPr lang="en-US" altLang="en-US" dirty="0"/>
              <a:t>Predicts </a:t>
            </a:r>
            <a:r>
              <a:rPr lang="en-US" altLang="en-US" b="1" dirty="0"/>
              <a:t>X</a:t>
            </a:r>
            <a:r>
              <a:rPr lang="en-US" altLang="en-US" dirty="0"/>
              <a:t> belongs to C</a:t>
            </a:r>
            <a:r>
              <a:rPr lang="en-US" altLang="en-US" baseline="-25000" dirty="0"/>
              <a:t>2</a:t>
            </a:r>
            <a:r>
              <a:rPr lang="en-US" altLang="en-US" dirty="0"/>
              <a:t> </a:t>
            </a:r>
            <a:r>
              <a:rPr lang="en-US" altLang="en-US" dirty="0" err="1"/>
              <a:t>iff</a:t>
            </a:r>
            <a:r>
              <a:rPr lang="en-US" altLang="en-US" dirty="0"/>
              <a:t> the probability P(</a:t>
            </a:r>
            <a:r>
              <a:rPr lang="en-US" altLang="en-US" dirty="0" err="1"/>
              <a:t>C</a:t>
            </a:r>
            <a:r>
              <a:rPr lang="en-US" altLang="en-US" baseline="-25000" dirty="0" err="1"/>
              <a:t>i</a:t>
            </a:r>
            <a:r>
              <a:rPr lang="en-US" altLang="en-US" dirty="0" err="1"/>
              <a:t>|</a:t>
            </a:r>
            <a:r>
              <a:rPr lang="en-US" altLang="en-US" b="1" dirty="0" err="1"/>
              <a:t>X</a:t>
            </a:r>
            <a:r>
              <a:rPr lang="en-US" altLang="en-US" dirty="0"/>
              <a:t>) is the highest among all the P(</a:t>
            </a:r>
            <a:r>
              <a:rPr lang="en-US" altLang="en-US" dirty="0" err="1"/>
              <a:t>C</a:t>
            </a:r>
            <a:r>
              <a:rPr lang="en-US" altLang="en-US" baseline="-25000" dirty="0" err="1"/>
              <a:t>k</a:t>
            </a:r>
            <a:r>
              <a:rPr lang="en-US" altLang="en-US" dirty="0" err="1"/>
              <a:t>|X</a:t>
            </a:r>
            <a:r>
              <a:rPr lang="en-US" altLang="en-US" dirty="0"/>
              <a:t>) for all the </a:t>
            </a:r>
            <a:r>
              <a:rPr lang="en-US" altLang="en-US" i="1" dirty="0"/>
              <a:t>k</a:t>
            </a:r>
            <a:r>
              <a:rPr lang="en-US" altLang="en-US" dirty="0"/>
              <a:t> classes</a:t>
            </a:r>
          </a:p>
          <a:p>
            <a:pPr>
              <a:lnSpc>
                <a:spcPct val="120000"/>
              </a:lnSpc>
            </a:pPr>
            <a:r>
              <a:rPr lang="en-US" altLang="en-US" dirty="0"/>
              <a:t>Practical difficulty: require initial knowledge of many probabilities, significant computational cost</a:t>
            </a:r>
          </a:p>
          <a:p>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58</a:t>
            </a:fld>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3806465397"/>
              </p:ext>
            </p:extLst>
          </p:nvPr>
        </p:nvGraphicFramePr>
        <p:xfrm>
          <a:off x="3574132" y="2204864"/>
          <a:ext cx="3455581" cy="683770"/>
        </p:xfrm>
        <a:graphic>
          <a:graphicData uri="http://schemas.openxmlformats.org/presentationml/2006/ole">
            <mc:AlternateContent xmlns:mc="http://schemas.openxmlformats.org/markup-compatibility/2006">
              <mc:Choice xmlns:v="urn:schemas-microsoft-com:vml" Requires="v">
                <p:oleObj spid="_x0000_s18439" name="Equation" r:id="rId3" imgW="2463800" imgH="558800" progId="Equation.3">
                  <p:embed/>
                </p:oleObj>
              </mc:Choice>
              <mc:Fallback>
                <p:oleObj name="Equation" r:id="rId3" imgW="2463800" imgH="558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4132" y="2204864"/>
                        <a:ext cx="3455581" cy="68377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348474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Towards Naïve Bayesian Classifier</a:t>
            </a:r>
            <a:endParaRPr lang="en-US" dirty="0"/>
          </a:p>
        </p:txBody>
      </p:sp>
      <p:sp>
        <p:nvSpPr>
          <p:cNvPr id="3" name="Content Placeholder 2"/>
          <p:cNvSpPr>
            <a:spLocks noGrp="1"/>
          </p:cNvSpPr>
          <p:nvPr>
            <p:ph idx="1"/>
          </p:nvPr>
        </p:nvSpPr>
        <p:spPr>
          <a:xfrm>
            <a:off x="1205860" y="1196752"/>
            <a:ext cx="10001120" cy="5040560"/>
          </a:xfrm>
        </p:spPr>
        <p:txBody>
          <a:bodyPr>
            <a:normAutofit fontScale="92500" lnSpcReduction="10000"/>
          </a:bodyPr>
          <a:lstStyle/>
          <a:p>
            <a:r>
              <a:rPr lang="en-US" altLang="en-US" dirty="0" smtClean="0"/>
              <a:t>Let D be a training set of tuples and their associated class labels, and each tuple is represented by an n-D attribute vector X = (x1, x2, …, </a:t>
            </a:r>
            <a:r>
              <a:rPr lang="en-US" altLang="en-US" dirty="0" err="1" smtClean="0"/>
              <a:t>xn</a:t>
            </a:r>
            <a:r>
              <a:rPr lang="en-US" altLang="en-US" dirty="0" smtClean="0"/>
              <a:t>)</a:t>
            </a:r>
          </a:p>
          <a:p>
            <a:r>
              <a:rPr lang="en-US" altLang="en-US" dirty="0" smtClean="0"/>
              <a:t>Suppose there are m classes C1, C2, …, Cm.</a:t>
            </a:r>
          </a:p>
          <a:p>
            <a:r>
              <a:rPr lang="en-US" altLang="en-US" dirty="0" smtClean="0"/>
              <a:t>Classification is to derive the maximum posteriori, i.e., the maximal P(</a:t>
            </a:r>
            <a:r>
              <a:rPr lang="en-US" altLang="en-US" dirty="0" err="1" smtClean="0"/>
              <a:t>Ci|X</a:t>
            </a:r>
            <a:r>
              <a:rPr lang="en-US" altLang="en-US" dirty="0" smtClean="0"/>
              <a:t>)</a:t>
            </a:r>
          </a:p>
          <a:p>
            <a:r>
              <a:rPr lang="en-US" altLang="en-US" dirty="0" smtClean="0"/>
              <a:t>This can be derived from Bayes’ theorem</a:t>
            </a:r>
          </a:p>
          <a:p>
            <a:endParaRPr lang="en-US" altLang="en-US" dirty="0" smtClean="0"/>
          </a:p>
          <a:p>
            <a:endParaRPr lang="en-US" altLang="en-US" dirty="0" smtClean="0"/>
          </a:p>
          <a:p>
            <a:r>
              <a:rPr lang="en-US" altLang="en-US" dirty="0" smtClean="0"/>
              <a:t>Since P(X) is constant for all classes, only                                        </a:t>
            </a:r>
          </a:p>
          <a:p>
            <a:endParaRPr lang="en-US" altLang="en-US" dirty="0" smtClean="0"/>
          </a:p>
          <a:p>
            <a:endParaRPr lang="en-US" altLang="en-US" dirty="0" smtClean="0"/>
          </a:p>
          <a:p>
            <a:pPr lvl="1"/>
            <a:r>
              <a:rPr lang="en-US" altLang="en-US" dirty="0" smtClean="0"/>
              <a:t>needs to be maximized</a:t>
            </a:r>
          </a:p>
          <a:p>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59</a:t>
            </a:fld>
            <a:endParaRPr lang="en-US" dirty="0"/>
          </a:p>
        </p:txBody>
      </p:sp>
      <p:graphicFrame>
        <p:nvGraphicFramePr>
          <p:cNvPr id="5" name="Object 5"/>
          <p:cNvGraphicFramePr>
            <a:graphicFrameLocks noChangeAspect="1"/>
          </p:cNvGraphicFramePr>
          <p:nvPr>
            <p:extLst>
              <p:ext uri="{D42A27DB-BD31-4B8C-83A1-F6EECF244321}">
                <p14:modId xmlns:p14="http://schemas.microsoft.com/office/powerpoint/2010/main" val="2004313340"/>
              </p:ext>
            </p:extLst>
          </p:nvPr>
        </p:nvGraphicFramePr>
        <p:xfrm>
          <a:off x="3862164" y="3501008"/>
          <a:ext cx="2741613" cy="709613"/>
        </p:xfrm>
        <a:graphic>
          <a:graphicData uri="http://schemas.openxmlformats.org/presentationml/2006/ole">
            <mc:AlternateContent xmlns:mc="http://schemas.openxmlformats.org/markup-compatibility/2006">
              <mc:Choice xmlns:v="urn:schemas-microsoft-com:vml" Requires="v">
                <p:oleObj spid="_x0000_s19468" name="Equation" r:id="rId3" imgW="2501900" imgH="647700" progId="Equation.3">
                  <p:embed/>
                </p:oleObj>
              </mc:Choice>
              <mc:Fallback>
                <p:oleObj name="Equation" r:id="rId3" imgW="2501900" imgH="647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2164" y="3501008"/>
                        <a:ext cx="2741613"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1205689672"/>
              </p:ext>
            </p:extLst>
          </p:nvPr>
        </p:nvGraphicFramePr>
        <p:xfrm>
          <a:off x="3880395" y="4869160"/>
          <a:ext cx="2895600" cy="446087"/>
        </p:xfrm>
        <a:graphic>
          <a:graphicData uri="http://schemas.openxmlformats.org/presentationml/2006/ole">
            <mc:AlternateContent xmlns:mc="http://schemas.openxmlformats.org/markup-compatibility/2006">
              <mc:Choice xmlns:v="urn:schemas-microsoft-com:vml" Requires="v">
                <p:oleObj spid="_x0000_s19469" name="Equation" r:id="rId5" imgW="2476500" imgH="381000" progId="Equation.3">
                  <p:embed/>
                </p:oleObj>
              </mc:Choice>
              <mc:Fallback>
                <p:oleObj name="Equation" r:id="rId5" imgW="2476500" imgH="381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0395" y="4869160"/>
                        <a:ext cx="28956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8603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Derivation of Naïve Bayes Classifier </a:t>
            </a:r>
            <a:endParaRPr lang="en-US" dirty="0"/>
          </a:p>
        </p:txBody>
      </p:sp>
      <p:sp>
        <p:nvSpPr>
          <p:cNvPr id="3" name="Content Placeholder 2"/>
          <p:cNvSpPr>
            <a:spLocks noGrp="1"/>
          </p:cNvSpPr>
          <p:nvPr>
            <p:ph idx="1"/>
          </p:nvPr>
        </p:nvSpPr>
        <p:spPr/>
        <p:txBody>
          <a:bodyPr>
            <a:normAutofit lnSpcReduction="10000"/>
          </a:bodyPr>
          <a:lstStyle/>
          <a:p>
            <a:r>
              <a:rPr lang="en-US" altLang="en-US" smtClean="0"/>
              <a:t>A simplified assumption: attributes are conditionally independent (i.e., no dependence relation between attributes):</a:t>
            </a:r>
          </a:p>
          <a:p>
            <a:endParaRPr lang="en-US" altLang="en-US" smtClean="0"/>
          </a:p>
          <a:p>
            <a:r>
              <a:rPr lang="en-US" altLang="en-US" smtClean="0"/>
              <a:t>This greatly reduces the computation cost: Only counts the class distribution</a:t>
            </a:r>
          </a:p>
          <a:p>
            <a:r>
              <a:rPr lang="en-US" altLang="en-US" smtClean="0"/>
              <a:t>If Ak is categorical, P(xk|Ci) is the # of tuples in Ci having value xk for Ak divided by |Ci, D| (# of tuples of Ci in D)</a:t>
            </a:r>
          </a:p>
          <a:p>
            <a:r>
              <a:rPr lang="en-US" altLang="en-US" smtClean="0"/>
              <a:t>If Ak is continuous-valued, P(xk|Ci) is usually computed based on Gaussian distribution with a mean </a:t>
            </a:r>
            <a:r>
              <a:rPr lang="el-GR" altLang="en-US" smtClean="0"/>
              <a:t>μ</a:t>
            </a:r>
            <a:r>
              <a:rPr lang="en-US" altLang="en-US" smtClean="0"/>
              <a:t> and standard deviation </a:t>
            </a:r>
            <a:r>
              <a:rPr lang="el-GR" altLang="en-US" smtClean="0"/>
              <a:t>σ</a:t>
            </a:r>
          </a:p>
          <a:p>
            <a:endParaRPr lang="en-US" altLang="en-US" smtClean="0"/>
          </a:p>
          <a:p>
            <a:pPr lvl="1"/>
            <a:r>
              <a:rPr lang="en-US" altLang="en-US" smtClean="0"/>
              <a:t>and P(xk|Ci) is </a:t>
            </a:r>
          </a:p>
          <a:p>
            <a:endParaRPr lang="en-US" altLang="en-US" smtClean="0"/>
          </a:p>
          <a:p>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60</a:t>
            </a:fld>
            <a:endParaRPr lang="en-US" dirty="0"/>
          </a:p>
        </p:txBody>
      </p:sp>
      <p:graphicFrame>
        <p:nvGraphicFramePr>
          <p:cNvPr id="5" name="Object 10"/>
          <p:cNvGraphicFramePr>
            <a:graphicFrameLocks/>
          </p:cNvGraphicFramePr>
          <p:nvPr>
            <p:extLst>
              <p:ext uri="{D42A27DB-BD31-4B8C-83A1-F6EECF244321}">
                <p14:modId xmlns:p14="http://schemas.microsoft.com/office/powerpoint/2010/main" val="3140595465"/>
              </p:ext>
            </p:extLst>
          </p:nvPr>
        </p:nvGraphicFramePr>
        <p:xfrm>
          <a:off x="3077840" y="1916832"/>
          <a:ext cx="6007100" cy="746125"/>
        </p:xfrm>
        <a:graphic>
          <a:graphicData uri="http://schemas.openxmlformats.org/presentationml/2006/ole">
            <mc:AlternateContent xmlns:mc="http://schemas.openxmlformats.org/markup-compatibility/2006">
              <mc:Choice xmlns:v="urn:schemas-microsoft-com:vml" Requires="v">
                <p:oleObj spid="_x0000_s20497" name="Equation" r:id="rId3" imgW="4089400" imgH="508000" progId="Equation.3">
                  <p:embed/>
                </p:oleObj>
              </mc:Choice>
              <mc:Fallback>
                <p:oleObj name="Equation" r:id="rId3" imgW="4089400" imgH="508000" progId="Equation.3">
                  <p:embed/>
                  <p:pic>
                    <p:nvPicPr>
                      <p:cNvPr id="0" name=""/>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7840" y="1916832"/>
                        <a:ext cx="6007100" cy="74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12"/>
          <p:cNvGraphicFramePr>
            <a:graphicFrameLocks/>
          </p:cNvGraphicFramePr>
          <p:nvPr>
            <p:extLst>
              <p:ext uri="{D42A27DB-BD31-4B8C-83A1-F6EECF244321}">
                <p14:modId xmlns:p14="http://schemas.microsoft.com/office/powerpoint/2010/main" val="3807734252"/>
              </p:ext>
            </p:extLst>
          </p:nvPr>
        </p:nvGraphicFramePr>
        <p:xfrm>
          <a:off x="4870276" y="4869160"/>
          <a:ext cx="2627313" cy="762000"/>
        </p:xfrm>
        <a:graphic>
          <a:graphicData uri="http://schemas.openxmlformats.org/presentationml/2006/ole">
            <mc:AlternateContent xmlns:mc="http://schemas.openxmlformats.org/markup-compatibility/2006">
              <mc:Choice xmlns:v="urn:schemas-microsoft-com:vml" Requires="v">
                <p:oleObj spid="_x0000_s20498" name="Equation" r:id="rId5" imgW="1663700" imgH="482600" progId="Equation.3">
                  <p:embed/>
                </p:oleObj>
              </mc:Choice>
              <mc:Fallback>
                <p:oleObj name="Equation" r:id="rId5" imgW="1663700" imgH="482600"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0276" y="4869160"/>
                        <a:ext cx="26273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4"/>
          <p:cNvGraphicFramePr>
            <a:graphicFrameLocks/>
          </p:cNvGraphicFramePr>
          <p:nvPr>
            <p:extLst>
              <p:ext uri="{D42A27DB-BD31-4B8C-83A1-F6EECF244321}">
                <p14:modId xmlns:p14="http://schemas.microsoft.com/office/powerpoint/2010/main" val="2598891560"/>
              </p:ext>
            </p:extLst>
          </p:nvPr>
        </p:nvGraphicFramePr>
        <p:xfrm>
          <a:off x="4760913" y="5775176"/>
          <a:ext cx="2667000" cy="457200"/>
        </p:xfrm>
        <a:graphic>
          <a:graphicData uri="http://schemas.openxmlformats.org/presentationml/2006/ole">
            <mc:AlternateContent xmlns:mc="http://schemas.openxmlformats.org/markup-compatibility/2006">
              <mc:Choice xmlns:v="urn:schemas-microsoft-com:vml" Requires="v">
                <p:oleObj spid="_x0000_s20499" name="Equation" r:id="rId7" imgW="1625600" imgH="241300" progId="Equation.3">
                  <p:embed/>
                </p:oleObj>
              </mc:Choice>
              <mc:Fallback>
                <p:oleObj name="Equation" r:id="rId7" imgW="1625600" imgH="241300"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60913" y="5775176"/>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11868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Example-1</a:t>
            </a:r>
            <a:endParaRPr lang="en-US" dirty="0"/>
          </a:p>
        </p:txBody>
      </p:sp>
      <p:sp>
        <p:nvSpPr>
          <p:cNvPr id="3" name="Content Placeholder 2"/>
          <p:cNvSpPr>
            <a:spLocks noGrp="1"/>
          </p:cNvSpPr>
          <p:nvPr>
            <p:ph idx="1"/>
          </p:nvPr>
        </p:nvSpPr>
        <p:spPr>
          <a:xfrm>
            <a:off x="1522413" y="1514168"/>
            <a:ext cx="5940151" cy="4699820"/>
          </a:xfrm>
        </p:spPr>
        <p:txBody>
          <a:bodyPr>
            <a:normAutofit/>
          </a:bodyPr>
          <a:lstStyle/>
          <a:p>
            <a:pPr>
              <a:lnSpc>
                <a:spcPct val="110000"/>
              </a:lnSpc>
            </a:pPr>
            <a:r>
              <a:rPr lang="en-US" altLang="en-US" b="1" dirty="0" smtClean="0"/>
              <a:t>Class</a:t>
            </a:r>
            <a:endParaRPr lang="en-US" altLang="en-US" b="1" dirty="0"/>
          </a:p>
          <a:p>
            <a:pPr lvl="1">
              <a:lnSpc>
                <a:spcPct val="110000"/>
              </a:lnSpc>
            </a:pPr>
            <a:r>
              <a:rPr lang="en-US" altLang="en-US" dirty="0"/>
              <a:t>C1:</a:t>
            </a:r>
            <a:r>
              <a:rPr lang="en-US" altLang="en-US" b="1" dirty="0"/>
              <a:t>buys_computer</a:t>
            </a:r>
            <a:r>
              <a:rPr lang="en-US" altLang="en-US" dirty="0"/>
              <a:t> = ‘yes’</a:t>
            </a:r>
          </a:p>
          <a:p>
            <a:pPr lvl="1">
              <a:lnSpc>
                <a:spcPct val="110000"/>
              </a:lnSpc>
            </a:pPr>
            <a:r>
              <a:rPr lang="en-US" altLang="en-US" dirty="0"/>
              <a:t>C2:</a:t>
            </a:r>
            <a:r>
              <a:rPr lang="en-US" altLang="en-US" b="1" dirty="0"/>
              <a:t>buys_computer</a:t>
            </a:r>
            <a:r>
              <a:rPr lang="en-US" altLang="en-US" dirty="0"/>
              <a:t> = ‘no’</a:t>
            </a:r>
          </a:p>
          <a:p>
            <a:pPr>
              <a:lnSpc>
                <a:spcPct val="110000"/>
              </a:lnSpc>
            </a:pPr>
            <a:r>
              <a:rPr lang="en-US" altLang="en-US" b="1" dirty="0" smtClean="0"/>
              <a:t>Data </a:t>
            </a:r>
            <a:r>
              <a:rPr lang="en-US" altLang="en-US" b="1" dirty="0" smtClean="0"/>
              <a:t>sample</a:t>
            </a:r>
            <a:endParaRPr lang="en-US" altLang="en-US" b="1" dirty="0"/>
          </a:p>
          <a:p>
            <a:pPr lvl="1">
              <a:lnSpc>
                <a:spcPct val="110000"/>
              </a:lnSpc>
              <a:spcBef>
                <a:spcPts val="600"/>
              </a:spcBef>
            </a:pPr>
            <a:r>
              <a:rPr lang="en-US" altLang="en-US" dirty="0"/>
              <a:t>X </a:t>
            </a:r>
            <a:r>
              <a:rPr lang="en-US" altLang="en-US" dirty="0" smtClean="0"/>
              <a:t>= (</a:t>
            </a:r>
            <a:r>
              <a:rPr lang="en-US" altLang="en-US" b="1" dirty="0" smtClean="0"/>
              <a:t>age</a:t>
            </a:r>
            <a:r>
              <a:rPr lang="en-US" altLang="en-US" dirty="0" smtClean="0"/>
              <a:t> </a:t>
            </a:r>
            <a:r>
              <a:rPr lang="en-US" altLang="en-US" dirty="0"/>
              <a:t>≤ 30</a:t>
            </a:r>
            <a:r>
              <a:rPr lang="en-US" altLang="en-US" dirty="0" smtClean="0"/>
              <a:t>, </a:t>
            </a:r>
          </a:p>
          <a:p>
            <a:pPr marL="457200" lvl="1" indent="0">
              <a:lnSpc>
                <a:spcPct val="110000"/>
              </a:lnSpc>
              <a:spcBef>
                <a:spcPts val="600"/>
              </a:spcBef>
              <a:buNone/>
            </a:pPr>
            <a:r>
              <a:rPr lang="en-US" altLang="en-US" dirty="0"/>
              <a:t>	</a:t>
            </a:r>
            <a:r>
              <a:rPr lang="en-US" altLang="en-US" dirty="0"/>
              <a:t> </a:t>
            </a:r>
            <a:r>
              <a:rPr lang="en-US" altLang="en-US" dirty="0" smtClean="0"/>
              <a:t> </a:t>
            </a:r>
            <a:r>
              <a:rPr lang="en-US" altLang="en-US" b="1" dirty="0" smtClean="0"/>
              <a:t>income</a:t>
            </a:r>
            <a:r>
              <a:rPr lang="en-US" altLang="en-US" dirty="0" smtClean="0"/>
              <a:t> </a:t>
            </a:r>
            <a:r>
              <a:rPr lang="en-US" altLang="en-US" dirty="0"/>
              <a:t>= medium</a:t>
            </a:r>
            <a:r>
              <a:rPr lang="en-US" altLang="en-US" dirty="0" smtClean="0"/>
              <a:t>, </a:t>
            </a:r>
          </a:p>
          <a:p>
            <a:pPr marL="457200" lvl="1" indent="0">
              <a:lnSpc>
                <a:spcPct val="110000"/>
              </a:lnSpc>
              <a:spcBef>
                <a:spcPts val="600"/>
              </a:spcBef>
              <a:buNone/>
            </a:pPr>
            <a:r>
              <a:rPr lang="en-US" altLang="en-US" dirty="0"/>
              <a:t>	</a:t>
            </a:r>
            <a:r>
              <a:rPr lang="en-US" altLang="en-US" dirty="0" smtClean="0"/>
              <a:t>  </a:t>
            </a:r>
            <a:r>
              <a:rPr lang="en-US" altLang="en-US" b="1" dirty="0" smtClean="0"/>
              <a:t>student</a:t>
            </a:r>
            <a:r>
              <a:rPr lang="en-US" altLang="en-US" dirty="0" smtClean="0"/>
              <a:t> </a:t>
            </a:r>
            <a:r>
              <a:rPr lang="en-US" altLang="en-US" dirty="0"/>
              <a:t>= </a:t>
            </a:r>
            <a:r>
              <a:rPr lang="en-US" altLang="en-US" dirty="0" smtClean="0"/>
              <a:t>yes, </a:t>
            </a:r>
          </a:p>
          <a:p>
            <a:pPr marL="457200" lvl="1" indent="0">
              <a:lnSpc>
                <a:spcPct val="110000"/>
              </a:lnSpc>
              <a:spcBef>
                <a:spcPts val="600"/>
              </a:spcBef>
              <a:buNone/>
            </a:pPr>
            <a:r>
              <a:rPr lang="en-US" altLang="en-US" dirty="0"/>
              <a:t>	</a:t>
            </a:r>
            <a:r>
              <a:rPr lang="en-US" altLang="en-US" dirty="0" smtClean="0"/>
              <a:t>  </a:t>
            </a:r>
            <a:r>
              <a:rPr lang="en-US" altLang="en-US" b="1" dirty="0" err="1" smtClean="0"/>
              <a:t>credit_rating</a:t>
            </a:r>
            <a:r>
              <a:rPr lang="en-US" altLang="en-US" dirty="0" smtClean="0"/>
              <a:t> </a:t>
            </a:r>
            <a:r>
              <a:rPr lang="en-US" altLang="en-US" dirty="0"/>
              <a:t>= </a:t>
            </a:r>
            <a:r>
              <a:rPr lang="en-US" altLang="en-US" dirty="0" smtClean="0"/>
              <a:t>fair)</a:t>
            </a:r>
            <a:endParaRPr lang="en-US" altLang="en-US" dirty="0"/>
          </a:p>
          <a:p>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61</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366748915"/>
              </p:ext>
            </p:extLst>
          </p:nvPr>
        </p:nvGraphicFramePr>
        <p:xfrm>
          <a:off x="6454452" y="332656"/>
          <a:ext cx="4800600" cy="3886196"/>
        </p:xfrm>
        <a:graphic>
          <a:graphicData uri="http://schemas.openxmlformats.org/drawingml/2006/table">
            <a:tbl>
              <a:tblPr/>
              <a:tblGrid>
                <a:gridCol w="894230">
                  <a:extLst>
                    <a:ext uri="{9D8B030D-6E8A-4147-A177-3AD203B41FA5}">
                      <a16:colId xmlns:a16="http://schemas.microsoft.com/office/drawing/2014/main" xmlns="" val="20000"/>
                    </a:ext>
                  </a:extLst>
                </a:gridCol>
                <a:gridCol w="894230">
                  <a:extLst>
                    <a:ext uri="{9D8B030D-6E8A-4147-A177-3AD203B41FA5}">
                      <a16:colId xmlns:a16="http://schemas.microsoft.com/office/drawing/2014/main" xmlns="" val="20001"/>
                    </a:ext>
                  </a:extLst>
                </a:gridCol>
                <a:gridCol w="715383">
                  <a:extLst>
                    <a:ext uri="{9D8B030D-6E8A-4147-A177-3AD203B41FA5}">
                      <a16:colId xmlns:a16="http://schemas.microsoft.com/office/drawing/2014/main" xmlns="" val="20002"/>
                    </a:ext>
                  </a:extLst>
                </a:gridCol>
                <a:gridCol w="1091901">
                  <a:extLst>
                    <a:ext uri="{9D8B030D-6E8A-4147-A177-3AD203B41FA5}">
                      <a16:colId xmlns:a16="http://schemas.microsoft.com/office/drawing/2014/main" xmlns="" val="20003"/>
                    </a:ext>
                  </a:extLst>
                </a:gridCol>
                <a:gridCol w="1204856">
                  <a:extLst>
                    <a:ext uri="{9D8B030D-6E8A-4147-A177-3AD203B41FA5}">
                      <a16:colId xmlns:a16="http://schemas.microsoft.com/office/drawing/2014/main" xmlns="" val="20004"/>
                    </a:ext>
                  </a:extLst>
                </a:gridCol>
              </a:tblGrid>
              <a:tr h="475222">
                <a:tc>
                  <a:txBody>
                    <a:bodyPr/>
                    <a:lstStyle/>
                    <a:p>
                      <a:pPr algn="ctr" fontAlgn="b"/>
                      <a:r>
                        <a:rPr lang="en-US" sz="1200" b="1" i="0" u="none" strike="noStrike" dirty="0">
                          <a:solidFill>
                            <a:srgbClr val="000000"/>
                          </a:solidFill>
                          <a:latin typeface="Arial"/>
                        </a:rPr>
                        <a:t>age</a:t>
                      </a:r>
                    </a:p>
                  </a:txBody>
                  <a:tcPr marL="9525" marR="9525" marT="9525"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200" b="1" i="0" u="none" strike="noStrike" dirty="0">
                          <a:solidFill>
                            <a:srgbClr val="000000"/>
                          </a:solidFill>
                          <a:latin typeface="Arial"/>
                        </a:rPr>
                        <a:t>income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200" b="1" i="0" u="none" strike="noStrike" dirty="0">
                          <a:solidFill>
                            <a:srgbClr val="000000"/>
                          </a:solidFill>
                          <a:latin typeface="Arial"/>
                        </a:rPr>
                        <a:t>student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200" b="1" i="0" u="none" strike="noStrike" dirty="0" err="1">
                          <a:solidFill>
                            <a:srgbClr val="000000"/>
                          </a:solidFill>
                          <a:latin typeface="Arial"/>
                        </a:rPr>
                        <a:t>credit_rating</a:t>
                      </a:r>
                      <a:endParaRPr lang="en-US" sz="1200" b="1"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200" b="1" i="0" u="none" strike="noStrike" dirty="0" err="1">
                          <a:solidFill>
                            <a:srgbClr val="000000"/>
                          </a:solidFill>
                          <a:latin typeface="Arial"/>
                        </a:rPr>
                        <a:t>buys_computer</a:t>
                      </a:r>
                      <a:endParaRPr lang="en-US" sz="1200" b="1" i="0" u="none" strike="noStrike" dirty="0">
                        <a:solidFill>
                          <a:srgbClr val="000000"/>
                        </a:solidFill>
                        <a:latin typeface="Arial"/>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xmlns="" val="10000"/>
                  </a:ext>
                </a:extLst>
              </a:tr>
              <a:tr h="243641">
                <a:tc>
                  <a:txBody>
                    <a:bodyPr/>
                    <a:lstStyle/>
                    <a:p>
                      <a:pPr algn="ctr" fontAlgn="b"/>
                      <a:r>
                        <a:rPr lang="en-US" sz="1200" b="0" i="0" u="none" strike="noStrike" dirty="0">
                          <a:solidFill>
                            <a:srgbClr val="000000"/>
                          </a:solidFill>
                          <a:latin typeface="Arial"/>
                        </a:rPr>
                        <a:t>&lt;=30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high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fair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1"/>
                  </a:ext>
                </a:extLst>
              </a:tr>
              <a:tr h="243641">
                <a:tc>
                  <a:txBody>
                    <a:bodyPr/>
                    <a:lstStyle/>
                    <a:p>
                      <a:pPr algn="ctr" fontAlgn="b"/>
                      <a:r>
                        <a:rPr lang="en-US" sz="1200" b="0" i="0" u="none" strike="noStrike" dirty="0">
                          <a:solidFill>
                            <a:srgbClr val="000000"/>
                          </a:solidFill>
                          <a:latin typeface="Arial"/>
                        </a:rPr>
                        <a:t>&lt;=30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high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excellent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2"/>
                  </a:ext>
                </a:extLst>
              </a:tr>
              <a:tr h="243641">
                <a:tc>
                  <a:txBody>
                    <a:bodyPr/>
                    <a:lstStyle/>
                    <a:p>
                      <a:pPr algn="ctr" fontAlgn="b"/>
                      <a:r>
                        <a:rPr lang="en-US" sz="1200" b="0" i="0" u="none" strike="noStrike">
                          <a:solidFill>
                            <a:srgbClr val="000000"/>
                          </a:solidFill>
                          <a:latin typeface="Arial"/>
                        </a:rPr>
                        <a:t>31…40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high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fair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3"/>
                  </a:ext>
                </a:extLst>
              </a:tr>
              <a:tr h="243641">
                <a:tc>
                  <a:txBody>
                    <a:bodyPr/>
                    <a:lstStyle/>
                    <a:p>
                      <a:pPr algn="ctr" fontAlgn="b"/>
                      <a:r>
                        <a:rPr lang="en-US" sz="1200" b="0" i="0" u="none" strike="noStrike">
                          <a:solidFill>
                            <a:srgbClr val="000000"/>
                          </a:solidFill>
                          <a:latin typeface="Arial"/>
                        </a:rPr>
                        <a:t>&gt;40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fair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4"/>
                  </a:ext>
                </a:extLst>
              </a:tr>
              <a:tr h="243641">
                <a:tc>
                  <a:txBody>
                    <a:bodyPr/>
                    <a:lstStyle/>
                    <a:p>
                      <a:pPr algn="ctr" fontAlgn="b"/>
                      <a:r>
                        <a:rPr lang="en-US" sz="1200" b="0" i="0" u="none" strike="noStrike">
                          <a:solidFill>
                            <a:srgbClr val="000000"/>
                          </a:solidFill>
                          <a:latin typeface="Arial"/>
                        </a:rPr>
                        <a:t>&gt;40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fair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5"/>
                  </a:ext>
                </a:extLst>
              </a:tr>
              <a:tr h="243641">
                <a:tc>
                  <a:txBody>
                    <a:bodyPr/>
                    <a:lstStyle/>
                    <a:p>
                      <a:pPr algn="ctr" fontAlgn="b"/>
                      <a:r>
                        <a:rPr lang="en-US" sz="1200" b="0" i="0" u="none" strike="noStrike">
                          <a:solidFill>
                            <a:srgbClr val="000000"/>
                          </a:solidFill>
                          <a:latin typeface="Arial"/>
                        </a:rPr>
                        <a:t>&gt;40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excellent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6"/>
                  </a:ext>
                </a:extLst>
              </a:tr>
              <a:tr h="243641">
                <a:tc>
                  <a:txBody>
                    <a:bodyPr/>
                    <a:lstStyle/>
                    <a:p>
                      <a:pPr algn="ctr" fontAlgn="b"/>
                      <a:r>
                        <a:rPr lang="en-US" sz="1200" b="0" i="0" u="none" strike="noStrike">
                          <a:solidFill>
                            <a:srgbClr val="000000"/>
                          </a:solidFill>
                          <a:latin typeface="Arial"/>
                        </a:rPr>
                        <a:t>31…40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excellent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7"/>
                  </a:ext>
                </a:extLst>
              </a:tr>
              <a:tr h="243641">
                <a:tc>
                  <a:txBody>
                    <a:bodyPr/>
                    <a:lstStyle/>
                    <a:p>
                      <a:pPr algn="ctr" fontAlgn="b"/>
                      <a:r>
                        <a:rPr lang="en-US" sz="1200" b="0" i="0" u="none" strike="noStrike" dirty="0">
                          <a:solidFill>
                            <a:srgbClr val="000000"/>
                          </a:solidFill>
                          <a:latin typeface="Arial"/>
                        </a:rPr>
                        <a:t>&lt;=30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fair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8"/>
                  </a:ext>
                </a:extLst>
              </a:tr>
              <a:tr h="243641">
                <a:tc>
                  <a:txBody>
                    <a:bodyPr/>
                    <a:lstStyle/>
                    <a:p>
                      <a:pPr algn="ctr" fontAlgn="b"/>
                      <a:r>
                        <a:rPr lang="en-US" sz="1200" b="0" i="0" u="none" strike="noStrike">
                          <a:solidFill>
                            <a:srgbClr val="000000"/>
                          </a:solidFill>
                          <a:latin typeface="Arial"/>
                        </a:rPr>
                        <a:t>&lt;=30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fair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9"/>
                  </a:ext>
                </a:extLst>
              </a:tr>
              <a:tr h="243641">
                <a:tc>
                  <a:txBody>
                    <a:bodyPr/>
                    <a:lstStyle/>
                    <a:p>
                      <a:pPr algn="ctr" fontAlgn="b"/>
                      <a:r>
                        <a:rPr lang="en-US" sz="1200" b="0" i="0" u="none" strike="noStrike">
                          <a:solidFill>
                            <a:srgbClr val="000000"/>
                          </a:solidFill>
                          <a:latin typeface="Arial"/>
                        </a:rPr>
                        <a:t>&gt;40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fair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10"/>
                  </a:ext>
                </a:extLst>
              </a:tr>
              <a:tr h="243641">
                <a:tc>
                  <a:txBody>
                    <a:bodyPr/>
                    <a:lstStyle/>
                    <a:p>
                      <a:pPr algn="ctr" fontAlgn="b"/>
                      <a:r>
                        <a:rPr lang="en-US" sz="1200" b="0" i="0" u="none" strike="noStrike">
                          <a:solidFill>
                            <a:srgbClr val="000000"/>
                          </a:solidFill>
                          <a:latin typeface="Arial"/>
                        </a:rPr>
                        <a:t>&lt;=30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excellent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11"/>
                  </a:ext>
                </a:extLst>
              </a:tr>
              <a:tr h="243641">
                <a:tc>
                  <a:txBody>
                    <a:bodyPr/>
                    <a:lstStyle/>
                    <a:p>
                      <a:pPr algn="ctr" fontAlgn="b"/>
                      <a:r>
                        <a:rPr lang="en-US" sz="1200" b="0" i="0" u="none" strike="noStrike">
                          <a:solidFill>
                            <a:srgbClr val="000000"/>
                          </a:solidFill>
                          <a:latin typeface="Arial"/>
                        </a:rPr>
                        <a:t>31…40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excellent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12"/>
                  </a:ext>
                </a:extLst>
              </a:tr>
              <a:tr h="243641">
                <a:tc>
                  <a:txBody>
                    <a:bodyPr/>
                    <a:lstStyle/>
                    <a:p>
                      <a:pPr algn="ctr" fontAlgn="b"/>
                      <a:r>
                        <a:rPr lang="en-US" sz="1200" b="0" i="0" u="none" strike="noStrike">
                          <a:solidFill>
                            <a:srgbClr val="000000"/>
                          </a:solidFill>
                          <a:latin typeface="Arial"/>
                        </a:rPr>
                        <a:t>31…40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high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fair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yes</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13"/>
                  </a:ext>
                </a:extLst>
              </a:tr>
              <a:tr h="243641">
                <a:tc>
                  <a:txBody>
                    <a:bodyPr/>
                    <a:lstStyle/>
                    <a:p>
                      <a:pPr algn="ctr" fontAlgn="b"/>
                      <a:r>
                        <a:rPr lang="en-US" sz="1200" b="0" i="0" u="none" strike="noStrike">
                          <a:solidFill>
                            <a:srgbClr val="000000"/>
                          </a:solidFill>
                          <a:latin typeface="Arial"/>
                        </a:rPr>
                        <a:t>&gt;40</a:t>
                      </a:r>
                    </a:p>
                  </a:txBody>
                  <a:tcPr marL="9525" marR="9525" marT="9525" marB="0" anchor="b">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a:solidFill>
                            <a:srgbClr val="000000"/>
                          </a:solidFill>
                          <a:latin typeface="Arial"/>
                        </a:rPr>
                        <a:t>excellent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r>
                        <a:rPr lang="en-US" sz="1200" b="0" i="0" u="none" strike="noStrike" dirty="0">
                          <a:solidFill>
                            <a:srgbClr val="000000"/>
                          </a:solidFill>
                          <a:latin typeface="Arial"/>
                        </a:rPr>
                        <a:t>no</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14"/>
                  </a:ext>
                </a:extLst>
              </a:tr>
            </a:tbl>
          </a:graphicData>
        </a:graphic>
      </p:graphicFrame>
    </p:spTree>
    <p:extLst>
      <p:ext uri="{BB962C8B-B14F-4D97-AF65-F5344CB8AC3E}">
        <p14:creationId xmlns:p14="http://schemas.microsoft.com/office/powerpoint/2010/main" val="288885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8438" y="250484"/>
            <a:ext cx="7172953" cy="890058"/>
          </a:xfrm>
        </p:spPr>
        <p:txBody>
          <a:bodyPr/>
          <a:lstStyle/>
          <a:p>
            <a:pPr algn="ctr"/>
            <a:r>
              <a:rPr lang="en-US" dirty="0" smtClean="0"/>
              <a:t>Computation</a:t>
            </a:r>
            <a:endParaRPr lang="en-US" dirty="0"/>
          </a:p>
        </p:txBody>
      </p:sp>
      <p:graphicFrame>
        <p:nvGraphicFramePr>
          <p:cNvPr id="5" name="Content Placeholder 4"/>
          <p:cNvGraphicFramePr>
            <a:graphicFrameLocks noGrp="1"/>
          </p:cNvGraphicFramePr>
          <p:nvPr>
            <p:ph idx="1"/>
            <p:extLst/>
          </p:nvPr>
        </p:nvGraphicFramePr>
        <p:xfrm>
          <a:off x="2287957" y="1140542"/>
          <a:ext cx="7853917" cy="5669280"/>
        </p:xfrm>
        <a:graphic>
          <a:graphicData uri="http://schemas.openxmlformats.org/drawingml/2006/table">
            <a:tbl>
              <a:tblPr firstRow="1" bandRow="1">
                <a:tableStyleId>{5C22544A-7EE6-4342-B048-85BDC9FD1C3A}</a:tableStyleId>
              </a:tblPr>
              <a:tblGrid>
                <a:gridCol w="2690037">
                  <a:extLst>
                    <a:ext uri="{9D8B030D-6E8A-4147-A177-3AD203B41FA5}">
                      <a16:colId xmlns:a16="http://schemas.microsoft.com/office/drawing/2014/main" xmlns="" val="2418143972"/>
                    </a:ext>
                  </a:extLst>
                </a:gridCol>
                <a:gridCol w="1233377">
                  <a:extLst>
                    <a:ext uri="{9D8B030D-6E8A-4147-A177-3AD203B41FA5}">
                      <a16:colId xmlns:a16="http://schemas.microsoft.com/office/drawing/2014/main" xmlns="" val="3599806896"/>
                    </a:ext>
                  </a:extLst>
                </a:gridCol>
                <a:gridCol w="1350335">
                  <a:extLst>
                    <a:ext uri="{9D8B030D-6E8A-4147-A177-3AD203B41FA5}">
                      <a16:colId xmlns:a16="http://schemas.microsoft.com/office/drawing/2014/main" xmlns="" val="3253018717"/>
                    </a:ext>
                  </a:extLst>
                </a:gridCol>
                <a:gridCol w="1225466">
                  <a:extLst>
                    <a:ext uri="{9D8B030D-6E8A-4147-A177-3AD203B41FA5}">
                      <a16:colId xmlns:a16="http://schemas.microsoft.com/office/drawing/2014/main" xmlns="" val="2012432702"/>
                    </a:ext>
                  </a:extLst>
                </a:gridCol>
                <a:gridCol w="1354702">
                  <a:extLst>
                    <a:ext uri="{9D8B030D-6E8A-4147-A177-3AD203B41FA5}">
                      <a16:colId xmlns:a16="http://schemas.microsoft.com/office/drawing/2014/main" xmlns="" val="2407801767"/>
                    </a:ext>
                  </a:extLst>
                </a:gridCol>
              </a:tblGrid>
              <a:tr h="370840">
                <a:tc>
                  <a:txBody>
                    <a:bodyPr/>
                    <a:lstStyle/>
                    <a:p>
                      <a:pPr algn="ct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Yes</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No</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Yes</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No</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xmlns="" val="3361925446"/>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P(Ci)</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9/14</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5/14</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0.643</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0.357</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3292784130"/>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P(</a:t>
                      </a:r>
                      <a:r>
                        <a:rPr lang="en-US" sz="2400" b="1" dirty="0" err="1" smtClean="0">
                          <a:latin typeface="Times New Roman" panose="02020603050405020304" pitchFamily="18" charset="0"/>
                          <a:cs typeface="Times New Roman" panose="02020603050405020304" pitchFamily="18" charset="0"/>
                        </a:rPr>
                        <a:t>X|Ci</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1" dirty="0" smtClean="0">
                          <a:latin typeface="Times New Roman" panose="02020603050405020304" pitchFamily="18" charset="0"/>
                          <a:cs typeface="Times New Roman" panose="02020603050405020304" pitchFamily="18" charset="0"/>
                        </a:rPr>
                        <a:t>Prob.</a:t>
                      </a:r>
                      <a:endParaRPr lang="en-US"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1" dirty="0" smtClean="0">
                          <a:latin typeface="Times New Roman" panose="02020603050405020304" pitchFamily="18" charset="0"/>
                          <a:cs typeface="Times New Roman" panose="02020603050405020304" pitchFamily="18" charset="0"/>
                        </a:rPr>
                        <a:t>Prob.</a:t>
                      </a:r>
                      <a:endParaRPr lang="en-US"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246730881"/>
                  </a:ext>
                </a:extLst>
              </a:tr>
              <a:tr h="370840">
                <a:tc>
                  <a:txBody>
                    <a:bodyPr/>
                    <a:lstStyle/>
                    <a:p>
                      <a:pPr algn="l"/>
                      <a:r>
                        <a:rPr lang="en-US" sz="2400" dirty="0" smtClean="0">
                          <a:latin typeface="Times New Roman" panose="02020603050405020304" pitchFamily="18" charset="0"/>
                          <a:cs typeface="Times New Roman" panose="02020603050405020304" pitchFamily="18" charset="0"/>
                        </a:rPr>
                        <a:t>Age = youth</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2/9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3/5</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0.222</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0.6</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52553317"/>
                  </a:ext>
                </a:extLst>
              </a:tr>
              <a:tr h="370840">
                <a:tc>
                  <a:txBody>
                    <a:bodyPr/>
                    <a:lstStyle/>
                    <a:p>
                      <a:pPr algn="l"/>
                      <a:r>
                        <a:rPr lang="en-US" sz="2400" dirty="0" smtClean="0">
                          <a:latin typeface="Times New Roman" panose="02020603050405020304" pitchFamily="18" charset="0"/>
                          <a:cs typeface="Times New Roman" panose="02020603050405020304" pitchFamily="18" charset="0"/>
                        </a:rPr>
                        <a:t>Income = medium</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4/9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2/5</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0.444</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0.4</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624474"/>
                  </a:ext>
                </a:extLst>
              </a:tr>
              <a:tr h="370840">
                <a:tc>
                  <a:txBody>
                    <a:bodyPr/>
                    <a:lstStyle/>
                    <a:p>
                      <a:pPr algn="l"/>
                      <a:r>
                        <a:rPr lang="en-US" sz="2400" dirty="0" smtClean="0">
                          <a:latin typeface="Times New Roman" panose="02020603050405020304" pitchFamily="18" charset="0"/>
                          <a:cs typeface="Times New Roman" panose="02020603050405020304" pitchFamily="18" charset="0"/>
                        </a:rPr>
                        <a:t>Student = yes</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6/9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1/5</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0.667</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0.2</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98298618"/>
                  </a:ext>
                </a:extLst>
              </a:tr>
              <a:tr h="370840">
                <a:tc>
                  <a:txBody>
                    <a:bodyPr/>
                    <a:lstStyle/>
                    <a:p>
                      <a:pPr algn="l"/>
                      <a:r>
                        <a:rPr lang="en-US" sz="2400" dirty="0" err="1" smtClean="0">
                          <a:latin typeface="Times New Roman" panose="02020603050405020304" pitchFamily="18" charset="0"/>
                          <a:cs typeface="Times New Roman" panose="02020603050405020304" pitchFamily="18" charset="0"/>
                        </a:rPr>
                        <a:t>Credit_rating</a:t>
                      </a:r>
                      <a:r>
                        <a:rPr lang="en-US" sz="2400" dirty="0" smtClean="0">
                          <a:latin typeface="Times New Roman" panose="02020603050405020304" pitchFamily="18" charset="0"/>
                          <a:cs typeface="Times New Roman" panose="02020603050405020304" pitchFamily="18" charset="0"/>
                        </a:rPr>
                        <a:t> = fair</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6/9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2/5</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0.667</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0.4</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134317492"/>
                  </a:ext>
                </a:extLst>
              </a:tr>
              <a:tr h="370840">
                <a:tc gridSpan="3">
                  <a:txBody>
                    <a:bodyPr/>
                    <a:lstStyle/>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 : P(</a:t>
                      </a:r>
                      <a:r>
                        <a:rPr lang="en-US" sz="2000" b="1" dirty="0" err="1" smtClean="0">
                          <a:latin typeface="Times New Roman" panose="02020603050405020304" pitchFamily="18" charset="0"/>
                          <a:cs typeface="Times New Roman" panose="02020603050405020304" pitchFamily="18" charset="0"/>
                        </a:rPr>
                        <a:t>X|buys_computer</a:t>
                      </a:r>
                      <a:r>
                        <a:rPr lang="en-US" sz="2000" b="1" dirty="0" smtClean="0">
                          <a:latin typeface="Times New Roman" panose="02020603050405020304" pitchFamily="18" charset="0"/>
                          <a:cs typeface="Times New Roman" panose="02020603050405020304" pitchFamily="18" charset="0"/>
                        </a:rPr>
                        <a:t> = “Yes”) = </a:t>
                      </a:r>
                    </a:p>
                    <a:p>
                      <a:pPr algn="l"/>
                      <a:r>
                        <a:rPr lang="en-US" sz="2000" b="1" dirty="0" smtClean="0">
                          <a:latin typeface="Times New Roman" panose="02020603050405020304" pitchFamily="18" charset="0"/>
                          <a:cs typeface="Times New Roman" panose="02020603050405020304" pitchFamily="18" charset="0"/>
                        </a:rPr>
                        <a:t>0.222 x 0.444 x 0.667 x 0.667 </a:t>
                      </a:r>
                    </a:p>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X|buys_computer</a:t>
                      </a:r>
                      <a:r>
                        <a:rPr lang="en-US" sz="2000" b="1" dirty="0" smtClean="0">
                          <a:latin typeface="Times New Roman" panose="02020603050405020304" pitchFamily="18" charset="0"/>
                          <a:cs typeface="Times New Roman" panose="02020603050405020304" pitchFamily="18" charset="0"/>
                        </a:rPr>
                        <a:t> = “No”) = </a:t>
                      </a:r>
                    </a:p>
                    <a:p>
                      <a:pPr algn="l"/>
                      <a:r>
                        <a:rPr lang="en-US" sz="2000" b="1" dirty="0" smtClean="0">
                          <a:latin typeface="Times New Roman" panose="02020603050405020304" pitchFamily="18" charset="0"/>
                          <a:cs typeface="Times New Roman" panose="02020603050405020304" pitchFamily="18" charset="0"/>
                        </a:rPr>
                        <a:t>0.6 x 0.4 x 0.2 x 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0.044</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0.019</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xmlns="" val="1746775458"/>
                  </a:ext>
                </a:extLst>
              </a:tr>
              <a:tr h="370840">
                <a:tc gridSpan="3">
                  <a:txBody>
                    <a:bodyPr/>
                    <a:lstStyle/>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)*P(Ci) for “Yes” = 0.044*0.643</a:t>
                      </a:r>
                    </a:p>
                    <a:p>
                      <a:pPr marL="0" marR="0" indent="0" algn="l" defTabSz="457200" rtl="0" eaLnBrk="1" fontAlgn="auto" latinLnBrk="0" hangingPunct="1">
                        <a:lnSpc>
                          <a:spcPct val="100000"/>
                        </a:lnSpc>
                        <a:spcBef>
                          <a:spcPts val="0"/>
                        </a:spcBef>
                        <a:spcAft>
                          <a:spcPts val="0"/>
                        </a:spcAft>
                        <a:buClrTx/>
                        <a:buSzTx/>
                        <a:buFontTx/>
                        <a:buNone/>
                        <a:tabLst/>
                        <a:defRPr/>
                      </a:pPr>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)*P(Ci) for “No” = 0.019*0.357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b="1" dirty="0" smtClean="0">
                          <a:solidFill>
                            <a:srgbClr val="FF0000"/>
                          </a:solidFill>
                          <a:latin typeface="Times New Roman" panose="02020603050405020304" pitchFamily="18" charset="0"/>
                          <a:cs typeface="Times New Roman" panose="02020603050405020304" pitchFamily="18" charset="0"/>
                        </a:rPr>
                        <a:t>0.028</a:t>
                      </a:r>
                      <a:endParaRPr lang="en-US" sz="24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0.019</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xmlns="" val="1032326904"/>
                  </a:ext>
                </a:extLst>
              </a:tr>
              <a:tr h="370840">
                <a:tc gridSpan="5">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b="1" dirty="0" smtClean="0">
                          <a:solidFill>
                            <a:schemeClr val="bg1"/>
                          </a:solidFill>
                          <a:latin typeface="Times New Roman" panose="02020603050405020304" pitchFamily="18" charset="0"/>
                          <a:cs typeface="Times New Roman" panose="02020603050405020304" pitchFamily="18" charset="0"/>
                        </a:rPr>
                        <a:t>So, X is classified as “YES”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pPr algn="ctr"/>
                      <a:endParaRPr lang="en-US" sz="2400"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pPr algn="ctr"/>
                      <a:endParaRPr lang="en-US" sz="2400"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xmlns="" val="3432089826"/>
                  </a:ext>
                </a:extLst>
              </a:tr>
            </a:tbl>
          </a:graphicData>
        </a:graphic>
      </p:graphicFrame>
    </p:spTree>
    <p:extLst>
      <p:ext uri="{BB962C8B-B14F-4D97-AF65-F5344CB8AC3E}">
        <p14:creationId xmlns:p14="http://schemas.microsoft.com/office/powerpoint/2010/main" val="3137078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8167" y="74104"/>
            <a:ext cx="7172953" cy="890058"/>
          </a:xfrm>
        </p:spPr>
        <p:txBody>
          <a:bodyPr/>
          <a:lstStyle/>
          <a:p>
            <a:r>
              <a:rPr lang="en-US" dirty="0" smtClean="0"/>
              <a:t>Exercise</a:t>
            </a:r>
            <a:endParaRPr lang="en-US" dirty="0"/>
          </a:p>
        </p:txBody>
      </p:sp>
      <p:sp>
        <p:nvSpPr>
          <p:cNvPr id="4" name="Slide Number Placeholder 3"/>
          <p:cNvSpPr>
            <a:spLocks noGrp="1"/>
          </p:cNvSpPr>
          <p:nvPr>
            <p:ph type="sldNum" sz="quarter" idx="12"/>
          </p:nvPr>
        </p:nvSpPr>
        <p:spPr/>
        <p:txBody>
          <a:bodyPr/>
          <a:lstStyle/>
          <a:p>
            <a:fld id="{18CE55FB-C8CE-43BD-8EBC-C060BF5D6D85}" type="slidenum">
              <a:rPr lang="en-US" smtClean="0"/>
              <a:pPr/>
              <a:t>63</a:t>
            </a:fld>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518807218"/>
              </p:ext>
            </p:extLst>
          </p:nvPr>
        </p:nvGraphicFramePr>
        <p:xfrm>
          <a:off x="6751305" y="1140542"/>
          <a:ext cx="4699590" cy="4572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xmlns="" val="2418143972"/>
                    </a:ext>
                  </a:extLst>
                </a:gridCol>
                <a:gridCol w="797442">
                  <a:extLst>
                    <a:ext uri="{9D8B030D-6E8A-4147-A177-3AD203B41FA5}">
                      <a16:colId xmlns:a16="http://schemas.microsoft.com/office/drawing/2014/main" xmlns="" val="3599806896"/>
                    </a:ext>
                  </a:extLst>
                </a:gridCol>
                <a:gridCol w="850604">
                  <a:extLst>
                    <a:ext uri="{9D8B030D-6E8A-4147-A177-3AD203B41FA5}">
                      <a16:colId xmlns:a16="http://schemas.microsoft.com/office/drawing/2014/main" xmlns="" val="3253018717"/>
                    </a:ext>
                  </a:extLst>
                </a:gridCol>
                <a:gridCol w="869324">
                  <a:extLst>
                    <a:ext uri="{9D8B030D-6E8A-4147-A177-3AD203B41FA5}">
                      <a16:colId xmlns:a16="http://schemas.microsoft.com/office/drawing/2014/main" xmlns="" val="2012432702"/>
                    </a:ext>
                  </a:extLst>
                </a:gridCol>
                <a:gridCol w="810620">
                  <a:extLst>
                    <a:ext uri="{9D8B030D-6E8A-4147-A177-3AD203B41FA5}">
                      <a16:colId xmlns:a16="http://schemas.microsoft.com/office/drawing/2014/main" xmlns="" val="2407801767"/>
                    </a:ext>
                  </a:extLst>
                </a:gridCol>
              </a:tblGrid>
              <a:tr h="370840">
                <a:tc>
                  <a:txBody>
                    <a:bodyPr/>
                    <a:lstStyle/>
                    <a:p>
                      <a:pPr algn="ct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Yes</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No</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Yes</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No</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xmlns="" val="3361925446"/>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P(Ci)</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000" b="1" dirty="0" smtClean="0">
                          <a:latin typeface="Times New Roman" panose="02020603050405020304" pitchFamily="18" charset="0"/>
                          <a:cs typeface="Times New Roman" panose="02020603050405020304" pitchFamily="18" charset="0"/>
                        </a:rPr>
                        <a:t>9/14</a:t>
                      </a:r>
                      <a:endParaRPr 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000" b="1" dirty="0" smtClean="0">
                          <a:latin typeface="Times New Roman" panose="02020603050405020304" pitchFamily="18" charset="0"/>
                          <a:cs typeface="Times New Roman" panose="02020603050405020304" pitchFamily="18" charset="0"/>
                        </a:rPr>
                        <a:t>5/14</a:t>
                      </a:r>
                      <a:endParaRPr 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000" b="1" dirty="0" smtClean="0">
                          <a:latin typeface="Times New Roman" panose="02020603050405020304" pitchFamily="18" charset="0"/>
                          <a:cs typeface="Times New Roman" panose="02020603050405020304" pitchFamily="18" charset="0"/>
                        </a:rPr>
                        <a:t>0.643</a:t>
                      </a:r>
                      <a:endParaRPr 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000" b="1" dirty="0" smtClean="0">
                          <a:latin typeface="Times New Roman" panose="02020603050405020304" pitchFamily="18" charset="0"/>
                          <a:cs typeface="Times New Roman" panose="02020603050405020304" pitchFamily="18" charset="0"/>
                        </a:rPr>
                        <a:t>0.357</a:t>
                      </a:r>
                      <a:endParaRPr lang="en-US" sz="20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3292784130"/>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P(</a:t>
                      </a:r>
                      <a:r>
                        <a:rPr lang="en-US" sz="2400" b="1" dirty="0" err="1" smtClean="0">
                          <a:latin typeface="Times New Roman" panose="02020603050405020304" pitchFamily="18" charset="0"/>
                          <a:cs typeface="Times New Roman" panose="02020603050405020304" pitchFamily="18" charset="0"/>
                        </a:rPr>
                        <a:t>X|Ci</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endParaRPr lang="en-US"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246730881"/>
                  </a:ext>
                </a:extLst>
              </a:tr>
              <a:tr h="370840">
                <a:tc>
                  <a:txBody>
                    <a:bodyPr/>
                    <a:lstStyle/>
                    <a:p>
                      <a:pPr algn="l"/>
                      <a:r>
                        <a:rPr lang="en-US" sz="2000" b="1" dirty="0" smtClean="0">
                          <a:solidFill>
                            <a:srgbClr val="FF0000"/>
                          </a:solidFill>
                          <a:latin typeface="Times New Roman" panose="02020603050405020304" pitchFamily="18" charset="0"/>
                          <a:cs typeface="Times New Roman" panose="02020603050405020304" pitchFamily="18" charset="0"/>
                        </a:rPr>
                        <a:t>Outlook</a:t>
                      </a:r>
                      <a:endParaRPr lang="en-US" sz="20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2/9</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3/5</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.6</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52553317"/>
                  </a:ext>
                </a:extLst>
              </a:tr>
              <a:tr h="370840">
                <a:tc>
                  <a:txBody>
                    <a:bodyPr/>
                    <a:lstStyle/>
                    <a:p>
                      <a:pPr algn="l"/>
                      <a:r>
                        <a:rPr lang="en-US" sz="2000" b="1" dirty="0" smtClean="0">
                          <a:solidFill>
                            <a:srgbClr val="FF0000"/>
                          </a:solidFill>
                          <a:latin typeface="Times New Roman" panose="02020603050405020304" pitchFamily="18" charset="0"/>
                          <a:cs typeface="Times New Roman" panose="02020603050405020304" pitchFamily="18" charset="0"/>
                        </a:rPr>
                        <a:t>Temp</a:t>
                      </a:r>
                      <a:endParaRPr lang="en-US" sz="20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2/9</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2/5</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.4</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624474"/>
                  </a:ext>
                </a:extLst>
              </a:tr>
              <a:tr h="370840">
                <a:tc>
                  <a:txBody>
                    <a:bodyPr/>
                    <a:lstStyle/>
                    <a:p>
                      <a:pPr algn="l"/>
                      <a:r>
                        <a:rPr lang="en-US" sz="2000" b="1" dirty="0" smtClean="0">
                          <a:solidFill>
                            <a:srgbClr val="FF0000"/>
                          </a:solidFill>
                          <a:latin typeface="Times New Roman" panose="02020603050405020304" pitchFamily="18" charset="0"/>
                          <a:cs typeface="Times New Roman" panose="02020603050405020304" pitchFamily="18" charset="0"/>
                        </a:rPr>
                        <a:t>Humidity</a:t>
                      </a:r>
                      <a:endParaRPr lang="en-US" sz="20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6/9</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1/5</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98298618"/>
                  </a:ext>
                </a:extLst>
              </a:tr>
              <a:tr h="370840">
                <a:tc>
                  <a:txBody>
                    <a:bodyPr/>
                    <a:lstStyle/>
                    <a:p>
                      <a:pPr algn="l"/>
                      <a:r>
                        <a:rPr lang="en-US" sz="2000" b="1" dirty="0" smtClean="0">
                          <a:solidFill>
                            <a:srgbClr val="FF0000"/>
                          </a:solidFill>
                          <a:latin typeface="Times New Roman" panose="02020603050405020304" pitchFamily="18" charset="0"/>
                          <a:cs typeface="Times New Roman" panose="02020603050405020304" pitchFamily="18" charset="0"/>
                        </a:rPr>
                        <a:t>Windy</a:t>
                      </a:r>
                      <a:endParaRPr lang="en-US" sz="20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3/9</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3/5</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smtClean="0">
                          <a:latin typeface="Times New Roman" panose="02020603050405020304" pitchFamily="18" charset="0"/>
                          <a:cs typeface="Times New Roman" panose="02020603050405020304" pitchFamily="18" charset="0"/>
                        </a:rPr>
                        <a:t>.6</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134317492"/>
                  </a:ext>
                </a:extLst>
              </a:tr>
              <a:tr h="370840">
                <a:tc gridSpan="3">
                  <a:txBody>
                    <a:bodyPr/>
                    <a:lstStyle/>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xmlns="" val="1746775458"/>
                  </a:ext>
                </a:extLst>
              </a:tr>
              <a:tr h="370840">
                <a:tc gridSpan="3">
                  <a:txBody>
                    <a:bodyPr/>
                    <a:lstStyle/>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)*P(Ci) for “Yes” </a:t>
                      </a:r>
                    </a:p>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)*P(Ci) for “No”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800" b="1" dirty="0" smtClean="0">
                          <a:solidFill>
                            <a:srgbClr val="FF0000"/>
                          </a:solidFill>
                          <a:latin typeface="Times New Roman" panose="02020603050405020304" pitchFamily="18" charset="0"/>
                          <a:cs typeface="Times New Roman" panose="02020603050405020304" pitchFamily="18" charset="0"/>
                        </a:rPr>
                        <a:t>0.00705</a:t>
                      </a:r>
                      <a:endParaRPr lang="en-US" sz="18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1800" b="1" dirty="0" smtClean="0">
                          <a:latin typeface="Times New Roman" panose="02020603050405020304" pitchFamily="18" charset="0"/>
                          <a:cs typeface="Times New Roman" panose="02020603050405020304" pitchFamily="18" charset="0"/>
                        </a:rPr>
                        <a:t>0.01028</a:t>
                      </a:r>
                      <a:endParaRPr lang="en-US" sz="18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xmlns="" val="1032326904"/>
                  </a:ext>
                </a:extLst>
              </a:tr>
              <a:tr h="370840">
                <a:tc gridSpan="5">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b="1" dirty="0" smtClean="0">
                          <a:solidFill>
                            <a:schemeClr val="bg1"/>
                          </a:solidFill>
                          <a:latin typeface="Times New Roman" panose="02020603050405020304" pitchFamily="18" charset="0"/>
                          <a:cs typeface="Times New Roman" panose="02020603050405020304" pitchFamily="18" charset="0"/>
                        </a:rPr>
                        <a:t>So, X is classified as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pPr algn="ctr"/>
                      <a:endParaRPr lang="en-US" sz="2400"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pPr algn="ctr"/>
                      <a:endParaRPr lang="en-US" sz="2400"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xmlns="" val="3432089826"/>
                  </a:ext>
                </a:extLst>
              </a:tr>
            </a:tbl>
          </a:graphicData>
        </a:graphic>
      </p:graphicFrame>
      <p:pic>
        <p:nvPicPr>
          <p:cNvPr id="6" name="Content Placeholder 4" descr="Screen Clipping"/>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485900" y="1658119"/>
            <a:ext cx="4685628" cy="4169359"/>
          </a:xfrm>
          <a:prstGeom prst="rect">
            <a:avLst/>
          </a:prstGeom>
        </p:spPr>
      </p:pic>
      <p:pic>
        <p:nvPicPr>
          <p:cNvPr id="7" name="Picture 6" descr="Screen Clipping"/>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1485900" y="995763"/>
            <a:ext cx="4685628" cy="647083"/>
          </a:xfrm>
          <a:prstGeom prst="rect">
            <a:avLst/>
          </a:prstGeom>
        </p:spPr>
      </p:pic>
    </p:spTree>
    <p:extLst>
      <p:ext uri="{BB962C8B-B14F-4D97-AF65-F5344CB8AC3E}">
        <p14:creationId xmlns:p14="http://schemas.microsoft.com/office/powerpoint/2010/main" val="838556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8920" y="1"/>
            <a:ext cx="7172953" cy="537903"/>
          </a:xfrm>
        </p:spPr>
        <p:txBody>
          <a:bodyPr>
            <a:normAutofit fontScale="90000"/>
          </a:bodyPr>
          <a:lstStyle/>
          <a:p>
            <a:r>
              <a:rPr lang="en-US" sz="2800" dirty="0"/>
              <a:t>Example – 2 : Text Classification</a:t>
            </a:r>
            <a:endParaRPr lang="en-US" sz="28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987498050"/>
              </p:ext>
            </p:extLst>
          </p:nvPr>
        </p:nvGraphicFramePr>
        <p:xfrm>
          <a:off x="2107207" y="440634"/>
          <a:ext cx="8250861" cy="3152477"/>
        </p:xfrm>
        <a:graphic>
          <a:graphicData uri="http://schemas.openxmlformats.org/drawingml/2006/table">
            <a:tbl>
              <a:tblPr firstRow="1" bandRow="1">
                <a:tableStyleId>{5C22544A-7EE6-4342-B048-85BDC9FD1C3A}</a:tableStyleId>
              </a:tblPr>
              <a:tblGrid>
                <a:gridCol w="1582819">
                  <a:extLst>
                    <a:ext uri="{9D8B030D-6E8A-4147-A177-3AD203B41FA5}">
                      <a16:colId xmlns:a16="http://schemas.microsoft.com/office/drawing/2014/main" xmlns="" val="1064324982"/>
                    </a:ext>
                  </a:extLst>
                </a:gridCol>
                <a:gridCol w="1043987">
                  <a:extLst>
                    <a:ext uri="{9D8B030D-6E8A-4147-A177-3AD203B41FA5}">
                      <a16:colId xmlns:a16="http://schemas.microsoft.com/office/drawing/2014/main" xmlns="" val="456636346"/>
                    </a:ext>
                  </a:extLst>
                </a:gridCol>
                <a:gridCol w="3295526">
                  <a:extLst>
                    <a:ext uri="{9D8B030D-6E8A-4147-A177-3AD203B41FA5}">
                      <a16:colId xmlns:a16="http://schemas.microsoft.com/office/drawing/2014/main" xmlns="" val="3446806679"/>
                    </a:ext>
                  </a:extLst>
                </a:gridCol>
                <a:gridCol w="2328529">
                  <a:extLst>
                    <a:ext uri="{9D8B030D-6E8A-4147-A177-3AD203B41FA5}">
                      <a16:colId xmlns:a16="http://schemas.microsoft.com/office/drawing/2014/main" xmlns="" val="3254436946"/>
                    </a:ext>
                  </a:extLst>
                </a:gridCol>
              </a:tblGrid>
              <a:tr h="592157">
                <a:tc>
                  <a:txBody>
                    <a:bodyPr/>
                    <a:lstStyle/>
                    <a:p>
                      <a:pPr algn="ctr"/>
                      <a:r>
                        <a:rPr lang="en-US" sz="1800" dirty="0" smtClean="0"/>
                        <a:t>Data Set</a:t>
                      </a:r>
                      <a:endParaRPr lang="en-US" sz="1800" dirty="0"/>
                    </a:p>
                  </a:txBody>
                  <a:tcPr anchor="ctr"/>
                </a:tc>
                <a:tc>
                  <a:txBody>
                    <a:bodyPr/>
                    <a:lstStyle/>
                    <a:p>
                      <a:pPr algn="ctr"/>
                      <a:r>
                        <a:rPr lang="en-US" sz="1800" dirty="0" smtClean="0"/>
                        <a:t>Doc. ID</a:t>
                      </a:r>
                      <a:endParaRPr lang="en-US" sz="1800" dirty="0"/>
                    </a:p>
                  </a:txBody>
                  <a:tcPr anchor="ctr"/>
                </a:tc>
                <a:tc>
                  <a:txBody>
                    <a:bodyPr/>
                    <a:lstStyle/>
                    <a:p>
                      <a:pPr algn="ctr"/>
                      <a:r>
                        <a:rPr lang="en-US" sz="1800" dirty="0" smtClean="0"/>
                        <a:t>Keywords</a:t>
                      </a:r>
                      <a:endParaRPr lang="en-US" sz="1800" dirty="0"/>
                    </a:p>
                  </a:txBody>
                  <a:tcPr anchor="ctr"/>
                </a:tc>
                <a:tc>
                  <a:txBody>
                    <a:bodyPr/>
                    <a:lstStyle/>
                    <a:p>
                      <a:pPr algn="ctr"/>
                      <a:r>
                        <a:rPr lang="en-US" sz="1800" dirty="0" smtClean="0"/>
                        <a:t>Class = h (Healthy)</a:t>
                      </a:r>
                      <a:endParaRPr lang="en-US" sz="1800" dirty="0"/>
                    </a:p>
                  </a:txBody>
                  <a:tcPr anchor="ctr"/>
                </a:tc>
                <a:extLst>
                  <a:ext uri="{0D108BD9-81ED-4DB2-BD59-A6C34878D82A}">
                    <a16:rowId xmlns:a16="http://schemas.microsoft.com/office/drawing/2014/main" xmlns="" val="3403628906"/>
                  </a:ext>
                </a:extLst>
              </a:tr>
              <a:tr h="343075">
                <a:tc>
                  <a:txBody>
                    <a:bodyPr/>
                    <a:lstStyle/>
                    <a:p>
                      <a:r>
                        <a:rPr lang="en-US" sz="1800" dirty="0" smtClean="0">
                          <a:latin typeface="Times New Roman" panose="02020603050405020304" pitchFamily="18" charset="0"/>
                          <a:cs typeface="Times New Roman" panose="02020603050405020304" pitchFamily="18" charset="0"/>
                        </a:rPr>
                        <a:t>Training Data</a:t>
                      </a:r>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Love Happy Joy </a:t>
                      </a:r>
                      <a:r>
                        <a:rPr lang="en-US" sz="1800" dirty="0" err="1" smtClean="0">
                          <a:latin typeface="Times New Roman" panose="02020603050405020304" pitchFamily="18" charset="0"/>
                          <a:cs typeface="Times New Roman" panose="02020603050405020304" pitchFamily="18" charset="0"/>
                        </a:rPr>
                        <a:t>Joy</a:t>
                      </a:r>
                      <a:r>
                        <a:rPr lang="en-US" sz="1800" dirty="0" smtClean="0">
                          <a:latin typeface="Times New Roman" panose="02020603050405020304" pitchFamily="18" charset="0"/>
                          <a:cs typeface="Times New Roman" panose="02020603050405020304" pitchFamily="18" charset="0"/>
                        </a:rPr>
                        <a:t> Love</a:t>
                      </a:r>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Yes</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861103432"/>
                  </a:ext>
                </a:extLst>
              </a:tr>
              <a:tr h="343075">
                <a:tc>
                  <a:txBody>
                    <a:bodyPr/>
                    <a:lstStyle/>
                    <a:p>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Happy Love Kick Joy Happy</a:t>
                      </a:r>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kumimoji="0" lang="en-US" sz="18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Yes</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601364623"/>
                  </a:ext>
                </a:extLst>
              </a:tr>
              <a:tr h="343075">
                <a:tc>
                  <a:txBody>
                    <a:bodyPr/>
                    <a:lstStyle/>
                    <a:p>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Love Move Joy Good</a:t>
                      </a:r>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kumimoji="0" lang="en-US" sz="18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Yes</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44768462"/>
                  </a:ext>
                </a:extLst>
              </a:tr>
              <a:tr h="343075">
                <a:tc>
                  <a:txBody>
                    <a:bodyPr/>
                    <a:lstStyle/>
                    <a:p>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4</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Love Happy Joy Pain Love</a:t>
                      </a:r>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Yes</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911374230"/>
                  </a:ext>
                </a:extLst>
              </a:tr>
              <a:tr h="343075">
                <a:tc>
                  <a:txBody>
                    <a:bodyPr/>
                    <a:lstStyle/>
                    <a:p>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5</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Joy Love Pain Kick Pain</a:t>
                      </a:r>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No</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243403666"/>
                  </a:ext>
                </a:extLst>
              </a:tr>
              <a:tr h="343075">
                <a:tc>
                  <a:txBody>
                    <a:bodyPr/>
                    <a:lstStyle/>
                    <a:p>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6</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Pain </a:t>
                      </a:r>
                      <a:r>
                        <a:rPr lang="en-US" sz="1800" dirty="0" err="1" smtClean="0">
                          <a:latin typeface="Times New Roman" panose="02020603050405020304" pitchFamily="18" charset="0"/>
                          <a:cs typeface="Times New Roman" panose="02020603050405020304" pitchFamily="18" charset="0"/>
                        </a:rPr>
                        <a:t>Pain</a:t>
                      </a:r>
                      <a:r>
                        <a:rPr lang="en-US" sz="1800" dirty="0" smtClean="0">
                          <a:latin typeface="Times New Roman" panose="02020603050405020304" pitchFamily="18" charset="0"/>
                          <a:cs typeface="Times New Roman" panose="02020603050405020304" pitchFamily="18" charset="0"/>
                        </a:rPr>
                        <a:t> Love Kick</a:t>
                      </a:r>
                      <a:endParaRPr lang="en-US"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smtClean="0">
                          <a:latin typeface="Times New Roman" panose="02020603050405020304" pitchFamily="18" charset="0"/>
                          <a:cs typeface="Times New Roman" panose="02020603050405020304" pitchFamily="18" charset="0"/>
                        </a:rPr>
                        <a:t>No</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112820027"/>
                  </a:ext>
                </a:extLst>
              </a:tr>
              <a:tr h="343075">
                <a:tc>
                  <a:txBody>
                    <a:bodyPr/>
                    <a:lstStyle/>
                    <a:p>
                      <a:r>
                        <a:rPr lang="en-US" sz="1800" dirty="0" smtClean="0">
                          <a:solidFill>
                            <a:schemeClr val="bg1"/>
                          </a:solidFill>
                          <a:latin typeface="Times New Roman" panose="02020603050405020304" pitchFamily="18" charset="0"/>
                          <a:cs typeface="Times New Roman" panose="02020603050405020304" pitchFamily="18" charset="0"/>
                        </a:rPr>
                        <a:t>Test Data</a:t>
                      </a:r>
                      <a:endParaRPr lang="en-US" sz="1800" dirty="0">
                        <a:solidFill>
                          <a:schemeClr val="bg1"/>
                        </a:solidFill>
                        <a:latin typeface="Times New Roman" panose="02020603050405020304" pitchFamily="18" charset="0"/>
                        <a:cs typeface="Times New Roman" panose="02020603050405020304" pitchFamily="18" charset="0"/>
                      </a:endParaRPr>
                    </a:p>
                  </a:txBody>
                  <a:tcPr>
                    <a:solidFill>
                      <a:srgbClr val="002060"/>
                    </a:solidFill>
                  </a:tcPr>
                </a:tc>
                <a:tc>
                  <a:txBody>
                    <a:bodyPr/>
                    <a:lstStyle/>
                    <a:p>
                      <a:pPr algn="ctr"/>
                      <a:r>
                        <a:rPr lang="en-US" sz="1800" dirty="0" smtClean="0">
                          <a:solidFill>
                            <a:schemeClr val="bg1"/>
                          </a:solidFill>
                          <a:latin typeface="Times New Roman" panose="02020603050405020304" pitchFamily="18" charset="0"/>
                          <a:cs typeface="Times New Roman" panose="02020603050405020304" pitchFamily="18" charset="0"/>
                        </a:rPr>
                        <a:t>7</a:t>
                      </a:r>
                      <a:endParaRPr lang="en-US" sz="1800" dirty="0">
                        <a:solidFill>
                          <a:schemeClr val="bg1"/>
                        </a:solidFill>
                        <a:latin typeface="Times New Roman" panose="02020603050405020304" pitchFamily="18" charset="0"/>
                        <a:cs typeface="Times New Roman" panose="02020603050405020304" pitchFamily="18" charset="0"/>
                      </a:endParaRPr>
                    </a:p>
                  </a:txBody>
                  <a:tcPr>
                    <a:solidFill>
                      <a:srgbClr val="002060"/>
                    </a:solidFill>
                  </a:tcPr>
                </a:tc>
                <a:tc>
                  <a:txBody>
                    <a:bodyPr/>
                    <a:lstStyle/>
                    <a:p>
                      <a:r>
                        <a:rPr lang="en-US" sz="1800" dirty="0" smtClean="0">
                          <a:solidFill>
                            <a:schemeClr val="bg1"/>
                          </a:solidFill>
                          <a:latin typeface="Times New Roman" panose="02020603050405020304" pitchFamily="18" charset="0"/>
                          <a:cs typeface="Times New Roman" panose="02020603050405020304" pitchFamily="18" charset="0"/>
                        </a:rPr>
                        <a:t>Love Pain Joy Love Kick</a:t>
                      </a:r>
                      <a:endParaRPr lang="en-US" sz="1800" dirty="0">
                        <a:solidFill>
                          <a:schemeClr val="bg1"/>
                        </a:solidFill>
                        <a:latin typeface="Times New Roman" panose="02020603050405020304" pitchFamily="18" charset="0"/>
                        <a:cs typeface="Times New Roman" panose="02020603050405020304" pitchFamily="18" charset="0"/>
                      </a:endParaRPr>
                    </a:p>
                  </a:txBody>
                  <a:tcPr>
                    <a:solidFill>
                      <a:srgbClr val="002060"/>
                    </a:solidFill>
                  </a:tcPr>
                </a:tc>
                <a:tc>
                  <a:txBody>
                    <a:bodyPr/>
                    <a:lstStyle/>
                    <a:p>
                      <a:pPr algn="ctr"/>
                      <a:r>
                        <a:rPr lang="en-US" sz="1800" dirty="0" smtClean="0">
                          <a:solidFill>
                            <a:schemeClr val="bg1"/>
                          </a:solidFill>
                          <a:latin typeface="Times New Roman" panose="02020603050405020304" pitchFamily="18" charset="0"/>
                          <a:cs typeface="Times New Roman" panose="02020603050405020304" pitchFamily="18" charset="0"/>
                        </a:rPr>
                        <a:t>?</a:t>
                      </a:r>
                      <a:endParaRPr lang="en-US" sz="1800" dirty="0">
                        <a:solidFill>
                          <a:schemeClr val="bg1"/>
                        </a:solidFill>
                        <a:latin typeface="Times New Roman" panose="02020603050405020304" pitchFamily="18" charset="0"/>
                        <a:cs typeface="Times New Roman" panose="02020603050405020304" pitchFamily="18" charset="0"/>
                      </a:endParaRPr>
                    </a:p>
                  </a:txBody>
                  <a:tcPr>
                    <a:solidFill>
                      <a:srgbClr val="002060"/>
                    </a:solidFill>
                  </a:tcPr>
                </a:tc>
                <a:extLst>
                  <a:ext uri="{0D108BD9-81ED-4DB2-BD59-A6C34878D82A}">
                    <a16:rowId xmlns:a16="http://schemas.microsoft.com/office/drawing/2014/main" xmlns="" val="1992474091"/>
                  </a:ext>
                </a:extLst>
              </a:tr>
            </a:tbl>
          </a:graphicData>
        </a:graphic>
      </p:graphicFrame>
      <p:sp>
        <p:nvSpPr>
          <p:cNvPr id="4" name="Slide Number Placeholder 3"/>
          <p:cNvSpPr>
            <a:spLocks noGrp="1"/>
          </p:cNvSpPr>
          <p:nvPr>
            <p:ph type="sldNum" sz="quarter" idx="12"/>
          </p:nvPr>
        </p:nvSpPr>
        <p:spPr/>
        <p:txBody>
          <a:bodyPr/>
          <a:lstStyle/>
          <a:p>
            <a:fld id="{18CE55FB-C8CE-43BD-8EBC-C060BF5D6D85}" type="slidenum">
              <a:rPr lang="en-US" smtClean="0"/>
              <a:pPr/>
              <a:t>64</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600403794"/>
              </p:ext>
            </p:extLst>
          </p:nvPr>
        </p:nvGraphicFramePr>
        <p:xfrm>
          <a:off x="2061964" y="3789040"/>
          <a:ext cx="8250858" cy="3017520"/>
        </p:xfrm>
        <a:graphic>
          <a:graphicData uri="http://schemas.openxmlformats.org/drawingml/2006/table">
            <a:tbl>
              <a:tblPr firstRow="1" bandRow="1">
                <a:tableStyleId>{5940675A-B579-460E-94D1-54222C63F5DA}</a:tableStyleId>
              </a:tblPr>
              <a:tblGrid>
                <a:gridCol w="916762">
                  <a:extLst>
                    <a:ext uri="{9D8B030D-6E8A-4147-A177-3AD203B41FA5}">
                      <a16:colId xmlns:a16="http://schemas.microsoft.com/office/drawing/2014/main" xmlns="" val="4121913039"/>
                    </a:ext>
                  </a:extLst>
                </a:gridCol>
                <a:gridCol w="916762">
                  <a:extLst>
                    <a:ext uri="{9D8B030D-6E8A-4147-A177-3AD203B41FA5}">
                      <a16:colId xmlns:a16="http://schemas.microsoft.com/office/drawing/2014/main" xmlns="" val="936449496"/>
                    </a:ext>
                  </a:extLst>
                </a:gridCol>
                <a:gridCol w="916762">
                  <a:extLst>
                    <a:ext uri="{9D8B030D-6E8A-4147-A177-3AD203B41FA5}">
                      <a16:colId xmlns:a16="http://schemas.microsoft.com/office/drawing/2014/main" xmlns="" val="381695507"/>
                    </a:ext>
                  </a:extLst>
                </a:gridCol>
                <a:gridCol w="916762">
                  <a:extLst>
                    <a:ext uri="{9D8B030D-6E8A-4147-A177-3AD203B41FA5}">
                      <a16:colId xmlns:a16="http://schemas.microsoft.com/office/drawing/2014/main" xmlns="" val="4218330590"/>
                    </a:ext>
                  </a:extLst>
                </a:gridCol>
                <a:gridCol w="916762">
                  <a:extLst>
                    <a:ext uri="{9D8B030D-6E8A-4147-A177-3AD203B41FA5}">
                      <a16:colId xmlns:a16="http://schemas.microsoft.com/office/drawing/2014/main" xmlns="" val="915834251"/>
                    </a:ext>
                  </a:extLst>
                </a:gridCol>
                <a:gridCol w="916762">
                  <a:extLst>
                    <a:ext uri="{9D8B030D-6E8A-4147-A177-3AD203B41FA5}">
                      <a16:colId xmlns:a16="http://schemas.microsoft.com/office/drawing/2014/main" xmlns="" val="1984080301"/>
                    </a:ext>
                  </a:extLst>
                </a:gridCol>
                <a:gridCol w="916762">
                  <a:extLst>
                    <a:ext uri="{9D8B030D-6E8A-4147-A177-3AD203B41FA5}">
                      <a16:colId xmlns:a16="http://schemas.microsoft.com/office/drawing/2014/main" xmlns="" val="1216286539"/>
                    </a:ext>
                  </a:extLst>
                </a:gridCol>
                <a:gridCol w="916762">
                  <a:extLst>
                    <a:ext uri="{9D8B030D-6E8A-4147-A177-3AD203B41FA5}">
                      <a16:colId xmlns:a16="http://schemas.microsoft.com/office/drawing/2014/main" xmlns="" val="3127324952"/>
                    </a:ext>
                  </a:extLst>
                </a:gridCol>
                <a:gridCol w="916762">
                  <a:extLst>
                    <a:ext uri="{9D8B030D-6E8A-4147-A177-3AD203B41FA5}">
                      <a16:colId xmlns:a16="http://schemas.microsoft.com/office/drawing/2014/main" xmlns="" val="1996041714"/>
                    </a:ext>
                  </a:extLst>
                </a:gridCol>
              </a:tblGrid>
              <a:tr h="274320">
                <a:tc>
                  <a:txBody>
                    <a:bodyPr/>
                    <a:lstStyle/>
                    <a:p>
                      <a:pPr algn="ctr"/>
                      <a:r>
                        <a:rPr lang="en-US" sz="1600" b="1" dirty="0" smtClean="0">
                          <a:latin typeface="Times New Roman" panose="02020603050405020304" pitchFamily="18" charset="0"/>
                          <a:cs typeface="Times New Roman" panose="02020603050405020304" pitchFamily="18" charset="0"/>
                        </a:rPr>
                        <a:t>Doc ID</a:t>
                      </a:r>
                      <a:endParaRPr lang="en-US" sz="1600" b="1"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b="1" dirty="0" smtClean="0">
                          <a:latin typeface="Times New Roman" panose="02020603050405020304" pitchFamily="18" charset="0"/>
                          <a:cs typeface="Times New Roman" panose="02020603050405020304" pitchFamily="18" charset="0"/>
                        </a:rPr>
                        <a:t>Love</a:t>
                      </a:r>
                      <a:endParaRPr lang="en-US" sz="1600" b="1"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ctr"/>
                      <a:r>
                        <a:rPr lang="en-US" sz="1600" b="1" dirty="0" smtClean="0">
                          <a:latin typeface="Times New Roman" panose="02020603050405020304" pitchFamily="18" charset="0"/>
                          <a:cs typeface="Times New Roman" panose="02020603050405020304" pitchFamily="18" charset="0"/>
                        </a:rPr>
                        <a:t>Happy</a:t>
                      </a:r>
                      <a:endParaRPr lang="en-US" sz="1600" b="1"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ctr"/>
                      <a:r>
                        <a:rPr lang="en-US" sz="1600" b="1" dirty="0" smtClean="0">
                          <a:latin typeface="Times New Roman" panose="02020603050405020304" pitchFamily="18" charset="0"/>
                          <a:cs typeface="Times New Roman" panose="02020603050405020304" pitchFamily="18" charset="0"/>
                        </a:rPr>
                        <a:t>Joy</a:t>
                      </a:r>
                      <a:endParaRPr lang="en-US" sz="1600" b="1"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ctr"/>
                      <a:r>
                        <a:rPr lang="en-US" sz="1600" b="1" dirty="0" smtClean="0">
                          <a:latin typeface="Times New Roman" panose="02020603050405020304" pitchFamily="18" charset="0"/>
                          <a:cs typeface="Times New Roman" panose="02020603050405020304" pitchFamily="18" charset="0"/>
                        </a:rPr>
                        <a:t>Kick</a:t>
                      </a:r>
                      <a:endParaRPr lang="en-US" sz="1600" b="1"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ctr"/>
                      <a:r>
                        <a:rPr lang="en-US" sz="1600" b="1" dirty="0" smtClean="0">
                          <a:latin typeface="Times New Roman" panose="02020603050405020304" pitchFamily="18" charset="0"/>
                          <a:cs typeface="Times New Roman" panose="02020603050405020304" pitchFamily="18" charset="0"/>
                        </a:rPr>
                        <a:t>Pain</a:t>
                      </a:r>
                      <a:endParaRPr lang="en-US" sz="1600" b="1"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ctr"/>
                      <a:r>
                        <a:rPr lang="en-US" sz="1600" b="1" dirty="0" smtClean="0">
                          <a:latin typeface="Times New Roman" panose="02020603050405020304" pitchFamily="18" charset="0"/>
                          <a:cs typeface="Times New Roman" panose="02020603050405020304" pitchFamily="18" charset="0"/>
                        </a:rPr>
                        <a:t>Good</a:t>
                      </a:r>
                      <a:endParaRPr lang="en-US" sz="1600" b="1"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ctr"/>
                      <a:r>
                        <a:rPr lang="en-US" sz="1600" b="1" dirty="0" smtClean="0">
                          <a:latin typeface="Times New Roman" panose="02020603050405020304" pitchFamily="18" charset="0"/>
                          <a:cs typeface="Times New Roman" panose="02020603050405020304" pitchFamily="18" charset="0"/>
                        </a:rPr>
                        <a:t>Move</a:t>
                      </a:r>
                      <a:endParaRPr lang="en-US" sz="1600" b="1"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algn="ctr"/>
                      <a:r>
                        <a:rPr lang="en-US" sz="1600" b="1" dirty="0" smtClean="0">
                          <a:latin typeface="Times New Roman" panose="02020603050405020304" pitchFamily="18" charset="0"/>
                          <a:cs typeface="Times New Roman" panose="02020603050405020304" pitchFamily="18" charset="0"/>
                        </a:rPr>
                        <a:t>Class</a:t>
                      </a:r>
                      <a:endParaRPr lang="en-US" sz="1600" b="1"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extLst>
                  <a:ext uri="{0D108BD9-81ED-4DB2-BD59-A6C34878D82A}">
                    <a16:rowId xmlns:a16="http://schemas.microsoft.com/office/drawing/2014/main" xmlns="" val="2965434882"/>
                  </a:ext>
                </a:extLst>
              </a:tr>
              <a:tr h="274320">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dirty="0" smtClean="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Yes</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extLst>
                  <a:ext uri="{0D108BD9-81ED-4DB2-BD59-A6C34878D82A}">
                    <a16:rowId xmlns:a16="http://schemas.microsoft.com/office/drawing/2014/main" xmlns="" val="247308425"/>
                  </a:ext>
                </a:extLst>
              </a:tr>
              <a:tr h="274320">
                <a:tc>
                  <a:txBody>
                    <a:bodyPr/>
                    <a:lstStyle/>
                    <a:p>
                      <a:pPr algn="ctr"/>
                      <a:r>
                        <a:rPr lang="en-US" sz="1600" dirty="0" smtClean="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Yes</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extLst>
                  <a:ext uri="{0D108BD9-81ED-4DB2-BD59-A6C34878D82A}">
                    <a16:rowId xmlns:a16="http://schemas.microsoft.com/office/drawing/2014/main" xmlns="" val="127331841"/>
                  </a:ext>
                </a:extLst>
              </a:tr>
              <a:tr h="274320">
                <a:tc>
                  <a:txBody>
                    <a:bodyPr/>
                    <a:lstStyle/>
                    <a:p>
                      <a:pPr algn="ctr"/>
                      <a:r>
                        <a:rPr lang="en-US" sz="1600" dirty="0" smtClean="0">
                          <a:latin typeface="Times New Roman" panose="02020603050405020304" pitchFamily="18" charset="0"/>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kumimoji="0" lang="en-US" sz="16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Yes</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extLst>
                  <a:ext uri="{0D108BD9-81ED-4DB2-BD59-A6C34878D82A}">
                    <a16:rowId xmlns:a16="http://schemas.microsoft.com/office/drawing/2014/main" xmlns="" val="3239311655"/>
                  </a:ext>
                </a:extLst>
              </a:tr>
              <a:tr h="274320">
                <a:tc>
                  <a:txBody>
                    <a:bodyPr/>
                    <a:lstStyle/>
                    <a:p>
                      <a:pPr algn="ctr"/>
                      <a:r>
                        <a:rPr lang="en-US" sz="1600" dirty="0" smtClean="0">
                          <a:latin typeface="Times New Roman" panose="02020603050405020304" pitchFamily="18" charset="0"/>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dirty="0" smtClean="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tc>
                  <a:txBody>
                    <a:bodyPr/>
                    <a:lstStyle/>
                    <a:p>
                      <a:pPr algn="ctr"/>
                      <a:r>
                        <a:rPr kumimoji="0" lang="en-US" sz="16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Yes</a:t>
                      </a:r>
                      <a:endParaRPr lang="en-US" sz="1600" dirty="0">
                        <a:latin typeface="Times New Roman" panose="02020603050405020304" pitchFamily="18" charset="0"/>
                        <a:cs typeface="Times New Roman" panose="02020603050405020304" pitchFamily="18" charset="0"/>
                      </a:endParaRPr>
                    </a:p>
                  </a:txBody>
                  <a:tcPr>
                    <a:solidFill>
                      <a:schemeClr val="accent6">
                        <a:lumMod val="40000"/>
                        <a:lumOff val="60000"/>
                      </a:schemeClr>
                    </a:solidFill>
                  </a:tcPr>
                </a:tc>
                <a:extLst>
                  <a:ext uri="{0D108BD9-81ED-4DB2-BD59-A6C34878D82A}">
                    <a16:rowId xmlns:a16="http://schemas.microsoft.com/office/drawing/2014/main" xmlns="" val="3096426656"/>
                  </a:ext>
                </a:extLst>
              </a:tr>
              <a:tr h="274320">
                <a:tc>
                  <a:txBody>
                    <a:bodyPr/>
                    <a:lstStyle/>
                    <a:p>
                      <a:pPr algn="ctr"/>
                      <a:r>
                        <a:rPr lang="en-US" sz="1600" dirty="0" smtClean="0">
                          <a:latin typeface="Times New Roman" panose="02020603050405020304" pitchFamily="18" charset="0"/>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No</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extLst>
                  <a:ext uri="{0D108BD9-81ED-4DB2-BD59-A6C34878D82A}">
                    <a16:rowId xmlns:a16="http://schemas.microsoft.com/office/drawing/2014/main" xmlns="" val="1779901618"/>
                  </a:ext>
                </a:extLst>
              </a:tr>
              <a:tr h="274320">
                <a:tc>
                  <a:txBody>
                    <a:bodyPr/>
                    <a:lstStyle/>
                    <a:p>
                      <a:pPr algn="ctr"/>
                      <a:r>
                        <a:rPr lang="en-US" sz="1600" dirty="0" smtClean="0">
                          <a:latin typeface="Times New Roman" panose="02020603050405020304" pitchFamily="18" charset="0"/>
                          <a:cs typeface="Times New Roman" panose="02020603050405020304" pitchFamily="18" charset="0"/>
                        </a:rPr>
                        <a:t>6</a:t>
                      </a:r>
                      <a:endParaRPr lang="en-US" sz="1600"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0</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tc>
                  <a:txBody>
                    <a:bodyPr/>
                    <a:lstStyle/>
                    <a:p>
                      <a:pPr algn="ctr"/>
                      <a:r>
                        <a:rPr lang="en-US" sz="1600" dirty="0" smtClean="0">
                          <a:latin typeface="Times New Roman" panose="02020603050405020304" pitchFamily="18" charset="0"/>
                          <a:cs typeface="Times New Roman" panose="02020603050405020304" pitchFamily="18" charset="0"/>
                        </a:rPr>
                        <a:t>No</a:t>
                      </a:r>
                      <a:endParaRPr lang="en-US" sz="1600" dirty="0">
                        <a:latin typeface="Times New Roman" panose="02020603050405020304" pitchFamily="18" charset="0"/>
                        <a:cs typeface="Times New Roman" panose="02020603050405020304" pitchFamily="18" charset="0"/>
                      </a:endParaRPr>
                    </a:p>
                  </a:txBody>
                  <a:tcPr>
                    <a:solidFill>
                      <a:srgbClr val="FFFF00"/>
                    </a:solidFill>
                  </a:tcPr>
                </a:tc>
                <a:extLst>
                  <a:ext uri="{0D108BD9-81ED-4DB2-BD59-A6C34878D82A}">
                    <a16:rowId xmlns:a16="http://schemas.microsoft.com/office/drawing/2014/main" xmlns="" val="2156287885"/>
                  </a:ext>
                </a:extLst>
              </a:tr>
              <a:tr h="274320">
                <a:tc>
                  <a:txBody>
                    <a:bodyPr/>
                    <a:lstStyle/>
                    <a:p>
                      <a:pPr algn="ctr"/>
                      <a:r>
                        <a:rPr lang="en-US" sz="1600" b="1" dirty="0" smtClean="0">
                          <a:latin typeface="Times New Roman" panose="02020603050405020304" pitchFamily="18" charset="0"/>
                          <a:cs typeface="Times New Roman" panose="02020603050405020304" pitchFamily="18" charset="0"/>
                        </a:rPr>
                        <a:t>Yes</a:t>
                      </a:r>
                      <a:endParaRPr lang="en-US" sz="1600" b="1"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b="1" dirty="0" smtClean="0">
                          <a:latin typeface="Times New Roman" panose="02020603050405020304" pitchFamily="18" charset="0"/>
                          <a:cs typeface="Times New Roman" panose="02020603050405020304" pitchFamily="18" charset="0"/>
                        </a:rPr>
                        <a:t>6</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4</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5</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1</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1</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1</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1</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19</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extLst>
                  <a:ext uri="{0D108BD9-81ED-4DB2-BD59-A6C34878D82A}">
                    <a16:rowId xmlns:a16="http://schemas.microsoft.com/office/drawing/2014/main" xmlns="" val="2879477027"/>
                  </a:ext>
                </a:extLst>
              </a:tr>
              <a:tr h="274320">
                <a:tc>
                  <a:txBody>
                    <a:bodyPr/>
                    <a:lstStyle/>
                    <a:p>
                      <a:pPr algn="ctr"/>
                      <a:r>
                        <a:rPr lang="en-US" sz="1600" b="1" dirty="0" smtClean="0">
                          <a:latin typeface="Times New Roman" panose="02020603050405020304" pitchFamily="18" charset="0"/>
                          <a:cs typeface="Times New Roman" panose="02020603050405020304" pitchFamily="18" charset="0"/>
                        </a:rPr>
                        <a:t>No</a:t>
                      </a:r>
                      <a:endParaRPr lang="en-US" sz="1600" b="1" dirty="0">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en-US" sz="1600" b="1" dirty="0" smtClean="0">
                          <a:latin typeface="Times New Roman" panose="02020603050405020304" pitchFamily="18" charset="0"/>
                          <a:cs typeface="Times New Roman" panose="02020603050405020304" pitchFamily="18" charset="0"/>
                        </a:rPr>
                        <a:t>2</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0</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1</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2</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4</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0</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0</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tc>
                  <a:txBody>
                    <a:bodyPr/>
                    <a:lstStyle/>
                    <a:p>
                      <a:pPr algn="ctr"/>
                      <a:r>
                        <a:rPr lang="en-US" sz="1600" b="1" dirty="0" smtClean="0">
                          <a:latin typeface="Times New Roman" panose="02020603050405020304" pitchFamily="18" charset="0"/>
                          <a:cs typeface="Times New Roman" panose="02020603050405020304" pitchFamily="18" charset="0"/>
                        </a:rPr>
                        <a:t>9</a:t>
                      </a:r>
                      <a:endParaRPr lang="en-US" sz="1600" b="1" dirty="0">
                        <a:latin typeface="Times New Roman" panose="02020603050405020304" pitchFamily="18" charset="0"/>
                        <a:cs typeface="Times New Roman" panose="02020603050405020304" pitchFamily="18" charset="0"/>
                      </a:endParaRPr>
                    </a:p>
                  </a:txBody>
                  <a:tcPr>
                    <a:solidFill>
                      <a:srgbClr val="F1C5C9"/>
                    </a:solidFill>
                  </a:tcPr>
                </a:tc>
                <a:extLst>
                  <a:ext uri="{0D108BD9-81ED-4DB2-BD59-A6C34878D82A}">
                    <a16:rowId xmlns:a16="http://schemas.microsoft.com/office/drawing/2014/main" xmlns="" val="1045600032"/>
                  </a:ext>
                </a:extLst>
              </a:tr>
            </a:tbl>
          </a:graphicData>
        </a:graphic>
      </p:graphicFrame>
    </p:spTree>
    <p:extLst>
      <p:ext uri="{BB962C8B-B14F-4D97-AF65-F5344CB8AC3E}">
        <p14:creationId xmlns:p14="http://schemas.microsoft.com/office/powerpoint/2010/main" val="139540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8438" y="176054"/>
            <a:ext cx="7172953" cy="677407"/>
          </a:xfrm>
        </p:spPr>
        <p:txBody>
          <a:bodyPr>
            <a:normAutofit fontScale="90000"/>
          </a:bodyPr>
          <a:lstStyle/>
          <a:p>
            <a:pPr algn="ctr"/>
            <a:r>
              <a:rPr lang="en-US" dirty="0"/>
              <a:t>Solution</a:t>
            </a:r>
          </a:p>
        </p:txBody>
      </p:sp>
      <p:graphicFrame>
        <p:nvGraphicFramePr>
          <p:cNvPr id="5" name="Content Placeholder 4"/>
          <p:cNvGraphicFramePr>
            <a:graphicFrameLocks noGrp="1"/>
          </p:cNvGraphicFramePr>
          <p:nvPr>
            <p:ph idx="1"/>
            <p:extLst/>
          </p:nvPr>
        </p:nvGraphicFramePr>
        <p:xfrm>
          <a:off x="2383650" y="927891"/>
          <a:ext cx="7853917" cy="5516880"/>
        </p:xfrm>
        <a:graphic>
          <a:graphicData uri="http://schemas.openxmlformats.org/drawingml/2006/table">
            <a:tbl>
              <a:tblPr firstRow="1" bandRow="1">
                <a:tableStyleId>{5C22544A-7EE6-4342-B048-85BDC9FD1C3A}</a:tableStyleId>
              </a:tblPr>
              <a:tblGrid>
                <a:gridCol w="1818168">
                  <a:extLst>
                    <a:ext uri="{9D8B030D-6E8A-4147-A177-3AD203B41FA5}">
                      <a16:colId xmlns:a16="http://schemas.microsoft.com/office/drawing/2014/main" xmlns="" val="2418143972"/>
                    </a:ext>
                  </a:extLst>
                </a:gridCol>
                <a:gridCol w="1392865">
                  <a:extLst>
                    <a:ext uri="{9D8B030D-6E8A-4147-A177-3AD203B41FA5}">
                      <a16:colId xmlns:a16="http://schemas.microsoft.com/office/drawing/2014/main" xmlns="" val="3599806896"/>
                    </a:ext>
                  </a:extLst>
                </a:gridCol>
                <a:gridCol w="1329070">
                  <a:extLst>
                    <a:ext uri="{9D8B030D-6E8A-4147-A177-3AD203B41FA5}">
                      <a16:colId xmlns:a16="http://schemas.microsoft.com/office/drawing/2014/main" xmlns="" val="3253018717"/>
                    </a:ext>
                  </a:extLst>
                </a:gridCol>
                <a:gridCol w="1754372">
                  <a:extLst>
                    <a:ext uri="{9D8B030D-6E8A-4147-A177-3AD203B41FA5}">
                      <a16:colId xmlns:a16="http://schemas.microsoft.com/office/drawing/2014/main" xmlns="" val="2012432702"/>
                    </a:ext>
                  </a:extLst>
                </a:gridCol>
                <a:gridCol w="1559442">
                  <a:extLst>
                    <a:ext uri="{9D8B030D-6E8A-4147-A177-3AD203B41FA5}">
                      <a16:colId xmlns:a16="http://schemas.microsoft.com/office/drawing/2014/main" xmlns="" val="2407801767"/>
                    </a:ext>
                  </a:extLst>
                </a:gridCol>
              </a:tblGrid>
              <a:tr h="370840">
                <a:tc>
                  <a:txBody>
                    <a:bodyPr/>
                    <a:lstStyle/>
                    <a:p>
                      <a:pPr algn="ct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Yes</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No</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Yes</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tc>
                  <a:txBody>
                    <a:bodyPr/>
                    <a:lstStyle/>
                    <a:p>
                      <a:pPr algn="ctr"/>
                      <a:r>
                        <a:rPr lang="en-US" sz="2400" b="1" dirty="0" smtClean="0">
                          <a:latin typeface="Times New Roman" panose="02020603050405020304" pitchFamily="18" charset="0"/>
                          <a:cs typeface="Times New Roman" panose="02020603050405020304" pitchFamily="18" charset="0"/>
                        </a:rPr>
                        <a:t>No</a:t>
                      </a:r>
                      <a:endParaRPr lang="en-US" sz="2400" b="1" dirty="0">
                        <a:latin typeface="Times New Roman" panose="02020603050405020304" pitchFamily="18" charset="0"/>
                        <a:cs typeface="Times New Roman" panose="02020603050405020304" pitchFamily="18" charset="0"/>
                      </a:endParaRPr>
                    </a:p>
                  </a:txBody>
                  <a:tcPr>
                    <a:lnB w="12700" cap="flat" cmpd="sng" algn="ctr">
                      <a:solidFill>
                        <a:schemeClr val="tx1"/>
                      </a:solidFill>
                      <a:prstDash val="solid"/>
                      <a:round/>
                      <a:headEnd type="none" w="med" len="med"/>
                      <a:tailEnd type="none" w="med" len="med"/>
                    </a:lnB>
                    <a:solidFill>
                      <a:srgbClr val="7030A0"/>
                    </a:solidFill>
                  </a:tcPr>
                </a:tc>
                <a:extLst>
                  <a:ext uri="{0D108BD9-81ED-4DB2-BD59-A6C34878D82A}">
                    <a16:rowId xmlns:a16="http://schemas.microsoft.com/office/drawing/2014/main" xmlns="" val="3361925446"/>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P(Ci)</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4/6</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2/6</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0.666</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0.333</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3292784130"/>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P(</a:t>
                      </a:r>
                      <a:r>
                        <a:rPr lang="en-US" sz="2400" b="1" dirty="0" err="1" smtClean="0">
                          <a:latin typeface="Times New Roman" panose="02020603050405020304" pitchFamily="18" charset="0"/>
                          <a:cs typeface="Times New Roman" panose="02020603050405020304" pitchFamily="18" charset="0"/>
                        </a:rPr>
                        <a:t>X|Ci</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1" dirty="0" smtClean="0">
                          <a:latin typeface="Times New Roman" panose="02020603050405020304" pitchFamily="18" charset="0"/>
                          <a:cs typeface="Times New Roman" panose="02020603050405020304" pitchFamily="18" charset="0"/>
                        </a:rPr>
                        <a:t>Prob.</a:t>
                      </a:r>
                      <a:endParaRPr lang="en-US"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b="1" dirty="0" smtClean="0">
                          <a:latin typeface="Times New Roman" panose="02020603050405020304" pitchFamily="18" charset="0"/>
                          <a:cs typeface="Times New Roman" panose="02020603050405020304" pitchFamily="18" charset="0"/>
                        </a:rPr>
                        <a:t>Prob.</a:t>
                      </a:r>
                      <a:endParaRPr lang="en-US"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246730881"/>
                  </a:ext>
                </a:extLst>
              </a:tr>
              <a:tr h="370840">
                <a:tc>
                  <a:txBody>
                    <a:bodyPr/>
                    <a:lstStyle/>
                    <a:p>
                      <a:pPr algn="ctr"/>
                      <a:r>
                        <a:rPr lang="en-US" sz="2400" b="1" dirty="0" smtClean="0">
                          <a:solidFill>
                            <a:srgbClr val="FF0000"/>
                          </a:solidFill>
                          <a:latin typeface="Times New Roman" panose="02020603050405020304" pitchFamily="18" charset="0"/>
                          <a:cs typeface="Times New Roman" panose="02020603050405020304" pitchFamily="18" charset="0"/>
                        </a:rPr>
                        <a:t>Love</a:t>
                      </a:r>
                      <a:endParaRPr lang="en-US" sz="24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6/19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2/9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0.315</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0.222</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52553317"/>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Pain</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1/19</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4/9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0.052</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0.444</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624474"/>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Joy</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5/19</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1/9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0.263</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0.111</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598298618"/>
                  </a:ext>
                </a:extLst>
              </a:tr>
              <a:tr h="370840">
                <a:tc>
                  <a:txBody>
                    <a:bodyPr/>
                    <a:lstStyle/>
                    <a:p>
                      <a:pPr algn="ctr"/>
                      <a:r>
                        <a:rPr lang="en-US" sz="2400" b="1" dirty="0" smtClean="0">
                          <a:solidFill>
                            <a:srgbClr val="FF0000"/>
                          </a:solidFill>
                          <a:latin typeface="Times New Roman" panose="02020603050405020304" pitchFamily="18" charset="0"/>
                          <a:cs typeface="Times New Roman" panose="02020603050405020304" pitchFamily="18" charset="0"/>
                        </a:rPr>
                        <a:t>Love</a:t>
                      </a:r>
                      <a:endParaRPr lang="en-US" sz="24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6/19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2/9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0.315</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0.222</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47657003"/>
                  </a:ext>
                </a:extLst>
              </a:tr>
              <a:tr h="370840">
                <a:tc>
                  <a:txBody>
                    <a:bodyPr/>
                    <a:lstStyle/>
                    <a:p>
                      <a:pPr algn="ctr"/>
                      <a:r>
                        <a:rPr lang="en-US" sz="2400" b="1" dirty="0" smtClean="0">
                          <a:latin typeface="Times New Roman" panose="02020603050405020304" pitchFamily="18" charset="0"/>
                          <a:cs typeface="Times New Roman" panose="02020603050405020304" pitchFamily="18" charset="0"/>
                        </a:rPr>
                        <a:t>Kick</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1/19</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0" lang="en-US" sz="2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2/9</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smtClean="0">
                          <a:latin typeface="Times New Roman" panose="02020603050405020304" pitchFamily="18" charset="0"/>
                          <a:cs typeface="Times New Roman" panose="02020603050405020304" pitchFamily="18" charset="0"/>
                        </a:rPr>
                        <a:t>0.052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latin typeface="Times New Roman" panose="02020603050405020304" pitchFamily="18" charset="0"/>
                          <a:cs typeface="Times New Roman" panose="02020603050405020304" pitchFamily="18" charset="0"/>
                        </a:rPr>
                        <a:t>0.222</a:t>
                      </a:r>
                      <a:endParaRPr 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134317492"/>
                  </a:ext>
                </a:extLst>
              </a:tr>
              <a:tr h="370840">
                <a:tc gridSpan="3">
                  <a:txBody>
                    <a:bodyPr/>
                    <a:lstStyle/>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 : P(</a:t>
                      </a:r>
                      <a:r>
                        <a:rPr lang="en-US" sz="2000" b="1" dirty="0" err="1" smtClean="0">
                          <a:latin typeface="Times New Roman" panose="02020603050405020304" pitchFamily="18" charset="0"/>
                          <a:cs typeface="Times New Roman" panose="02020603050405020304" pitchFamily="18" charset="0"/>
                        </a:rPr>
                        <a:t>X|Healthy</a:t>
                      </a:r>
                      <a:r>
                        <a:rPr lang="en-US" sz="2000" b="1" dirty="0" smtClean="0">
                          <a:latin typeface="Times New Roman" panose="02020603050405020304" pitchFamily="18" charset="0"/>
                          <a:cs typeface="Times New Roman" panose="02020603050405020304" pitchFamily="18" charset="0"/>
                        </a:rPr>
                        <a:t> = “Yes”)  </a:t>
                      </a:r>
                    </a:p>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X|Healthy</a:t>
                      </a:r>
                      <a:r>
                        <a:rPr lang="en-US" sz="2000" b="1" dirty="0" smtClean="0">
                          <a:latin typeface="Times New Roman" panose="02020603050405020304" pitchFamily="18" charset="0"/>
                          <a:cs typeface="Times New Roman" panose="02020603050405020304" pitchFamily="18" charset="0"/>
                        </a:rPr>
                        <a:t> = “No”)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0.0000705</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b="1" dirty="0" smtClean="0">
                          <a:latin typeface="Times New Roman" panose="02020603050405020304" pitchFamily="18" charset="0"/>
                          <a:cs typeface="Times New Roman" panose="02020603050405020304" pitchFamily="18" charset="0"/>
                        </a:rPr>
                        <a:t>0.0005392</a:t>
                      </a: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xmlns="" val="1746775458"/>
                  </a:ext>
                </a:extLst>
              </a:tr>
              <a:tr h="370840">
                <a:tc gridSpan="3">
                  <a:txBody>
                    <a:bodyPr/>
                    <a:lstStyle/>
                    <a:p>
                      <a:pPr algn="l"/>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)*P(Ci) for “Yes” = 0.044*0.643</a:t>
                      </a:r>
                    </a:p>
                    <a:p>
                      <a:pPr marL="0" marR="0" indent="0" algn="l" defTabSz="457200" rtl="0" eaLnBrk="1" fontAlgn="auto" latinLnBrk="0" hangingPunct="1">
                        <a:lnSpc>
                          <a:spcPct val="100000"/>
                        </a:lnSpc>
                        <a:spcBef>
                          <a:spcPts val="0"/>
                        </a:spcBef>
                        <a:spcAft>
                          <a:spcPts val="0"/>
                        </a:spcAft>
                        <a:buClrTx/>
                        <a:buSzTx/>
                        <a:buFontTx/>
                        <a:buNone/>
                        <a:tabLst/>
                        <a:defRPr/>
                      </a:pPr>
                      <a:r>
                        <a:rPr lang="en-US" sz="2000" b="1" dirty="0" smtClean="0">
                          <a:latin typeface="Times New Roman" panose="02020603050405020304" pitchFamily="18" charset="0"/>
                          <a:cs typeface="Times New Roman" panose="02020603050405020304" pitchFamily="18" charset="0"/>
                        </a:rPr>
                        <a:t>P(</a:t>
                      </a:r>
                      <a:r>
                        <a:rPr lang="en-US" sz="2000" b="1" dirty="0" err="1" smtClean="0">
                          <a:latin typeface="Times New Roman" panose="02020603050405020304" pitchFamily="18" charset="0"/>
                          <a:cs typeface="Times New Roman" panose="02020603050405020304" pitchFamily="18" charset="0"/>
                        </a:rPr>
                        <a:t>X|Ci</a:t>
                      </a:r>
                      <a:r>
                        <a:rPr lang="en-US" sz="2000" b="1" dirty="0" smtClean="0">
                          <a:latin typeface="Times New Roman" panose="02020603050405020304" pitchFamily="18" charset="0"/>
                          <a:cs typeface="Times New Roman" panose="02020603050405020304" pitchFamily="18" charset="0"/>
                        </a:rPr>
                        <a:t>)*P(Ci) for “No” = 0.019*0.357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algn="ctr"/>
                      <a:endParaRPr lang="en-US" sz="2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b="1" dirty="0" smtClean="0">
                          <a:solidFill>
                            <a:schemeClr val="tx1"/>
                          </a:solidFill>
                          <a:latin typeface="Times New Roman" panose="02020603050405020304" pitchFamily="18" charset="0"/>
                          <a:cs typeface="Times New Roman" panose="02020603050405020304" pitchFamily="18" charset="0"/>
                        </a:rPr>
                        <a:t>0.00004699</a:t>
                      </a:r>
                      <a:endParaRPr lang="en-US" sz="24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sz="2400" b="1" dirty="0" smtClean="0">
                          <a:solidFill>
                            <a:srgbClr val="FF0000"/>
                          </a:solidFill>
                          <a:latin typeface="Times New Roman" panose="02020603050405020304" pitchFamily="18" charset="0"/>
                          <a:cs typeface="Times New Roman" panose="02020603050405020304" pitchFamily="18" charset="0"/>
                        </a:rPr>
                        <a:t>0.0001795</a:t>
                      </a:r>
                      <a:endParaRPr lang="en-US" sz="2400" b="1"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xmlns="" val="1032326904"/>
                  </a:ext>
                </a:extLst>
              </a:tr>
              <a:tr h="370840">
                <a:tc gridSpan="5">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400" b="1" dirty="0" smtClean="0">
                          <a:solidFill>
                            <a:schemeClr val="bg1"/>
                          </a:solidFill>
                          <a:latin typeface="Times New Roman" panose="02020603050405020304" pitchFamily="18" charset="0"/>
                          <a:cs typeface="Times New Roman" panose="02020603050405020304" pitchFamily="18" charset="0"/>
                        </a:rPr>
                        <a:t>So, Doc. 7 is classified as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pPr algn="ctr"/>
                      <a:endParaRPr lang="en-US" sz="2400"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hMerge="1">
                  <a:txBody>
                    <a:bodyPr/>
                    <a:lstStyle/>
                    <a:p>
                      <a:pPr algn="ctr"/>
                      <a:endParaRPr lang="en-US" sz="2400" b="1" dirty="0">
                        <a:solidFill>
                          <a:schemeClr val="bg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xmlns="" val="3432089826"/>
                  </a:ext>
                </a:extLst>
              </a:tr>
            </a:tbl>
          </a:graphicData>
        </a:graphic>
      </p:graphicFrame>
    </p:spTree>
    <p:extLst>
      <p:ext uri="{BB962C8B-B14F-4D97-AF65-F5344CB8AC3E}">
        <p14:creationId xmlns:p14="http://schemas.microsoft.com/office/powerpoint/2010/main" val="1546233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827212" y="152400"/>
            <a:ext cx="8686800" cy="533400"/>
          </a:xfrm>
        </p:spPr>
        <p:txBody>
          <a:bodyPr>
            <a:normAutofit fontScale="90000"/>
          </a:bodyPr>
          <a:lstStyle/>
          <a:p>
            <a:r>
              <a:rPr lang="en-US" altLang="en-US" dirty="0" smtClean="0">
                <a:solidFill>
                  <a:srgbClr val="0070C0"/>
                </a:solidFill>
              </a:rPr>
              <a:t>Example 2 (Continuous Data)</a:t>
            </a:r>
          </a:p>
        </p:txBody>
      </p:sp>
      <p:sp>
        <p:nvSpPr>
          <p:cNvPr id="72707" name="Rectangle 3"/>
          <p:cNvSpPr>
            <a:spLocks noGrp="1" noChangeArrowheads="1"/>
          </p:cNvSpPr>
          <p:nvPr>
            <p:ph type="body" idx="1"/>
          </p:nvPr>
        </p:nvSpPr>
        <p:spPr>
          <a:xfrm>
            <a:off x="6018212" y="1066800"/>
            <a:ext cx="4114800" cy="5181600"/>
          </a:xfrm>
        </p:spPr>
        <p:txBody>
          <a:bodyPr/>
          <a:lstStyle/>
          <a:p>
            <a:r>
              <a:rPr lang="en-US" altLang="en-US" dirty="0"/>
              <a:t>Normal distribution:</a:t>
            </a:r>
          </a:p>
          <a:p>
            <a:pPr lvl="1"/>
            <a:endParaRPr lang="en-US" altLang="en-US" dirty="0"/>
          </a:p>
          <a:p>
            <a:pPr marL="274638" lvl="1" indent="0">
              <a:buNone/>
            </a:pPr>
            <a:endParaRPr lang="en-US" altLang="en-US" dirty="0"/>
          </a:p>
          <a:p>
            <a:pPr marL="274638" lvl="1" indent="0">
              <a:buNone/>
            </a:pPr>
            <a:endParaRPr lang="en-US" altLang="en-US" dirty="0"/>
          </a:p>
          <a:p>
            <a:pPr marL="274638" lvl="1" indent="0">
              <a:buNone/>
            </a:pPr>
            <a:endParaRPr lang="en-US" altLang="en-US" dirty="0"/>
          </a:p>
          <a:p>
            <a:pPr lvl="1"/>
            <a:r>
              <a:rPr lang="en-US" altLang="en-US" sz="1600" dirty="0"/>
              <a:t>One for each (</a:t>
            </a:r>
            <a:r>
              <a:rPr lang="en-US" altLang="en-US" sz="1600" dirty="0" err="1"/>
              <a:t>A</a:t>
            </a:r>
            <a:r>
              <a:rPr lang="en-US" altLang="en-US" sz="1600" baseline="-25000" dirty="0" err="1"/>
              <a:t>i</a:t>
            </a:r>
            <a:r>
              <a:rPr lang="en-US" altLang="en-US" sz="1600" dirty="0" err="1"/>
              <a:t>,c</a:t>
            </a:r>
            <a:r>
              <a:rPr lang="en-US" altLang="en-US" sz="1600" baseline="-25000" dirty="0" err="1"/>
              <a:t>i</a:t>
            </a:r>
            <a:r>
              <a:rPr lang="en-US" altLang="en-US" sz="1600" dirty="0"/>
              <a:t>) pair</a:t>
            </a:r>
          </a:p>
          <a:p>
            <a:r>
              <a:rPr lang="en-US" altLang="en-US" sz="1600" dirty="0"/>
              <a:t>For (Income, Class=No):</a:t>
            </a:r>
          </a:p>
          <a:p>
            <a:pPr lvl="1"/>
            <a:r>
              <a:rPr lang="en-US" altLang="en-US" sz="1600" dirty="0"/>
              <a:t>If Class=No</a:t>
            </a:r>
          </a:p>
          <a:p>
            <a:pPr lvl="2"/>
            <a:r>
              <a:rPr lang="en-US" altLang="en-US" dirty="0" smtClean="0"/>
              <a:t> sample mean = 110</a:t>
            </a:r>
          </a:p>
          <a:p>
            <a:pPr lvl="2"/>
            <a:r>
              <a:rPr lang="en-US" altLang="en-US" dirty="0" smtClean="0"/>
              <a:t> sample variance = 2975</a:t>
            </a:r>
          </a:p>
          <a:p>
            <a:pPr lvl="1">
              <a:buFont typeface="Arial" panose="020B0604020202020204" pitchFamily="34" charset="0"/>
              <a:buNone/>
            </a:pPr>
            <a:endParaRPr lang="en-US" altLang="en-US" dirty="0"/>
          </a:p>
        </p:txBody>
      </p:sp>
      <p:graphicFrame>
        <p:nvGraphicFramePr>
          <p:cNvPr id="72708" name="Object 2"/>
          <p:cNvGraphicFramePr>
            <a:graphicFrameLocks noChangeAspect="1"/>
          </p:cNvGraphicFramePr>
          <p:nvPr/>
        </p:nvGraphicFramePr>
        <p:xfrm>
          <a:off x="1827213" y="1143000"/>
          <a:ext cx="4195763" cy="4038600"/>
        </p:xfrm>
        <a:graphic>
          <a:graphicData uri="http://schemas.openxmlformats.org/presentationml/2006/ole">
            <mc:AlternateContent xmlns:mc="http://schemas.openxmlformats.org/markup-compatibility/2006">
              <mc:Choice xmlns:v="urn:schemas-microsoft-com:vml" Requires="v">
                <p:oleObj spid="_x0000_s21521" name="VISIO" r:id="rId3" imgW="4392168" imgH="5334000" progId="Visio.Drawing.6">
                  <p:embed/>
                </p:oleObj>
              </mc:Choice>
              <mc:Fallback>
                <p:oleObj name="VISIO" r:id="rId3" imgW="4392168" imgH="533400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t="20895"/>
                      <a:stretch>
                        <a:fillRect/>
                      </a:stretch>
                    </p:blipFill>
                    <p:spPr bwMode="auto">
                      <a:xfrm>
                        <a:off x="1827213" y="1143000"/>
                        <a:ext cx="4195763"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09" name="Object 3"/>
          <p:cNvGraphicFramePr>
            <a:graphicFrameLocks noChangeAspect="1"/>
          </p:cNvGraphicFramePr>
          <p:nvPr/>
        </p:nvGraphicFramePr>
        <p:xfrm>
          <a:off x="7183438" y="1592264"/>
          <a:ext cx="1954213" cy="623887"/>
        </p:xfrm>
        <a:graphic>
          <a:graphicData uri="http://schemas.openxmlformats.org/presentationml/2006/ole">
            <mc:AlternateContent xmlns:mc="http://schemas.openxmlformats.org/markup-compatibility/2006">
              <mc:Choice xmlns:v="urn:schemas-microsoft-com:vml" Requires="v">
                <p:oleObj spid="_x0000_s21522" name="Equation" r:id="rId5" imgW="1790640" imgH="571320" progId="Equation.3">
                  <p:embed/>
                </p:oleObj>
              </mc:Choice>
              <mc:Fallback>
                <p:oleObj name="Equation" r:id="rId5" imgW="1790640" imgH="571320" progId="Equation.3">
                  <p:embed/>
                  <p:pic>
                    <p:nvPicPr>
                      <p:cNvPr id="0" name=""/>
                      <p:cNvPicPr>
                        <a:picLocks noChangeAspect="1" noChangeArrowheads="1"/>
                      </p:cNvPicPr>
                      <p:nvPr/>
                    </p:nvPicPr>
                    <p:blipFill>
                      <a:blip r:embed="rId6"/>
                      <a:srcRect/>
                      <a:stretch>
                        <a:fillRect/>
                      </a:stretch>
                    </p:blipFill>
                    <p:spPr bwMode="auto">
                      <a:xfrm>
                        <a:off x="7183438" y="1592264"/>
                        <a:ext cx="1954213"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0" name="Object 4"/>
          <p:cNvGraphicFramePr>
            <a:graphicFrameLocks noChangeAspect="1"/>
          </p:cNvGraphicFramePr>
          <p:nvPr>
            <p:extLst>
              <p:ext uri="{D42A27DB-BD31-4B8C-83A1-F6EECF244321}">
                <p14:modId xmlns:p14="http://schemas.microsoft.com/office/powerpoint/2010/main" val="637262233"/>
              </p:ext>
            </p:extLst>
          </p:nvPr>
        </p:nvGraphicFramePr>
        <p:xfrm>
          <a:off x="2133972" y="5638800"/>
          <a:ext cx="6474295" cy="801805"/>
        </p:xfrm>
        <a:graphic>
          <a:graphicData uri="http://schemas.openxmlformats.org/presentationml/2006/ole">
            <mc:AlternateContent xmlns:mc="http://schemas.openxmlformats.org/markup-compatibility/2006">
              <mc:Choice xmlns:v="urn:schemas-microsoft-com:vml" Requires="v">
                <p:oleObj spid="_x0000_s21523" name="Equation" r:id="rId7" imgW="6350000" imgH="787400" progId="Equation.3">
                  <p:embed/>
                </p:oleObj>
              </mc:Choice>
              <mc:Fallback>
                <p:oleObj name="Equation" r:id="rId7" imgW="6350000" imgH="787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972" y="5638800"/>
                        <a:ext cx="6474295" cy="801805"/>
                      </a:xfrm>
                      <a:prstGeom prst="rect">
                        <a:avLst/>
                      </a:prstGeom>
                      <a:noFill/>
                      <a:ln>
                        <a:noFill/>
                      </a:ln>
                      <a:effectLst/>
                      <a:extLst/>
                    </p:spPr>
                  </p:pic>
                </p:oleObj>
              </mc:Fallback>
            </mc:AlternateContent>
          </a:graphicData>
        </a:graphic>
      </p:graphicFrame>
      <p:sp>
        <p:nvSpPr>
          <p:cNvPr id="2" name="Rectangle 46"/>
          <p:cNvSpPr>
            <a:spLocks noChangeArrowheads="1"/>
          </p:cNvSpPr>
          <p:nvPr/>
        </p:nvSpPr>
        <p:spPr bwMode="auto">
          <a:xfrm>
            <a:off x="4288314" y="2362201"/>
            <a:ext cx="67056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914400" fontAlgn="base">
              <a:spcBef>
                <a:spcPct val="0"/>
              </a:spcBef>
              <a:spcAft>
                <a:spcPct val="0"/>
              </a:spcAft>
            </a:pPr>
            <a:r>
              <a:rPr lang="en-US" altLang="en-US" sz="1100" dirty="0">
                <a:solidFill>
                  <a:srgbClr val="333333"/>
                </a:solidFill>
                <a:latin typeface="Verdana" panose="020B0604030504040204" pitchFamily="34" charset="0"/>
              </a:rPr>
              <a:t>This is the formula for Standard Deviation:</a:t>
            </a:r>
            <a:endParaRPr lang="en-US" altLang="en-US" sz="600" dirty="0"/>
          </a:p>
          <a:p>
            <a:pPr algn="ctr" defTabSz="914400" fontAlgn="base">
              <a:spcBef>
                <a:spcPct val="0"/>
              </a:spcBef>
              <a:spcAft>
                <a:spcPct val="0"/>
              </a:spcAft>
            </a:pPr>
            <a:r>
              <a:rPr lang="en-US" altLang="en-US" sz="1100" dirty="0">
                <a:solidFill>
                  <a:srgbClr val="333333"/>
                </a:solidFill>
                <a:latin typeface="Verdana" panose="020B0604030504040204" pitchFamily="34" charset="0"/>
              </a:rPr>
              <a:t>  </a:t>
            </a:r>
            <a:endParaRPr lang="en-US" altLang="en-US" sz="3900" dirty="0">
              <a:solidFill>
                <a:srgbClr val="333333"/>
              </a:solidFill>
              <a:latin typeface="Verdana" panose="020B0604030504040204" pitchFamily="34" charset="0"/>
            </a:endParaRPr>
          </a:p>
        </p:txBody>
      </p:sp>
      <p:pic>
        <p:nvPicPr>
          <p:cNvPr id="72751" name="Picture 47" descr="square root of [ (1/N) times Sigma i=1 to N of (xi - mu)^2 ]"/>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47902" y="2674041"/>
            <a:ext cx="2118311" cy="61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0254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&amp; Disadvantages</a:t>
            </a:r>
            <a:endParaRPr lang="en-US" dirty="0"/>
          </a:p>
        </p:txBody>
      </p:sp>
      <p:sp>
        <p:nvSpPr>
          <p:cNvPr id="3" name="Content Placeholder 2"/>
          <p:cNvSpPr>
            <a:spLocks noGrp="1"/>
          </p:cNvSpPr>
          <p:nvPr>
            <p:ph idx="1"/>
          </p:nvPr>
        </p:nvSpPr>
        <p:spPr/>
        <p:txBody>
          <a:bodyPr/>
          <a:lstStyle/>
          <a:p>
            <a:r>
              <a:rPr lang="en-US" dirty="0" smtClean="0"/>
              <a:t>It is Simple.</a:t>
            </a:r>
          </a:p>
          <a:p>
            <a:r>
              <a:rPr lang="en-US" dirty="0" smtClean="0"/>
              <a:t>Conditional probabilities can be computed for discrete data and for probabilistic distributions.</a:t>
            </a:r>
          </a:p>
          <a:p>
            <a:r>
              <a:rPr lang="en-US" dirty="0" smtClean="0">
                <a:solidFill>
                  <a:srgbClr val="FF0000"/>
                </a:solidFill>
              </a:rPr>
              <a:t>NB assumes all features are independent. But this may be a limitation.</a:t>
            </a:r>
          </a:p>
          <a:p>
            <a:r>
              <a:rPr lang="en-US" dirty="0" smtClean="0">
                <a:solidFill>
                  <a:srgbClr val="FF0000"/>
                </a:solidFill>
              </a:rPr>
              <a:t>Even if the probability of one of the features is ZERO, then the entire computation leads to zero.</a:t>
            </a:r>
          </a:p>
          <a:p>
            <a:r>
              <a:rPr lang="en-US" dirty="0" smtClean="0">
                <a:solidFill>
                  <a:srgbClr val="FF0000"/>
                </a:solidFill>
              </a:rPr>
              <a:t>NB is not good for event happenings.</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18CE55FB-C8CE-43BD-8EBC-C060BF5D6D85}" type="slidenum">
              <a:rPr lang="en-US" smtClean="0"/>
              <a:pPr/>
              <a:t>67</a:t>
            </a:fld>
            <a:endParaRPr lang="en-US" dirty="0"/>
          </a:p>
        </p:txBody>
      </p:sp>
    </p:spTree>
    <p:extLst>
      <p:ext uri="{BB962C8B-B14F-4D97-AF65-F5344CB8AC3E}">
        <p14:creationId xmlns:p14="http://schemas.microsoft.com/office/powerpoint/2010/main" val="2009326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28323" y="2132856"/>
            <a:ext cx="9141619" cy="2105367"/>
          </a:xfrm>
        </p:spPr>
        <p:txBody>
          <a:bodyPr>
            <a:normAutofit/>
          </a:bodyPr>
          <a:lstStyle/>
          <a:p>
            <a:r>
              <a:rPr lang="en-US" sz="4800" dirty="0" smtClean="0">
                <a:solidFill>
                  <a:srgbClr val="0070C0"/>
                </a:solidFill>
                <a:latin typeface="Arial Black" panose="020B0A04020102020204" pitchFamily="34" charset="0"/>
              </a:rPr>
              <a:t>Support Vector Machine (SVM) </a:t>
            </a:r>
            <a:endParaRPr lang="en-IN" sz="4800" dirty="0">
              <a:solidFill>
                <a:srgbClr val="0070C0"/>
              </a:solidFill>
              <a:latin typeface="Arial Black" panose="020B0A04020102020204" pitchFamily="34" charset="0"/>
            </a:endParaRPr>
          </a:p>
        </p:txBody>
      </p:sp>
      <p:sp>
        <p:nvSpPr>
          <p:cNvPr id="7" name="Text Placeholder 6"/>
          <p:cNvSpPr>
            <a:spLocks noGrp="1"/>
          </p:cNvSpPr>
          <p:nvPr>
            <p:ph type="body"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68</a:t>
            </a:fld>
            <a:endParaRPr lang="en-IN" dirty="0"/>
          </a:p>
        </p:txBody>
      </p:sp>
    </p:spTree>
    <p:extLst>
      <p:ext uri="{BB962C8B-B14F-4D97-AF65-F5344CB8AC3E}">
        <p14:creationId xmlns:p14="http://schemas.microsoft.com/office/powerpoint/2010/main" val="612346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smtClean="0"/>
              <a:t>Left as an Exercise / Assignment</a:t>
            </a:r>
            <a:endParaRPr lang="en-IN" b="1" dirty="0"/>
          </a:p>
        </p:txBody>
      </p:sp>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69</a:t>
            </a:fld>
            <a:endParaRPr lang="en-IN" dirty="0"/>
          </a:p>
        </p:txBody>
      </p:sp>
    </p:spTree>
    <p:extLst>
      <p:ext uri="{BB962C8B-B14F-4D97-AF65-F5344CB8AC3E}">
        <p14:creationId xmlns:p14="http://schemas.microsoft.com/office/powerpoint/2010/main" val="3354500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altLang="en-US" smtClean="0"/>
              <a:t>The k-Nearest Neighbor Classification</a:t>
            </a:r>
            <a:endParaRPr lang="en-US" altLang="en-US" smtClean="0"/>
          </a:p>
        </p:txBody>
      </p:sp>
      <p:sp>
        <p:nvSpPr>
          <p:cNvPr id="74755" name="Content Placeholder 2"/>
          <p:cNvSpPr>
            <a:spLocks noGrp="1"/>
          </p:cNvSpPr>
          <p:nvPr>
            <p:ph sz="quarter" idx="1"/>
          </p:nvPr>
        </p:nvSpPr>
        <p:spPr/>
        <p:txBody>
          <a:bodyPr/>
          <a:lstStyle/>
          <a:p>
            <a:r>
              <a:rPr lang="en-US" altLang="en-US" smtClean="0"/>
              <a:t>Eager learners - learn early</a:t>
            </a:r>
          </a:p>
          <a:p>
            <a:pPr lvl="1"/>
            <a:r>
              <a:rPr lang="en-US" altLang="en-US" smtClean="0"/>
              <a:t>Decision tree and rule based</a:t>
            </a:r>
          </a:p>
          <a:p>
            <a:r>
              <a:rPr lang="en-US" altLang="en-US" smtClean="0"/>
              <a:t>Lazy learners - delay the learning until it is required</a:t>
            </a:r>
          </a:p>
          <a:p>
            <a:pPr lvl="1"/>
            <a:r>
              <a:rPr lang="en-US" altLang="en-US" smtClean="0"/>
              <a:t>Root classifiers and KNN</a:t>
            </a:r>
          </a:p>
          <a:p>
            <a:r>
              <a:rPr lang="en-US" altLang="en-US" smtClean="0"/>
              <a:t>KNN</a:t>
            </a:r>
          </a:p>
          <a:p>
            <a:pPr lvl="1"/>
            <a:r>
              <a:rPr lang="en-US" altLang="en-US" smtClean="0"/>
              <a:t>Find  all the training samples that are similar to the test sample</a:t>
            </a:r>
          </a:p>
          <a:p>
            <a:pPr lvl="1"/>
            <a:r>
              <a:rPr lang="en-US" altLang="en-US" smtClean="0"/>
              <a:t>"If it walks like a duck, quack like duck, and looks like a like a duck....? </a:t>
            </a:r>
          </a:p>
          <a:p>
            <a:r>
              <a:rPr lang="en-US" altLang="en-US" smtClean="0"/>
              <a:t>A nearest neighbor  classifier represents each sample as a data point in d-dimensional space </a:t>
            </a:r>
            <a:endParaRPr lang="en-US" altLang="en-US" dirty="0"/>
          </a:p>
        </p:txBody>
      </p:sp>
      <p:sp>
        <p:nvSpPr>
          <p:cNvPr id="5" name="Footer Placeholder 4"/>
          <p:cNvSpPr>
            <a:spLocks noGrp="1"/>
          </p:cNvSpPr>
          <p:nvPr>
            <p:ph type="ftr" sz="quarter" idx="11"/>
          </p:nvPr>
        </p:nvSpPr>
        <p:spPr/>
        <p:txBody>
          <a:bodyPr/>
          <a:lstStyle/>
          <a:p>
            <a:r>
              <a:rPr lang="en-US" dirty="0" smtClean="0"/>
              <a:t>S. Nandagopalan</a:t>
            </a:r>
            <a:endParaRPr lang="en-US"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DC4D255-9A7E-4FCB-8CD7-B6175C538D35}" type="slidenum">
              <a:rPr lang="en-US" altLang="en-US" smtClean="0"/>
              <a:pPr/>
              <a:t>70</a:t>
            </a:fld>
            <a:endParaRPr lang="en-US" altLang="en-US"/>
          </a:p>
        </p:txBody>
      </p:sp>
    </p:spTree>
    <p:extLst>
      <p:ext uri="{BB962C8B-B14F-4D97-AF65-F5344CB8AC3E}">
        <p14:creationId xmlns:p14="http://schemas.microsoft.com/office/powerpoint/2010/main" val="54728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en-US" smtClean="0"/>
              <a:t>Nearest Neighbor Classifiers</a:t>
            </a:r>
            <a:endParaRPr lang="en-US" altLang="en-US"/>
          </a:p>
        </p:txBody>
      </p:sp>
      <p:sp>
        <p:nvSpPr>
          <p:cNvPr id="3" name="Content Placeholder 2"/>
          <p:cNvSpPr>
            <a:spLocks noGrp="1"/>
          </p:cNvSpPr>
          <p:nvPr>
            <p:ph idx="1"/>
          </p:nvPr>
        </p:nvSpPr>
        <p:spPr/>
        <p:txBody>
          <a:bodyPr/>
          <a:lstStyle/>
          <a:p>
            <a:endParaRPr lang="en-IN"/>
          </a:p>
        </p:txBody>
      </p:sp>
      <p:grpSp>
        <p:nvGrpSpPr>
          <p:cNvPr id="75779" name="Group 27"/>
          <p:cNvGrpSpPr>
            <a:grpSpLocks/>
          </p:cNvGrpSpPr>
          <p:nvPr/>
        </p:nvGrpSpPr>
        <p:grpSpPr bwMode="auto">
          <a:xfrm>
            <a:off x="1773237" y="2133600"/>
            <a:ext cx="8569325" cy="3497263"/>
            <a:chOff x="144" y="1632"/>
            <a:chExt cx="5398" cy="2203"/>
          </a:xfrm>
        </p:grpSpPr>
        <p:pic>
          <p:nvPicPr>
            <p:cNvPr id="75780" name="Picture 5" descr="j03458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8" y="2160"/>
              <a:ext cx="407"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1" name="Picture 6" descr="j023958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52" y="2688"/>
              <a:ext cx="554"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2" name="Picture 7" descr="j035038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48" y="1872"/>
              <a:ext cx="342"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Picture 8" descr="j033063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92" y="2928"/>
              <a:ext cx="287"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4" name="Picture 9" descr="j035038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04" y="3120"/>
              <a:ext cx="530"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5" name="Picture 10" descr="j035035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112" y="2400"/>
              <a:ext cx="554" cy="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6" name="Oval 11"/>
            <p:cNvSpPr>
              <a:spLocks noChangeArrowheads="1"/>
            </p:cNvSpPr>
            <p:nvPr/>
          </p:nvSpPr>
          <p:spPr bwMode="auto">
            <a:xfrm>
              <a:off x="1152" y="1632"/>
              <a:ext cx="2160" cy="2160"/>
            </a:xfrm>
            <a:prstGeom prst="ellipse">
              <a:avLst/>
            </a:prstGeom>
            <a:noFill/>
            <a:ln w="127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75787" name="Text Box 12"/>
            <p:cNvSpPr txBox="1">
              <a:spLocks noChangeArrowheads="1"/>
            </p:cNvSpPr>
            <p:nvPr/>
          </p:nvSpPr>
          <p:spPr bwMode="auto">
            <a:xfrm>
              <a:off x="144" y="3120"/>
              <a:ext cx="105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altLang="en-US" dirty="0">
                  <a:latin typeface="Arial" panose="020B0604020202020204" pitchFamily="34" charset="0"/>
                </a:rPr>
                <a:t>Training Records</a:t>
              </a:r>
            </a:p>
          </p:txBody>
        </p:sp>
        <p:sp>
          <p:nvSpPr>
            <p:cNvPr id="75788" name="Text Box 13"/>
            <p:cNvSpPr txBox="1">
              <a:spLocks noChangeArrowheads="1"/>
            </p:cNvSpPr>
            <p:nvPr/>
          </p:nvSpPr>
          <p:spPr bwMode="auto">
            <a:xfrm>
              <a:off x="4608" y="2208"/>
              <a:ext cx="93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spcBef>
                  <a:spcPct val="50000"/>
                </a:spcBef>
              </a:pPr>
              <a:r>
                <a:rPr lang="en-US" altLang="en-US" dirty="0">
                  <a:latin typeface="Arial" panose="020B0604020202020204" pitchFamily="34" charset="0"/>
                </a:rPr>
                <a:t>Test Record</a:t>
              </a:r>
            </a:p>
          </p:txBody>
        </p:sp>
        <p:grpSp>
          <p:nvGrpSpPr>
            <p:cNvPr id="75789" name="Group 14"/>
            <p:cNvGrpSpPr>
              <a:grpSpLocks/>
            </p:cNvGrpSpPr>
            <p:nvPr/>
          </p:nvGrpSpPr>
          <p:grpSpPr bwMode="auto">
            <a:xfrm>
              <a:off x="1680" y="1920"/>
              <a:ext cx="2880" cy="1440"/>
              <a:chOff x="1680" y="1920"/>
              <a:chExt cx="2880" cy="1440"/>
            </a:xfrm>
          </p:grpSpPr>
          <p:sp>
            <p:nvSpPr>
              <p:cNvPr id="75795" name="Text Box 15"/>
              <p:cNvSpPr txBox="1">
                <a:spLocks noChangeArrowheads="1"/>
              </p:cNvSpPr>
              <p:nvPr/>
            </p:nvSpPr>
            <p:spPr bwMode="auto">
              <a:xfrm>
                <a:off x="3312" y="1920"/>
                <a:ext cx="109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altLang="en-US" dirty="0">
                    <a:latin typeface="Arial" panose="020B0604020202020204" pitchFamily="34" charset="0"/>
                  </a:rPr>
                  <a:t>Compute Distance</a:t>
                </a:r>
              </a:p>
            </p:txBody>
          </p:sp>
          <p:grpSp>
            <p:nvGrpSpPr>
              <p:cNvPr id="75796" name="Group 16"/>
              <p:cNvGrpSpPr>
                <a:grpSpLocks/>
              </p:cNvGrpSpPr>
              <p:nvPr/>
            </p:nvGrpSpPr>
            <p:grpSpPr bwMode="auto">
              <a:xfrm>
                <a:off x="1680" y="2256"/>
                <a:ext cx="2880" cy="1104"/>
                <a:chOff x="1680" y="2256"/>
                <a:chExt cx="2880" cy="1104"/>
              </a:xfrm>
            </p:grpSpPr>
            <p:sp>
              <p:nvSpPr>
                <p:cNvPr id="75797" name="Line 17"/>
                <p:cNvSpPr>
                  <a:spLocks noChangeShapeType="1"/>
                </p:cNvSpPr>
                <p:nvPr/>
              </p:nvSpPr>
              <p:spPr bwMode="auto">
                <a:xfrm>
                  <a:off x="2832" y="2256"/>
                  <a:ext cx="1680" cy="57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5798" name="Line 18"/>
                <p:cNvSpPr>
                  <a:spLocks noChangeShapeType="1"/>
                </p:cNvSpPr>
                <p:nvPr/>
              </p:nvSpPr>
              <p:spPr bwMode="auto">
                <a:xfrm>
                  <a:off x="2544" y="2880"/>
                  <a:ext cx="2016" cy="4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5799" name="Line 19"/>
                <p:cNvSpPr>
                  <a:spLocks noChangeShapeType="1"/>
                </p:cNvSpPr>
                <p:nvPr/>
              </p:nvSpPr>
              <p:spPr bwMode="auto">
                <a:xfrm flipV="1">
                  <a:off x="2928" y="3072"/>
                  <a:ext cx="1584"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5800" name="Line 20"/>
                <p:cNvSpPr>
                  <a:spLocks noChangeShapeType="1"/>
                </p:cNvSpPr>
                <p:nvPr/>
              </p:nvSpPr>
              <p:spPr bwMode="auto">
                <a:xfrm flipV="1">
                  <a:off x="1680" y="3024"/>
                  <a:ext cx="2832" cy="19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5801" name="Line 21"/>
                <p:cNvSpPr>
                  <a:spLocks noChangeShapeType="1"/>
                </p:cNvSpPr>
                <p:nvPr/>
              </p:nvSpPr>
              <p:spPr bwMode="auto">
                <a:xfrm>
                  <a:off x="1920" y="2352"/>
                  <a:ext cx="2544" cy="52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grpSp>
        <p:grpSp>
          <p:nvGrpSpPr>
            <p:cNvPr id="75790" name="Group 22"/>
            <p:cNvGrpSpPr>
              <a:grpSpLocks/>
            </p:cNvGrpSpPr>
            <p:nvPr/>
          </p:nvGrpSpPr>
          <p:grpSpPr bwMode="auto">
            <a:xfrm>
              <a:off x="2544" y="2880"/>
              <a:ext cx="2318" cy="955"/>
              <a:chOff x="2544" y="2880"/>
              <a:chExt cx="2318" cy="955"/>
            </a:xfrm>
          </p:grpSpPr>
          <p:sp>
            <p:nvSpPr>
              <p:cNvPr id="75791" name="Text Box 23"/>
              <p:cNvSpPr txBox="1">
                <a:spLocks noChangeArrowheads="1"/>
              </p:cNvSpPr>
              <p:nvPr/>
            </p:nvSpPr>
            <p:spPr bwMode="auto">
              <a:xfrm>
                <a:off x="3264" y="3312"/>
                <a:ext cx="159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altLang="en-US" dirty="0">
                    <a:latin typeface="Arial" panose="020B0604020202020204" pitchFamily="34" charset="0"/>
                  </a:rPr>
                  <a:t>Choose k of the “nearest” records</a:t>
                </a:r>
              </a:p>
            </p:txBody>
          </p:sp>
          <p:grpSp>
            <p:nvGrpSpPr>
              <p:cNvPr id="75792" name="Group 24"/>
              <p:cNvGrpSpPr>
                <a:grpSpLocks/>
              </p:cNvGrpSpPr>
              <p:nvPr/>
            </p:nvGrpSpPr>
            <p:grpSpPr bwMode="auto">
              <a:xfrm>
                <a:off x="2544" y="2880"/>
                <a:ext cx="2016" cy="480"/>
                <a:chOff x="2544" y="2880"/>
                <a:chExt cx="2016" cy="480"/>
              </a:xfrm>
            </p:grpSpPr>
            <p:sp>
              <p:nvSpPr>
                <p:cNvPr id="75793" name="Line 25"/>
                <p:cNvSpPr>
                  <a:spLocks noChangeShapeType="1"/>
                </p:cNvSpPr>
                <p:nvPr/>
              </p:nvSpPr>
              <p:spPr bwMode="auto">
                <a:xfrm>
                  <a:off x="2544" y="2880"/>
                  <a:ext cx="2016" cy="48"/>
                </a:xfrm>
                <a:prstGeom prst="line">
                  <a:avLst/>
                </a:prstGeom>
                <a:noFill/>
                <a:ln w="444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75794" name="Line 26"/>
                <p:cNvSpPr>
                  <a:spLocks noChangeShapeType="1"/>
                </p:cNvSpPr>
                <p:nvPr/>
              </p:nvSpPr>
              <p:spPr bwMode="auto">
                <a:xfrm flipV="1">
                  <a:off x="2928" y="3072"/>
                  <a:ext cx="1584" cy="288"/>
                </a:xfrm>
                <a:prstGeom prst="line">
                  <a:avLst/>
                </a:prstGeom>
                <a:noFill/>
                <a:ln w="444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grpSp>
      </p:grpSp>
    </p:spTree>
    <p:extLst>
      <p:ext uri="{BB962C8B-B14F-4D97-AF65-F5344CB8AC3E}">
        <p14:creationId xmlns:p14="http://schemas.microsoft.com/office/powerpoint/2010/main" val="448338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en-US" smtClean="0"/>
              <a:t>Definition of Nearest Neighbor</a:t>
            </a:r>
            <a:endParaRPr lang="en-US" altLang="en-US"/>
          </a:p>
        </p:txBody>
      </p:sp>
      <p:graphicFrame>
        <p:nvGraphicFramePr>
          <p:cNvPr id="76803" name="Object 3"/>
          <p:cNvGraphicFramePr>
            <a:graphicFrameLocks noChangeAspect="1"/>
          </p:cNvGraphicFramePr>
          <p:nvPr/>
        </p:nvGraphicFramePr>
        <p:xfrm>
          <a:off x="2055812" y="1600200"/>
          <a:ext cx="7848600" cy="3640138"/>
        </p:xfrm>
        <a:graphic>
          <a:graphicData uri="http://schemas.openxmlformats.org/presentationml/2006/ole">
            <mc:AlternateContent xmlns:mc="http://schemas.openxmlformats.org/markup-compatibility/2006">
              <mc:Choice xmlns:v="urn:schemas-microsoft-com:vml" Requires="v">
                <p:oleObj spid="_x0000_s22533" name="VISIO" r:id="rId4" imgW="9761220" imgH="4517136" progId="Visio.Drawing.6">
                  <p:embed/>
                </p:oleObj>
              </mc:Choice>
              <mc:Fallback>
                <p:oleObj name="VISIO" r:id="rId4" imgW="9761220" imgH="4517136"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5812" y="1600200"/>
                        <a:ext cx="7848600" cy="364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4" name="Rectangle 4"/>
          <p:cNvSpPr>
            <a:spLocks noChangeArrowheads="1"/>
          </p:cNvSpPr>
          <p:nvPr/>
        </p:nvSpPr>
        <p:spPr bwMode="auto">
          <a:xfrm>
            <a:off x="1341884" y="5240338"/>
            <a:ext cx="10297144"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10000"/>
              </a:spcBef>
              <a:spcAft>
                <a:spcPts val="400"/>
              </a:spcAft>
              <a:buClr>
                <a:srgbClr val="0C7B9C"/>
              </a:buClr>
              <a:buSzPct val="75000"/>
            </a:pPr>
            <a:r>
              <a:rPr lang="en-US" altLang="en-US" dirty="0">
                <a:solidFill>
                  <a:srgbClr val="0070C0"/>
                </a:solidFill>
                <a:latin typeface="Arial" panose="020B0604020202020204" pitchFamily="34" charset="0"/>
              </a:rPr>
              <a:t>K-nearest neighbors of a record x are data points that have the k </a:t>
            </a:r>
          </a:p>
          <a:p>
            <a:pPr>
              <a:spcBef>
                <a:spcPct val="10000"/>
              </a:spcBef>
              <a:spcAft>
                <a:spcPts val="400"/>
              </a:spcAft>
              <a:buClr>
                <a:srgbClr val="0C7B9C"/>
              </a:buClr>
              <a:buSzPct val="75000"/>
            </a:pPr>
            <a:r>
              <a:rPr lang="en-US" altLang="en-US" dirty="0">
                <a:solidFill>
                  <a:srgbClr val="0070C0"/>
                </a:solidFill>
                <a:latin typeface="Arial" panose="020B0604020202020204" pitchFamily="34" charset="0"/>
              </a:rPr>
              <a:t>smallest distance to x. Fig (c) x is classified as +. Fig (b) it is classified as -.</a:t>
            </a:r>
          </a:p>
          <a:p>
            <a:pPr>
              <a:spcBef>
                <a:spcPct val="10000"/>
              </a:spcBef>
              <a:spcAft>
                <a:spcPts val="400"/>
              </a:spcAft>
              <a:buClr>
                <a:srgbClr val="0C7B9C"/>
              </a:buClr>
              <a:buSzPct val="75000"/>
            </a:pPr>
            <a:endParaRPr lang="en-US" altLang="en-US" dirty="0">
              <a:solidFill>
                <a:srgbClr val="0070C0"/>
              </a:solidFill>
              <a:latin typeface="Arial" panose="020B0604020202020204" pitchFamily="34" charset="0"/>
            </a:endParaRPr>
          </a:p>
          <a:p>
            <a:pPr>
              <a:spcBef>
                <a:spcPct val="10000"/>
              </a:spcBef>
              <a:spcAft>
                <a:spcPts val="400"/>
              </a:spcAft>
              <a:buClr>
                <a:srgbClr val="0C7B9C"/>
              </a:buClr>
              <a:buSzPct val="75000"/>
            </a:pPr>
            <a:endParaRPr lang="en-US" altLang="en-US" dirty="0">
              <a:solidFill>
                <a:srgbClr val="0070C0"/>
              </a:solidFill>
              <a:latin typeface="Arial" panose="020B0604020202020204" pitchFamily="34" charset="0"/>
            </a:endParaRPr>
          </a:p>
        </p:txBody>
      </p:sp>
    </p:spTree>
    <p:extLst>
      <p:ext uri="{BB962C8B-B14F-4D97-AF65-F5344CB8AC3E}">
        <p14:creationId xmlns:p14="http://schemas.microsoft.com/office/powerpoint/2010/main" val="699264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1269876" y="400608"/>
            <a:ext cx="11200600" cy="609600"/>
          </a:xfrm>
        </p:spPr>
        <p:txBody>
          <a:bodyPr>
            <a:normAutofit fontScale="90000"/>
          </a:bodyPr>
          <a:lstStyle/>
          <a:p>
            <a:r>
              <a:rPr lang="en-US" altLang="en-US" b="1" dirty="0" smtClean="0">
                <a:solidFill>
                  <a:srgbClr val="C00000"/>
                </a:solidFill>
              </a:rPr>
              <a:t>Nearest-Neighbor Classifiers</a:t>
            </a:r>
            <a:endParaRPr lang="en-US" altLang="en-US" b="1" dirty="0">
              <a:solidFill>
                <a:srgbClr val="C00000"/>
              </a:solidFill>
            </a:endParaRPr>
          </a:p>
        </p:txBody>
      </p:sp>
      <p:sp>
        <p:nvSpPr>
          <p:cNvPr id="4" name="Text Placeholder 3"/>
          <p:cNvSpPr>
            <a:spLocks noGrp="1"/>
          </p:cNvSpPr>
          <p:nvPr>
            <p:ph type="body" sz="half" idx="1"/>
          </p:nvPr>
        </p:nvSpPr>
        <p:spPr/>
        <p:txBody>
          <a:bodyPr>
            <a:normAutofit fontScale="92500" lnSpcReduction="20000"/>
          </a:bodyPr>
          <a:lstStyle/>
          <a:p>
            <a:endParaRPr lang="en-IN"/>
          </a:p>
        </p:txBody>
      </p:sp>
      <p:sp>
        <p:nvSpPr>
          <p:cNvPr id="7" name="Content Placeholder 6"/>
          <p:cNvSpPr>
            <a:spLocks noGrp="1"/>
          </p:cNvSpPr>
          <p:nvPr>
            <p:ph sz="half" idx="2"/>
          </p:nvPr>
        </p:nvSpPr>
        <p:spPr>
          <a:xfrm>
            <a:off x="5374332" y="1371600"/>
            <a:ext cx="5535758" cy="5105400"/>
          </a:xfrm>
        </p:spPr>
        <p:txBody>
          <a:bodyPr>
            <a:normAutofit fontScale="92500" lnSpcReduction="20000"/>
          </a:bodyPr>
          <a:lstStyle/>
          <a:p>
            <a:r>
              <a:rPr lang="en-US" dirty="0" smtClean="0"/>
              <a:t>Requires three things</a:t>
            </a:r>
          </a:p>
          <a:p>
            <a:pPr lvl="1"/>
            <a:r>
              <a:rPr lang="en-US" dirty="0" smtClean="0"/>
              <a:t>The set of stored records</a:t>
            </a:r>
          </a:p>
          <a:p>
            <a:pPr lvl="1"/>
            <a:r>
              <a:rPr lang="en-US" dirty="0" smtClean="0"/>
              <a:t>Distance Metric to compute distance between records</a:t>
            </a:r>
          </a:p>
          <a:p>
            <a:pPr lvl="1"/>
            <a:r>
              <a:rPr lang="en-US" dirty="0" smtClean="0"/>
              <a:t>The value of </a:t>
            </a:r>
            <a:r>
              <a:rPr lang="en-US" i="1" dirty="0" smtClean="0"/>
              <a:t>k</a:t>
            </a:r>
            <a:r>
              <a:rPr lang="en-US" dirty="0" smtClean="0"/>
              <a:t>, the number of nearest neighbors to retrieve</a:t>
            </a:r>
          </a:p>
          <a:p>
            <a:r>
              <a:rPr lang="en-US" dirty="0" smtClean="0"/>
              <a:t>To classify an unknown record:</a:t>
            </a:r>
          </a:p>
          <a:p>
            <a:pPr lvl="1"/>
            <a:r>
              <a:rPr lang="en-US" dirty="0" smtClean="0"/>
              <a:t>Compute distance to other training records</a:t>
            </a:r>
          </a:p>
          <a:p>
            <a:pPr lvl="1"/>
            <a:r>
              <a:rPr lang="en-US" dirty="0" smtClean="0"/>
              <a:t>Identify </a:t>
            </a:r>
            <a:r>
              <a:rPr lang="en-US" i="1" dirty="0" smtClean="0"/>
              <a:t>k </a:t>
            </a:r>
            <a:r>
              <a:rPr lang="en-US" dirty="0" smtClean="0"/>
              <a:t>nearest neighbors </a:t>
            </a:r>
          </a:p>
          <a:p>
            <a:pPr lvl="1"/>
            <a:r>
              <a:rPr lang="en-US" dirty="0" smtClean="0"/>
              <a:t>Use class labels of nearest neighbors to determine the class label of unknown record (e.g., by taking majority vote)</a:t>
            </a:r>
          </a:p>
          <a:p>
            <a:endParaRPr lang="en-US" dirty="0"/>
          </a:p>
        </p:txBody>
      </p:sp>
      <p:graphicFrame>
        <p:nvGraphicFramePr>
          <p:cNvPr id="77828" name="Object 4"/>
          <p:cNvGraphicFramePr>
            <a:graphicFrameLocks noChangeAspect="1"/>
          </p:cNvGraphicFramePr>
          <p:nvPr>
            <p:extLst>
              <p:ext uri="{D42A27DB-BD31-4B8C-83A1-F6EECF244321}">
                <p14:modId xmlns:p14="http://schemas.microsoft.com/office/powerpoint/2010/main" val="2543842830"/>
              </p:ext>
            </p:extLst>
          </p:nvPr>
        </p:nvGraphicFramePr>
        <p:xfrm>
          <a:off x="1557908" y="1484784"/>
          <a:ext cx="2971800" cy="3657600"/>
        </p:xfrm>
        <a:graphic>
          <a:graphicData uri="http://schemas.openxmlformats.org/presentationml/2006/ole">
            <mc:AlternateContent xmlns:mc="http://schemas.openxmlformats.org/markup-compatibility/2006">
              <mc:Choice xmlns:v="urn:schemas-microsoft-com:vml" Requires="v">
                <p:oleObj spid="_x0000_s23557" name="Visio" r:id="rId4" imgW="7007454" imgH="8108144" progId="Visio.Drawing.6">
                  <p:embed/>
                </p:oleObj>
              </mc:Choice>
              <mc:Fallback>
                <p:oleObj name="Visio" r:id="rId4" imgW="7007454" imgH="8108144"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7908" y="1484784"/>
                        <a:ext cx="29718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69895508"/>
      </p:ext>
    </p:extLst>
  </p:cSld>
  <p:clrMapOvr>
    <a:masterClrMapping/>
  </p:clrMapOvr>
  <p:transition>
    <p:zo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62" name="Rectangle 2"/>
          <p:cNvSpPr>
            <a:spLocks noGrp="1" noChangeArrowheads="1"/>
          </p:cNvSpPr>
          <p:nvPr>
            <p:ph type="title"/>
          </p:nvPr>
        </p:nvSpPr>
        <p:spPr/>
        <p:txBody>
          <a:bodyPr/>
          <a:lstStyle/>
          <a:p>
            <a:r>
              <a:rPr lang="en-US" smtClean="0"/>
              <a:t>The k-Nearest Neighbor - Example</a:t>
            </a:r>
            <a:endParaRPr lang="en-US" dirty="0"/>
          </a:p>
        </p:txBody>
      </p:sp>
      <p:sp>
        <p:nvSpPr>
          <p:cNvPr id="78854" name="Rectangle 3"/>
          <p:cNvSpPr>
            <a:spLocks noGrp="1" noChangeArrowheads="1"/>
          </p:cNvSpPr>
          <p:nvPr>
            <p:ph sz="quarter" idx="1"/>
          </p:nvPr>
        </p:nvSpPr>
        <p:spPr/>
        <p:txBody>
          <a:bodyPr>
            <a:normAutofit fontScale="85000" lnSpcReduction="10000"/>
          </a:bodyPr>
          <a:lstStyle/>
          <a:p>
            <a:r>
              <a:rPr lang="en-US" altLang="en-US" smtClean="0"/>
              <a:t>k-nearest neighbor is a supervised learning algorithm where the result of new instance query is classified based on majority of    k-nearest neighbor category.</a:t>
            </a:r>
          </a:p>
          <a:p>
            <a:r>
              <a:rPr lang="en-US" altLang="en-US" smtClean="0"/>
              <a:t>The purpose of this algorithm is to classify a new object based on attributes and training samples</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r>
              <a:rPr lang="en-US" altLang="en-US" smtClean="0"/>
              <a:t>Now the factory produces a new paper tissue that pass laboratory test with X1 = 3 and X2 = 7.  Without another expensive survey, can we guess what the classification of this new tissue is? </a:t>
            </a:r>
            <a:endParaRPr lang="en-US" altLang="en-US"/>
          </a:p>
        </p:txBody>
      </p:sp>
      <p:sp>
        <p:nvSpPr>
          <p:cNvPr id="93188" name="Footer Placeholder 4"/>
          <p:cNvSpPr>
            <a:spLocks noGrp="1"/>
          </p:cNvSpPr>
          <p:nvPr>
            <p:ph type="ftr" sz="quarter" idx="11"/>
          </p:nvPr>
        </p:nvSpPr>
        <p:spPr/>
        <p:txBody>
          <a:bodyPr/>
          <a:lstStyle/>
          <a:p>
            <a:r>
              <a:rPr lang="en-US" dirty="0"/>
              <a:t>Dr. S. Nandagopalan</a:t>
            </a:r>
            <a:endParaRPr lang="en-US" dirty="0"/>
          </a:p>
        </p:txBody>
      </p:sp>
      <p:sp>
        <p:nvSpPr>
          <p:cNvPr id="93189"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B5B66A5-8DDD-4734-9416-8CA26EF6B005}" type="slidenum">
              <a:rPr lang="en-US" altLang="en-US" smtClean="0"/>
              <a:pPr/>
              <a:t>74</a:t>
            </a:fld>
            <a:endParaRPr lang="en-US" altLang="en-US"/>
          </a:p>
        </p:txBody>
      </p:sp>
      <p:graphicFrame>
        <p:nvGraphicFramePr>
          <p:cNvPr id="32" name="Table 31"/>
          <p:cNvGraphicFramePr>
            <a:graphicFrameLocks noGrp="1"/>
          </p:cNvGraphicFramePr>
          <p:nvPr>
            <p:extLst>
              <p:ext uri="{D42A27DB-BD31-4B8C-83A1-F6EECF244321}">
                <p14:modId xmlns:p14="http://schemas.microsoft.com/office/powerpoint/2010/main" val="3944919351"/>
              </p:ext>
            </p:extLst>
          </p:nvPr>
        </p:nvGraphicFramePr>
        <p:xfrm>
          <a:off x="2566020" y="2702619"/>
          <a:ext cx="6553200" cy="2028825"/>
        </p:xfrm>
        <a:graphic>
          <a:graphicData uri="http://schemas.openxmlformats.org/drawingml/2006/table">
            <a:tbl>
              <a:tblPr firstRow="1" bandRow="1">
                <a:tableStyleId>{5C22544A-7EE6-4342-B048-85BDC9FD1C3A}</a:tableStyleId>
              </a:tblPr>
              <a:tblGrid>
                <a:gridCol w="2184400"/>
                <a:gridCol w="2184400"/>
                <a:gridCol w="2184400"/>
              </a:tblGrid>
              <a:tr h="545001">
                <a:tc>
                  <a:txBody>
                    <a:bodyPr/>
                    <a:lstStyle/>
                    <a:p>
                      <a:pPr algn="ctr"/>
                      <a:r>
                        <a:rPr lang="en-US" sz="1600" dirty="0"/>
                        <a:t>X1 = Acid Durability (seconds) </a:t>
                      </a:r>
                    </a:p>
                  </a:txBody>
                  <a:tcPr marL="28575" marR="28575" marT="28584" marB="28584">
                    <a:solidFill>
                      <a:srgbClr val="0070C0"/>
                    </a:solidFill>
                  </a:tcPr>
                </a:tc>
                <a:tc>
                  <a:txBody>
                    <a:bodyPr/>
                    <a:lstStyle/>
                    <a:p>
                      <a:pPr algn="ctr"/>
                      <a:r>
                        <a:rPr lang="en-US" sz="1600" dirty="0"/>
                        <a:t>X2 = Strength </a:t>
                      </a:r>
                    </a:p>
                    <a:p>
                      <a:pPr algn="ctr"/>
                      <a:r>
                        <a:rPr lang="en-US" sz="1600" dirty="0"/>
                        <a:t>(kg/square meter) </a:t>
                      </a:r>
                    </a:p>
                  </a:txBody>
                  <a:tcPr marL="28575" marR="28575" marT="28584" marB="28584">
                    <a:solidFill>
                      <a:srgbClr val="0070C0"/>
                    </a:solidFill>
                  </a:tcPr>
                </a:tc>
                <a:tc>
                  <a:txBody>
                    <a:bodyPr/>
                    <a:lstStyle/>
                    <a:p>
                      <a:pPr algn="ctr"/>
                      <a:r>
                        <a:rPr lang="en-US" sz="1600" dirty="0"/>
                        <a:t>Classification </a:t>
                      </a:r>
                    </a:p>
                  </a:txBody>
                  <a:tcPr marL="28575" marR="28575" marT="28584" marB="28584">
                    <a:solidFill>
                      <a:srgbClr val="0070C0"/>
                    </a:solidFill>
                  </a:tcPr>
                </a:tc>
              </a:tr>
              <a:tr h="370956">
                <a:tc>
                  <a:txBody>
                    <a:bodyPr/>
                    <a:lstStyle/>
                    <a:p>
                      <a:pPr algn="ctr"/>
                      <a:r>
                        <a:rPr lang="en-US" sz="1800" dirty="0"/>
                        <a:t>7 </a:t>
                      </a:r>
                    </a:p>
                  </a:txBody>
                  <a:tcPr marL="28575" marR="28575" marT="28584" marB="28584"/>
                </a:tc>
                <a:tc>
                  <a:txBody>
                    <a:bodyPr/>
                    <a:lstStyle/>
                    <a:p>
                      <a:pPr algn="ctr"/>
                      <a:r>
                        <a:rPr lang="en-US" sz="1800"/>
                        <a:t>7 </a:t>
                      </a:r>
                    </a:p>
                  </a:txBody>
                  <a:tcPr marL="28575" marR="28575" marT="28584" marB="28584"/>
                </a:tc>
                <a:tc>
                  <a:txBody>
                    <a:bodyPr/>
                    <a:lstStyle/>
                    <a:p>
                      <a:pPr algn="ctr"/>
                      <a:r>
                        <a:rPr lang="en-US" sz="1800" dirty="0"/>
                        <a:t>Bad </a:t>
                      </a:r>
                    </a:p>
                  </a:txBody>
                  <a:tcPr marL="28575" marR="28575" marT="28584" marB="28584"/>
                </a:tc>
              </a:tr>
              <a:tr h="370956">
                <a:tc>
                  <a:txBody>
                    <a:bodyPr/>
                    <a:lstStyle/>
                    <a:p>
                      <a:pPr algn="ctr"/>
                      <a:r>
                        <a:rPr lang="en-US" sz="1800"/>
                        <a:t>7 </a:t>
                      </a:r>
                    </a:p>
                  </a:txBody>
                  <a:tcPr marL="28575" marR="28575" marT="28584" marB="28584"/>
                </a:tc>
                <a:tc>
                  <a:txBody>
                    <a:bodyPr/>
                    <a:lstStyle/>
                    <a:p>
                      <a:pPr algn="ctr"/>
                      <a:r>
                        <a:rPr lang="en-US" sz="1800"/>
                        <a:t>4 </a:t>
                      </a:r>
                    </a:p>
                  </a:txBody>
                  <a:tcPr marL="28575" marR="28575" marT="28584" marB="28584"/>
                </a:tc>
                <a:tc>
                  <a:txBody>
                    <a:bodyPr/>
                    <a:lstStyle/>
                    <a:p>
                      <a:pPr algn="ctr"/>
                      <a:r>
                        <a:rPr lang="en-US" sz="1800"/>
                        <a:t>Bad </a:t>
                      </a:r>
                    </a:p>
                  </a:txBody>
                  <a:tcPr marL="28575" marR="28575" marT="28584" marB="28584"/>
                </a:tc>
              </a:tr>
              <a:tr h="370956">
                <a:tc>
                  <a:txBody>
                    <a:bodyPr/>
                    <a:lstStyle/>
                    <a:p>
                      <a:pPr algn="ctr"/>
                      <a:r>
                        <a:rPr lang="en-US" sz="1800"/>
                        <a:t>3 </a:t>
                      </a:r>
                    </a:p>
                  </a:txBody>
                  <a:tcPr marL="28575" marR="28575" marT="28584" marB="28584"/>
                </a:tc>
                <a:tc>
                  <a:txBody>
                    <a:bodyPr/>
                    <a:lstStyle/>
                    <a:p>
                      <a:pPr algn="ctr"/>
                      <a:r>
                        <a:rPr lang="en-US" sz="1800"/>
                        <a:t>4 </a:t>
                      </a:r>
                    </a:p>
                  </a:txBody>
                  <a:tcPr marL="28575" marR="28575" marT="28584" marB="28584"/>
                </a:tc>
                <a:tc>
                  <a:txBody>
                    <a:bodyPr/>
                    <a:lstStyle/>
                    <a:p>
                      <a:pPr algn="ctr"/>
                      <a:r>
                        <a:rPr lang="en-US" sz="1800"/>
                        <a:t>Good </a:t>
                      </a:r>
                    </a:p>
                  </a:txBody>
                  <a:tcPr marL="28575" marR="28575" marT="28584" marB="28584"/>
                </a:tc>
              </a:tr>
              <a:tr h="370956">
                <a:tc>
                  <a:txBody>
                    <a:bodyPr/>
                    <a:lstStyle/>
                    <a:p>
                      <a:pPr algn="ctr"/>
                      <a:r>
                        <a:rPr lang="en-US" sz="1800"/>
                        <a:t>1 </a:t>
                      </a:r>
                    </a:p>
                  </a:txBody>
                  <a:tcPr marL="28575" marR="28575" marT="28584" marB="28584"/>
                </a:tc>
                <a:tc>
                  <a:txBody>
                    <a:bodyPr/>
                    <a:lstStyle/>
                    <a:p>
                      <a:pPr algn="ctr"/>
                      <a:r>
                        <a:rPr lang="en-US" sz="1800"/>
                        <a:t>4 </a:t>
                      </a:r>
                    </a:p>
                  </a:txBody>
                  <a:tcPr marL="28575" marR="28575" marT="28584" marB="28584"/>
                </a:tc>
                <a:tc>
                  <a:txBody>
                    <a:bodyPr/>
                    <a:lstStyle/>
                    <a:p>
                      <a:pPr algn="ctr"/>
                      <a:r>
                        <a:rPr lang="en-US" sz="1800" dirty="0"/>
                        <a:t>Good </a:t>
                      </a:r>
                    </a:p>
                  </a:txBody>
                  <a:tcPr marL="28575" marR="28575" marT="28584" marB="28584"/>
                </a:tc>
              </a:tr>
            </a:tbl>
          </a:graphicData>
        </a:graphic>
      </p:graphicFrame>
    </p:spTree>
    <p:extLst>
      <p:ext uri="{BB962C8B-B14F-4D97-AF65-F5344CB8AC3E}">
        <p14:creationId xmlns:p14="http://schemas.microsoft.com/office/powerpoint/2010/main" val="1164206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altLang="en-US" smtClean="0">
                <a:solidFill>
                  <a:srgbClr val="0070C0"/>
                </a:solidFill>
              </a:rPr>
              <a:t>Major Steps</a:t>
            </a:r>
          </a:p>
        </p:txBody>
      </p:sp>
      <p:sp>
        <p:nvSpPr>
          <p:cNvPr id="3" name="Content Placeholder 2"/>
          <p:cNvSpPr>
            <a:spLocks noGrp="1"/>
          </p:cNvSpPr>
          <p:nvPr>
            <p:ph sz="quarter" idx="1"/>
          </p:nvPr>
        </p:nvSpPr>
        <p:spPr>
          <a:xfrm>
            <a:off x="1979612" y="1219201"/>
            <a:ext cx="8153400" cy="4937125"/>
          </a:xfrm>
        </p:spPr>
        <p:txBody>
          <a:bodyPr/>
          <a:lstStyle/>
          <a:p>
            <a:pPr marL="514350" indent="-514350">
              <a:buFont typeface="+mj-lt"/>
              <a:buAutoNum type="arabicPeriod"/>
              <a:defRPr/>
            </a:pPr>
            <a:r>
              <a:rPr lang="en-US" dirty="0" smtClean="0"/>
              <a:t>Determine parameter </a:t>
            </a:r>
            <a:r>
              <a:rPr lang="en-US" i="1" dirty="0" smtClean="0"/>
              <a:t>k</a:t>
            </a:r>
            <a:r>
              <a:rPr lang="en-US" dirty="0" smtClean="0"/>
              <a:t> = number of nearest neighbors </a:t>
            </a:r>
          </a:p>
          <a:p>
            <a:pPr marL="514350" indent="-514350">
              <a:buFont typeface="+mj-lt"/>
              <a:buAutoNum type="arabicPeriod"/>
              <a:defRPr/>
            </a:pPr>
            <a:r>
              <a:rPr lang="en-US" dirty="0" smtClean="0"/>
              <a:t>Calculate the distance between the query-instance and all the training samples </a:t>
            </a:r>
          </a:p>
          <a:p>
            <a:pPr marL="514350" indent="-514350">
              <a:buFont typeface="+mj-lt"/>
              <a:buAutoNum type="arabicPeriod"/>
              <a:defRPr/>
            </a:pPr>
            <a:r>
              <a:rPr lang="en-US" dirty="0" smtClean="0"/>
              <a:t>Sort the distance and determine nearest neighbors based on the </a:t>
            </a:r>
            <a:r>
              <a:rPr lang="en-US" i="1" dirty="0" smtClean="0"/>
              <a:t>k</a:t>
            </a:r>
            <a:r>
              <a:rPr lang="en-US" dirty="0" smtClean="0"/>
              <a:t>-</a:t>
            </a:r>
            <a:r>
              <a:rPr lang="en-US" dirty="0" err="1" smtClean="0"/>
              <a:t>th</a:t>
            </a:r>
            <a:r>
              <a:rPr lang="en-US" dirty="0" smtClean="0"/>
              <a:t> minimum distance </a:t>
            </a:r>
          </a:p>
          <a:p>
            <a:pPr marL="514350" indent="-514350">
              <a:buFont typeface="+mj-lt"/>
              <a:buAutoNum type="arabicPeriod"/>
              <a:defRPr/>
            </a:pPr>
            <a:r>
              <a:rPr lang="en-US" dirty="0" smtClean="0"/>
              <a:t>Gather the category of the nearest neighbors </a:t>
            </a:r>
          </a:p>
          <a:p>
            <a:pPr marL="514350" indent="-514350">
              <a:buFont typeface="+mj-lt"/>
              <a:buAutoNum type="arabicPeriod"/>
              <a:defRPr/>
            </a:pPr>
            <a:r>
              <a:rPr lang="en-US" dirty="0" smtClean="0"/>
              <a:t>Use simple majority of the category of nearest neighbors as the prediction value of the query instance </a:t>
            </a:r>
          </a:p>
          <a:p>
            <a:pPr>
              <a:defRPr/>
            </a:pPr>
            <a:r>
              <a:rPr lang="en-US" sz="2000" u="sng" dirty="0">
                <a:solidFill>
                  <a:srgbClr val="FF0000"/>
                </a:solidFill>
              </a:rPr>
              <a:t>Ref:</a:t>
            </a:r>
          </a:p>
          <a:p>
            <a:pPr>
              <a:defRPr/>
            </a:pPr>
            <a:r>
              <a:rPr lang="en-US" sz="2000" dirty="0">
                <a:solidFill>
                  <a:srgbClr val="0070C0"/>
                </a:solidFill>
              </a:rPr>
              <a:t>http://people.revoledu.com/kardi/tutorial/KNN/KNN_Numerical-example.html</a:t>
            </a:r>
          </a:p>
        </p:txBody>
      </p:sp>
      <p:sp>
        <p:nvSpPr>
          <p:cNvPr id="5" name="Footer Placeholder 4"/>
          <p:cNvSpPr>
            <a:spLocks noGrp="1"/>
          </p:cNvSpPr>
          <p:nvPr>
            <p:ph type="ftr" sz="quarter" idx="11"/>
          </p:nvPr>
        </p:nvSpPr>
        <p:spPr/>
        <p:txBody>
          <a:bodyPr/>
          <a:lstStyle/>
          <a:p>
            <a:r>
              <a:rPr lang="en-US" dirty="0"/>
              <a:t>Dr. S. Nandagopalan</a:t>
            </a:r>
            <a:endParaRPr lang="en-US"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2F97755-919C-4C44-8E6D-583AFF2FB1C6}" type="slidenum">
              <a:rPr lang="en-US" altLang="en-US">
                <a:solidFill>
                  <a:srgbClr val="D4B5AA"/>
                </a:solidFill>
                <a:latin typeface="Tw Cen MT" panose="020B0602020104020603" pitchFamily="34" charset="0"/>
              </a:rPr>
              <a:pPr eaLnBrk="1" hangingPunct="1"/>
              <a:t>75</a:t>
            </a:fld>
            <a:endParaRPr lang="en-US" altLang="en-US">
              <a:solidFill>
                <a:srgbClr val="D4B5AA"/>
              </a:solidFill>
              <a:latin typeface="Tw Cen MT" panose="020B0602020104020603" pitchFamily="34" charset="0"/>
            </a:endParaRPr>
          </a:p>
        </p:txBody>
      </p:sp>
    </p:spTree>
    <p:extLst>
      <p:ext uri="{BB962C8B-B14F-4D97-AF65-F5344CB8AC3E}">
        <p14:creationId xmlns:p14="http://schemas.microsoft.com/office/powerpoint/2010/main" val="228649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1979612" y="152400"/>
            <a:ext cx="8229600" cy="609600"/>
          </a:xfrm>
        </p:spPr>
        <p:txBody>
          <a:bodyPr>
            <a:normAutofit fontScale="90000"/>
          </a:bodyPr>
          <a:lstStyle/>
          <a:p>
            <a:r>
              <a:rPr lang="en-US" altLang="en-US" smtClean="0">
                <a:solidFill>
                  <a:srgbClr val="0070C0"/>
                </a:solidFill>
              </a:rPr>
              <a:t>Example</a:t>
            </a:r>
          </a:p>
        </p:txBody>
      </p:sp>
      <p:graphicFrame>
        <p:nvGraphicFramePr>
          <p:cNvPr id="7" name="Content Placeholder 6"/>
          <p:cNvGraphicFramePr>
            <a:graphicFrameLocks noGrp="1"/>
          </p:cNvGraphicFramePr>
          <p:nvPr>
            <p:ph sz="quarter" idx="1"/>
          </p:nvPr>
        </p:nvGraphicFramePr>
        <p:xfrm>
          <a:off x="2665412" y="838200"/>
          <a:ext cx="7162800" cy="1789120"/>
        </p:xfrm>
        <a:graphic>
          <a:graphicData uri="http://schemas.openxmlformats.org/drawingml/2006/table">
            <a:tbl>
              <a:tblPr firstRow="1" bandRow="1">
                <a:tableStyleId>{5C22544A-7EE6-4342-B048-85BDC9FD1C3A}</a:tableStyleId>
              </a:tblPr>
              <a:tblGrid>
                <a:gridCol w="2387600"/>
                <a:gridCol w="2387600"/>
                <a:gridCol w="2387600"/>
              </a:tblGrid>
              <a:tr h="544816">
                <a:tc>
                  <a:txBody>
                    <a:bodyPr/>
                    <a:lstStyle/>
                    <a:p>
                      <a:pPr algn="ctr"/>
                      <a:r>
                        <a:rPr lang="en-US" sz="1600" dirty="0"/>
                        <a:t>X1 = Acid Durability (seconds) </a:t>
                      </a:r>
                    </a:p>
                  </a:txBody>
                  <a:tcPr marL="28575" marR="28575" marT="28572" marB="28572">
                    <a:solidFill>
                      <a:srgbClr val="0070C0"/>
                    </a:solidFill>
                  </a:tcPr>
                </a:tc>
                <a:tc>
                  <a:txBody>
                    <a:bodyPr/>
                    <a:lstStyle/>
                    <a:p>
                      <a:pPr algn="ctr"/>
                      <a:r>
                        <a:rPr lang="en-US" sz="1600" dirty="0"/>
                        <a:t>X2 = Strength </a:t>
                      </a:r>
                    </a:p>
                    <a:p>
                      <a:pPr algn="ctr"/>
                      <a:r>
                        <a:rPr lang="en-US" sz="1600" dirty="0"/>
                        <a:t>(kg/square meter) </a:t>
                      </a:r>
                    </a:p>
                  </a:txBody>
                  <a:tcPr marL="28575" marR="28575" marT="28572" marB="28572">
                    <a:solidFill>
                      <a:srgbClr val="0070C0"/>
                    </a:solidFill>
                  </a:tcPr>
                </a:tc>
                <a:tc>
                  <a:txBody>
                    <a:bodyPr/>
                    <a:lstStyle/>
                    <a:p>
                      <a:pPr algn="ctr"/>
                      <a:r>
                        <a:rPr lang="en-US" sz="1600" b="1" dirty="0"/>
                        <a:t>Square Distance to query instance (3, 7) </a:t>
                      </a:r>
                      <a:endParaRPr lang="en-US" sz="1600" dirty="0"/>
                    </a:p>
                  </a:txBody>
                  <a:tcPr marL="28575" marR="28575" marT="28572" marB="28572">
                    <a:solidFill>
                      <a:srgbClr val="0070C0"/>
                    </a:solidFill>
                  </a:tcPr>
                </a:tc>
              </a:tr>
              <a:tr h="311074">
                <a:tc>
                  <a:txBody>
                    <a:bodyPr/>
                    <a:lstStyle/>
                    <a:p>
                      <a:pPr algn="ctr"/>
                      <a:r>
                        <a:rPr lang="en-US" sz="1600" dirty="0"/>
                        <a:t>7 </a:t>
                      </a:r>
                    </a:p>
                  </a:txBody>
                  <a:tcPr marL="28575" marR="28575" marT="28572" marB="28572"/>
                </a:tc>
                <a:tc>
                  <a:txBody>
                    <a:bodyPr/>
                    <a:lstStyle/>
                    <a:p>
                      <a:pPr algn="ctr"/>
                      <a:r>
                        <a:rPr lang="en-US" sz="1600"/>
                        <a:t>7 </a:t>
                      </a:r>
                    </a:p>
                  </a:txBody>
                  <a:tcPr marL="28575" marR="28575" marT="28572" marB="28572"/>
                </a:tc>
                <a:tc>
                  <a:txBody>
                    <a:bodyPr/>
                    <a:lstStyle/>
                    <a:p>
                      <a:pPr algn="ctr"/>
                      <a:r>
                        <a:rPr lang="en-US" sz="1600" dirty="0" smtClean="0"/>
                        <a:t>(7-3)</a:t>
                      </a:r>
                      <a:r>
                        <a:rPr lang="en-US" sz="1600" baseline="30000" dirty="0" smtClean="0"/>
                        <a:t>2 </a:t>
                      </a:r>
                      <a:r>
                        <a:rPr lang="en-US" sz="1600" dirty="0" smtClean="0"/>
                        <a:t>+ (7-7)</a:t>
                      </a:r>
                      <a:r>
                        <a:rPr lang="en-US" sz="1600" baseline="30000" dirty="0" smtClean="0"/>
                        <a:t>2</a:t>
                      </a:r>
                      <a:r>
                        <a:rPr lang="en-US" sz="1600" dirty="0" smtClean="0"/>
                        <a:t> = 16</a:t>
                      </a:r>
                      <a:endParaRPr lang="en-US" sz="1600" dirty="0"/>
                    </a:p>
                  </a:txBody>
                  <a:tcPr marL="28575" marR="28575" marT="28572" marB="28572"/>
                </a:tc>
              </a:tr>
              <a:tr h="311074">
                <a:tc>
                  <a:txBody>
                    <a:bodyPr/>
                    <a:lstStyle/>
                    <a:p>
                      <a:pPr algn="ctr"/>
                      <a:r>
                        <a:rPr lang="en-US" sz="1600"/>
                        <a:t>7 </a:t>
                      </a:r>
                    </a:p>
                  </a:txBody>
                  <a:tcPr marL="28575" marR="28575" marT="28572" marB="28572"/>
                </a:tc>
                <a:tc>
                  <a:txBody>
                    <a:bodyPr/>
                    <a:lstStyle/>
                    <a:p>
                      <a:pPr algn="ctr"/>
                      <a:r>
                        <a:rPr lang="en-US" sz="1600"/>
                        <a:t>4 </a:t>
                      </a:r>
                    </a:p>
                  </a:txBody>
                  <a:tcPr marL="28575" marR="28575" marT="28572" marB="28572"/>
                </a:tc>
                <a:tc>
                  <a:txBody>
                    <a:bodyPr/>
                    <a:lstStyle/>
                    <a:p>
                      <a:pPr algn="ctr"/>
                      <a:r>
                        <a:rPr lang="en-US" sz="1600" dirty="0" smtClean="0"/>
                        <a:t>(7-3)</a:t>
                      </a:r>
                      <a:r>
                        <a:rPr lang="en-US" sz="1600" baseline="30000" dirty="0" smtClean="0"/>
                        <a:t>2 </a:t>
                      </a:r>
                      <a:r>
                        <a:rPr lang="en-US" sz="1600" dirty="0" smtClean="0"/>
                        <a:t>+ (4-7)</a:t>
                      </a:r>
                      <a:r>
                        <a:rPr lang="en-US" sz="1600" baseline="30000" dirty="0" smtClean="0"/>
                        <a:t>2</a:t>
                      </a:r>
                      <a:r>
                        <a:rPr lang="en-US" sz="1600" dirty="0" smtClean="0"/>
                        <a:t> = 25</a:t>
                      </a:r>
                      <a:endParaRPr lang="en-US" sz="1600" dirty="0"/>
                    </a:p>
                  </a:txBody>
                  <a:tcPr marL="28575" marR="28575" marT="28572" marB="28572"/>
                </a:tc>
              </a:tr>
              <a:tr h="311074">
                <a:tc>
                  <a:txBody>
                    <a:bodyPr/>
                    <a:lstStyle/>
                    <a:p>
                      <a:pPr algn="ctr"/>
                      <a:r>
                        <a:rPr lang="en-US" sz="1600" dirty="0"/>
                        <a:t>3 </a:t>
                      </a:r>
                    </a:p>
                  </a:txBody>
                  <a:tcPr marL="28575" marR="28575" marT="28572" marB="28572"/>
                </a:tc>
                <a:tc>
                  <a:txBody>
                    <a:bodyPr/>
                    <a:lstStyle/>
                    <a:p>
                      <a:pPr algn="ctr"/>
                      <a:r>
                        <a:rPr lang="en-US" sz="1600"/>
                        <a:t>4 </a:t>
                      </a:r>
                    </a:p>
                  </a:txBody>
                  <a:tcPr marL="28575" marR="28575" marT="28572" marB="28572"/>
                </a:tc>
                <a:tc>
                  <a:txBody>
                    <a:bodyPr/>
                    <a:lstStyle/>
                    <a:p>
                      <a:pPr algn="ctr"/>
                      <a:r>
                        <a:rPr lang="en-US" sz="1600" dirty="0" smtClean="0"/>
                        <a:t>(3-3)</a:t>
                      </a:r>
                      <a:r>
                        <a:rPr lang="en-US" sz="1600" baseline="30000" dirty="0" smtClean="0"/>
                        <a:t>2 </a:t>
                      </a:r>
                      <a:r>
                        <a:rPr lang="en-US" sz="1600" dirty="0" smtClean="0"/>
                        <a:t>+ (4-7)</a:t>
                      </a:r>
                      <a:r>
                        <a:rPr lang="en-US" sz="1600" baseline="30000" dirty="0" smtClean="0"/>
                        <a:t>2</a:t>
                      </a:r>
                      <a:r>
                        <a:rPr lang="en-US" sz="1600" dirty="0" smtClean="0"/>
                        <a:t> = 9</a:t>
                      </a:r>
                      <a:endParaRPr lang="en-US" sz="1600" dirty="0"/>
                    </a:p>
                  </a:txBody>
                  <a:tcPr marL="28575" marR="28575" marT="28572" marB="28572"/>
                </a:tc>
              </a:tr>
              <a:tr h="311074">
                <a:tc>
                  <a:txBody>
                    <a:bodyPr/>
                    <a:lstStyle/>
                    <a:p>
                      <a:pPr algn="ctr"/>
                      <a:r>
                        <a:rPr lang="en-US" sz="1600"/>
                        <a:t>1 </a:t>
                      </a:r>
                    </a:p>
                  </a:txBody>
                  <a:tcPr marL="28575" marR="28575" marT="28572" marB="28572"/>
                </a:tc>
                <a:tc>
                  <a:txBody>
                    <a:bodyPr/>
                    <a:lstStyle/>
                    <a:p>
                      <a:pPr algn="ctr"/>
                      <a:r>
                        <a:rPr lang="en-US" sz="1600"/>
                        <a:t>4 </a:t>
                      </a:r>
                    </a:p>
                  </a:txBody>
                  <a:tcPr marL="28575" marR="28575" marT="28572" marB="28572"/>
                </a:tc>
                <a:tc>
                  <a:txBody>
                    <a:bodyPr/>
                    <a:lstStyle/>
                    <a:p>
                      <a:pPr algn="ctr"/>
                      <a:r>
                        <a:rPr lang="en-US" sz="1600" dirty="0" smtClean="0"/>
                        <a:t>(1-3)</a:t>
                      </a:r>
                      <a:r>
                        <a:rPr lang="en-US" sz="1600" baseline="30000" dirty="0" smtClean="0"/>
                        <a:t>2 </a:t>
                      </a:r>
                      <a:r>
                        <a:rPr lang="en-US" sz="1600" dirty="0" smtClean="0"/>
                        <a:t>+ (4-7)</a:t>
                      </a:r>
                      <a:r>
                        <a:rPr lang="en-US" sz="1600" baseline="30000" dirty="0" smtClean="0"/>
                        <a:t>2</a:t>
                      </a:r>
                      <a:r>
                        <a:rPr lang="en-US" sz="1600" dirty="0" smtClean="0"/>
                        <a:t> = 13</a:t>
                      </a:r>
                      <a:endParaRPr lang="en-US" sz="1600" dirty="0"/>
                    </a:p>
                  </a:txBody>
                  <a:tcPr marL="28575" marR="28575" marT="28572" marB="28572"/>
                </a:tc>
              </a:tr>
            </a:tbl>
          </a:graphicData>
        </a:graphic>
      </p:graphicFrame>
      <p:sp>
        <p:nvSpPr>
          <p:cNvPr id="5" name="Footer Placeholder 4"/>
          <p:cNvSpPr>
            <a:spLocks noGrp="1"/>
          </p:cNvSpPr>
          <p:nvPr>
            <p:ph type="ftr" sz="quarter" idx="11"/>
          </p:nvPr>
        </p:nvSpPr>
        <p:spPr/>
        <p:txBody>
          <a:bodyPr/>
          <a:lstStyle/>
          <a:p>
            <a:r>
              <a:rPr lang="en-US" dirty="0"/>
              <a:t>Dr. S. Nandagopalan</a:t>
            </a:r>
            <a:endParaRPr lang="en-US"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7B7C019C-7E33-40A3-9AA3-A81E020988DD}" type="slidenum">
              <a:rPr lang="en-US" altLang="en-US">
                <a:solidFill>
                  <a:srgbClr val="D4B5AA"/>
                </a:solidFill>
                <a:latin typeface="Tw Cen MT" panose="020B0602020104020603" pitchFamily="34" charset="0"/>
              </a:rPr>
              <a:pPr eaLnBrk="1" hangingPunct="1"/>
              <a:t>76</a:t>
            </a:fld>
            <a:endParaRPr lang="en-US" altLang="en-US">
              <a:solidFill>
                <a:srgbClr val="D4B5AA"/>
              </a:solidFill>
              <a:latin typeface="Tw Cen MT" panose="020B0602020104020603" pitchFamily="34" charset="0"/>
            </a:endParaRPr>
          </a:p>
        </p:txBody>
      </p:sp>
      <p:graphicFrame>
        <p:nvGraphicFramePr>
          <p:cNvPr id="8" name="Content Placeholder 6"/>
          <p:cNvGraphicFramePr>
            <a:graphicFrameLocks/>
          </p:cNvGraphicFramePr>
          <p:nvPr/>
        </p:nvGraphicFramePr>
        <p:xfrm>
          <a:off x="2665413" y="2743200"/>
          <a:ext cx="7162801" cy="1504950"/>
        </p:xfrm>
        <a:graphic>
          <a:graphicData uri="http://schemas.openxmlformats.org/drawingml/2006/table">
            <a:tbl>
              <a:tblPr firstRow="1" bandRow="1">
                <a:tableStyleId>{5C22544A-7EE6-4342-B048-85BDC9FD1C3A}</a:tableStyleId>
              </a:tblPr>
              <a:tblGrid>
                <a:gridCol w="1066800"/>
                <a:gridCol w="1143000"/>
                <a:gridCol w="1524000"/>
                <a:gridCol w="1676400"/>
                <a:gridCol w="1752601"/>
              </a:tblGrid>
              <a:tr h="274320">
                <a:tc>
                  <a:txBody>
                    <a:bodyPr/>
                    <a:lstStyle/>
                    <a:p>
                      <a:pPr algn="ctr"/>
                      <a:r>
                        <a:rPr lang="en-US" sz="1600" dirty="0"/>
                        <a:t>X1 </a:t>
                      </a:r>
                      <a:r>
                        <a:rPr lang="en-US" sz="1600" dirty="0" smtClean="0"/>
                        <a:t> </a:t>
                      </a:r>
                      <a:endParaRPr lang="en-US" sz="1600" dirty="0"/>
                    </a:p>
                  </a:txBody>
                  <a:tcPr marL="28575" marR="28575" marT="28575" marB="28575">
                    <a:solidFill>
                      <a:srgbClr val="0070C0"/>
                    </a:solidFill>
                  </a:tcPr>
                </a:tc>
                <a:tc>
                  <a:txBody>
                    <a:bodyPr/>
                    <a:lstStyle/>
                    <a:p>
                      <a:pPr algn="ctr"/>
                      <a:r>
                        <a:rPr lang="en-US" sz="1600" dirty="0" smtClean="0"/>
                        <a:t>X2 </a:t>
                      </a:r>
                      <a:endParaRPr lang="en-US" sz="1600" dirty="0"/>
                    </a:p>
                  </a:txBody>
                  <a:tcPr marL="28575" marR="28575" marT="28575" marB="28575">
                    <a:solidFill>
                      <a:srgbClr val="0070C0"/>
                    </a:solidFill>
                  </a:tcPr>
                </a:tc>
                <a:tc>
                  <a:txBody>
                    <a:bodyPr/>
                    <a:lstStyle/>
                    <a:p>
                      <a:pPr algn="ctr"/>
                      <a:r>
                        <a:rPr lang="en-US" sz="1600" b="1" dirty="0" smtClean="0"/>
                        <a:t>Sq Dist</a:t>
                      </a:r>
                      <a:endParaRPr lang="en-US" sz="1600" dirty="0"/>
                    </a:p>
                  </a:txBody>
                  <a:tcPr marL="28575" marR="28575" marT="28575" marB="28575">
                    <a:solidFill>
                      <a:srgbClr val="0070C0"/>
                    </a:solidFill>
                  </a:tcPr>
                </a:tc>
                <a:tc>
                  <a:txBody>
                    <a:bodyPr/>
                    <a:lstStyle/>
                    <a:p>
                      <a:pPr algn="ctr"/>
                      <a:r>
                        <a:rPr lang="en-US" sz="1600" dirty="0" smtClean="0"/>
                        <a:t>Rank</a:t>
                      </a:r>
                      <a:endParaRPr lang="en-US" sz="1600" dirty="0"/>
                    </a:p>
                  </a:txBody>
                  <a:tcPr marL="28575" marR="28575" marT="28575" marB="28575">
                    <a:solidFill>
                      <a:srgbClr val="0070C0"/>
                    </a:solidFill>
                  </a:tcPr>
                </a:tc>
                <a:tc>
                  <a:txBody>
                    <a:bodyPr/>
                    <a:lstStyle/>
                    <a:p>
                      <a:pPr algn="ctr"/>
                      <a:r>
                        <a:rPr lang="en-US" sz="1600" dirty="0" smtClean="0"/>
                        <a:t>Included?</a:t>
                      </a:r>
                      <a:endParaRPr lang="en-US" sz="1600" dirty="0"/>
                    </a:p>
                  </a:txBody>
                  <a:tcPr marL="28575" marR="28575" marT="28575" marB="28575">
                    <a:solidFill>
                      <a:srgbClr val="0070C0"/>
                    </a:solidFill>
                  </a:tcPr>
                </a:tc>
              </a:tr>
              <a:tr h="274320">
                <a:tc>
                  <a:txBody>
                    <a:bodyPr/>
                    <a:lstStyle/>
                    <a:p>
                      <a:pPr algn="ctr"/>
                      <a:r>
                        <a:rPr lang="en-US" sz="1600"/>
                        <a:t>7 </a:t>
                      </a:r>
                    </a:p>
                  </a:txBody>
                  <a:tcPr marL="28575" marR="28575" marT="28575" marB="28575"/>
                </a:tc>
                <a:tc>
                  <a:txBody>
                    <a:bodyPr/>
                    <a:lstStyle/>
                    <a:p>
                      <a:pPr algn="ctr"/>
                      <a:r>
                        <a:rPr lang="en-US" sz="1600"/>
                        <a:t>7 </a:t>
                      </a:r>
                    </a:p>
                  </a:txBody>
                  <a:tcPr marL="28575" marR="28575" marT="28575" marB="28575"/>
                </a:tc>
                <a:tc>
                  <a:txBody>
                    <a:bodyPr/>
                    <a:lstStyle/>
                    <a:p>
                      <a:pPr algn="ctr"/>
                      <a:r>
                        <a:rPr lang="en-US" sz="1600" dirty="0" smtClean="0"/>
                        <a:t>16</a:t>
                      </a:r>
                      <a:endParaRPr lang="en-US" sz="1600" dirty="0"/>
                    </a:p>
                  </a:txBody>
                  <a:tcPr marL="28575" marR="28575" marT="28575" marB="28575"/>
                </a:tc>
                <a:tc>
                  <a:txBody>
                    <a:bodyPr/>
                    <a:lstStyle/>
                    <a:p>
                      <a:pPr algn="ctr"/>
                      <a:r>
                        <a:rPr lang="en-US" sz="1600" dirty="0" smtClean="0"/>
                        <a:t>3</a:t>
                      </a:r>
                      <a:endParaRPr lang="en-US" sz="1600" dirty="0"/>
                    </a:p>
                  </a:txBody>
                  <a:tcPr marL="28575" marR="28575" marT="28575" marB="28575"/>
                </a:tc>
                <a:tc>
                  <a:txBody>
                    <a:bodyPr/>
                    <a:lstStyle/>
                    <a:p>
                      <a:pPr algn="ctr"/>
                      <a:r>
                        <a:rPr lang="en-US" sz="1600" dirty="0" smtClean="0"/>
                        <a:t>Yes</a:t>
                      </a:r>
                      <a:endParaRPr lang="en-US" sz="1600" dirty="0"/>
                    </a:p>
                  </a:txBody>
                  <a:tcPr marL="28575" marR="28575" marT="28575" marB="28575"/>
                </a:tc>
              </a:tr>
              <a:tr h="274320">
                <a:tc>
                  <a:txBody>
                    <a:bodyPr/>
                    <a:lstStyle/>
                    <a:p>
                      <a:pPr algn="ctr"/>
                      <a:r>
                        <a:rPr lang="en-US" sz="1600"/>
                        <a:t>7 </a:t>
                      </a:r>
                    </a:p>
                  </a:txBody>
                  <a:tcPr marL="28575" marR="28575" marT="28575" marB="28575"/>
                </a:tc>
                <a:tc>
                  <a:txBody>
                    <a:bodyPr/>
                    <a:lstStyle/>
                    <a:p>
                      <a:pPr algn="ctr"/>
                      <a:r>
                        <a:rPr lang="en-US" sz="1600"/>
                        <a:t>4 </a:t>
                      </a:r>
                    </a:p>
                  </a:txBody>
                  <a:tcPr marL="28575" marR="28575" marT="28575" marB="28575"/>
                </a:tc>
                <a:tc>
                  <a:txBody>
                    <a:bodyPr/>
                    <a:lstStyle/>
                    <a:p>
                      <a:pPr algn="ctr"/>
                      <a:r>
                        <a:rPr lang="en-US" sz="1600" dirty="0" smtClean="0"/>
                        <a:t>25</a:t>
                      </a:r>
                      <a:endParaRPr lang="en-US" sz="1600" dirty="0"/>
                    </a:p>
                  </a:txBody>
                  <a:tcPr marL="28575" marR="28575" marT="28575" marB="28575"/>
                </a:tc>
                <a:tc>
                  <a:txBody>
                    <a:bodyPr/>
                    <a:lstStyle/>
                    <a:p>
                      <a:pPr algn="ctr"/>
                      <a:r>
                        <a:rPr lang="en-US" sz="1600" dirty="0" smtClean="0"/>
                        <a:t>4</a:t>
                      </a:r>
                      <a:endParaRPr lang="en-US" sz="1600" dirty="0"/>
                    </a:p>
                  </a:txBody>
                  <a:tcPr marL="28575" marR="28575" marT="28575" marB="28575"/>
                </a:tc>
                <a:tc>
                  <a:txBody>
                    <a:bodyPr/>
                    <a:lstStyle/>
                    <a:p>
                      <a:pPr algn="ctr"/>
                      <a:r>
                        <a:rPr lang="en-US" sz="1600" dirty="0" smtClean="0"/>
                        <a:t>No</a:t>
                      </a:r>
                      <a:endParaRPr lang="en-US" sz="1600" dirty="0"/>
                    </a:p>
                  </a:txBody>
                  <a:tcPr marL="28575" marR="28575" marT="28575" marB="28575"/>
                </a:tc>
              </a:tr>
              <a:tr h="274320">
                <a:tc>
                  <a:txBody>
                    <a:bodyPr/>
                    <a:lstStyle/>
                    <a:p>
                      <a:pPr algn="ctr"/>
                      <a:r>
                        <a:rPr lang="en-US" sz="1600"/>
                        <a:t>3 </a:t>
                      </a:r>
                    </a:p>
                  </a:txBody>
                  <a:tcPr marL="28575" marR="28575" marT="28575" marB="28575"/>
                </a:tc>
                <a:tc>
                  <a:txBody>
                    <a:bodyPr/>
                    <a:lstStyle/>
                    <a:p>
                      <a:pPr algn="ctr"/>
                      <a:r>
                        <a:rPr lang="en-US" sz="1600"/>
                        <a:t>4 </a:t>
                      </a:r>
                    </a:p>
                  </a:txBody>
                  <a:tcPr marL="28575" marR="28575" marT="28575" marB="28575"/>
                </a:tc>
                <a:tc>
                  <a:txBody>
                    <a:bodyPr/>
                    <a:lstStyle/>
                    <a:p>
                      <a:pPr algn="ctr"/>
                      <a:r>
                        <a:rPr lang="en-US" sz="1600" dirty="0" smtClean="0"/>
                        <a:t>9</a:t>
                      </a:r>
                      <a:endParaRPr lang="en-US" sz="1600" dirty="0"/>
                    </a:p>
                  </a:txBody>
                  <a:tcPr marL="28575" marR="28575" marT="28575" marB="28575"/>
                </a:tc>
                <a:tc>
                  <a:txBody>
                    <a:bodyPr/>
                    <a:lstStyle/>
                    <a:p>
                      <a:pPr algn="ctr"/>
                      <a:r>
                        <a:rPr lang="en-US" sz="1600" dirty="0" smtClean="0"/>
                        <a:t>1</a:t>
                      </a:r>
                      <a:endParaRPr lang="en-US" sz="1600" dirty="0"/>
                    </a:p>
                  </a:txBody>
                  <a:tcPr marL="28575" marR="28575" marT="28575" marB="28575"/>
                </a:tc>
                <a:tc>
                  <a:txBody>
                    <a:bodyPr/>
                    <a:lstStyle/>
                    <a:p>
                      <a:pPr algn="ctr"/>
                      <a:r>
                        <a:rPr lang="en-US" sz="1600" dirty="0" smtClean="0"/>
                        <a:t>Yes</a:t>
                      </a:r>
                      <a:endParaRPr lang="en-US" sz="1600" dirty="0"/>
                    </a:p>
                  </a:txBody>
                  <a:tcPr marL="28575" marR="28575" marT="28575" marB="28575"/>
                </a:tc>
              </a:tr>
              <a:tr h="274320">
                <a:tc>
                  <a:txBody>
                    <a:bodyPr/>
                    <a:lstStyle/>
                    <a:p>
                      <a:pPr algn="ctr"/>
                      <a:r>
                        <a:rPr lang="en-US" sz="1600"/>
                        <a:t>1 </a:t>
                      </a:r>
                    </a:p>
                  </a:txBody>
                  <a:tcPr marL="28575" marR="28575" marT="28575" marB="28575"/>
                </a:tc>
                <a:tc>
                  <a:txBody>
                    <a:bodyPr/>
                    <a:lstStyle/>
                    <a:p>
                      <a:pPr algn="ctr"/>
                      <a:r>
                        <a:rPr lang="en-US" sz="1600"/>
                        <a:t>4 </a:t>
                      </a:r>
                    </a:p>
                  </a:txBody>
                  <a:tcPr marL="28575" marR="28575" marT="28575" marB="28575"/>
                </a:tc>
                <a:tc>
                  <a:txBody>
                    <a:bodyPr/>
                    <a:lstStyle/>
                    <a:p>
                      <a:pPr algn="ctr"/>
                      <a:r>
                        <a:rPr lang="en-US" sz="1600" dirty="0" smtClean="0"/>
                        <a:t>13</a:t>
                      </a:r>
                      <a:endParaRPr lang="en-US" sz="1600" dirty="0"/>
                    </a:p>
                  </a:txBody>
                  <a:tcPr marL="28575" marR="28575" marT="28575" marB="28575"/>
                </a:tc>
                <a:tc>
                  <a:txBody>
                    <a:bodyPr/>
                    <a:lstStyle/>
                    <a:p>
                      <a:pPr algn="ctr"/>
                      <a:r>
                        <a:rPr lang="en-US" sz="1600" dirty="0" smtClean="0"/>
                        <a:t>2</a:t>
                      </a:r>
                      <a:endParaRPr lang="en-US" sz="1600" dirty="0"/>
                    </a:p>
                  </a:txBody>
                  <a:tcPr marL="28575" marR="28575" marT="28575" marB="28575"/>
                </a:tc>
                <a:tc>
                  <a:txBody>
                    <a:bodyPr/>
                    <a:lstStyle/>
                    <a:p>
                      <a:pPr algn="ctr"/>
                      <a:r>
                        <a:rPr lang="en-US" sz="1600" dirty="0" smtClean="0"/>
                        <a:t>yes</a:t>
                      </a:r>
                      <a:endParaRPr lang="en-US" sz="1600" dirty="0"/>
                    </a:p>
                  </a:txBody>
                  <a:tcPr marL="28575" marR="28575" marT="28575" marB="28575"/>
                </a:tc>
              </a:tr>
            </a:tbl>
          </a:graphicData>
        </a:graphic>
      </p:graphicFrame>
      <p:graphicFrame>
        <p:nvGraphicFramePr>
          <p:cNvPr id="9" name="Content Placeholder 6"/>
          <p:cNvGraphicFramePr>
            <a:graphicFrameLocks/>
          </p:cNvGraphicFramePr>
          <p:nvPr/>
        </p:nvGraphicFramePr>
        <p:xfrm>
          <a:off x="2665413" y="4343400"/>
          <a:ext cx="7162801" cy="1504950"/>
        </p:xfrm>
        <a:graphic>
          <a:graphicData uri="http://schemas.openxmlformats.org/drawingml/2006/table">
            <a:tbl>
              <a:tblPr firstRow="1" bandRow="1">
                <a:tableStyleId>{5C22544A-7EE6-4342-B048-85BDC9FD1C3A}</a:tableStyleId>
              </a:tblPr>
              <a:tblGrid>
                <a:gridCol w="815278"/>
                <a:gridCol w="873512"/>
                <a:gridCol w="1164683"/>
                <a:gridCol w="931746"/>
                <a:gridCol w="1688791"/>
                <a:gridCol w="1688791"/>
              </a:tblGrid>
              <a:tr h="289560">
                <a:tc>
                  <a:txBody>
                    <a:bodyPr/>
                    <a:lstStyle/>
                    <a:p>
                      <a:pPr algn="ctr"/>
                      <a:r>
                        <a:rPr lang="en-US" sz="1600" dirty="0"/>
                        <a:t>X1 </a:t>
                      </a:r>
                      <a:r>
                        <a:rPr lang="en-US" sz="1600" dirty="0" smtClean="0"/>
                        <a:t> </a:t>
                      </a:r>
                      <a:endParaRPr lang="en-US" sz="1600" dirty="0"/>
                    </a:p>
                  </a:txBody>
                  <a:tcPr marL="28575" marR="28575" marT="28575" marB="28575">
                    <a:solidFill>
                      <a:srgbClr val="0070C0"/>
                    </a:solidFill>
                  </a:tcPr>
                </a:tc>
                <a:tc>
                  <a:txBody>
                    <a:bodyPr/>
                    <a:lstStyle/>
                    <a:p>
                      <a:pPr algn="ctr"/>
                      <a:r>
                        <a:rPr lang="en-US" sz="1600" dirty="0" smtClean="0"/>
                        <a:t>X2 </a:t>
                      </a:r>
                      <a:endParaRPr lang="en-US" sz="1600" dirty="0"/>
                    </a:p>
                  </a:txBody>
                  <a:tcPr marL="28575" marR="28575" marT="28575" marB="28575">
                    <a:solidFill>
                      <a:srgbClr val="0070C0"/>
                    </a:solidFill>
                  </a:tcPr>
                </a:tc>
                <a:tc>
                  <a:txBody>
                    <a:bodyPr/>
                    <a:lstStyle/>
                    <a:p>
                      <a:pPr algn="ctr"/>
                      <a:r>
                        <a:rPr lang="en-US" sz="1600" b="1" dirty="0" smtClean="0"/>
                        <a:t>Sq Dist</a:t>
                      </a:r>
                      <a:endParaRPr lang="en-US" sz="1600" dirty="0"/>
                    </a:p>
                  </a:txBody>
                  <a:tcPr marL="28575" marR="28575" marT="28575" marB="28575">
                    <a:solidFill>
                      <a:srgbClr val="0070C0"/>
                    </a:solidFill>
                  </a:tcPr>
                </a:tc>
                <a:tc>
                  <a:txBody>
                    <a:bodyPr/>
                    <a:lstStyle/>
                    <a:p>
                      <a:pPr algn="ctr"/>
                      <a:r>
                        <a:rPr lang="en-US" sz="1600" dirty="0" smtClean="0"/>
                        <a:t>Rank</a:t>
                      </a:r>
                      <a:endParaRPr lang="en-US" sz="1600" dirty="0"/>
                    </a:p>
                  </a:txBody>
                  <a:tcPr marL="28575" marR="28575" marT="28575" marB="28575">
                    <a:solidFill>
                      <a:srgbClr val="0070C0"/>
                    </a:solidFill>
                  </a:tcPr>
                </a:tc>
                <a:tc>
                  <a:txBody>
                    <a:bodyPr/>
                    <a:lstStyle/>
                    <a:p>
                      <a:pPr algn="ctr"/>
                      <a:r>
                        <a:rPr lang="en-US" sz="1600" dirty="0" smtClean="0"/>
                        <a:t>Included?</a:t>
                      </a:r>
                      <a:endParaRPr lang="en-US" sz="1600" dirty="0"/>
                    </a:p>
                  </a:txBody>
                  <a:tcPr marL="28575" marR="28575" marT="28575" marB="28575">
                    <a:solidFill>
                      <a:srgbClr val="0070C0"/>
                    </a:solidFill>
                  </a:tcPr>
                </a:tc>
                <a:tc>
                  <a:txBody>
                    <a:bodyPr/>
                    <a:lstStyle/>
                    <a:p>
                      <a:pPr algn="ctr"/>
                      <a:r>
                        <a:rPr lang="en-US" sz="1600" dirty="0" smtClean="0"/>
                        <a:t>Y=category</a:t>
                      </a:r>
                      <a:endParaRPr lang="en-US" sz="1600" dirty="0"/>
                    </a:p>
                  </a:txBody>
                  <a:tcPr marL="28575" marR="28575" marT="28575" marB="28575">
                    <a:solidFill>
                      <a:srgbClr val="0070C0"/>
                    </a:solidFill>
                  </a:tcPr>
                </a:tc>
              </a:tr>
              <a:tr h="289560">
                <a:tc>
                  <a:txBody>
                    <a:bodyPr/>
                    <a:lstStyle/>
                    <a:p>
                      <a:pPr algn="ctr"/>
                      <a:r>
                        <a:rPr lang="en-US" sz="1600"/>
                        <a:t>7 </a:t>
                      </a:r>
                    </a:p>
                  </a:txBody>
                  <a:tcPr marL="28575" marR="28575" marT="28575" marB="28575"/>
                </a:tc>
                <a:tc>
                  <a:txBody>
                    <a:bodyPr/>
                    <a:lstStyle/>
                    <a:p>
                      <a:pPr algn="ctr"/>
                      <a:r>
                        <a:rPr lang="en-US" sz="1600"/>
                        <a:t>7 </a:t>
                      </a:r>
                    </a:p>
                  </a:txBody>
                  <a:tcPr marL="28575" marR="28575" marT="28575" marB="28575"/>
                </a:tc>
                <a:tc>
                  <a:txBody>
                    <a:bodyPr/>
                    <a:lstStyle/>
                    <a:p>
                      <a:pPr algn="ctr"/>
                      <a:r>
                        <a:rPr lang="en-US" sz="1600" dirty="0" smtClean="0"/>
                        <a:t>16</a:t>
                      </a:r>
                      <a:endParaRPr lang="en-US" sz="1600" dirty="0"/>
                    </a:p>
                  </a:txBody>
                  <a:tcPr marL="28575" marR="28575" marT="28575" marB="28575"/>
                </a:tc>
                <a:tc>
                  <a:txBody>
                    <a:bodyPr/>
                    <a:lstStyle/>
                    <a:p>
                      <a:pPr algn="ctr"/>
                      <a:r>
                        <a:rPr lang="en-US" sz="1600" dirty="0" smtClean="0"/>
                        <a:t>3</a:t>
                      </a:r>
                      <a:endParaRPr lang="en-US" sz="1600" dirty="0"/>
                    </a:p>
                  </a:txBody>
                  <a:tcPr marL="28575" marR="28575" marT="28575" marB="28575"/>
                </a:tc>
                <a:tc>
                  <a:txBody>
                    <a:bodyPr/>
                    <a:lstStyle/>
                    <a:p>
                      <a:pPr algn="ctr"/>
                      <a:r>
                        <a:rPr lang="en-US" sz="1600" dirty="0" smtClean="0"/>
                        <a:t>Yes</a:t>
                      </a:r>
                      <a:endParaRPr lang="en-US" sz="1600" dirty="0"/>
                    </a:p>
                  </a:txBody>
                  <a:tcPr marL="28575" marR="28575" marT="28575" marB="28575"/>
                </a:tc>
                <a:tc>
                  <a:txBody>
                    <a:bodyPr/>
                    <a:lstStyle/>
                    <a:p>
                      <a:pPr algn="ctr"/>
                      <a:r>
                        <a:rPr lang="en-US" sz="1600" dirty="0" smtClean="0"/>
                        <a:t>Bad</a:t>
                      </a:r>
                      <a:endParaRPr lang="en-US" sz="1600" dirty="0"/>
                    </a:p>
                  </a:txBody>
                  <a:tcPr marL="28575" marR="28575" marT="28575" marB="28575"/>
                </a:tc>
              </a:tr>
              <a:tr h="289560">
                <a:tc>
                  <a:txBody>
                    <a:bodyPr/>
                    <a:lstStyle/>
                    <a:p>
                      <a:pPr algn="ctr"/>
                      <a:r>
                        <a:rPr lang="en-US" sz="1600"/>
                        <a:t>7 </a:t>
                      </a:r>
                    </a:p>
                  </a:txBody>
                  <a:tcPr marL="28575" marR="28575" marT="28575" marB="28575"/>
                </a:tc>
                <a:tc>
                  <a:txBody>
                    <a:bodyPr/>
                    <a:lstStyle/>
                    <a:p>
                      <a:pPr algn="ctr"/>
                      <a:r>
                        <a:rPr lang="en-US" sz="1600"/>
                        <a:t>4 </a:t>
                      </a:r>
                    </a:p>
                  </a:txBody>
                  <a:tcPr marL="28575" marR="28575" marT="28575" marB="28575"/>
                </a:tc>
                <a:tc>
                  <a:txBody>
                    <a:bodyPr/>
                    <a:lstStyle/>
                    <a:p>
                      <a:pPr algn="ctr"/>
                      <a:r>
                        <a:rPr lang="en-US" sz="1600" dirty="0" smtClean="0"/>
                        <a:t>25</a:t>
                      </a:r>
                      <a:endParaRPr lang="en-US" sz="1600" dirty="0"/>
                    </a:p>
                  </a:txBody>
                  <a:tcPr marL="28575" marR="28575" marT="28575" marB="28575"/>
                </a:tc>
                <a:tc>
                  <a:txBody>
                    <a:bodyPr/>
                    <a:lstStyle/>
                    <a:p>
                      <a:pPr algn="ctr"/>
                      <a:r>
                        <a:rPr lang="en-US" sz="1600" dirty="0" smtClean="0"/>
                        <a:t>4</a:t>
                      </a:r>
                      <a:endParaRPr lang="en-US" sz="1600" dirty="0"/>
                    </a:p>
                  </a:txBody>
                  <a:tcPr marL="28575" marR="28575" marT="28575" marB="28575"/>
                </a:tc>
                <a:tc>
                  <a:txBody>
                    <a:bodyPr/>
                    <a:lstStyle/>
                    <a:p>
                      <a:pPr algn="ctr"/>
                      <a:r>
                        <a:rPr lang="en-US" sz="1600" dirty="0" smtClean="0"/>
                        <a:t>No</a:t>
                      </a:r>
                      <a:endParaRPr lang="en-US" sz="1600" dirty="0"/>
                    </a:p>
                  </a:txBody>
                  <a:tcPr marL="28575" marR="28575" marT="28575" marB="28575"/>
                </a:tc>
                <a:tc>
                  <a:txBody>
                    <a:bodyPr/>
                    <a:lstStyle/>
                    <a:p>
                      <a:pPr algn="ctr"/>
                      <a:r>
                        <a:rPr lang="en-US" sz="1600" dirty="0" smtClean="0"/>
                        <a:t>-</a:t>
                      </a:r>
                      <a:endParaRPr lang="en-US" sz="1600" dirty="0"/>
                    </a:p>
                  </a:txBody>
                  <a:tcPr marL="28575" marR="28575" marT="28575" marB="28575"/>
                </a:tc>
              </a:tr>
              <a:tr h="289560">
                <a:tc>
                  <a:txBody>
                    <a:bodyPr/>
                    <a:lstStyle/>
                    <a:p>
                      <a:pPr algn="ctr"/>
                      <a:r>
                        <a:rPr lang="en-US" sz="1600"/>
                        <a:t>3 </a:t>
                      </a:r>
                    </a:p>
                  </a:txBody>
                  <a:tcPr marL="28575" marR="28575" marT="28575" marB="28575"/>
                </a:tc>
                <a:tc>
                  <a:txBody>
                    <a:bodyPr/>
                    <a:lstStyle/>
                    <a:p>
                      <a:pPr algn="ctr"/>
                      <a:r>
                        <a:rPr lang="en-US" sz="1600"/>
                        <a:t>4 </a:t>
                      </a:r>
                    </a:p>
                  </a:txBody>
                  <a:tcPr marL="28575" marR="28575" marT="28575" marB="28575"/>
                </a:tc>
                <a:tc>
                  <a:txBody>
                    <a:bodyPr/>
                    <a:lstStyle/>
                    <a:p>
                      <a:pPr algn="ctr"/>
                      <a:r>
                        <a:rPr lang="en-US" sz="1600" dirty="0" smtClean="0"/>
                        <a:t>9</a:t>
                      </a:r>
                      <a:endParaRPr lang="en-US" sz="1600" dirty="0"/>
                    </a:p>
                  </a:txBody>
                  <a:tcPr marL="28575" marR="28575" marT="28575" marB="28575"/>
                </a:tc>
                <a:tc>
                  <a:txBody>
                    <a:bodyPr/>
                    <a:lstStyle/>
                    <a:p>
                      <a:pPr algn="ctr"/>
                      <a:r>
                        <a:rPr lang="en-US" sz="1600" dirty="0" smtClean="0"/>
                        <a:t>1</a:t>
                      </a:r>
                      <a:endParaRPr lang="en-US" sz="1600" dirty="0"/>
                    </a:p>
                  </a:txBody>
                  <a:tcPr marL="28575" marR="28575" marT="28575" marB="28575"/>
                </a:tc>
                <a:tc>
                  <a:txBody>
                    <a:bodyPr/>
                    <a:lstStyle/>
                    <a:p>
                      <a:pPr algn="ctr"/>
                      <a:r>
                        <a:rPr lang="en-US" sz="1600" dirty="0" smtClean="0"/>
                        <a:t>Yes</a:t>
                      </a:r>
                      <a:endParaRPr lang="en-US" sz="1600" dirty="0"/>
                    </a:p>
                  </a:txBody>
                  <a:tcPr marL="28575" marR="28575" marT="28575" marB="28575"/>
                </a:tc>
                <a:tc>
                  <a:txBody>
                    <a:bodyPr/>
                    <a:lstStyle/>
                    <a:p>
                      <a:pPr algn="ctr"/>
                      <a:r>
                        <a:rPr lang="en-US" sz="1600" dirty="0" smtClean="0"/>
                        <a:t>Good</a:t>
                      </a:r>
                      <a:endParaRPr lang="en-US" sz="1600" dirty="0"/>
                    </a:p>
                  </a:txBody>
                  <a:tcPr marL="28575" marR="28575" marT="28575" marB="28575"/>
                </a:tc>
              </a:tr>
              <a:tr h="289560">
                <a:tc>
                  <a:txBody>
                    <a:bodyPr/>
                    <a:lstStyle/>
                    <a:p>
                      <a:pPr algn="ctr"/>
                      <a:r>
                        <a:rPr lang="en-US" sz="1600"/>
                        <a:t>1 </a:t>
                      </a:r>
                    </a:p>
                  </a:txBody>
                  <a:tcPr marL="28575" marR="28575" marT="28575" marB="28575"/>
                </a:tc>
                <a:tc>
                  <a:txBody>
                    <a:bodyPr/>
                    <a:lstStyle/>
                    <a:p>
                      <a:pPr algn="ctr"/>
                      <a:r>
                        <a:rPr lang="en-US" sz="1600"/>
                        <a:t>4 </a:t>
                      </a:r>
                    </a:p>
                  </a:txBody>
                  <a:tcPr marL="28575" marR="28575" marT="28575" marB="28575"/>
                </a:tc>
                <a:tc>
                  <a:txBody>
                    <a:bodyPr/>
                    <a:lstStyle/>
                    <a:p>
                      <a:pPr algn="ctr"/>
                      <a:r>
                        <a:rPr lang="en-US" sz="1600" dirty="0" smtClean="0"/>
                        <a:t>13</a:t>
                      </a:r>
                      <a:endParaRPr lang="en-US" sz="1600" dirty="0"/>
                    </a:p>
                  </a:txBody>
                  <a:tcPr marL="28575" marR="28575" marT="28575" marB="28575"/>
                </a:tc>
                <a:tc>
                  <a:txBody>
                    <a:bodyPr/>
                    <a:lstStyle/>
                    <a:p>
                      <a:pPr algn="ctr"/>
                      <a:r>
                        <a:rPr lang="en-US" sz="1600" dirty="0" smtClean="0"/>
                        <a:t>2</a:t>
                      </a:r>
                      <a:endParaRPr lang="en-US" sz="1600" dirty="0"/>
                    </a:p>
                  </a:txBody>
                  <a:tcPr marL="28575" marR="28575" marT="28575" marB="28575"/>
                </a:tc>
                <a:tc>
                  <a:txBody>
                    <a:bodyPr/>
                    <a:lstStyle/>
                    <a:p>
                      <a:pPr algn="ctr"/>
                      <a:r>
                        <a:rPr lang="en-US" sz="1600" dirty="0" smtClean="0"/>
                        <a:t>yes</a:t>
                      </a:r>
                      <a:endParaRPr lang="en-US" sz="1600" dirty="0"/>
                    </a:p>
                  </a:txBody>
                  <a:tcPr marL="28575" marR="28575" marT="28575" marB="28575"/>
                </a:tc>
                <a:tc>
                  <a:txBody>
                    <a:bodyPr/>
                    <a:lstStyle/>
                    <a:p>
                      <a:pPr algn="ctr"/>
                      <a:r>
                        <a:rPr lang="en-US" sz="1600" dirty="0" smtClean="0"/>
                        <a:t>Good</a:t>
                      </a:r>
                      <a:endParaRPr lang="en-US" sz="1600" dirty="0"/>
                    </a:p>
                  </a:txBody>
                  <a:tcPr marL="28575" marR="28575" marT="28575" marB="28575"/>
                </a:tc>
              </a:tr>
            </a:tbl>
          </a:graphicData>
        </a:graphic>
      </p:graphicFrame>
      <p:sp>
        <p:nvSpPr>
          <p:cNvPr id="81010" name="TextBox 9"/>
          <p:cNvSpPr txBox="1">
            <a:spLocks noChangeArrowheads="1"/>
          </p:cNvSpPr>
          <p:nvPr/>
        </p:nvSpPr>
        <p:spPr bwMode="auto">
          <a:xfrm>
            <a:off x="2643583" y="6010151"/>
            <a:ext cx="93710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r>
              <a:rPr lang="en-US" altLang="en-US" sz="2000" b="1" dirty="0"/>
              <a:t>Result</a:t>
            </a:r>
            <a:r>
              <a:rPr lang="en-US" altLang="en-US" sz="2000" dirty="0"/>
              <a:t>: the new tuple belongs to “</a:t>
            </a:r>
            <a:r>
              <a:rPr lang="en-US" altLang="en-US" sz="2000" dirty="0">
                <a:solidFill>
                  <a:srgbClr val="FF0000"/>
                </a:solidFill>
              </a:rPr>
              <a:t>Good</a:t>
            </a:r>
            <a:r>
              <a:rPr lang="en-US" altLang="en-US" sz="2000" dirty="0"/>
              <a:t>”, because of majority (2)</a:t>
            </a:r>
          </a:p>
        </p:txBody>
      </p:sp>
    </p:spTree>
    <p:extLst>
      <p:ext uri="{BB962C8B-B14F-4D97-AF65-F5344CB8AC3E}">
        <p14:creationId xmlns:p14="http://schemas.microsoft.com/office/powerpoint/2010/main" val="70922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PySpark &amp; ML Library</a:t>
            </a:r>
            <a:endParaRPr lang="en-IN" dirty="0"/>
          </a:p>
        </p:txBody>
      </p:sp>
      <p:sp>
        <p:nvSpPr>
          <p:cNvPr id="3" name="Content Placeholder 2"/>
          <p:cNvSpPr>
            <a:spLocks noGrp="1"/>
          </p:cNvSpPr>
          <p:nvPr>
            <p:ph idx="1"/>
          </p:nvPr>
        </p:nvSpPr>
        <p:spPr>
          <a:xfrm>
            <a:off x="1205860" y="2348880"/>
            <a:ext cx="9751060" cy="3888432"/>
          </a:xfrm>
        </p:spPr>
        <p:txBody>
          <a:bodyPr>
            <a:normAutofit/>
          </a:bodyPr>
          <a:lstStyle/>
          <a:p>
            <a:r>
              <a:rPr lang="en-US" sz="2800" b="1" dirty="0" smtClean="0"/>
              <a:t>Will be discussed during Lab Session</a:t>
            </a:r>
            <a:endParaRPr lang="en-IN" sz="2800" b="1" dirty="0"/>
          </a:p>
        </p:txBody>
      </p:sp>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77</a:t>
            </a:fld>
            <a:endParaRPr lang="en-IN" dirty="0"/>
          </a:p>
        </p:txBody>
      </p:sp>
    </p:spTree>
    <p:extLst>
      <p:ext uri="{BB962C8B-B14F-4D97-AF65-F5344CB8AC3E}">
        <p14:creationId xmlns:p14="http://schemas.microsoft.com/office/powerpoint/2010/main" val="14661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Dr. S. Nandagopalan</a:t>
            </a:r>
            <a:endParaRPr lang="en-US" dirty="0"/>
          </a:p>
        </p:txBody>
      </p:sp>
      <p:sp>
        <p:nvSpPr>
          <p:cNvPr id="5" name="Slide Number Placeholder 4"/>
          <p:cNvSpPr>
            <a:spLocks noGrp="1"/>
          </p:cNvSpPr>
          <p:nvPr>
            <p:ph type="sldNum" sz="quarter" idx="12"/>
          </p:nvPr>
        </p:nvSpPr>
        <p:spPr/>
        <p:txBody>
          <a:bodyPr/>
          <a:lstStyle/>
          <a:p>
            <a:fld id="{34C99D79-8A4B-4031-B1E0-AF26F8EDF2BC}" type="slidenum">
              <a:rPr lang="en-IN" smtClean="0"/>
              <a:pPr/>
              <a:t>78</a:t>
            </a:fld>
            <a:endParaRPr lang="en-IN" dirty="0"/>
          </a:p>
        </p:txBody>
      </p:sp>
      <p:sp>
        <p:nvSpPr>
          <p:cNvPr id="6" name="TextBox 5"/>
          <p:cNvSpPr txBox="1"/>
          <p:nvPr/>
        </p:nvSpPr>
        <p:spPr>
          <a:xfrm>
            <a:off x="1989956" y="2204864"/>
            <a:ext cx="7157288" cy="1107996"/>
          </a:xfrm>
          <a:prstGeom prst="rect">
            <a:avLst/>
          </a:prstGeom>
          <a:noFill/>
        </p:spPr>
        <p:txBody>
          <a:bodyPr wrap="square" rtlCol="0">
            <a:spAutoFit/>
          </a:bodyPr>
          <a:lstStyle/>
          <a:p>
            <a:pPr algn="ctr"/>
            <a:r>
              <a:rPr lang="en-US" sz="6600" dirty="0" smtClean="0">
                <a:solidFill>
                  <a:schemeClr val="accent6">
                    <a:lumMod val="50000"/>
                  </a:schemeClr>
                </a:solidFill>
                <a:latin typeface="Tw Cen MT Condensed Extra Bold" panose="020B0803020202020204" pitchFamily="34" charset="0"/>
              </a:rPr>
              <a:t>Thank You</a:t>
            </a:r>
            <a:endParaRPr lang="en-IN" sz="6600" dirty="0">
              <a:solidFill>
                <a:schemeClr val="accent6">
                  <a:lumMod val="50000"/>
                </a:schemeClr>
              </a:solidFill>
              <a:latin typeface="Tw Cen MT Condensed Extra Bold" panose="020B0803020202020204" pitchFamily="34" charset="0"/>
            </a:endParaRPr>
          </a:p>
        </p:txBody>
      </p:sp>
    </p:spTree>
    <p:extLst>
      <p:ext uri="{BB962C8B-B14F-4D97-AF65-F5344CB8AC3E}">
        <p14:creationId xmlns:p14="http://schemas.microsoft.com/office/powerpoint/2010/main" val="70027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Cooking 16x9">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extLst>
    <a:ext uri="{05A4C25C-085E-4340-85A3-A5531E510DB2}">
      <thm15:themeFamily xmlns:thm15="http://schemas.microsoft.com/office/thememl/2012/main" name="Fresh food presentation (widescreen).potx" id="{63DD3034-9CB5-4B6F-BCA0-530A5E267AB2}" vid="{9783A5E3-1DF2-4F3C-8902-0C2EB8A188D6}"/>
    </a:ext>
  </a:extLst>
</a:theme>
</file>

<file path=ppt/theme/theme2.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ppt/theme/theme3.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700CCB-20BA-4760-AB9F-AC3B63ED32E0}">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40262f94-9f35-4ac3-9a90-690165a166b7"/>
    <ds:schemaRef ds:uri="a4f35948-e619-41b3-aa29-22878b09cfd2"/>
    <ds:schemaRef ds:uri="http://www.w3.org/XML/1998/namespace"/>
  </ds:schemaRefs>
</ds:datastoreItem>
</file>

<file path=customXml/itemProps2.xml><?xml version="1.0" encoding="utf-8"?>
<ds:datastoreItem xmlns:ds="http://schemas.openxmlformats.org/officeDocument/2006/customXml" ds:itemID="{FB14945D-DABB-422F-9B28-D299995C9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8942AA-0721-4324-BC2C-A3CB43F24E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Fresh food presentation (widescreen)</Template>
  <TotalTime>4026</TotalTime>
  <Words>4560</Words>
  <Application>Microsoft Office PowerPoint</Application>
  <PresentationFormat>Custom</PresentationFormat>
  <Paragraphs>1316</Paragraphs>
  <Slides>78</Slides>
  <Notes>48</Notes>
  <HiddenSlides>0</HiddenSlides>
  <MMClips>0</MMClips>
  <ScaleCrop>false</ScaleCrop>
  <HeadingPairs>
    <vt:vector size="8" baseType="variant">
      <vt:variant>
        <vt:lpstr>Fonts Used</vt:lpstr>
      </vt:variant>
      <vt:variant>
        <vt:i4>17</vt:i4>
      </vt:variant>
      <vt:variant>
        <vt:lpstr>Theme</vt:lpstr>
      </vt:variant>
      <vt:variant>
        <vt:i4>1</vt:i4>
      </vt:variant>
      <vt:variant>
        <vt:lpstr>Embedded OLE Servers</vt:lpstr>
      </vt:variant>
      <vt:variant>
        <vt:i4>6</vt:i4>
      </vt:variant>
      <vt:variant>
        <vt:lpstr>Slide Titles</vt:lpstr>
      </vt:variant>
      <vt:variant>
        <vt:i4>78</vt:i4>
      </vt:variant>
    </vt:vector>
  </HeadingPairs>
  <TitlesOfParts>
    <vt:vector size="102" baseType="lpstr">
      <vt:lpstr>Arial</vt:lpstr>
      <vt:lpstr>Arial Black</vt:lpstr>
      <vt:lpstr>Arial Narrow</vt:lpstr>
      <vt:lpstr>Bodoni MT</vt:lpstr>
      <vt:lpstr>Book Antiqua</vt:lpstr>
      <vt:lpstr>Calibri</vt:lpstr>
      <vt:lpstr>Constantia</vt:lpstr>
      <vt:lpstr>Georgia</vt:lpstr>
      <vt:lpstr>High Tower Text</vt:lpstr>
      <vt:lpstr>Monotype Sorts</vt:lpstr>
      <vt:lpstr>Symbol</vt:lpstr>
      <vt:lpstr>Tahoma</vt:lpstr>
      <vt:lpstr>Times New Roman</vt:lpstr>
      <vt:lpstr>Tw Cen MT</vt:lpstr>
      <vt:lpstr>Tw Cen MT Condensed Extra Bold</vt:lpstr>
      <vt:lpstr>Verdana</vt:lpstr>
      <vt:lpstr>Wingdings</vt:lpstr>
      <vt:lpstr>Cooking 16x9</vt:lpstr>
      <vt:lpstr>Worksheet</vt:lpstr>
      <vt:lpstr>Document</vt:lpstr>
      <vt:lpstr>Visio</vt:lpstr>
      <vt:lpstr>Equation</vt:lpstr>
      <vt:lpstr>VISIO</vt:lpstr>
      <vt:lpstr>Microsoft Visio Drawing</vt:lpstr>
      <vt:lpstr>Module  4: Large-Scale Machine Learning (Supervised)</vt:lpstr>
      <vt:lpstr>Agenda</vt:lpstr>
      <vt:lpstr>Introduction</vt:lpstr>
      <vt:lpstr>What is Artificial Intelligence?</vt:lpstr>
      <vt:lpstr>Machine Learning (ML)</vt:lpstr>
      <vt:lpstr>Deep Learning</vt:lpstr>
      <vt:lpstr>Comparison of AI-ML-DL</vt:lpstr>
      <vt:lpstr>Introduction to DT</vt:lpstr>
      <vt:lpstr>Case Study</vt:lpstr>
      <vt:lpstr>Outcome</vt:lpstr>
      <vt:lpstr>Classification - A Two-Step Process </vt:lpstr>
      <vt:lpstr>Learning Phase: Model Construction</vt:lpstr>
      <vt:lpstr>Classification</vt:lpstr>
      <vt:lpstr>Example of a Decision Tree</vt:lpstr>
      <vt:lpstr>Another Example of Decision Tree</vt:lpstr>
      <vt:lpstr>Decision Tree Classification Task</vt:lpstr>
      <vt:lpstr>Apply Model to Test Data</vt:lpstr>
      <vt:lpstr>Apply Model to Test Data</vt:lpstr>
      <vt:lpstr>Apply Model to Test Data</vt:lpstr>
      <vt:lpstr>Apply Model to Test Data</vt:lpstr>
      <vt:lpstr>Apply Model to Test Data</vt:lpstr>
      <vt:lpstr>Apply Model to Test Data</vt:lpstr>
      <vt:lpstr>Decision Tree Classification Task</vt:lpstr>
      <vt:lpstr>Decision Tree Problem</vt:lpstr>
      <vt:lpstr>DT Problem…</vt:lpstr>
      <vt:lpstr>Example</vt:lpstr>
      <vt:lpstr>Decision Tree Construction</vt:lpstr>
      <vt:lpstr>Other Variables</vt:lpstr>
      <vt:lpstr>Tree</vt:lpstr>
      <vt:lpstr>Determining the next nodes of the tree</vt:lpstr>
      <vt:lpstr>Final DT</vt:lpstr>
      <vt:lpstr>Example-2 (hair Length)</vt:lpstr>
      <vt:lpstr>Example-2  (Weight)</vt:lpstr>
      <vt:lpstr>Example-2  (Age)</vt:lpstr>
      <vt:lpstr>DT</vt:lpstr>
      <vt:lpstr>Inferences</vt:lpstr>
      <vt:lpstr>Decision Tree Algorithms</vt:lpstr>
      <vt:lpstr>Decision Tree Algorithms…</vt:lpstr>
      <vt:lpstr>Algorithms</vt:lpstr>
      <vt:lpstr>Stopping criteria</vt:lpstr>
      <vt:lpstr>Pruning</vt:lpstr>
      <vt:lpstr>Comparison</vt:lpstr>
      <vt:lpstr>Entropy</vt:lpstr>
      <vt:lpstr>Information Gain (IG)</vt:lpstr>
      <vt:lpstr>PowerPoint Presentation</vt:lpstr>
      <vt:lpstr>What is ID3?</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Naïve-Bayesian Classification</vt:lpstr>
      <vt:lpstr>Introduction</vt:lpstr>
      <vt:lpstr>Bayesian Theorem: Basics</vt:lpstr>
      <vt:lpstr>Bayesian Theorem</vt:lpstr>
      <vt:lpstr>Towards Naïve Bayesian Classifier</vt:lpstr>
      <vt:lpstr>Derivation of Naïve Bayes Classifier </vt:lpstr>
      <vt:lpstr>Example-1</vt:lpstr>
      <vt:lpstr>Computation</vt:lpstr>
      <vt:lpstr>Exercise</vt:lpstr>
      <vt:lpstr>Example – 2 : Text Classification</vt:lpstr>
      <vt:lpstr>Solution</vt:lpstr>
      <vt:lpstr>Example 2 (Continuous Data)</vt:lpstr>
      <vt:lpstr>Advantages &amp; Disadvantages</vt:lpstr>
      <vt:lpstr>Support Vector Machine (SVM) </vt:lpstr>
      <vt:lpstr>PowerPoint Presentation</vt:lpstr>
      <vt:lpstr>The k-Nearest Neighbor Classification</vt:lpstr>
      <vt:lpstr>Nearest Neighbor Classifiers</vt:lpstr>
      <vt:lpstr>Definition of Nearest Neighbor</vt:lpstr>
      <vt:lpstr>Nearest-Neighbor Classifiers</vt:lpstr>
      <vt:lpstr>The k-Nearest Neighbor - Example</vt:lpstr>
      <vt:lpstr>Major Steps</vt:lpstr>
      <vt:lpstr>Example</vt:lpstr>
      <vt:lpstr>PySpark &amp; ML Library</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Microsoft account</dc:creator>
  <cp:lastModifiedBy>Microsoft account</cp:lastModifiedBy>
  <cp:revision>131</cp:revision>
  <dcterms:created xsi:type="dcterms:W3CDTF">2024-08-14T04:47:15Z</dcterms:created>
  <dcterms:modified xsi:type="dcterms:W3CDTF">2024-12-19T04:25:10Z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