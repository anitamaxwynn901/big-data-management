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51"/>
  </p:notesMasterIdLst>
  <p:handoutMasterIdLst>
    <p:handoutMasterId r:id="rId52"/>
  </p:handoutMasterIdLst>
  <p:sldIdLst>
    <p:sldId id="272" r:id="rId5"/>
    <p:sldId id="258" r:id="rId6"/>
    <p:sldId id="365" r:id="rId7"/>
    <p:sldId id="367" r:id="rId8"/>
    <p:sldId id="366" r:id="rId9"/>
    <p:sldId id="373" r:id="rId10"/>
    <p:sldId id="404" r:id="rId11"/>
    <p:sldId id="374" r:id="rId12"/>
    <p:sldId id="368" r:id="rId13"/>
    <p:sldId id="369" r:id="rId14"/>
    <p:sldId id="370" r:id="rId15"/>
    <p:sldId id="371" r:id="rId16"/>
    <p:sldId id="372" r:id="rId17"/>
    <p:sldId id="383" r:id="rId18"/>
    <p:sldId id="390" r:id="rId19"/>
    <p:sldId id="391" r:id="rId20"/>
    <p:sldId id="392" r:id="rId21"/>
    <p:sldId id="393" r:id="rId22"/>
    <p:sldId id="394" r:id="rId23"/>
    <p:sldId id="395" r:id="rId24"/>
    <p:sldId id="396" r:id="rId25"/>
    <p:sldId id="397" r:id="rId26"/>
    <p:sldId id="384" r:id="rId27"/>
    <p:sldId id="385" r:id="rId28"/>
    <p:sldId id="386" r:id="rId29"/>
    <p:sldId id="387" r:id="rId30"/>
    <p:sldId id="388" r:id="rId31"/>
    <p:sldId id="389" r:id="rId32"/>
    <p:sldId id="406" r:id="rId33"/>
    <p:sldId id="407" r:id="rId34"/>
    <p:sldId id="375" r:id="rId35"/>
    <p:sldId id="376" r:id="rId36"/>
    <p:sldId id="408" r:id="rId37"/>
    <p:sldId id="377" r:id="rId38"/>
    <p:sldId id="378" r:id="rId39"/>
    <p:sldId id="379" r:id="rId40"/>
    <p:sldId id="380" r:id="rId41"/>
    <p:sldId id="381" r:id="rId42"/>
    <p:sldId id="382" r:id="rId43"/>
    <p:sldId id="403" r:id="rId44"/>
    <p:sldId id="399" r:id="rId45"/>
    <p:sldId id="400" r:id="rId46"/>
    <p:sldId id="401" r:id="rId47"/>
    <p:sldId id="398" r:id="rId48"/>
    <p:sldId id="405" r:id="rId49"/>
    <p:sldId id="334" r:id="rId50"/>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3" pos="3839">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9E4"/>
    <a:srgbClr val="FF3399"/>
    <a:srgbClr val="FF0066"/>
    <a:srgbClr val="4A206A"/>
    <a:srgbClr val="8A6900"/>
    <a:srgbClr val="FFFF00"/>
    <a:srgbClr val="6A2D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668" autoAdjust="0"/>
    <p:restoredTop sz="94492" autoAdjust="0"/>
  </p:normalViewPr>
  <p:slideViewPr>
    <p:cSldViewPr>
      <p:cViewPr varScale="1">
        <p:scale>
          <a:sx n="80" d="100"/>
          <a:sy n="80" d="100"/>
        </p:scale>
        <p:origin x="384" y="-5"/>
      </p:cViewPr>
      <p:guideLst>
        <p:guide orient="horz" pos="2160"/>
        <p:guide pos="3839"/>
      </p:guideLst>
    </p:cSldViewPr>
  </p:slideViewPr>
  <p:notesTextViewPr>
    <p:cViewPr>
      <p:scale>
        <a:sx n="1" d="1"/>
        <a:sy n="1" d="1"/>
      </p:scale>
      <p:origin x="0" y="0"/>
    </p:cViewPr>
  </p:notesTextViewPr>
  <p:notesViewPr>
    <p:cSldViewPr showGuides="1">
      <p:cViewPr varScale="1">
        <p:scale>
          <a:sx n="63" d="100"/>
          <a:sy n="63" d="100"/>
        </p:scale>
        <p:origin x="1986"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33E1BF-4392-4206-8DB2-D2080BD3DEB7}" type="doc">
      <dgm:prSet loTypeId="urn:microsoft.com/office/officeart/2005/8/layout/vList5" loCatId="list" qsTypeId="urn:microsoft.com/office/officeart/2005/8/quickstyle/simple3" qsCatId="simple" csTypeId="urn:microsoft.com/office/officeart/2005/8/colors/accent1_2" csCatId="accent1" phldr="1"/>
      <dgm:spPr/>
      <dgm:t>
        <a:bodyPr/>
        <a:lstStyle/>
        <a:p>
          <a:endParaRPr lang="en-IN"/>
        </a:p>
      </dgm:t>
    </dgm:pt>
    <dgm:pt modelId="{06F0B4E2-3C4C-42AC-9D8F-BBAFC72462DD}">
      <dgm:prSet phldrT="[Text]" custT="1"/>
      <dgm:spPr>
        <a:solidFill>
          <a:schemeClr val="accent1">
            <a:lumMod val="50000"/>
          </a:schemeClr>
        </a:solidFill>
      </dgm:spPr>
      <dgm:t>
        <a:bodyPr/>
        <a:lstStyle/>
        <a:p>
          <a:pPr marL="108000" algn="l"/>
          <a:r>
            <a:rPr lang="en-US" sz="2800" b="1" dirty="0" smtClean="0">
              <a:solidFill>
                <a:srgbClr val="FFFF00"/>
              </a:solidFill>
              <a:latin typeface="+mj-lt"/>
              <a:cs typeface="Arial" panose="020B0604020202020204" pitchFamily="34" charset="0"/>
            </a:rPr>
            <a:t> Introduction</a:t>
          </a:r>
          <a:endParaRPr lang="en-IN" sz="2800" b="1" dirty="0">
            <a:solidFill>
              <a:srgbClr val="FFFF00"/>
            </a:solidFill>
            <a:latin typeface="+mj-lt"/>
            <a:cs typeface="Arial" panose="020B0604020202020204" pitchFamily="34" charset="0"/>
          </a:endParaRPr>
        </a:p>
      </dgm:t>
    </dgm:pt>
    <dgm:pt modelId="{1EACE95E-FFD1-44C4-9D97-77DF9B47647E}" type="parTrans" cxnId="{9B83973E-BEAF-4F96-9A9F-FA8BA9F8FDE8}">
      <dgm:prSet/>
      <dgm:spPr/>
      <dgm:t>
        <a:bodyPr/>
        <a:lstStyle/>
        <a:p>
          <a:endParaRPr lang="en-IN">
            <a:solidFill>
              <a:srgbClr val="FFFF00"/>
            </a:solidFill>
            <a:latin typeface="Arial" panose="020B0604020202020204" pitchFamily="34" charset="0"/>
            <a:cs typeface="Arial" panose="020B0604020202020204" pitchFamily="34" charset="0"/>
          </a:endParaRPr>
        </a:p>
      </dgm:t>
    </dgm:pt>
    <dgm:pt modelId="{9FBC7F35-10AF-4961-B2D4-6F2B796D7D85}" type="sibTrans" cxnId="{9B83973E-BEAF-4F96-9A9F-FA8BA9F8FDE8}">
      <dgm:prSet/>
      <dgm:spPr/>
      <dgm:t>
        <a:bodyPr/>
        <a:lstStyle/>
        <a:p>
          <a:endParaRPr lang="en-IN">
            <a:solidFill>
              <a:srgbClr val="FFFF00"/>
            </a:solidFill>
            <a:latin typeface="Arial" panose="020B0604020202020204" pitchFamily="34" charset="0"/>
            <a:cs typeface="Arial" panose="020B0604020202020204" pitchFamily="34" charset="0"/>
          </a:endParaRPr>
        </a:p>
      </dgm:t>
    </dgm:pt>
    <dgm:pt modelId="{60365183-CE32-4168-9B2F-ECDC720E64E4}">
      <dgm:prSet phldrT="[Text]" custT="1"/>
      <dgm:spPr>
        <a:solidFill>
          <a:schemeClr val="accent1">
            <a:lumMod val="50000"/>
          </a:schemeClr>
        </a:solidFill>
      </dgm:spPr>
      <dgm:t>
        <a:bodyPr/>
        <a:lstStyle/>
        <a:p>
          <a:pPr marL="108000" algn="l"/>
          <a:r>
            <a:rPr lang="en-IN" sz="2800" b="1" dirty="0" smtClean="0">
              <a:solidFill>
                <a:srgbClr val="FFFF00"/>
              </a:solidFill>
            </a:rPr>
            <a:t>Clustering of Social-Network Graphs</a:t>
          </a:r>
          <a:endParaRPr lang="en-IN" sz="2800" b="1" dirty="0">
            <a:solidFill>
              <a:srgbClr val="FFFF00"/>
            </a:solidFill>
            <a:latin typeface="Arial" panose="020B0604020202020204" pitchFamily="34" charset="0"/>
            <a:cs typeface="Arial" panose="020B0604020202020204" pitchFamily="34" charset="0"/>
          </a:endParaRPr>
        </a:p>
      </dgm:t>
    </dgm:pt>
    <dgm:pt modelId="{CA002CAA-F332-41AE-BE5A-A69DA0A9C3D0}" type="parTrans" cxnId="{BD43FC39-34FB-444A-A71D-0F475F73C034}">
      <dgm:prSet/>
      <dgm:spPr/>
      <dgm:t>
        <a:bodyPr/>
        <a:lstStyle/>
        <a:p>
          <a:endParaRPr lang="en-IN">
            <a:solidFill>
              <a:srgbClr val="FFFF00"/>
            </a:solidFill>
            <a:latin typeface="Arial" panose="020B0604020202020204" pitchFamily="34" charset="0"/>
            <a:cs typeface="Arial" panose="020B0604020202020204" pitchFamily="34" charset="0"/>
          </a:endParaRPr>
        </a:p>
      </dgm:t>
    </dgm:pt>
    <dgm:pt modelId="{A5527CE7-52A4-4645-A14E-270C4EF01862}" type="sibTrans" cxnId="{BD43FC39-34FB-444A-A71D-0F475F73C034}">
      <dgm:prSet/>
      <dgm:spPr/>
      <dgm:t>
        <a:bodyPr/>
        <a:lstStyle/>
        <a:p>
          <a:endParaRPr lang="en-IN">
            <a:solidFill>
              <a:srgbClr val="FFFF00"/>
            </a:solidFill>
            <a:latin typeface="Arial" panose="020B0604020202020204" pitchFamily="34" charset="0"/>
            <a:cs typeface="Arial" panose="020B0604020202020204" pitchFamily="34" charset="0"/>
          </a:endParaRPr>
        </a:p>
      </dgm:t>
    </dgm:pt>
    <dgm:pt modelId="{12E5CA6D-3D3D-42C9-95D6-654F4A4AEA31}">
      <dgm:prSet custT="1"/>
      <dgm:spPr>
        <a:solidFill>
          <a:schemeClr val="accent1">
            <a:lumMod val="50000"/>
          </a:schemeClr>
        </a:solidFill>
      </dgm:spPr>
      <dgm:t>
        <a:bodyPr/>
        <a:lstStyle/>
        <a:p>
          <a:pPr marL="108000" algn="l"/>
          <a:r>
            <a:rPr lang="en-IN" sz="2800" b="1" dirty="0" smtClean="0">
              <a:solidFill>
                <a:srgbClr val="FFFF00"/>
              </a:solidFill>
            </a:rPr>
            <a:t>Direct Discovery of Communities</a:t>
          </a:r>
          <a:endParaRPr lang="en-IN" sz="2800" b="1" dirty="0">
            <a:solidFill>
              <a:srgbClr val="FFFF00"/>
            </a:solidFill>
            <a:latin typeface="+mj-lt"/>
            <a:cs typeface="Arial" panose="020B0604020202020204" pitchFamily="34" charset="0"/>
          </a:endParaRPr>
        </a:p>
      </dgm:t>
    </dgm:pt>
    <dgm:pt modelId="{5B993C77-D664-4803-A745-1A39809E3F0B}" type="parTrans" cxnId="{3313D3C2-34A9-42CE-837D-3AD195E95805}">
      <dgm:prSet/>
      <dgm:spPr/>
      <dgm:t>
        <a:bodyPr/>
        <a:lstStyle/>
        <a:p>
          <a:endParaRPr lang="en-IN">
            <a:solidFill>
              <a:srgbClr val="FFFF00"/>
            </a:solidFill>
            <a:latin typeface="Arial" panose="020B0604020202020204" pitchFamily="34" charset="0"/>
            <a:cs typeface="Arial" panose="020B0604020202020204" pitchFamily="34" charset="0"/>
          </a:endParaRPr>
        </a:p>
      </dgm:t>
    </dgm:pt>
    <dgm:pt modelId="{5702E080-7F06-4A31-8C27-2AE394252BC1}" type="sibTrans" cxnId="{3313D3C2-34A9-42CE-837D-3AD195E95805}">
      <dgm:prSet/>
      <dgm:spPr/>
      <dgm:t>
        <a:bodyPr/>
        <a:lstStyle/>
        <a:p>
          <a:endParaRPr lang="en-IN">
            <a:solidFill>
              <a:srgbClr val="FFFF00"/>
            </a:solidFill>
            <a:latin typeface="Arial" panose="020B0604020202020204" pitchFamily="34" charset="0"/>
            <a:cs typeface="Arial" panose="020B0604020202020204" pitchFamily="34" charset="0"/>
          </a:endParaRPr>
        </a:p>
      </dgm:t>
    </dgm:pt>
    <dgm:pt modelId="{D85CE42E-1C59-4439-9304-5FC58261AC64}">
      <dgm:prSet phldrT="[Text]" custT="1"/>
      <dgm:spPr>
        <a:solidFill>
          <a:schemeClr val="accent1">
            <a:lumMod val="50000"/>
          </a:schemeClr>
        </a:solidFill>
      </dgm:spPr>
      <dgm:t>
        <a:bodyPr/>
        <a:lstStyle/>
        <a:p>
          <a:pPr marL="108000" algn="l"/>
          <a:r>
            <a:rPr lang="en-IN" sz="2800" b="1" dirty="0" smtClean="0">
              <a:solidFill>
                <a:srgbClr val="FFFF00"/>
              </a:solidFill>
            </a:rPr>
            <a:t>Social Networks as Graphs</a:t>
          </a:r>
          <a:endParaRPr lang="en-IN" sz="2800" b="1" dirty="0">
            <a:solidFill>
              <a:srgbClr val="FFFF00"/>
            </a:solidFill>
            <a:latin typeface="+mj-lt"/>
            <a:cs typeface="Arial" panose="020B0604020202020204" pitchFamily="34" charset="0"/>
          </a:endParaRPr>
        </a:p>
      </dgm:t>
    </dgm:pt>
    <dgm:pt modelId="{32CBA3E8-13FC-4954-B12C-815CE213FEE4}" type="parTrans" cxnId="{FFF83FD4-ED15-47D6-B634-53B3D04BF252}">
      <dgm:prSet/>
      <dgm:spPr/>
      <dgm:t>
        <a:bodyPr/>
        <a:lstStyle/>
        <a:p>
          <a:endParaRPr lang="en-IN">
            <a:solidFill>
              <a:srgbClr val="FFFF00"/>
            </a:solidFill>
            <a:latin typeface="Arial" panose="020B0604020202020204" pitchFamily="34" charset="0"/>
            <a:cs typeface="Arial" panose="020B0604020202020204" pitchFamily="34" charset="0"/>
          </a:endParaRPr>
        </a:p>
      </dgm:t>
    </dgm:pt>
    <dgm:pt modelId="{CE21BAF2-DEEB-4F02-9C5E-AA979AFBE08B}" type="sibTrans" cxnId="{FFF83FD4-ED15-47D6-B634-53B3D04BF252}">
      <dgm:prSet/>
      <dgm:spPr/>
      <dgm:t>
        <a:bodyPr/>
        <a:lstStyle/>
        <a:p>
          <a:endParaRPr lang="en-IN">
            <a:solidFill>
              <a:srgbClr val="FFFF00"/>
            </a:solidFill>
            <a:latin typeface="Arial" panose="020B0604020202020204" pitchFamily="34" charset="0"/>
            <a:cs typeface="Arial" panose="020B0604020202020204" pitchFamily="34" charset="0"/>
          </a:endParaRPr>
        </a:p>
      </dgm:t>
    </dgm:pt>
    <dgm:pt modelId="{19B731E4-5162-44CB-8F47-B89B48B929CC}">
      <dgm:prSet custT="1"/>
      <dgm:spPr>
        <a:solidFill>
          <a:schemeClr val="accent1">
            <a:lumMod val="50000"/>
          </a:schemeClr>
        </a:solidFill>
      </dgm:spPr>
      <dgm:t>
        <a:bodyPr/>
        <a:lstStyle/>
        <a:p>
          <a:pPr marL="108000" algn="l"/>
          <a:r>
            <a:rPr lang="en-IN" sz="2800" b="1" dirty="0" smtClean="0">
              <a:solidFill>
                <a:srgbClr val="FFFF00"/>
              </a:solidFill>
            </a:rPr>
            <a:t>Partitioning of Graphs</a:t>
          </a:r>
          <a:endParaRPr lang="en-IN" sz="2800" b="1" dirty="0">
            <a:solidFill>
              <a:srgbClr val="FFFF00"/>
            </a:solidFill>
            <a:latin typeface="+mj-lt"/>
            <a:cs typeface="Arial" panose="020B0604020202020204" pitchFamily="34" charset="0"/>
          </a:endParaRPr>
        </a:p>
      </dgm:t>
    </dgm:pt>
    <dgm:pt modelId="{F59B301D-86EA-415D-99DE-DC5E965192E7}" type="parTrans" cxnId="{1422BC03-2EE0-420B-824A-1656B718946B}">
      <dgm:prSet/>
      <dgm:spPr/>
      <dgm:t>
        <a:bodyPr/>
        <a:lstStyle/>
        <a:p>
          <a:endParaRPr lang="en-IN"/>
        </a:p>
      </dgm:t>
    </dgm:pt>
    <dgm:pt modelId="{390B1BE1-7DE8-4296-B235-93A0DEC1F600}" type="sibTrans" cxnId="{1422BC03-2EE0-420B-824A-1656B718946B}">
      <dgm:prSet/>
      <dgm:spPr/>
      <dgm:t>
        <a:bodyPr/>
        <a:lstStyle/>
        <a:p>
          <a:endParaRPr lang="en-IN"/>
        </a:p>
      </dgm:t>
    </dgm:pt>
    <dgm:pt modelId="{7F2DE83B-9192-43B6-9CDD-92E37B484E9F}">
      <dgm:prSet custT="1"/>
      <dgm:spPr>
        <a:solidFill>
          <a:schemeClr val="accent1">
            <a:lumMod val="50000"/>
          </a:schemeClr>
        </a:solidFill>
      </dgm:spPr>
      <dgm:t>
        <a:bodyPr/>
        <a:lstStyle/>
        <a:p>
          <a:pPr marL="108000" algn="l"/>
          <a:r>
            <a:rPr lang="en-IN" sz="2800" b="1" dirty="0" smtClean="0">
              <a:solidFill>
                <a:srgbClr val="FFFF00"/>
              </a:solidFill>
            </a:rPr>
            <a:t>Graph Processing with Spark</a:t>
          </a:r>
          <a:endParaRPr lang="en-IN" sz="2800" b="1" dirty="0">
            <a:solidFill>
              <a:srgbClr val="FFFF00"/>
            </a:solidFill>
            <a:latin typeface="+mj-lt"/>
            <a:cs typeface="Arial" panose="020B0604020202020204" pitchFamily="34" charset="0"/>
          </a:endParaRPr>
        </a:p>
      </dgm:t>
    </dgm:pt>
    <dgm:pt modelId="{8E924A03-6C50-4957-87B3-2749F2FEC804}" type="parTrans" cxnId="{2E247D8F-CE21-4DFC-9665-032B13C419F7}">
      <dgm:prSet/>
      <dgm:spPr/>
      <dgm:t>
        <a:bodyPr/>
        <a:lstStyle/>
        <a:p>
          <a:endParaRPr lang="en-IN"/>
        </a:p>
      </dgm:t>
    </dgm:pt>
    <dgm:pt modelId="{0851DDE1-DA86-4F48-8E00-372A986DBAD1}" type="sibTrans" cxnId="{2E247D8F-CE21-4DFC-9665-032B13C419F7}">
      <dgm:prSet/>
      <dgm:spPr/>
      <dgm:t>
        <a:bodyPr/>
        <a:lstStyle/>
        <a:p>
          <a:endParaRPr lang="en-IN"/>
        </a:p>
      </dgm:t>
    </dgm:pt>
    <dgm:pt modelId="{E468E616-EB4C-435E-8323-2FD7B268E3BF}">
      <dgm:prSet custT="1"/>
      <dgm:spPr>
        <a:solidFill>
          <a:schemeClr val="accent1">
            <a:lumMod val="50000"/>
          </a:schemeClr>
        </a:solidFill>
      </dgm:spPr>
      <dgm:t>
        <a:bodyPr/>
        <a:lstStyle/>
        <a:p>
          <a:pPr marL="108000" algn="l"/>
          <a:r>
            <a:rPr lang="en-US" sz="2800" b="1" dirty="0" smtClean="0">
              <a:solidFill>
                <a:srgbClr val="FFFF00"/>
              </a:solidFill>
              <a:latin typeface="+mj-lt"/>
              <a:cs typeface="Arial" panose="020B0604020202020204" pitchFamily="34" charset="0"/>
            </a:rPr>
            <a:t>Examples</a:t>
          </a:r>
          <a:endParaRPr lang="en-IN" sz="2800" b="1" dirty="0">
            <a:solidFill>
              <a:srgbClr val="FFFF00"/>
            </a:solidFill>
            <a:latin typeface="+mj-lt"/>
            <a:cs typeface="Arial" panose="020B0604020202020204" pitchFamily="34" charset="0"/>
          </a:endParaRPr>
        </a:p>
      </dgm:t>
    </dgm:pt>
    <dgm:pt modelId="{962BF3C2-36FD-4953-83E9-2C7420663E7E}" type="parTrans" cxnId="{9F6B70F9-034B-4A43-A7A5-A522D8E5DF48}">
      <dgm:prSet/>
      <dgm:spPr/>
      <dgm:t>
        <a:bodyPr/>
        <a:lstStyle/>
        <a:p>
          <a:endParaRPr lang="en-IN"/>
        </a:p>
      </dgm:t>
    </dgm:pt>
    <dgm:pt modelId="{AFADBD49-7C47-45AC-B34C-1D6032D23F36}" type="sibTrans" cxnId="{9F6B70F9-034B-4A43-A7A5-A522D8E5DF48}">
      <dgm:prSet/>
      <dgm:spPr/>
      <dgm:t>
        <a:bodyPr/>
        <a:lstStyle/>
        <a:p>
          <a:endParaRPr lang="en-IN"/>
        </a:p>
      </dgm:t>
    </dgm:pt>
    <dgm:pt modelId="{76AABBA8-7AED-49A2-9EA1-B82D59580F49}" type="pres">
      <dgm:prSet presAssocID="{6D33E1BF-4392-4206-8DB2-D2080BD3DEB7}" presName="Name0" presStyleCnt="0">
        <dgm:presLayoutVars>
          <dgm:dir/>
          <dgm:animLvl val="lvl"/>
          <dgm:resizeHandles val="exact"/>
        </dgm:presLayoutVars>
      </dgm:prSet>
      <dgm:spPr/>
      <dgm:t>
        <a:bodyPr/>
        <a:lstStyle/>
        <a:p>
          <a:endParaRPr lang="en-IN"/>
        </a:p>
      </dgm:t>
    </dgm:pt>
    <dgm:pt modelId="{1B6602A8-123E-4978-A68F-39F96AFA6FA6}" type="pres">
      <dgm:prSet presAssocID="{06F0B4E2-3C4C-42AC-9D8F-BBAFC72462DD}" presName="linNode" presStyleCnt="0"/>
      <dgm:spPr/>
      <dgm:t>
        <a:bodyPr/>
        <a:lstStyle/>
        <a:p>
          <a:endParaRPr lang="en-IN"/>
        </a:p>
      </dgm:t>
    </dgm:pt>
    <dgm:pt modelId="{6615A05E-3C83-44BD-AF92-F7FA42A80B08}" type="pres">
      <dgm:prSet presAssocID="{06F0B4E2-3C4C-42AC-9D8F-BBAFC72462DD}" presName="parentText" presStyleLbl="node1" presStyleIdx="0" presStyleCnt="7" custScaleX="218512" custLinFactNeighborX="-726" custLinFactNeighborY="-12907">
        <dgm:presLayoutVars>
          <dgm:chMax val="1"/>
          <dgm:bulletEnabled val="1"/>
        </dgm:presLayoutVars>
      </dgm:prSet>
      <dgm:spPr/>
      <dgm:t>
        <a:bodyPr/>
        <a:lstStyle/>
        <a:p>
          <a:endParaRPr lang="en-IN"/>
        </a:p>
      </dgm:t>
    </dgm:pt>
    <dgm:pt modelId="{4964C70B-0AE6-41F0-9859-27E5870AE422}" type="pres">
      <dgm:prSet presAssocID="{9FBC7F35-10AF-4961-B2D4-6F2B796D7D85}" presName="sp" presStyleCnt="0"/>
      <dgm:spPr/>
      <dgm:t>
        <a:bodyPr/>
        <a:lstStyle/>
        <a:p>
          <a:endParaRPr lang="en-IN"/>
        </a:p>
      </dgm:t>
    </dgm:pt>
    <dgm:pt modelId="{9F86AC3C-427A-45B6-970A-AD3DF9AF9E03}" type="pres">
      <dgm:prSet presAssocID="{D85CE42E-1C59-4439-9304-5FC58261AC64}" presName="linNode" presStyleCnt="0"/>
      <dgm:spPr/>
      <dgm:t>
        <a:bodyPr/>
        <a:lstStyle/>
        <a:p>
          <a:endParaRPr lang="en-IN"/>
        </a:p>
      </dgm:t>
    </dgm:pt>
    <dgm:pt modelId="{919F3EB5-11E5-4C15-BDDE-7DDF32465E5D}" type="pres">
      <dgm:prSet presAssocID="{D85CE42E-1C59-4439-9304-5FC58261AC64}" presName="parentText" presStyleLbl="node1" presStyleIdx="1" presStyleCnt="7" custScaleX="218512" custLinFactNeighborX="-574">
        <dgm:presLayoutVars>
          <dgm:chMax val="1"/>
          <dgm:bulletEnabled val="1"/>
        </dgm:presLayoutVars>
      </dgm:prSet>
      <dgm:spPr/>
      <dgm:t>
        <a:bodyPr/>
        <a:lstStyle/>
        <a:p>
          <a:endParaRPr lang="en-IN"/>
        </a:p>
      </dgm:t>
    </dgm:pt>
    <dgm:pt modelId="{88C22D19-9266-4D7E-8519-CD24A09077C3}" type="pres">
      <dgm:prSet presAssocID="{CE21BAF2-DEEB-4F02-9C5E-AA979AFBE08B}" presName="sp" presStyleCnt="0"/>
      <dgm:spPr/>
      <dgm:t>
        <a:bodyPr/>
        <a:lstStyle/>
        <a:p>
          <a:endParaRPr lang="en-IN"/>
        </a:p>
      </dgm:t>
    </dgm:pt>
    <dgm:pt modelId="{FB6291E5-0660-4B76-9CFC-AE0D64A9D8D3}" type="pres">
      <dgm:prSet presAssocID="{60365183-CE32-4168-9B2F-ECDC720E64E4}" presName="linNode" presStyleCnt="0"/>
      <dgm:spPr/>
      <dgm:t>
        <a:bodyPr/>
        <a:lstStyle/>
        <a:p>
          <a:endParaRPr lang="en-IN"/>
        </a:p>
      </dgm:t>
    </dgm:pt>
    <dgm:pt modelId="{8E42E0B6-F9A6-400C-AB2D-7833AEE4EC07}" type="pres">
      <dgm:prSet presAssocID="{60365183-CE32-4168-9B2F-ECDC720E64E4}" presName="parentText" presStyleLbl="node1" presStyleIdx="2" presStyleCnt="7" custScaleX="218512" custLinFactNeighborX="-574">
        <dgm:presLayoutVars>
          <dgm:chMax val="1"/>
          <dgm:bulletEnabled val="1"/>
        </dgm:presLayoutVars>
      </dgm:prSet>
      <dgm:spPr/>
      <dgm:t>
        <a:bodyPr/>
        <a:lstStyle/>
        <a:p>
          <a:endParaRPr lang="en-IN"/>
        </a:p>
      </dgm:t>
    </dgm:pt>
    <dgm:pt modelId="{0480248E-8F97-4A83-BC37-5332B9605F34}" type="pres">
      <dgm:prSet presAssocID="{A5527CE7-52A4-4645-A14E-270C4EF01862}" presName="sp" presStyleCnt="0"/>
      <dgm:spPr/>
      <dgm:t>
        <a:bodyPr/>
        <a:lstStyle/>
        <a:p>
          <a:endParaRPr lang="en-IN"/>
        </a:p>
      </dgm:t>
    </dgm:pt>
    <dgm:pt modelId="{681A9186-921A-45D7-AB0D-E7B87F1CD9B4}" type="pres">
      <dgm:prSet presAssocID="{12E5CA6D-3D3D-42C9-95D6-654F4A4AEA31}" presName="linNode" presStyleCnt="0"/>
      <dgm:spPr/>
      <dgm:t>
        <a:bodyPr/>
        <a:lstStyle/>
        <a:p>
          <a:endParaRPr lang="en-IN"/>
        </a:p>
      </dgm:t>
    </dgm:pt>
    <dgm:pt modelId="{63D83632-AA81-4829-851C-7458A551B573}" type="pres">
      <dgm:prSet presAssocID="{12E5CA6D-3D3D-42C9-95D6-654F4A4AEA31}" presName="parentText" presStyleLbl="node1" presStyleIdx="3" presStyleCnt="7" custScaleX="218512">
        <dgm:presLayoutVars>
          <dgm:chMax val="1"/>
          <dgm:bulletEnabled val="1"/>
        </dgm:presLayoutVars>
      </dgm:prSet>
      <dgm:spPr/>
      <dgm:t>
        <a:bodyPr/>
        <a:lstStyle/>
        <a:p>
          <a:endParaRPr lang="en-IN"/>
        </a:p>
      </dgm:t>
    </dgm:pt>
    <dgm:pt modelId="{E47CCFE2-D08B-476F-BD92-09919EBC5F63}" type="pres">
      <dgm:prSet presAssocID="{5702E080-7F06-4A31-8C27-2AE394252BC1}" presName="sp" presStyleCnt="0"/>
      <dgm:spPr/>
    </dgm:pt>
    <dgm:pt modelId="{10A71036-24F9-4262-B206-90B42F8C14AE}" type="pres">
      <dgm:prSet presAssocID="{19B731E4-5162-44CB-8F47-B89B48B929CC}" presName="linNode" presStyleCnt="0"/>
      <dgm:spPr/>
    </dgm:pt>
    <dgm:pt modelId="{71D4ACBB-0450-453A-9781-5DEE47966CD8}" type="pres">
      <dgm:prSet presAssocID="{19B731E4-5162-44CB-8F47-B89B48B929CC}" presName="parentText" presStyleLbl="node1" presStyleIdx="4" presStyleCnt="7" custScaleX="218512" custScaleY="142466">
        <dgm:presLayoutVars>
          <dgm:chMax val="1"/>
          <dgm:bulletEnabled val="1"/>
        </dgm:presLayoutVars>
      </dgm:prSet>
      <dgm:spPr/>
      <dgm:t>
        <a:bodyPr/>
        <a:lstStyle/>
        <a:p>
          <a:endParaRPr lang="en-IN"/>
        </a:p>
      </dgm:t>
    </dgm:pt>
    <dgm:pt modelId="{9D6E8782-77B6-4623-83C8-EB4126F89196}" type="pres">
      <dgm:prSet presAssocID="{390B1BE1-7DE8-4296-B235-93A0DEC1F600}" presName="sp" presStyleCnt="0"/>
      <dgm:spPr/>
    </dgm:pt>
    <dgm:pt modelId="{26A37FDF-CA8D-4685-9589-889BA9655BA4}" type="pres">
      <dgm:prSet presAssocID="{7F2DE83B-9192-43B6-9CDD-92E37B484E9F}" presName="linNode" presStyleCnt="0"/>
      <dgm:spPr/>
    </dgm:pt>
    <dgm:pt modelId="{CB35E9F0-12A1-4D44-8D83-1D387282534E}" type="pres">
      <dgm:prSet presAssocID="{7F2DE83B-9192-43B6-9CDD-92E37B484E9F}" presName="parentText" presStyleLbl="node1" presStyleIdx="5" presStyleCnt="7" custScaleX="218512">
        <dgm:presLayoutVars>
          <dgm:chMax val="1"/>
          <dgm:bulletEnabled val="1"/>
        </dgm:presLayoutVars>
      </dgm:prSet>
      <dgm:spPr/>
      <dgm:t>
        <a:bodyPr/>
        <a:lstStyle/>
        <a:p>
          <a:endParaRPr lang="en-IN"/>
        </a:p>
      </dgm:t>
    </dgm:pt>
    <dgm:pt modelId="{50006A3A-5560-4000-A11D-D26829BC47EC}" type="pres">
      <dgm:prSet presAssocID="{0851DDE1-DA86-4F48-8E00-372A986DBAD1}" presName="sp" presStyleCnt="0"/>
      <dgm:spPr/>
    </dgm:pt>
    <dgm:pt modelId="{514B5E48-9DD4-44A3-B4E6-4C03BE3E5D2B}" type="pres">
      <dgm:prSet presAssocID="{E468E616-EB4C-435E-8323-2FD7B268E3BF}" presName="linNode" presStyleCnt="0"/>
      <dgm:spPr/>
    </dgm:pt>
    <dgm:pt modelId="{BDF0D60B-CFD6-43A4-8DDA-E8E2AD7B9434}" type="pres">
      <dgm:prSet presAssocID="{E468E616-EB4C-435E-8323-2FD7B268E3BF}" presName="parentText" presStyleLbl="node1" presStyleIdx="6" presStyleCnt="7" custScaleX="218512">
        <dgm:presLayoutVars>
          <dgm:chMax val="1"/>
          <dgm:bulletEnabled val="1"/>
        </dgm:presLayoutVars>
      </dgm:prSet>
      <dgm:spPr/>
      <dgm:t>
        <a:bodyPr/>
        <a:lstStyle/>
        <a:p>
          <a:endParaRPr lang="en-IN"/>
        </a:p>
      </dgm:t>
    </dgm:pt>
  </dgm:ptLst>
  <dgm:cxnLst>
    <dgm:cxn modelId="{62AD262A-6158-4939-90B9-CEB7F7691DEE}" type="presOf" srcId="{E468E616-EB4C-435E-8323-2FD7B268E3BF}" destId="{BDF0D60B-CFD6-43A4-8DDA-E8E2AD7B9434}" srcOrd="0" destOrd="0" presId="urn:microsoft.com/office/officeart/2005/8/layout/vList5"/>
    <dgm:cxn modelId="{4A793357-E405-4E3C-9411-0FFC7EC818C4}" type="presOf" srcId="{12E5CA6D-3D3D-42C9-95D6-654F4A4AEA31}" destId="{63D83632-AA81-4829-851C-7458A551B573}" srcOrd="0" destOrd="0" presId="urn:microsoft.com/office/officeart/2005/8/layout/vList5"/>
    <dgm:cxn modelId="{25D20D5E-C57E-44B4-B557-9863C0E729FF}" type="presOf" srcId="{D85CE42E-1C59-4439-9304-5FC58261AC64}" destId="{919F3EB5-11E5-4C15-BDDE-7DDF32465E5D}" srcOrd="0" destOrd="0" presId="urn:microsoft.com/office/officeart/2005/8/layout/vList5"/>
    <dgm:cxn modelId="{D0C6EF71-F26A-4B9E-A058-FF6670063A44}" type="presOf" srcId="{60365183-CE32-4168-9B2F-ECDC720E64E4}" destId="{8E42E0B6-F9A6-400C-AB2D-7833AEE4EC07}" srcOrd="0" destOrd="0" presId="urn:microsoft.com/office/officeart/2005/8/layout/vList5"/>
    <dgm:cxn modelId="{2E247D8F-CE21-4DFC-9665-032B13C419F7}" srcId="{6D33E1BF-4392-4206-8DB2-D2080BD3DEB7}" destId="{7F2DE83B-9192-43B6-9CDD-92E37B484E9F}" srcOrd="5" destOrd="0" parTransId="{8E924A03-6C50-4957-87B3-2749F2FEC804}" sibTransId="{0851DDE1-DA86-4F48-8E00-372A986DBAD1}"/>
    <dgm:cxn modelId="{96E479C8-4D53-464D-9647-94FFD19055BB}" type="presOf" srcId="{6D33E1BF-4392-4206-8DB2-D2080BD3DEB7}" destId="{76AABBA8-7AED-49A2-9EA1-B82D59580F49}" srcOrd="0" destOrd="0" presId="urn:microsoft.com/office/officeart/2005/8/layout/vList5"/>
    <dgm:cxn modelId="{FFF83FD4-ED15-47D6-B634-53B3D04BF252}" srcId="{6D33E1BF-4392-4206-8DB2-D2080BD3DEB7}" destId="{D85CE42E-1C59-4439-9304-5FC58261AC64}" srcOrd="1" destOrd="0" parTransId="{32CBA3E8-13FC-4954-B12C-815CE213FEE4}" sibTransId="{CE21BAF2-DEEB-4F02-9C5E-AA979AFBE08B}"/>
    <dgm:cxn modelId="{BD43FC39-34FB-444A-A71D-0F475F73C034}" srcId="{6D33E1BF-4392-4206-8DB2-D2080BD3DEB7}" destId="{60365183-CE32-4168-9B2F-ECDC720E64E4}" srcOrd="2" destOrd="0" parTransId="{CA002CAA-F332-41AE-BE5A-A69DA0A9C3D0}" sibTransId="{A5527CE7-52A4-4645-A14E-270C4EF01862}"/>
    <dgm:cxn modelId="{1422BC03-2EE0-420B-824A-1656B718946B}" srcId="{6D33E1BF-4392-4206-8DB2-D2080BD3DEB7}" destId="{19B731E4-5162-44CB-8F47-B89B48B929CC}" srcOrd="4" destOrd="0" parTransId="{F59B301D-86EA-415D-99DE-DC5E965192E7}" sibTransId="{390B1BE1-7DE8-4296-B235-93A0DEC1F600}"/>
    <dgm:cxn modelId="{9B83973E-BEAF-4F96-9A9F-FA8BA9F8FDE8}" srcId="{6D33E1BF-4392-4206-8DB2-D2080BD3DEB7}" destId="{06F0B4E2-3C4C-42AC-9D8F-BBAFC72462DD}" srcOrd="0" destOrd="0" parTransId="{1EACE95E-FFD1-44C4-9D97-77DF9B47647E}" sibTransId="{9FBC7F35-10AF-4961-B2D4-6F2B796D7D85}"/>
    <dgm:cxn modelId="{8EE7B9BC-0C1D-4B0F-8E3C-6DE520299189}" type="presOf" srcId="{06F0B4E2-3C4C-42AC-9D8F-BBAFC72462DD}" destId="{6615A05E-3C83-44BD-AF92-F7FA42A80B08}" srcOrd="0" destOrd="0" presId="urn:microsoft.com/office/officeart/2005/8/layout/vList5"/>
    <dgm:cxn modelId="{D0228B7E-3FE1-4939-9C10-DB07B86A4D60}" type="presOf" srcId="{7F2DE83B-9192-43B6-9CDD-92E37B484E9F}" destId="{CB35E9F0-12A1-4D44-8D83-1D387282534E}" srcOrd="0" destOrd="0" presId="urn:microsoft.com/office/officeart/2005/8/layout/vList5"/>
    <dgm:cxn modelId="{9F6B70F9-034B-4A43-A7A5-A522D8E5DF48}" srcId="{6D33E1BF-4392-4206-8DB2-D2080BD3DEB7}" destId="{E468E616-EB4C-435E-8323-2FD7B268E3BF}" srcOrd="6" destOrd="0" parTransId="{962BF3C2-36FD-4953-83E9-2C7420663E7E}" sibTransId="{AFADBD49-7C47-45AC-B34C-1D6032D23F36}"/>
    <dgm:cxn modelId="{6F7C9352-A3EB-47A0-B9BE-445E17D24B78}" type="presOf" srcId="{19B731E4-5162-44CB-8F47-B89B48B929CC}" destId="{71D4ACBB-0450-453A-9781-5DEE47966CD8}" srcOrd="0" destOrd="0" presId="urn:microsoft.com/office/officeart/2005/8/layout/vList5"/>
    <dgm:cxn modelId="{3313D3C2-34A9-42CE-837D-3AD195E95805}" srcId="{6D33E1BF-4392-4206-8DB2-D2080BD3DEB7}" destId="{12E5CA6D-3D3D-42C9-95D6-654F4A4AEA31}" srcOrd="3" destOrd="0" parTransId="{5B993C77-D664-4803-A745-1A39809E3F0B}" sibTransId="{5702E080-7F06-4A31-8C27-2AE394252BC1}"/>
    <dgm:cxn modelId="{29127C87-3342-4392-B942-DA2BE3ED16B4}" type="presParOf" srcId="{76AABBA8-7AED-49A2-9EA1-B82D59580F49}" destId="{1B6602A8-123E-4978-A68F-39F96AFA6FA6}" srcOrd="0" destOrd="0" presId="urn:microsoft.com/office/officeart/2005/8/layout/vList5"/>
    <dgm:cxn modelId="{25C7493A-9F3C-4BDE-A665-40B2C7C4D17C}" type="presParOf" srcId="{1B6602A8-123E-4978-A68F-39F96AFA6FA6}" destId="{6615A05E-3C83-44BD-AF92-F7FA42A80B08}" srcOrd="0" destOrd="0" presId="urn:microsoft.com/office/officeart/2005/8/layout/vList5"/>
    <dgm:cxn modelId="{2E1BCF06-770B-482C-8EAB-8D4F43F7689C}" type="presParOf" srcId="{76AABBA8-7AED-49A2-9EA1-B82D59580F49}" destId="{4964C70B-0AE6-41F0-9859-27E5870AE422}" srcOrd="1" destOrd="0" presId="urn:microsoft.com/office/officeart/2005/8/layout/vList5"/>
    <dgm:cxn modelId="{D0AB8AC8-119F-4E3D-A95B-3B54113DD6F1}" type="presParOf" srcId="{76AABBA8-7AED-49A2-9EA1-B82D59580F49}" destId="{9F86AC3C-427A-45B6-970A-AD3DF9AF9E03}" srcOrd="2" destOrd="0" presId="urn:microsoft.com/office/officeart/2005/8/layout/vList5"/>
    <dgm:cxn modelId="{4837EFA3-43B4-4432-A841-5915690678D5}" type="presParOf" srcId="{9F86AC3C-427A-45B6-970A-AD3DF9AF9E03}" destId="{919F3EB5-11E5-4C15-BDDE-7DDF32465E5D}" srcOrd="0" destOrd="0" presId="urn:microsoft.com/office/officeart/2005/8/layout/vList5"/>
    <dgm:cxn modelId="{EC25FA89-6D1F-417D-8A82-673EE1D30448}" type="presParOf" srcId="{76AABBA8-7AED-49A2-9EA1-B82D59580F49}" destId="{88C22D19-9266-4D7E-8519-CD24A09077C3}" srcOrd="3" destOrd="0" presId="urn:microsoft.com/office/officeart/2005/8/layout/vList5"/>
    <dgm:cxn modelId="{0CD81C22-53C5-40B4-B030-10AC8D9D4BB3}" type="presParOf" srcId="{76AABBA8-7AED-49A2-9EA1-B82D59580F49}" destId="{FB6291E5-0660-4B76-9CFC-AE0D64A9D8D3}" srcOrd="4" destOrd="0" presId="urn:microsoft.com/office/officeart/2005/8/layout/vList5"/>
    <dgm:cxn modelId="{B2808A4F-76A6-4551-A9B0-FA9265B0E87E}" type="presParOf" srcId="{FB6291E5-0660-4B76-9CFC-AE0D64A9D8D3}" destId="{8E42E0B6-F9A6-400C-AB2D-7833AEE4EC07}" srcOrd="0" destOrd="0" presId="urn:microsoft.com/office/officeart/2005/8/layout/vList5"/>
    <dgm:cxn modelId="{771886A5-5FED-4B12-8296-AB626F7A0AEF}" type="presParOf" srcId="{76AABBA8-7AED-49A2-9EA1-B82D59580F49}" destId="{0480248E-8F97-4A83-BC37-5332B9605F34}" srcOrd="5" destOrd="0" presId="urn:microsoft.com/office/officeart/2005/8/layout/vList5"/>
    <dgm:cxn modelId="{BD0CEB92-D458-40E2-B24A-7916FEDCDFFE}" type="presParOf" srcId="{76AABBA8-7AED-49A2-9EA1-B82D59580F49}" destId="{681A9186-921A-45D7-AB0D-E7B87F1CD9B4}" srcOrd="6" destOrd="0" presId="urn:microsoft.com/office/officeart/2005/8/layout/vList5"/>
    <dgm:cxn modelId="{AEAF5CD2-3C95-4CB8-8ACA-3FC32AAE9C52}" type="presParOf" srcId="{681A9186-921A-45D7-AB0D-E7B87F1CD9B4}" destId="{63D83632-AA81-4829-851C-7458A551B573}" srcOrd="0" destOrd="0" presId="urn:microsoft.com/office/officeart/2005/8/layout/vList5"/>
    <dgm:cxn modelId="{BD5AB7D6-AFAF-4242-AEDF-AF0A0B85A7EB}" type="presParOf" srcId="{76AABBA8-7AED-49A2-9EA1-B82D59580F49}" destId="{E47CCFE2-D08B-476F-BD92-09919EBC5F63}" srcOrd="7" destOrd="0" presId="urn:microsoft.com/office/officeart/2005/8/layout/vList5"/>
    <dgm:cxn modelId="{A11DBAED-41F6-40E2-BCBA-A24118F28F55}" type="presParOf" srcId="{76AABBA8-7AED-49A2-9EA1-B82D59580F49}" destId="{10A71036-24F9-4262-B206-90B42F8C14AE}" srcOrd="8" destOrd="0" presId="urn:microsoft.com/office/officeart/2005/8/layout/vList5"/>
    <dgm:cxn modelId="{C5A47BF8-90ED-4251-90DA-DCA4581111B0}" type="presParOf" srcId="{10A71036-24F9-4262-B206-90B42F8C14AE}" destId="{71D4ACBB-0450-453A-9781-5DEE47966CD8}" srcOrd="0" destOrd="0" presId="urn:microsoft.com/office/officeart/2005/8/layout/vList5"/>
    <dgm:cxn modelId="{AD6F4410-1070-4A44-9292-4E770F2F60BE}" type="presParOf" srcId="{76AABBA8-7AED-49A2-9EA1-B82D59580F49}" destId="{9D6E8782-77B6-4623-83C8-EB4126F89196}" srcOrd="9" destOrd="0" presId="urn:microsoft.com/office/officeart/2005/8/layout/vList5"/>
    <dgm:cxn modelId="{46844596-EFE2-4E4B-AD53-DE4910B237C2}" type="presParOf" srcId="{76AABBA8-7AED-49A2-9EA1-B82D59580F49}" destId="{26A37FDF-CA8D-4685-9589-889BA9655BA4}" srcOrd="10" destOrd="0" presId="urn:microsoft.com/office/officeart/2005/8/layout/vList5"/>
    <dgm:cxn modelId="{89B728E0-DE93-4C85-AD99-AF8A89D670FA}" type="presParOf" srcId="{26A37FDF-CA8D-4685-9589-889BA9655BA4}" destId="{CB35E9F0-12A1-4D44-8D83-1D387282534E}" srcOrd="0" destOrd="0" presId="urn:microsoft.com/office/officeart/2005/8/layout/vList5"/>
    <dgm:cxn modelId="{EFF121C8-BD1B-4FC8-BB50-4976B7D95DFA}" type="presParOf" srcId="{76AABBA8-7AED-49A2-9EA1-B82D59580F49}" destId="{50006A3A-5560-4000-A11D-D26829BC47EC}" srcOrd="11" destOrd="0" presId="urn:microsoft.com/office/officeart/2005/8/layout/vList5"/>
    <dgm:cxn modelId="{A1528A1C-B1F1-4402-9E2F-82CE5BDAAEDF}" type="presParOf" srcId="{76AABBA8-7AED-49A2-9EA1-B82D59580F49}" destId="{514B5E48-9DD4-44A3-B4E6-4C03BE3E5D2B}" srcOrd="12" destOrd="0" presId="urn:microsoft.com/office/officeart/2005/8/layout/vList5"/>
    <dgm:cxn modelId="{F3FBA56A-0D30-4E30-A0DE-2BD931691379}" type="presParOf" srcId="{514B5E48-9DD4-44A3-B4E6-4C03BE3E5D2B}" destId="{BDF0D60B-CFD6-43A4-8DDA-E8E2AD7B9434}"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5E03B7-B591-4A2A-B695-014C5A39F13E}" type="datetimeFigureOut">
              <a:rPr lang="en-US"/>
              <a:t>3/19/2025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E322BB-75AD-4A1E-9661-2724167329F0}" type="slidenum">
              <a:rPr/>
              <a:t>‹#›</a:t>
            </a:fld>
            <a:endParaRPr/>
          </a:p>
        </p:txBody>
      </p:sp>
    </p:spTree>
    <p:extLst>
      <p:ext uri="{BB962C8B-B14F-4D97-AF65-F5344CB8AC3E}">
        <p14:creationId xmlns:p14="http://schemas.microsoft.com/office/powerpoint/2010/main" val="2512705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7DFBD7B-E4FB-4AA8-9540-FD148073ACB3}" type="datetimeFigureOut">
              <a:rPr lang="en-US"/>
              <a:t>3/19/2025</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45B7DE-1198-4F2F-B574-CA8CAE341642}" type="slidenum">
              <a:rPr/>
              <a:t>‹#›</a:t>
            </a:fld>
            <a:endParaRPr/>
          </a:p>
        </p:txBody>
      </p:sp>
    </p:spTree>
    <p:extLst>
      <p:ext uri="{BB962C8B-B14F-4D97-AF65-F5344CB8AC3E}">
        <p14:creationId xmlns:p14="http://schemas.microsoft.com/office/powerpoint/2010/main" val="188231245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544625-0ADF-4414-89A2-9E135F0C849F}" type="slidenum">
              <a:rPr lang="en-US" smtClean="0"/>
              <a:t>1</a:t>
            </a:fld>
            <a:endParaRPr lang="en-US"/>
          </a:p>
        </p:txBody>
      </p:sp>
    </p:spTree>
    <p:extLst>
      <p:ext uri="{BB962C8B-B14F-4D97-AF65-F5344CB8AC3E}">
        <p14:creationId xmlns:p14="http://schemas.microsoft.com/office/powerpoint/2010/main" val="24613444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544" y="758952"/>
            <a:ext cx="9415867" cy="4041648"/>
          </a:xfrm>
        </p:spPr>
        <p:txBody>
          <a:bodyPr anchor="b">
            <a:normAutofit/>
          </a:bodyPr>
          <a:lstStyle>
            <a:lvl1pPr algn="l">
              <a:lnSpc>
                <a:spcPct val="85000"/>
              </a:lnSpc>
              <a:defRPr sz="7198"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61544" y="4800600"/>
            <a:ext cx="9415867" cy="1691640"/>
          </a:xfrm>
        </p:spPr>
        <p:txBody>
          <a:bodyPr>
            <a:normAutofit/>
          </a:bodyPr>
          <a:lstStyle>
            <a:lvl1pPr marL="0" indent="0" algn="l">
              <a:buNone/>
              <a:defRPr sz="2199" baseline="0">
                <a:solidFill>
                  <a:schemeClr val="tx1">
                    <a:lumMod val="75000"/>
                  </a:schemeClr>
                </a:solidFill>
              </a:defRPr>
            </a:lvl1pPr>
            <a:lvl2pPr marL="457063" indent="0" algn="ctr">
              <a:buNone/>
              <a:defRPr sz="2199"/>
            </a:lvl2pPr>
            <a:lvl3pPr marL="914126" indent="0" algn="ctr">
              <a:buNone/>
              <a:defRPr sz="2199"/>
            </a:lvl3pPr>
            <a:lvl4pPr marL="1371189" indent="0" algn="ctr">
              <a:buNone/>
              <a:defRPr sz="1999"/>
            </a:lvl4pPr>
            <a:lvl5pPr marL="1828251" indent="0" algn="ctr">
              <a:buNone/>
              <a:defRPr sz="1999"/>
            </a:lvl5pPr>
            <a:lvl6pPr marL="2285314" indent="0" algn="ctr">
              <a:buNone/>
              <a:defRPr sz="1999"/>
            </a:lvl6pPr>
            <a:lvl7pPr marL="2742377" indent="0" algn="ctr">
              <a:buNone/>
              <a:defRPr sz="1999"/>
            </a:lvl7pPr>
            <a:lvl8pPr marL="3199440" indent="0" algn="ctr">
              <a:buNone/>
              <a:defRPr sz="1999"/>
            </a:lvl8pPr>
            <a:lvl9pPr marL="3656503" indent="0" algn="ctr">
              <a:buNone/>
              <a:defRPr sz="1999"/>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B927A63D-D9F1-434A-A156-845DF6609919}" type="datetime1">
              <a:rPr lang="en-US" smtClean="0"/>
              <a:t>3/19/2025</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r>
              <a:rPr lang="en-US" smtClean="0"/>
              <a:t>Dr. S. Nandagopalan</a:t>
            </a:r>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34C99D79-8A4B-4031-B1E0-AF26F8EDF2BC}" type="slidenum">
              <a:rPr lang="en-IN" smtClean="0"/>
              <a:t>‹#›</a:t>
            </a:fld>
            <a:endParaRPr lang="en-IN"/>
          </a:p>
        </p:txBody>
      </p:sp>
      <p:sp>
        <p:nvSpPr>
          <p:cNvPr id="7" name="Rectangle 6"/>
          <p:cNvSpPr/>
          <p:nvPr/>
        </p:nvSpPr>
        <p:spPr>
          <a:xfrm>
            <a:off x="0" y="0"/>
            <a:ext cx="45708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9481749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61543" y="365760"/>
            <a:ext cx="9690116" cy="903000"/>
          </a:xfrm>
        </p:spPr>
        <p:txBody>
          <a:bodyPr/>
          <a:lstStyle>
            <a:lvl1pPr>
              <a:defRPr b="1">
                <a:solidFill>
                  <a:schemeClr val="accent6">
                    <a:lumMod val="75000"/>
                  </a:schemeClr>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1261543" y="1412777"/>
            <a:ext cx="9690116" cy="4968552"/>
          </a:xfrm>
        </p:spPr>
        <p:txBody>
          <a:bodyPr/>
          <a:lstStyle>
            <a:lvl1pPr>
              <a:spcBef>
                <a:spcPts val="600"/>
              </a:spcBef>
              <a:spcAft>
                <a:spcPts val="600"/>
              </a:spcAft>
              <a:buClr>
                <a:srgbClr val="00B050"/>
              </a:buClr>
              <a:buSzPct val="100000"/>
              <a:defRPr sz="2400">
                <a:solidFill>
                  <a:schemeClr val="tx1"/>
                </a:solidFill>
                <a:latin typeface="Arial" panose="020B0604020202020204" pitchFamily="34" charset="0"/>
                <a:cs typeface="Arial" panose="020B0604020202020204" pitchFamily="34" charset="0"/>
              </a:defRPr>
            </a:lvl1pPr>
            <a:lvl2pPr>
              <a:defRPr sz="2400">
                <a:latin typeface="+mj-lt"/>
              </a:defRPr>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8E6A3A24-06E0-4971-AE9E-595557F76397}" type="datetime1">
              <a:rPr lang="en-US" smtClean="0"/>
              <a:t>3/19/2025</a:t>
            </a:fld>
            <a:endParaRPr lang="en-US"/>
          </a:p>
        </p:txBody>
      </p:sp>
      <p:sp>
        <p:nvSpPr>
          <p:cNvPr id="5" name="Footer Placeholder 4"/>
          <p:cNvSpPr>
            <a:spLocks noGrp="1"/>
          </p:cNvSpPr>
          <p:nvPr>
            <p:ph type="ftr" sz="quarter" idx="11"/>
          </p:nvPr>
        </p:nvSpPr>
        <p:spPr/>
        <p:txBody>
          <a:bodyPr/>
          <a:lstStyle/>
          <a:p>
            <a:r>
              <a:rPr lang="en-US" smtClean="0"/>
              <a:t>Dr. S. Nandagopalan</a:t>
            </a:r>
            <a:endParaRPr lang="en-US"/>
          </a:p>
        </p:txBody>
      </p:sp>
      <p:sp>
        <p:nvSpPr>
          <p:cNvPr id="6" name="Slide Number Placeholder 5"/>
          <p:cNvSpPr>
            <a:spLocks noGrp="1"/>
          </p:cNvSpPr>
          <p:nvPr>
            <p:ph type="sldNum" sz="quarter" idx="12"/>
          </p:nvPr>
        </p:nvSpPr>
        <p:spPr/>
        <p:txBody>
          <a:bodyPr>
            <a:normAutofit/>
          </a:bodyPr>
          <a:lstStyle>
            <a:lvl1pPr>
              <a:defRPr sz="2400">
                <a:solidFill>
                  <a:srgbClr val="FFFF00"/>
                </a:solidFill>
              </a:defRPr>
            </a:lvl1pPr>
          </a:lstStyle>
          <a:p>
            <a:fld id="{34C99D79-8A4B-4031-B1E0-AF26F8EDF2BC}" type="slidenum">
              <a:rPr lang="en-IN" smtClean="0"/>
              <a:pPr/>
              <a:t>‹#›</a:t>
            </a:fld>
            <a:endParaRPr lang="en-IN"/>
          </a:p>
        </p:txBody>
      </p:sp>
      <p:cxnSp>
        <p:nvCxnSpPr>
          <p:cNvPr id="12" name="Straight Connector 11"/>
          <p:cNvCxnSpPr/>
          <p:nvPr userDrawn="1"/>
        </p:nvCxnSpPr>
        <p:spPr>
          <a:xfrm flipH="1">
            <a:off x="477788" y="0"/>
            <a:ext cx="16768" cy="685800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Rectangle 6"/>
          <p:cNvSpPr/>
          <p:nvPr userDrawn="1"/>
        </p:nvSpPr>
        <p:spPr>
          <a:xfrm>
            <a:off x="-26268" y="0"/>
            <a:ext cx="576064" cy="6858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402433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544" y="758952"/>
            <a:ext cx="9415867" cy="4041648"/>
          </a:xfrm>
        </p:spPr>
        <p:txBody>
          <a:bodyPr anchor="b">
            <a:normAutofit/>
          </a:bodyPr>
          <a:lstStyle>
            <a:lvl1pPr>
              <a:lnSpc>
                <a:spcPct val="85000"/>
              </a:lnSpc>
              <a:defRPr sz="7198" b="0"/>
            </a:lvl1pPr>
          </a:lstStyle>
          <a:p>
            <a:r>
              <a:rPr lang="en-US" smtClean="0"/>
              <a:t>Click to edit Master title style</a:t>
            </a:r>
            <a:endParaRPr lang="en-US" dirty="0"/>
          </a:p>
        </p:txBody>
      </p:sp>
      <p:sp>
        <p:nvSpPr>
          <p:cNvPr id="3" name="Text Placeholder 2"/>
          <p:cNvSpPr>
            <a:spLocks noGrp="1"/>
          </p:cNvSpPr>
          <p:nvPr>
            <p:ph type="body" idx="1"/>
          </p:nvPr>
        </p:nvSpPr>
        <p:spPr>
          <a:xfrm>
            <a:off x="1261544" y="4800600"/>
            <a:ext cx="9415867" cy="1691640"/>
          </a:xfrm>
        </p:spPr>
        <p:txBody>
          <a:bodyPr anchor="t">
            <a:normAutofit/>
          </a:bodyPr>
          <a:lstStyle>
            <a:lvl1pPr marL="0" indent="0">
              <a:buNone/>
              <a:defRPr sz="2199">
                <a:solidFill>
                  <a:schemeClr val="tx1">
                    <a:lumMod val="65000"/>
                    <a:lumOff val="35000"/>
                  </a:schemeClr>
                </a:solidFill>
              </a:defRPr>
            </a:lvl1pPr>
            <a:lvl2pPr marL="457063" indent="0">
              <a:buNone/>
              <a:defRPr sz="1799">
                <a:solidFill>
                  <a:schemeClr val="tx1">
                    <a:tint val="75000"/>
                  </a:schemeClr>
                </a:solidFill>
              </a:defRPr>
            </a:lvl2pPr>
            <a:lvl3pPr marL="914126" indent="0">
              <a:buNone/>
              <a:defRPr sz="1600">
                <a:solidFill>
                  <a:schemeClr val="tx1">
                    <a:tint val="75000"/>
                  </a:schemeClr>
                </a:solidFill>
              </a:defRPr>
            </a:lvl3pPr>
            <a:lvl4pPr marL="1371189" indent="0">
              <a:buNone/>
              <a:defRPr sz="1400">
                <a:solidFill>
                  <a:schemeClr val="tx1">
                    <a:tint val="75000"/>
                  </a:schemeClr>
                </a:solidFill>
              </a:defRPr>
            </a:lvl4pPr>
            <a:lvl5pPr marL="1828251" indent="0">
              <a:buNone/>
              <a:defRPr sz="1400">
                <a:solidFill>
                  <a:schemeClr val="tx1">
                    <a:tint val="75000"/>
                  </a:schemeClr>
                </a:solidFill>
              </a:defRPr>
            </a:lvl5pPr>
            <a:lvl6pPr marL="2285314" indent="0">
              <a:buNone/>
              <a:defRPr sz="1400">
                <a:solidFill>
                  <a:schemeClr val="tx1">
                    <a:tint val="75000"/>
                  </a:schemeClr>
                </a:solidFill>
              </a:defRPr>
            </a:lvl6pPr>
            <a:lvl7pPr marL="2742377" indent="0">
              <a:buNone/>
              <a:defRPr sz="1400">
                <a:solidFill>
                  <a:schemeClr val="tx1">
                    <a:tint val="75000"/>
                  </a:schemeClr>
                </a:solidFill>
              </a:defRPr>
            </a:lvl7pPr>
            <a:lvl8pPr marL="3199440" indent="0">
              <a:buNone/>
              <a:defRPr sz="1400">
                <a:solidFill>
                  <a:schemeClr val="tx1">
                    <a:tint val="75000"/>
                  </a:schemeClr>
                </a:solidFill>
              </a:defRPr>
            </a:lvl8pPr>
            <a:lvl9pPr marL="3656503"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50F8EB9-AA7E-4B74-AFB7-B46B09118D9D}" type="datetime1">
              <a:rPr lang="en-US" smtClean="0"/>
              <a:t>3/19/2025</a:t>
            </a:fld>
            <a:endParaRPr lang="en-US"/>
          </a:p>
        </p:txBody>
      </p:sp>
      <p:sp>
        <p:nvSpPr>
          <p:cNvPr id="5" name="Footer Placeholder 4"/>
          <p:cNvSpPr>
            <a:spLocks noGrp="1"/>
          </p:cNvSpPr>
          <p:nvPr>
            <p:ph type="ftr" sz="quarter" idx="11"/>
          </p:nvPr>
        </p:nvSpPr>
        <p:spPr/>
        <p:txBody>
          <a:bodyPr/>
          <a:lstStyle/>
          <a:p>
            <a:r>
              <a:rPr lang="en-US" smtClean="0"/>
              <a:t>Dr. S. Nandagopalan</a:t>
            </a:r>
            <a:endParaRPr lang="en-US"/>
          </a:p>
        </p:txBody>
      </p:sp>
      <p:sp>
        <p:nvSpPr>
          <p:cNvPr id="6" name="Slide Number Placeholder 5"/>
          <p:cNvSpPr>
            <a:spLocks noGrp="1"/>
          </p:cNvSpPr>
          <p:nvPr>
            <p:ph type="sldNum" sz="quarter" idx="12"/>
          </p:nvPr>
        </p:nvSpPr>
        <p:spPr/>
        <p:txBody>
          <a:bodyPr>
            <a:normAutofit/>
          </a:bodyPr>
          <a:lstStyle>
            <a:lvl1pPr>
              <a:defRPr sz="1600">
                <a:solidFill>
                  <a:schemeClr val="bg1"/>
                </a:solidFill>
              </a:defRPr>
            </a:lvl1pPr>
          </a:lstStyle>
          <a:p>
            <a:fld id="{34C99D79-8A4B-4031-B1E0-AF26F8EDF2BC}" type="slidenum">
              <a:rPr lang="en-IN" smtClean="0"/>
              <a:pPr/>
              <a:t>‹#›</a:t>
            </a:fld>
            <a:endParaRPr lang="en-IN" dirty="0"/>
          </a:p>
        </p:txBody>
      </p:sp>
      <p:sp>
        <p:nvSpPr>
          <p:cNvPr id="7" name="Rectangle 6"/>
          <p:cNvSpPr/>
          <p:nvPr/>
        </p:nvSpPr>
        <p:spPr>
          <a:xfrm>
            <a:off x="0" y="0"/>
            <a:ext cx="45708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37806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61543" y="1828801"/>
            <a:ext cx="4479393" cy="4351337"/>
          </a:xfrm>
        </p:spPr>
        <p:txBody>
          <a:bodyPr/>
          <a:lstStyle>
            <a:lvl1pPr>
              <a:defRPr sz="1799"/>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24885" y="1828801"/>
            <a:ext cx="4479393" cy="4351337"/>
          </a:xfrm>
        </p:spPr>
        <p:txBody>
          <a:bodyPr/>
          <a:lstStyle>
            <a:lvl1pPr>
              <a:defRPr sz="1799"/>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126DD9D-6493-4D07-9FB9-919089FF439E}" type="datetime1">
              <a:rPr lang="en-US" smtClean="0"/>
              <a:t>3/19/2025</a:t>
            </a:fld>
            <a:endParaRPr lang="en-US"/>
          </a:p>
        </p:txBody>
      </p:sp>
      <p:sp>
        <p:nvSpPr>
          <p:cNvPr id="6" name="Footer Placeholder 5"/>
          <p:cNvSpPr>
            <a:spLocks noGrp="1"/>
          </p:cNvSpPr>
          <p:nvPr>
            <p:ph type="ftr" sz="quarter" idx="11"/>
          </p:nvPr>
        </p:nvSpPr>
        <p:spPr/>
        <p:txBody>
          <a:bodyPr/>
          <a:lstStyle/>
          <a:p>
            <a:r>
              <a:rPr lang="en-US" smtClean="0"/>
              <a:t>Dr. S. Nandagopalan</a:t>
            </a:r>
            <a:endParaRPr lang="en-US"/>
          </a:p>
        </p:txBody>
      </p:sp>
      <p:sp>
        <p:nvSpPr>
          <p:cNvPr id="7" name="Slide Number Placeholder 6"/>
          <p:cNvSpPr>
            <a:spLocks noGrp="1"/>
          </p:cNvSpPr>
          <p:nvPr>
            <p:ph type="sldNum" sz="quarter" idx="12"/>
          </p:nvPr>
        </p:nvSpPr>
        <p:spPr/>
        <p:txBody>
          <a:bodyPr/>
          <a:lstStyle/>
          <a:p>
            <a:fld id="{34C99D79-8A4B-4031-B1E0-AF26F8EDF2BC}" type="slidenum">
              <a:rPr lang="en-IN" smtClean="0"/>
              <a:t>‹#›</a:t>
            </a:fld>
            <a:endParaRPr lang="en-IN"/>
          </a:p>
        </p:txBody>
      </p:sp>
    </p:spTree>
    <p:extLst>
      <p:ext uri="{BB962C8B-B14F-4D97-AF65-F5344CB8AC3E}">
        <p14:creationId xmlns:p14="http://schemas.microsoft.com/office/powerpoint/2010/main" val="2303567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61543" y="1713655"/>
            <a:ext cx="4479393" cy="731520"/>
          </a:xfrm>
        </p:spPr>
        <p:txBody>
          <a:bodyPr anchor="b">
            <a:normAutofit/>
          </a:bodyPr>
          <a:lstStyle>
            <a:lvl1pPr marL="0" indent="0">
              <a:spcBef>
                <a:spcPts val="0"/>
              </a:spcBef>
              <a:buNone/>
              <a:defRPr sz="1999" b="0">
                <a:solidFill>
                  <a:schemeClr val="tx2"/>
                </a:solidFill>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61543" y="2507550"/>
            <a:ext cx="4479393" cy="3664650"/>
          </a:xfrm>
        </p:spPr>
        <p:txBody>
          <a:bodyPr/>
          <a:lstStyle>
            <a:lvl1pPr>
              <a:defRPr sz="1799"/>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24885" y="1713655"/>
            <a:ext cx="4479393" cy="731520"/>
          </a:xfrm>
        </p:spPr>
        <p:txBody>
          <a:bodyPr anchor="b">
            <a:normAutofit/>
          </a:bodyPr>
          <a:lstStyle>
            <a:lvl1pPr marL="0" indent="0">
              <a:lnSpc>
                <a:spcPct val="95000"/>
              </a:lnSpc>
              <a:spcBef>
                <a:spcPts val="0"/>
              </a:spcBef>
              <a:buNone/>
              <a:defRPr lang="en-US" sz="1999" b="0" kern="1200" dirty="0">
                <a:solidFill>
                  <a:schemeClr val="tx2"/>
                </a:solidFill>
                <a:latin typeface="+mn-lt"/>
                <a:ea typeface="+mn-ea"/>
                <a:cs typeface="+mn-cs"/>
              </a:defRPr>
            </a:lvl1pPr>
            <a:lvl2pPr marL="457063" indent="0">
              <a:buNone/>
              <a:defRPr sz="1999" b="1"/>
            </a:lvl2pPr>
            <a:lvl3pPr marL="914126" indent="0">
              <a:buNone/>
              <a:defRPr sz="1799" b="1"/>
            </a:lvl3pPr>
            <a:lvl4pPr marL="1371189" indent="0">
              <a:buNone/>
              <a:defRPr sz="1600" b="1"/>
            </a:lvl4pPr>
            <a:lvl5pPr marL="1828251" indent="0">
              <a:buNone/>
              <a:defRPr sz="1600" b="1"/>
            </a:lvl5pPr>
            <a:lvl6pPr marL="2285314" indent="0">
              <a:buNone/>
              <a:defRPr sz="1600" b="1"/>
            </a:lvl6pPr>
            <a:lvl7pPr marL="2742377" indent="0">
              <a:buNone/>
              <a:defRPr sz="1600" b="1"/>
            </a:lvl7pPr>
            <a:lvl8pPr marL="3199440" indent="0">
              <a:buNone/>
              <a:defRPr sz="1600" b="1"/>
            </a:lvl8pPr>
            <a:lvl9pPr marL="3656503" indent="0">
              <a:buNone/>
              <a:defRPr sz="1600" b="1"/>
            </a:lvl9pPr>
          </a:lstStyle>
          <a:p>
            <a:pPr marL="0" lvl="0" indent="0" algn="l" defTabSz="914126" rtl="0" eaLnBrk="1" latinLnBrk="0" hangingPunct="1">
              <a:lnSpc>
                <a:spcPct val="90000"/>
              </a:lnSpc>
              <a:spcBef>
                <a:spcPts val="1999"/>
              </a:spcBef>
              <a:buFontTx/>
              <a:buNone/>
            </a:pPr>
            <a:r>
              <a:rPr lang="en-US" smtClean="0"/>
              <a:t>Click to edit Master text styles</a:t>
            </a:r>
          </a:p>
        </p:txBody>
      </p:sp>
      <p:sp>
        <p:nvSpPr>
          <p:cNvPr id="6" name="Content Placeholder 5"/>
          <p:cNvSpPr>
            <a:spLocks noGrp="1"/>
          </p:cNvSpPr>
          <p:nvPr>
            <p:ph sz="quarter" idx="4"/>
          </p:nvPr>
        </p:nvSpPr>
        <p:spPr>
          <a:xfrm>
            <a:off x="6124885" y="2507550"/>
            <a:ext cx="4479393" cy="3664650"/>
          </a:xfrm>
        </p:spPr>
        <p:txBody>
          <a:bodyPr/>
          <a:lstStyle>
            <a:lvl1pPr>
              <a:defRPr sz="1799"/>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04B684A-77D1-4367-811B-A563D0CC0B4D}" type="datetime1">
              <a:rPr lang="en-US" smtClean="0"/>
              <a:t>3/19/2025</a:t>
            </a:fld>
            <a:endParaRPr lang="en-US"/>
          </a:p>
        </p:txBody>
      </p:sp>
      <p:sp>
        <p:nvSpPr>
          <p:cNvPr id="8" name="Footer Placeholder 7"/>
          <p:cNvSpPr>
            <a:spLocks noGrp="1"/>
          </p:cNvSpPr>
          <p:nvPr>
            <p:ph type="ftr" sz="quarter" idx="11"/>
          </p:nvPr>
        </p:nvSpPr>
        <p:spPr/>
        <p:txBody>
          <a:bodyPr/>
          <a:lstStyle/>
          <a:p>
            <a:r>
              <a:rPr lang="en-US" smtClean="0"/>
              <a:t>Dr. S. Nandagopalan</a:t>
            </a:r>
            <a:endParaRPr lang="en-US"/>
          </a:p>
        </p:txBody>
      </p:sp>
      <p:sp>
        <p:nvSpPr>
          <p:cNvPr id="9" name="Slide Number Placeholder 8"/>
          <p:cNvSpPr>
            <a:spLocks noGrp="1"/>
          </p:cNvSpPr>
          <p:nvPr>
            <p:ph type="sldNum" sz="quarter" idx="12"/>
          </p:nvPr>
        </p:nvSpPr>
        <p:spPr/>
        <p:txBody>
          <a:bodyPr/>
          <a:lstStyle/>
          <a:p>
            <a:fld id="{34C99D79-8A4B-4031-B1E0-AF26F8EDF2BC}" type="slidenum">
              <a:rPr lang="en-IN" smtClean="0"/>
              <a:t>‹#›</a:t>
            </a:fld>
            <a:endParaRPr lang="en-IN"/>
          </a:p>
        </p:txBody>
      </p:sp>
    </p:spTree>
    <p:extLst>
      <p:ext uri="{BB962C8B-B14F-4D97-AF65-F5344CB8AC3E}">
        <p14:creationId xmlns:p14="http://schemas.microsoft.com/office/powerpoint/2010/main" val="920023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B46002B-A4F5-44D7-956E-22201829C674}" type="datetime1">
              <a:rPr lang="en-US" smtClean="0"/>
              <a:t>3/19/2025</a:t>
            </a:fld>
            <a:endParaRPr lang="en-US"/>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t>‹#›</a:t>
            </a:fld>
            <a:endParaRPr lang="en-IN"/>
          </a:p>
        </p:txBody>
      </p:sp>
    </p:spTree>
    <p:extLst>
      <p:ext uri="{BB962C8B-B14F-4D97-AF65-F5344CB8AC3E}">
        <p14:creationId xmlns:p14="http://schemas.microsoft.com/office/powerpoint/2010/main" val="4088384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DEE30F-3332-492E-8378-BE4DAEA3912E}" type="datetime1">
              <a:rPr lang="en-US" smtClean="0"/>
              <a:t>3/19/2025</a:t>
            </a:fld>
            <a:endParaRPr lang="en-US"/>
          </a:p>
        </p:txBody>
      </p:sp>
      <p:sp>
        <p:nvSpPr>
          <p:cNvPr id="3" name="Footer Placeholder 2"/>
          <p:cNvSpPr>
            <a:spLocks noGrp="1"/>
          </p:cNvSpPr>
          <p:nvPr>
            <p:ph type="ftr" sz="quarter" idx="11"/>
          </p:nvPr>
        </p:nvSpPr>
        <p:spPr/>
        <p:txBody>
          <a:bodyPr/>
          <a:lstStyle/>
          <a:p>
            <a:r>
              <a:rPr lang="en-US" smtClean="0"/>
              <a:t>Dr. S. Nandagopalan</a:t>
            </a:r>
            <a:endParaRPr lang="en-US"/>
          </a:p>
        </p:txBody>
      </p:sp>
      <p:sp>
        <p:nvSpPr>
          <p:cNvPr id="4" name="Slide Number Placeholder 3"/>
          <p:cNvSpPr>
            <a:spLocks noGrp="1"/>
          </p:cNvSpPr>
          <p:nvPr>
            <p:ph type="sldNum" sz="quarter" idx="12"/>
          </p:nvPr>
        </p:nvSpPr>
        <p:spPr/>
        <p:txBody>
          <a:bodyPr/>
          <a:lstStyle/>
          <a:p>
            <a:fld id="{34C99D79-8A4B-4031-B1E0-AF26F8EDF2BC}" type="slidenum">
              <a:rPr lang="en-IN" smtClean="0"/>
              <a:t>‹#›</a:t>
            </a:fld>
            <a:endParaRPr lang="en-IN"/>
          </a:p>
        </p:txBody>
      </p:sp>
    </p:spTree>
    <p:extLst>
      <p:ext uri="{BB962C8B-B14F-4D97-AF65-F5344CB8AC3E}">
        <p14:creationId xmlns:p14="http://schemas.microsoft.com/office/powerpoint/2010/main" val="1974810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029" y="457201"/>
            <a:ext cx="3199567" cy="1600197"/>
          </a:xfrm>
        </p:spPr>
        <p:txBody>
          <a:bodyPr anchor="b">
            <a:normAutofit/>
          </a:bodyPr>
          <a:lstStyle>
            <a:lvl1pPr>
              <a:defRPr sz="3199" b="0" baseline="0"/>
            </a:lvl1pPr>
          </a:lstStyle>
          <a:p>
            <a:r>
              <a:rPr lang="en-US" smtClean="0"/>
              <a:t>Click to edit Master title style</a:t>
            </a:r>
            <a:endParaRPr lang="en-US" dirty="0"/>
          </a:p>
        </p:txBody>
      </p:sp>
      <p:sp>
        <p:nvSpPr>
          <p:cNvPr id="3" name="Content Placeholder 2"/>
          <p:cNvSpPr>
            <a:spLocks noGrp="1"/>
          </p:cNvSpPr>
          <p:nvPr>
            <p:ph idx="1"/>
          </p:nvPr>
        </p:nvSpPr>
        <p:spPr>
          <a:xfrm>
            <a:off x="4503094" y="685800"/>
            <a:ext cx="6077483" cy="5486400"/>
          </a:xfrm>
        </p:spPr>
        <p:txBody>
          <a:bodyPr/>
          <a:lstStyle>
            <a:lvl1pPr>
              <a:defRPr sz="1999"/>
            </a:lvl1pPr>
            <a:lvl2pPr>
              <a:defRPr sz="1799"/>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029" y="2099735"/>
            <a:ext cx="3199567" cy="3810001"/>
          </a:xfrm>
        </p:spPr>
        <p:txBody>
          <a:bodyPr>
            <a:normAutofit/>
          </a:bodyPr>
          <a:lstStyle>
            <a:lvl1pPr marL="0" indent="0">
              <a:lnSpc>
                <a:spcPct val="114000"/>
              </a:lnSpc>
              <a:spcBef>
                <a:spcPts val="800"/>
              </a:spcBef>
              <a:buNone/>
              <a:defRPr sz="1300"/>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49B478-C27F-4D01-B4A3-0CDF1FAEE2C4}" type="datetime1">
              <a:rPr lang="en-US" smtClean="0"/>
              <a:t>3/19/2025</a:t>
            </a:fld>
            <a:endParaRPr lang="en-US"/>
          </a:p>
        </p:txBody>
      </p:sp>
      <p:sp>
        <p:nvSpPr>
          <p:cNvPr id="6" name="Footer Placeholder 5"/>
          <p:cNvSpPr>
            <a:spLocks noGrp="1"/>
          </p:cNvSpPr>
          <p:nvPr>
            <p:ph type="ftr" sz="quarter" idx="11"/>
          </p:nvPr>
        </p:nvSpPr>
        <p:spPr/>
        <p:txBody>
          <a:bodyPr/>
          <a:lstStyle/>
          <a:p>
            <a:r>
              <a:rPr lang="en-US" smtClean="0"/>
              <a:t>Dr. S. Nandagopalan</a:t>
            </a:r>
            <a:endParaRPr lang="en-US"/>
          </a:p>
        </p:txBody>
      </p:sp>
      <p:sp>
        <p:nvSpPr>
          <p:cNvPr id="7" name="Slide Number Placeholder 6"/>
          <p:cNvSpPr>
            <a:spLocks noGrp="1"/>
          </p:cNvSpPr>
          <p:nvPr>
            <p:ph type="sldNum" sz="quarter" idx="12"/>
          </p:nvPr>
        </p:nvSpPr>
        <p:spPr/>
        <p:txBody>
          <a:bodyPr/>
          <a:lstStyle/>
          <a:p>
            <a:fld id="{34C99D79-8A4B-4031-B1E0-AF26F8EDF2BC}" type="slidenum">
              <a:rPr lang="en-IN" smtClean="0"/>
              <a:t>‹#›</a:t>
            </a:fld>
            <a:endParaRPr lang="en-IN"/>
          </a:p>
        </p:txBody>
      </p:sp>
    </p:spTree>
    <p:extLst>
      <p:ext uri="{BB962C8B-B14F-4D97-AF65-F5344CB8AC3E}">
        <p14:creationId xmlns:p14="http://schemas.microsoft.com/office/powerpoint/2010/main" val="4212577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89899"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162" y="5257800"/>
            <a:ext cx="9979600" cy="914400"/>
          </a:xfrm>
        </p:spPr>
        <p:txBody>
          <a:bodyPr anchor="b">
            <a:normAutofit/>
          </a:bodyPr>
          <a:lstStyle>
            <a:lvl1pPr>
              <a:defRPr sz="2799" b="0">
                <a:solidFill>
                  <a:schemeClr val="bg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1289899" cy="5128923"/>
          </a:xfrm>
          <a:solidFill>
            <a:schemeClr val="accent1"/>
          </a:solidFill>
        </p:spPr>
        <p:txBody>
          <a:bodyPr anchor="t"/>
          <a:lstStyle>
            <a:lvl1pPr marL="0" indent="0">
              <a:buNone/>
              <a:defRPr sz="3199">
                <a:solidFill>
                  <a:schemeClr val="bg1"/>
                </a:solidFill>
              </a:defRPr>
            </a:lvl1pPr>
            <a:lvl2pPr marL="457063" indent="0">
              <a:buNone/>
              <a:defRPr sz="2799"/>
            </a:lvl2pPr>
            <a:lvl3pPr marL="914126" indent="0">
              <a:buNone/>
              <a:defRPr sz="2399"/>
            </a:lvl3pPr>
            <a:lvl4pPr marL="1371189" indent="0">
              <a:buNone/>
              <a:defRPr sz="1999"/>
            </a:lvl4pPr>
            <a:lvl5pPr marL="1828251" indent="0">
              <a:buNone/>
              <a:defRPr sz="1999"/>
            </a:lvl5pPr>
            <a:lvl6pPr marL="2285314" indent="0">
              <a:buNone/>
              <a:defRPr sz="1999"/>
            </a:lvl6pPr>
            <a:lvl7pPr marL="2742377" indent="0">
              <a:buNone/>
              <a:defRPr sz="1999"/>
            </a:lvl7pPr>
            <a:lvl8pPr marL="3199440" indent="0">
              <a:buNone/>
              <a:defRPr sz="1999"/>
            </a:lvl8pPr>
            <a:lvl9pPr marL="3656503" indent="0">
              <a:buNone/>
              <a:defRPr sz="1999"/>
            </a:lvl9pPr>
          </a:lstStyle>
          <a:p>
            <a:r>
              <a:rPr lang="en-US" smtClean="0"/>
              <a:t>Click icon to add picture</a:t>
            </a:r>
            <a:endParaRPr lang="en-US"/>
          </a:p>
        </p:txBody>
      </p:sp>
      <p:sp>
        <p:nvSpPr>
          <p:cNvPr id="4" name="Text Placeholder 3"/>
          <p:cNvSpPr>
            <a:spLocks noGrp="1"/>
          </p:cNvSpPr>
          <p:nvPr>
            <p:ph type="body" sz="half" idx="2"/>
          </p:nvPr>
        </p:nvSpPr>
        <p:spPr>
          <a:xfrm>
            <a:off x="914162" y="6108590"/>
            <a:ext cx="99796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063" indent="0">
              <a:buNone/>
              <a:defRPr sz="1200"/>
            </a:lvl2pPr>
            <a:lvl3pPr marL="914126" indent="0">
              <a:buNone/>
              <a:defRPr sz="1000"/>
            </a:lvl3pPr>
            <a:lvl4pPr marL="1371189" indent="0">
              <a:buNone/>
              <a:defRPr sz="900"/>
            </a:lvl4pPr>
            <a:lvl5pPr marL="1828251" indent="0">
              <a:buNone/>
              <a:defRPr sz="900"/>
            </a:lvl5pPr>
            <a:lvl6pPr marL="2285314" indent="0">
              <a:buNone/>
              <a:defRPr sz="900"/>
            </a:lvl6pPr>
            <a:lvl7pPr marL="2742377" indent="0">
              <a:buNone/>
              <a:defRPr sz="900"/>
            </a:lvl7pPr>
            <a:lvl8pPr marL="3199440" indent="0">
              <a:buNone/>
              <a:defRPr sz="900"/>
            </a:lvl8pPr>
            <a:lvl9pPr marL="3656503"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DDBE500-BCF9-4E7B-A5C0-F5A860E71758}" type="datetime1">
              <a:rPr lang="en-US" smtClean="0"/>
              <a:t>3/19/2025</a:t>
            </a:fld>
            <a:endParaRPr lang="en-US"/>
          </a:p>
        </p:txBody>
      </p:sp>
      <p:sp>
        <p:nvSpPr>
          <p:cNvPr id="6" name="Footer Placeholder 5"/>
          <p:cNvSpPr>
            <a:spLocks noGrp="1"/>
          </p:cNvSpPr>
          <p:nvPr>
            <p:ph type="ftr" sz="quarter" idx="11"/>
          </p:nvPr>
        </p:nvSpPr>
        <p:spPr/>
        <p:txBody>
          <a:bodyPr/>
          <a:lstStyle/>
          <a:p>
            <a:r>
              <a:rPr lang="en-US" smtClean="0"/>
              <a:t>Dr. S. Nandagopalan</a:t>
            </a:r>
            <a:endParaRPr lang="en-US"/>
          </a:p>
        </p:txBody>
      </p:sp>
      <p:sp>
        <p:nvSpPr>
          <p:cNvPr id="7" name="Slide Number Placeholder 6"/>
          <p:cNvSpPr>
            <a:spLocks noGrp="1"/>
          </p:cNvSpPr>
          <p:nvPr>
            <p:ph type="sldNum" sz="quarter" idx="12"/>
          </p:nvPr>
        </p:nvSpPr>
        <p:spPr/>
        <p:txBody>
          <a:bodyPr/>
          <a:lstStyle/>
          <a:p>
            <a:fld id="{34C99D79-8A4B-4031-B1E0-AF26F8EDF2BC}" type="slidenum">
              <a:rPr lang="en-IN" smtClean="0"/>
              <a:t>‹#›</a:t>
            </a:fld>
            <a:endParaRPr lang="en-IN"/>
          </a:p>
        </p:txBody>
      </p:sp>
    </p:spTree>
    <p:extLst>
      <p:ext uri="{BB962C8B-B14F-4D97-AF65-F5344CB8AC3E}">
        <p14:creationId xmlns:p14="http://schemas.microsoft.com/office/powerpoint/2010/main" val="1504060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219CEBD-3AAA-4553-AECB-86926EB75B9F}" type="datetime1">
              <a:rPr lang="en-US" smtClean="0"/>
              <a:t>3/19/2025</a:t>
            </a:fld>
            <a:endParaRPr lang="en-US"/>
          </a:p>
        </p:txBody>
      </p:sp>
      <p:sp>
        <p:nvSpPr>
          <p:cNvPr id="5" name="Footer Placeholder 4"/>
          <p:cNvSpPr>
            <a:spLocks noGrp="1"/>
          </p:cNvSpPr>
          <p:nvPr>
            <p:ph type="ftr" sz="quarter" idx="11"/>
          </p:nvPr>
        </p:nvSpPr>
        <p:spPr/>
        <p:txBody>
          <a:bodyPr/>
          <a:lstStyle/>
          <a:p>
            <a:r>
              <a:rPr lang="en-US" smtClean="0"/>
              <a:t>Dr. S. Nandagopalan</a:t>
            </a:r>
            <a:endParaRPr lang="en-US"/>
          </a:p>
        </p:txBody>
      </p:sp>
      <p:sp>
        <p:nvSpPr>
          <p:cNvPr id="6" name="Slide Number Placeholder 5"/>
          <p:cNvSpPr>
            <a:spLocks noGrp="1"/>
          </p:cNvSpPr>
          <p:nvPr>
            <p:ph type="sldNum" sz="quarter" idx="12"/>
          </p:nvPr>
        </p:nvSpPr>
        <p:spPr/>
        <p:txBody>
          <a:bodyPr/>
          <a:lstStyle/>
          <a:p>
            <a:fld id="{34C99D79-8A4B-4031-B1E0-AF26F8EDF2BC}" type="slidenum">
              <a:rPr lang="en-IN" smtClean="0"/>
              <a:t>‹#›</a:t>
            </a:fld>
            <a:endParaRPr lang="en-IN"/>
          </a:p>
        </p:txBody>
      </p:sp>
    </p:spTree>
    <p:extLst>
      <p:ext uri="{BB962C8B-B14F-4D97-AF65-F5344CB8AC3E}">
        <p14:creationId xmlns:p14="http://schemas.microsoft.com/office/powerpoint/2010/main" val="4064606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6448" y="381000"/>
            <a:ext cx="2475855"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61801" y="381000"/>
            <a:ext cx="7732286"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FA781B-3A5E-48F8-A696-0ACE56425A76}" type="datetime1">
              <a:rPr lang="en-US" smtClean="0"/>
              <a:t>3/19/2025</a:t>
            </a:fld>
            <a:endParaRPr lang="en-US"/>
          </a:p>
        </p:txBody>
      </p:sp>
      <p:sp>
        <p:nvSpPr>
          <p:cNvPr id="5" name="Footer Placeholder 4"/>
          <p:cNvSpPr>
            <a:spLocks noGrp="1"/>
          </p:cNvSpPr>
          <p:nvPr>
            <p:ph type="ftr" sz="quarter" idx="11"/>
          </p:nvPr>
        </p:nvSpPr>
        <p:spPr/>
        <p:txBody>
          <a:bodyPr/>
          <a:lstStyle/>
          <a:p>
            <a:r>
              <a:rPr lang="en-US" smtClean="0"/>
              <a:t>Dr. S. Nandagopalan</a:t>
            </a:r>
            <a:endParaRPr lang="en-US"/>
          </a:p>
        </p:txBody>
      </p:sp>
      <p:sp>
        <p:nvSpPr>
          <p:cNvPr id="6" name="Slide Number Placeholder 5"/>
          <p:cNvSpPr>
            <a:spLocks noGrp="1"/>
          </p:cNvSpPr>
          <p:nvPr>
            <p:ph type="sldNum" sz="quarter" idx="12"/>
          </p:nvPr>
        </p:nvSpPr>
        <p:spPr/>
        <p:txBody>
          <a:bodyPr/>
          <a:lstStyle/>
          <a:p>
            <a:fld id="{34C99D79-8A4B-4031-B1E0-AF26F8EDF2BC}" type="slidenum">
              <a:rPr lang="en-IN" smtClean="0"/>
              <a:t>‹#›</a:t>
            </a:fld>
            <a:endParaRPr lang="en-IN"/>
          </a:p>
        </p:txBody>
      </p:sp>
    </p:spTree>
    <p:extLst>
      <p:ext uri="{BB962C8B-B14F-4D97-AF65-F5344CB8AC3E}">
        <p14:creationId xmlns:p14="http://schemas.microsoft.com/office/powerpoint/2010/main" val="2056548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89899" y="0"/>
            <a:ext cx="914162"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543" y="365760"/>
            <a:ext cx="9690116" cy="1325562"/>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61543" y="1828801"/>
            <a:ext cx="8593122"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6200000">
            <a:off x="10794483" y="998585"/>
            <a:ext cx="1904999" cy="365030"/>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D43ED9AB-1BCD-45D1-AED8-31F5CCB53092}" type="datetime1">
              <a:rPr lang="en-US" smtClean="0"/>
              <a:t>3/19/2025</a:t>
            </a:fld>
            <a:endParaRPr lang="en-US"/>
          </a:p>
        </p:txBody>
      </p:sp>
      <p:sp>
        <p:nvSpPr>
          <p:cNvPr id="5" name="Footer Placeholder 4"/>
          <p:cNvSpPr>
            <a:spLocks noGrp="1"/>
          </p:cNvSpPr>
          <p:nvPr>
            <p:ph type="ftr" sz="quarter" idx="3"/>
          </p:nvPr>
        </p:nvSpPr>
        <p:spPr>
          <a:xfrm rot="16200000">
            <a:off x="9956281" y="4046585"/>
            <a:ext cx="3581400" cy="365030"/>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r>
              <a:rPr lang="en-US" smtClean="0"/>
              <a:t>Dr. S. Nandagopalan</a:t>
            </a:r>
            <a:endParaRPr lang="en-US"/>
          </a:p>
        </p:txBody>
      </p:sp>
      <p:sp>
        <p:nvSpPr>
          <p:cNvPr id="6" name="Slide Number Placeholder 5"/>
          <p:cNvSpPr>
            <a:spLocks noGrp="1"/>
          </p:cNvSpPr>
          <p:nvPr>
            <p:ph type="sldNum" sz="quarter" idx="4"/>
          </p:nvPr>
        </p:nvSpPr>
        <p:spPr>
          <a:xfrm>
            <a:off x="11289899" y="6172201"/>
            <a:ext cx="914162" cy="593725"/>
          </a:xfrm>
          <a:prstGeom prst="rect">
            <a:avLst/>
          </a:prstGeom>
        </p:spPr>
        <p:txBody>
          <a:bodyPr vert="horz" lIns="45720" tIns="45720" rIns="45720" bIns="45720" rtlCol="0" anchor="ctr">
            <a:normAutofit/>
          </a:bodyPr>
          <a:lstStyle>
            <a:lvl1pPr algn="ctr">
              <a:defRPr sz="3599">
                <a:solidFill>
                  <a:schemeClr val="tx2">
                    <a:lumMod val="60000"/>
                    <a:lumOff val="40000"/>
                  </a:schemeClr>
                </a:solidFill>
              </a:defRPr>
            </a:lvl1pPr>
          </a:lstStyle>
          <a:p>
            <a:fld id="{34C99D79-8A4B-4031-B1E0-AF26F8EDF2BC}" type="slidenum">
              <a:rPr lang="en-IN" smtClean="0"/>
              <a:pPr/>
              <a:t>‹#›</a:t>
            </a:fld>
            <a:endParaRPr lang="en-IN"/>
          </a:p>
        </p:txBody>
      </p:sp>
    </p:spTree>
    <p:extLst>
      <p:ext uri="{BB962C8B-B14F-4D97-AF65-F5344CB8AC3E}">
        <p14:creationId xmlns:p14="http://schemas.microsoft.com/office/powerpoint/2010/main" val="12111293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dt="0"/>
  <p:txStyles>
    <p:titleStyle>
      <a:lvl1pPr algn="l" defTabSz="914126" rtl="0" eaLnBrk="1" latinLnBrk="0" hangingPunct="1">
        <a:lnSpc>
          <a:spcPct val="90000"/>
        </a:lnSpc>
        <a:spcBef>
          <a:spcPct val="0"/>
        </a:spcBef>
        <a:buNone/>
        <a:defRPr sz="4399" kern="1200" spc="-50" baseline="0">
          <a:solidFill>
            <a:schemeClr val="tx1"/>
          </a:solidFill>
          <a:latin typeface="+mj-lt"/>
          <a:ea typeface="+mj-ea"/>
          <a:cs typeface="+mj-cs"/>
        </a:defRPr>
      </a:lvl1pPr>
    </p:titleStyle>
    <p:bodyStyle>
      <a:lvl1pPr marL="182825" indent="-182825" algn="l" defTabSz="914126" rtl="0" eaLnBrk="1" latinLnBrk="0" hangingPunct="1">
        <a:lnSpc>
          <a:spcPct val="95000"/>
        </a:lnSpc>
        <a:spcBef>
          <a:spcPts val="1400"/>
        </a:spcBef>
        <a:spcAft>
          <a:spcPts val="200"/>
        </a:spcAft>
        <a:buClr>
          <a:schemeClr val="accent1"/>
        </a:buClr>
        <a:buSzPct val="80000"/>
        <a:buFont typeface="Arial" pitchFamily="34" charset="0"/>
        <a:buChar char="•"/>
        <a:defRPr sz="1799" kern="1200" spc="10" baseline="0">
          <a:solidFill>
            <a:schemeClr val="tx1"/>
          </a:solidFill>
          <a:latin typeface="+mn-lt"/>
          <a:ea typeface="+mn-ea"/>
          <a:cs typeface="+mn-cs"/>
        </a:defRPr>
      </a:lvl1pPr>
      <a:lvl2pPr marL="457063" indent="-182825" algn="l" defTabSz="914126"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301" indent="-182825" algn="l" defTabSz="914126"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538" indent="-182825" algn="l" defTabSz="914126"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79776" indent="-182825" algn="l" defTabSz="914126"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599520" indent="-228531" algn="l" defTabSz="914126"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899430" indent="-228531" algn="l" defTabSz="914126"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199340" indent="-228531" algn="l" defTabSz="914126"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499250" indent="-228531" algn="l" defTabSz="914126"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jpeg"/></Relationships>
</file>

<file path=ppt/slides/_rels/slide2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 Id="rId4" Type="http://schemas.openxmlformats.org/officeDocument/2006/relationships/image" Target="../media/image38.jpeg"/></Relationships>
</file>

<file path=ppt/slides/_rels/slide2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0C7600-5BA8-4A54-887F-74AF87750A31}"/>
              </a:ext>
            </a:extLst>
          </p:cNvPr>
          <p:cNvSpPr>
            <a:spLocks noGrp="1"/>
          </p:cNvSpPr>
          <p:nvPr>
            <p:ph type="title"/>
          </p:nvPr>
        </p:nvSpPr>
        <p:spPr/>
        <p:txBody>
          <a:bodyPr/>
          <a:lstStyle/>
          <a:p>
            <a:r>
              <a:rPr lang="en-US" sz="6000" dirty="0" smtClean="0"/>
              <a:t>Module  9:</a:t>
            </a:r>
            <a:r>
              <a:rPr lang="en-US" dirty="0" smtClean="0"/>
              <a:t/>
            </a:r>
            <a:br>
              <a:rPr lang="en-US" dirty="0" smtClean="0"/>
            </a:br>
            <a:r>
              <a:rPr lang="en-US" sz="6600" dirty="0" smtClean="0">
                <a:solidFill>
                  <a:srgbClr val="FF0066"/>
                </a:solidFill>
              </a:rPr>
              <a:t>Social-Network Graphs</a:t>
            </a:r>
            <a:endParaRPr lang="en-IN" dirty="0">
              <a:solidFill>
                <a:srgbClr val="FF0066"/>
              </a:solidFill>
            </a:endParaRPr>
          </a:p>
        </p:txBody>
      </p:sp>
      <p:sp>
        <p:nvSpPr>
          <p:cNvPr id="8" name="Text Placeholder 7"/>
          <p:cNvSpPr>
            <a:spLocks noGrp="1"/>
          </p:cNvSpPr>
          <p:nvPr>
            <p:ph type="body" idx="1"/>
          </p:nvPr>
        </p:nvSpPr>
        <p:spPr/>
        <p:txBody>
          <a:bodyPr/>
          <a:lstStyle/>
          <a:p>
            <a:endParaRPr lang="en-US" smtClean="0"/>
          </a:p>
          <a:p>
            <a:r>
              <a:rPr lang="en-US" smtClean="0"/>
              <a:t>By </a:t>
            </a:r>
            <a:r>
              <a:rPr lang="en-US" smtClean="0">
                <a:solidFill>
                  <a:srgbClr val="C00000"/>
                </a:solidFill>
              </a:rPr>
              <a:t>Prof. Dr. </a:t>
            </a:r>
            <a:r>
              <a:rPr lang="en-US" err="1" smtClean="0">
                <a:solidFill>
                  <a:srgbClr val="C00000"/>
                </a:solidFill>
              </a:rPr>
              <a:t>Shanmugam</a:t>
            </a:r>
            <a:r>
              <a:rPr lang="en-US" smtClean="0">
                <a:solidFill>
                  <a:srgbClr val="C00000"/>
                </a:solidFill>
              </a:rPr>
              <a:t> Nandagopalan Ph. D</a:t>
            </a:r>
          </a:p>
          <a:p>
            <a:r>
              <a:rPr lang="en-US" smtClean="0"/>
              <a:t>shanmugamnandagopalan@mfu.ac.th</a:t>
            </a:r>
            <a:endParaRPr lang="en-IN"/>
          </a:p>
        </p:txBody>
      </p:sp>
      <p:sp>
        <p:nvSpPr>
          <p:cNvPr id="3" name="Footer Placeholder 2"/>
          <p:cNvSpPr>
            <a:spLocks noGrp="1"/>
          </p:cNvSpPr>
          <p:nvPr>
            <p:ph type="ftr" sz="quarter" idx="11"/>
          </p:nvPr>
        </p:nvSpPr>
        <p:spPr/>
        <p:txBody>
          <a:bodyPr/>
          <a:lstStyle/>
          <a:p>
            <a:r>
              <a:rPr lang="en-US" smtClean="0"/>
              <a:t>Dr. S. Nandagopalan</a:t>
            </a:r>
            <a:endParaRPr lang="en-US"/>
          </a:p>
        </p:txBody>
      </p:sp>
      <p:pic>
        <p:nvPicPr>
          <p:cNvPr id="1026" name="Picture 2" descr="https://miro.medium.com/v2/resize:fit:1155/0*ikdeKXxEfHDnTBTS"/>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val="0"/>
              </a:ext>
            </a:extLst>
          </a:blip>
          <a:srcRect t="24991" b="18210"/>
          <a:stretch/>
        </p:blipFill>
        <p:spPr bwMode="auto">
          <a:xfrm>
            <a:off x="6742484" y="332656"/>
            <a:ext cx="4227145" cy="18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8290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mtClean="0"/>
              <a:t>Agenda</a:t>
            </a:r>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356407687"/>
              </p:ext>
            </p:extLst>
          </p:nvPr>
        </p:nvGraphicFramePr>
        <p:xfrm>
          <a:off x="333772" y="1500188"/>
          <a:ext cx="9433048" cy="4968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Footer Placeholder 1"/>
          <p:cNvSpPr>
            <a:spLocks noGrp="1"/>
          </p:cNvSpPr>
          <p:nvPr>
            <p:ph type="ftr" sz="quarter" idx="11"/>
          </p:nvPr>
        </p:nvSpPr>
        <p:spPr/>
        <p:txBody>
          <a:bodyPr/>
          <a:lstStyle/>
          <a:p>
            <a:r>
              <a:rPr lang="en-US" smtClean="0"/>
              <a:t>Dr. S. Nandagopalan</a:t>
            </a:r>
            <a:endParaRPr lang="en-US"/>
          </a:p>
        </p:txBody>
      </p:sp>
      <p:sp>
        <p:nvSpPr>
          <p:cNvPr id="3" name="Slide Number Placeholder 2"/>
          <p:cNvSpPr>
            <a:spLocks noGrp="1"/>
          </p:cNvSpPr>
          <p:nvPr>
            <p:ph type="sldNum" sz="quarter" idx="12"/>
          </p:nvPr>
        </p:nvSpPr>
        <p:spPr/>
        <p:txBody>
          <a:bodyPr/>
          <a:lstStyle/>
          <a:p>
            <a:fld id="{34C99D79-8A4B-4031-B1E0-AF26F8EDF2BC}" type="slidenum">
              <a:rPr lang="en-IN" smtClean="0"/>
              <a:pPr/>
              <a:t>2</a:t>
            </a:fld>
            <a:endParaRPr lang="en-IN"/>
          </a:p>
        </p:txBody>
      </p:sp>
    </p:spTree>
    <p:extLst>
      <p:ext uri="{BB962C8B-B14F-4D97-AF65-F5344CB8AC3E}">
        <p14:creationId xmlns:p14="http://schemas.microsoft.com/office/powerpoint/2010/main" val="2041341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Introduction</a:t>
            </a:r>
            <a:endParaRPr lang="en-IN"/>
          </a:p>
        </p:txBody>
      </p:sp>
      <p:sp>
        <p:nvSpPr>
          <p:cNvPr id="3" name="Content Placeholder 2"/>
          <p:cNvSpPr>
            <a:spLocks noGrp="1"/>
          </p:cNvSpPr>
          <p:nvPr>
            <p:ph idx="1"/>
          </p:nvPr>
        </p:nvSpPr>
        <p:spPr>
          <a:xfrm>
            <a:off x="1261543" y="1412777"/>
            <a:ext cx="5873694" cy="4968552"/>
          </a:xfrm>
        </p:spPr>
        <p:txBody>
          <a:bodyPr>
            <a:normAutofit/>
          </a:bodyPr>
          <a:lstStyle/>
          <a:p>
            <a:r>
              <a:rPr lang="en-IN" dirty="0" smtClean="0"/>
              <a:t>A </a:t>
            </a:r>
            <a:r>
              <a:rPr lang="en-IN" dirty="0"/>
              <a:t>social </a:t>
            </a:r>
            <a:r>
              <a:rPr lang="en-IN" dirty="0" smtClean="0"/>
              <a:t>network – “Facebook”, “X”, WhatsApp, LinkedIn, etc.</a:t>
            </a:r>
          </a:p>
          <a:p>
            <a:r>
              <a:rPr lang="en-US" dirty="0" smtClean="0"/>
              <a:t>How to </a:t>
            </a:r>
            <a:r>
              <a:rPr lang="en-IN" dirty="0" err="1" smtClean="0"/>
              <a:t>analyze</a:t>
            </a:r>
            <a:r>
              <a:rPr lang="en-IN" dirty="0" smtClean="0"/>
              <a:t> social networks?</a:t>
            </a:r>
          </a:p>
          <a:p>
            <a:r>
              <a:rPr lang="en-IN" dirty="0" smtClean="0"/>
              <a:t>How </a:t>
            </a:r>
            <a:r>
              <a:rPr lang="en-IN" dirty="0"/>
              <a:t>to identify “communities</a:t>
            </a:r>
            <a:r>
              <a:rPr lang="en-IN" dirty="0" smtClean="0"/>
              <a:t>,” i.e. subsets?</a:t>
            </a:r>
          </a:p>
          <a:p>
            <a:r>
              <a:rPr lang="en-US" dirty="0" smtClean="0"/>
              <a:t>Communities </a:t>
            </a:r>
            <a:r>
              <a:rPr lang="en-US" dirty="0"/>
              <a:t>usually overlap. </a:t>
            </a:r>
            <a:endParaRPr lang="en-US" dirty="0" smtClean="0"/>
          </a:p>
          <a:p>
            <a:r>
              <a:rPr lang="en-US" b="1" dirty="0" smtClean="0"/>
              <a:t>Example:</a:t>
            </a:r>
            <a:r>
              <a:rPr lang="en-US" dirty="0" smtClean="0"/>
              <a:t> </a:t>
            </a:r>
            <a:r>
              <a:rPr lang="en-US" dirty="0"/>
              <a:t>you may belong to </a:t>
            </a:r>
            <a:r>
              <a:rPr lang="en-US" dirty="0" smtClean="0"/>
              <a:t>several communities </a:t>
            </a:r>
            <a:r>
              <a:rPr lang="en-US" dirty="0"/>
              <a:t>of friends or </a:t>
            </a:r>
            <a:r>
              <a:rPr lang="en-US" dirty="0" smtClean="0"/>
              <a:t>classmates.</a:t>
            </a:r>
            <a:endParaRPr lang="en-IN" dirty="0" smtClean="0"/>
          </a:p>
          <a:p>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3</a:t>
            </a:fld>
            <a:endParaRPr lang="en-IN"/>
          </a:p>
        </p:txBody>
      </p:sp>
      <p:pic>
        <p:nvPicPr>
          <p:cNvPr id="2050" name="Picture 2" descr="Facebook Login Issues? Here's What To D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38116" y="365760"/>
            <a:ext cx="2626469" cy="174234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Deep Learning in Social Networks for Overlappering Community Detection |  International Journal on Recent and Innovation Trends in Computing and  Communica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14492" y="4667598"/>
            <a:ext cx="2653205" cy="20983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4"/>
          <a:stretch>
            <a:fillRect/>
          </a:stretch>
        </p:blipFill>
        <p:spPr>
          <a:xfrm>
            <a:off x="7935862" y="2283523"/>
            <a:ext cx="2952328" cy="2116763"/>
          </a:xfrm>
          <a:prstGeom prst="rect">
            <a:avLst/>
          </a:prstGeom>
        </p:spPr>
      </p:pic>
    </p:spTree>
    <p:extLst>
      <p:ext uri="{BB962C8B-B14F-4D97-AF65-F5344CB8AC3E}">
        <p14:creationId xmlns:p14="http://schemas.microsoft.com/office/powerpoint/2010/main" val="4259205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Social Media Communities</a:t>
            </a:r>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4</a:t>
            </a:fld>
            <a:endParaRPr lang="en-IN"/>
          </a:p>
        </p:txBody>
      </p:sp>
      <p:pic>
        <p:nvPicPr>
          <p:cNvPr id="6" name="Picture 5"/>
          <p:cNvPicPr>
            <a:picLocks noChangeAspect="1"/>
          </p:cNvPicPr>
          <p:nvPr/>
        </p:nvPicPr>
        <p:blipFill>
          <a:blip r:embed="rId2"/>
          <a:stretch>
            <a:fillRect/>
          </a:stretch>
        </p:blipFill>
        <p:spPr>
          <a:xfrm>
            <a:off x="1701924" y="1465821"/>
            <a:ext cx="7706801" cy="4715533"/>
          </a:xfrm>
          <a:prstGeom prst="rect">
            <a:avLst/>
          </a:prstGeom>
        </p:spPr>
      </p:pic>
    </p:spTree>
    <p:extLst>
      <p:ext uri="{BB962C8B-B14F-4D97-AF65-F5344CB8AC3E}">
        <p14:creationId xmlns:p14="http://schemas.microsoft.com/office/powerpoint/2010/main" val="2126094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Social Networks as </a:t>
            </a:r>
            <a:r>
              <a:rPr lang="en-IN" dirty="0" smtClean="0"/>
              <a:t>Graphs</a:t>
            </a:r>
            <a:endParaRPr lang="en-IN" dirty="0"/>
          </a:p>
        </p:txBody>
      </p:sp>
      <p:sp>
        <p:nvSpPr>
          <p:cNvPr id="3" name="Content Placeholder 2"/>
          <p:cNvSpPr>
            <a:spLocks noGrp="1"/>
          </p:cNvSpPr>
          <p:nvPr>
            <p:ph idx="1"/>
          </p:nvPr>
        </p:nvSpPr>
        <p:spPr>
          <a:xfrm>
            <a:off x="1036191" y="1428192"/>
            <a:ext cx="6273029" cy="4968552"/>
          </a:xfrm>
        </p:spPr>
        <p:txBody>
          <a:bodyPr/>
          <a:lstStyle/>
          <a:p>
            <a:r>
              <a:rPr lang="en-US" dirty="0" smtClean="0"/>
              <a:t>Social </a:t>
            </a:r>
            <a:r>
              <a:rPr lang="en-US" dirty="0"/>
              <a:t>networks </a:t>
            </a:r>
            <a:r>
              <a:rPr lang="en-US" dirty="0" smtClean="0"/>
              <a:t>- Graph model.</a:t>
            </a:r>
          </a:p>
          <a:p>
            <a:r>
              <a:rPr lang="en-US" dirty="0" smtClean="0"/>
              <a:t>Nodes </a:t>
            </a:r>
            <a:r>
              <a:rPr lang="en-US" dirty="0"/>
              <a:t>and edges of the graph tend to cluster in </a:t>
            </a:r>
            <a:r>
              <a:rPr lang="en-US" dirty="0" smtClean="0"/>
              <a:t>communities.</a:t>
            </a:r>
          </a:p>
          <a:p>
            <a:r>
              <a:rPr lang="en-US" dirty="0"/>
              <a:t>What is a Social Network</a:t>
            </a:r>
            <a:r>
              <a:rPr lang="en-US" dirty="0" smtClean="0"/>
              <a:t>?</a:t>
            </a:r>
          </a:p>
          <a:p>
            <a:pPr lvl="1"/>
            <a:r>
              <a:rPr lang="en-US" dirty="0" smtClean="0"/>
              <a:t>A </a:t>
            </a:r>
            <a:r>
              <a:rPr lang="en-US" dirty="0"/>
              <a:t>group of users who are densely connected to each other, sharing common interests or characteristics, and have significantly fewer connections to individuals outside their </a:t>
            </a:r>
            <a:r>
              <a:rPr lang="en-US" dirty="0" smtClean="0"/>
              <a:t>group.</a:t>
            </a:r>
          </a:p>
          <a:p>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5</a:t>
            </a:fld>
            <a:endParaRPr lang="en-IN"/>
          </a:p>
        </p:txBody>
      </p:sp>
      <p:pic>
        <p:nvPicPr>
          <p:cNvPr id="3074" name="Picture 2" descr="Illustration of network communities in an abstract social network.: A... |  Download Scientific Diagram"/>
          <p:cNvPicPr>
            <a:picLocks noChangeAspect="1" noChangeArrowheads="1"/>
          </p:cNvPicPr>
          <p:nvPr/>
        </p:nvPicPr>
        <p:blipFill rotWithShape="1">
          <a:blip r:embed="rId2">
            <a:extLst>
              <a:ext uri="{28A0092B-C50C-407E-A947-70E740481C1C}">
                <a14:useLocalDpi xmlns:a14="http://schemas.microsoft.com/office/drawing/2010/main" val="0"/>
              </a:ext>
            </a:extLst>
          </a:blip>
          <a:srcRect l="2772" t="13400" r="2029" b="2182"/>
          <a:stretch/>
        </p:blipFill>
        <p:spPr bwMode="auto">
          <a:xfrm>
            <a:off x="7534572" y="1428192"/>
            <a:ext cx="2952328" cy="218819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p:cNvPicPr>
            <a:picLocks noChangeAspect="1"/>
          </p:cNvPicPr>
          <p:nvPr/>
        </p:nvPicPr>
        <p:blipFill>
          <a:blip r:embed="rId3"/>
          <a:stretch>
            <a:fillRect/>
          </a:stretch>
        </p:blipFill>
        <p:spPr>
          <a:xfrm>
            <a:off x="7226301" y="3645024"/>
            <a:ext cx="3980679" cy="1284075"/>
          </a:xfrm>
          <a:prstGeom prst="rect">
            <a:avLst/>
          </a:prstGeom>
        </p:spPr>
      </p:pic>
      <p:sp>
        <p:nvSpPr>
          <p:cNvPr id="7" name="Rectangle 6"/>
          <p:cNvSpPr/>
          <p:nvPr/>
        </p:nvSpPr>
        <p:spPr>
          <a:xfrm>
            <a:off x="9670539" y="4726902"/>
            <a:ext cx="1281120" cy="461665"/>
          </a:xfrm>
          <a:prstGeom prst="rect">
            <a:avLst/>
          </a:prstGeom>
        </p:spPr>
        <p:txBody>
          <a:bodyPr wrap="none">
            <a:spAutoFit/>
          </a:bodyPr>
          <a:lstStyle/>
          <a:p>
            <a:r>
              <a:rPr lang="en-IN" dirty="0">
                <a:latin typeface="UtopiaStd-Regular"/>
              </a:rPr>
              <a:t>directed</a:t>
            </a:r>
            <a:endParaRPr lang="en-IN" dirty="0"/>
          </a:p>
        </p:txBody>
      </p:sp>
      <p:pic>
        <p:nvPicPr>
          <p:cNvPr id="8" name="Picture 7"/>
          <p:cNvPicPr>
            <a:picLocks noChangeAspect="1"/>
          </p:cNvPicPr>
          <p:nvPr/>
        </p:nvPicPr>
        <p:blipFill>
          <a:blip r:embed="rId4"/>
          <a:stretch>
            <a:fillRect/>
          </a:stretch>
        </p:blipFill>
        <p:spPr>
          <a:xfrm>
            <a:off x="5135986" y="5194266"/>
            <a:ext cx="3250800" cy="1177300"/>
          </a:xfrm>
          <a:prstGeom prst="rect">
            <a:avLst/>
          </a:prstGeom>
        </p:spPr>
      </p:pic>
    </p:spTree>
    <p:extLst>
      <p:ext uri="{BB962C8B-B14F-4D97-AF65-F5344CB8AC3E}">
        <p14:creationId xmlns:p14="http://schemas.microsoft.com/office/powerpoint/2010/main" val="3319287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 </a:t>
            </a:r>
            <a:r>
              <a:rPr lang="en-IN" dirty="0" smtClean="0"/>
              <a:t>Property Graph</a:t>
            </a:r>
            <a:endParaRPr lang="en-IN" dirty="0"/>
          </a:p>
        </p:txBody>
      </p:sp>
      <p:sp>
        <p:nvSpPr>
          <p:cNvPr id="3" name="Content Placeholder 2"/>
          <p:cNvSpPr>
            <a:spLocks noGrp="1"/>
          </p:cNvSpPr>
          <p:nvPr>
            <p:ph idx="1"/>
          </p:nvPr>
        </p:nvSpPr>
        <p:spPr>
          <a:xfrm>
            <a:off x="1261543" y="1412777"/>
            <a:ext cx="9441381" cy="4968552"/>
          </a:xfrm>
        </p:spPr>
        <p:txBody>
          <a:bodyPr/>
          <a:lstStyle/>
          <a:p>
            <a:r>
              <a:rPr lang="en-US" dirty="0"/>
              <a:t>A property graph provides a rich abstraction for working with graph-oriented </a:t>
            </a:r>
            <a:r>
              <a:rPr lang="en-US" dirty="0" smtClean="0"/>
              <a:t>data.</a:t>
            </a:r>
          </a:p>
          <a:p>
            <a:r>
              <a:rPr lang="en-US" dirty="0"/>
              <a:t>two employees in a company and </a:t>
            </a:r>
            <a:r>
              <a:rPr lang="en-US" dirty="0" smtClean="0"/>
              <a:t>their </a:t>
            </a:r>
            <a:r>
              <a:rPr lang="en-IN" dirty="0" smtClean="0"/>
              <a:t>relationship</a:t>
            </a:r>
            <a:r>
              <a:rPr lang="en-IN" dirty="0"/>
              <a:t>.</a:t>
            </a:r>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6</a:t>
            </a:fld>
            <a:endParaRPr lang="en-IN"/>
          </a:p>
        </p:txBody>
      </p:sp>
      <p:pic>
        <p:nvPicPr>
          <p:cNvPr id="6" name="Picture 5"/>
          <p:cNvPicPr>
            <a:picLocks noChangeAspect="1"/>
          </p:cNvPicPr>
          <p:nvPr/>
        </p:nvPicPr>
        <p:blipFill>
          <a:blip r:embed="rId2">
            <a:lum contrast="20000"/>
          </a:blip>
          <a:stretch>
            <a:fillRect/>
          </a:stretch>
        </p:blipFill>
        <p:spPr>
          <a:xfrm>
            <a:off x="1773932" y="3429000"/>
            <a:ext cx="8277399" cy="2016224"/>
          </a:xfrm>
          <a:prstGeom prst="rect">
            <a:avLst/>
          </a:prstGeom>
        </p:spPr>
      </p:pic>
    </p:spTree>
    <p:extLst>
      <p:ext uri="{BB962C8B-B14F-4D97-AF65-F5344CB8AC3E}">
        <p14:creationId xmlns:p14="http://schemas.microsoft.com/office/powerpoint/2010/main" val="423597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7</a:t>
            </a:fld>
            <a:endParaRPr lang="en-IN"/>
          </a:p>
        </p:txBody>
      </p:sp>
      <p:pic>
        <p:nvPicPr>
          <p:cNvPr id="1026" name="Picture 2" descr="The Property Grap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5940" y="1510122"/>
            <a:ext cx="7560840" cy="49113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3368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 Social </a:t>
            </a:r>
            <a:r>
              <a:rPr lang="en-IN" dirty="0"/>
              <a:t>N</a:t>
            </a:r>
            <a:r>
              <a:rPr lang="en-IN" dirty="0" smtClean="0"/>
              <a:t>etwork </a:t>
            </a:r>
            <a:r>
              <a:rPr lang="en-IN" dirty="0"/>
              <a:t>G</a:t>
            </a:r>
            <a:r>
              <a:rPr lang="en-IN" dirty="0" smtClean="0"/>
              <a:t>raph</a:t>
            </a:r>
            <a:endParaRPr lang="en-IN" dirty="0"/>
          </a:p>
        </p:txBody>
      </p:sp>
      <p:sp>
        <p:nvSpPr>
          <p:cNvPr id="9" name="Content Placeholder 8"/>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8</a:t>
            </a:fld>
            <a:endParaRPr lang="en-IN"/>
          </a:p>
        </p:txBody>
      </p:sp>
      <p:pic>
        <p:nvPicPr>
          <p:cNvPr id="11" name="Picture 10"/>
          <p:cNvPicPr>
            <a:picLocks noChangeAspect="1"/>
          </p:cNvPicPr>
          <p:nvPr/>
        </p:nvPicPr>
        <p:blipFill>
          <a:blip r:embed="rId2"/>
          <a:stretch>
            <a:fillRect/>
          </a:stretch>
        </p:blipFill>
        <p:spPr>
          <a:xfrm>
            <a:off x="1029849" y="1556792"/>
            <a:ext cx="9916909" cy="4496427"/>
          </a:xfrm>
          <a:prstGeom prst="rect">
            <a:avLst/>
          </a:prstGeom>
        </p:spPr>
      </p:pic>
    </p:spTree>
    <p:extLst>
      <p:ext uri="{BB962C8B-B14F-4D97-AF65-F5344CB8AC3E}">
        <p14:creationId xmlns:p14="http://schemas.microsoft.com/office/powerpoint/2010/main" val="3531792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Characteristics </a:t>
            </a:r>
            <a:r>
              <a:rPr lang="en-US" dirty="0"/>
              <a:t>of a </a:t>
            </a:r>
            <a:r>
              <a:rPr lang="en-US" dirty="0" smtClean="0"/>
              <a:t>Social </a:t>
            </a:r>
            <a:r>
              <a:rPr lang="en-US" dirty="0"/>
              <a:t>N</a:t>
            </a:r>
            <a:r>
              <a:rPr lang="en-US" dirty="0" smtClean="0"/>
              <a:t>etwork</a:t>
            </a:r>
            <a:endParaRPr lang="en-IN" dirty="0"/>
          </a:p>
        </p:txBody>
      </p:sp>
      <p:sp>
        <p:nvSpPr>
          <p:cNvPr id="3" name="Content Placeholder 2"/>
          <p:cNvSpPr>
            <a:spLocks noGrp="1"/>
          </p:cNvSpPr>
          <p:nvPr>
            <p:ph idx="1"/>
          </p:nvPr>
        </p:nvSpPr>
        <p:spPr>
          <a:xfrm>
            <a:off x="1053853" y="1412777"/>
            <a:ext cx="9433048" cy="4968552"/>
          </a:xfrm>
        </p:spPr>
        <p:txBody>
          <a:bodyPr>
            <a:normAutofit fontScale="92500" lnSpcReduction="10000"/>
          </a:bodyPr>
          <a:lstStyle/>
          <a:p>
            <a:r>
              <a:rPr lang="en-US" dirty="0"/>
              <a:t>C</a:t>
            </a:r>
            <a:r>
              <a:rPr lang="en-US" dirty="0" smtClean="0"/>
              <a:t>ollection </a:t>
            </a:r>
            <a:r>
              <a:rPr lang="en-US" dirty="0"/>
              <a:t>of entities that participate in the </a:t>
            </a:r>
            <a:r>
              <a:rPr lang="en-US" dirty="0" smtClean="0"/>
              <a:t>network</a:t>
            </a:r>
          </a:p>
          <a:p>
            <a:r>
              <a:rPr lang="en-US" dirty="0"/>
              <a:t>There is at least one relationship between entities of the </a:t>
            </a:r>
            <a:r>
              <a:rPr lang="en-US" dirty="0" smtClean="0"/>
              <a:t>network</a:t>
            </a:r>
          </a:p>
          <a:p>
            <a:r>
              <a:rPr lang="en-US" dirty="0"/>
              <a:t>There is an assumption of </a:t>
            </a:r>
            <a:r>
              <a:rPr lang="en-US" dirty="0" err="1"/>
              <a:t>nonrandomness</a:t>
            </a:r>
            <a:r>
              <a:rPr lang="en-US" dirty="0"/>
              <a:t> or </a:t>
            </a:r>
            <a:r>
              <a:rPr lang="en-US" dirty="0" smtClean="0"/>
              <a:t>locality</a:t>
            </a:r>
          </a:p>
          <a:p>
            <a:r>
              <a:rPr lang="en-IN" b="1" dirty="0"/>
              <a:t>Social Networks as </a:t>
            </a:r>
            <a:r>
              <a:rPr lang="en-IN" b="1" dirty="0" smtClean="0"/>
              <a:t>Graphs</a:t>
            </a:r>
          </a:p>
          <a:p>
            <a:pPr lvl="1"/>
            <a:r>
              <a:rPr lang="en-IN" dirty="0"/>
              <a:t>social </a:t>
            </a:r>
            <a:r>
              <a:rPr lang="en-IN" dirty="0" smtClean="0"/>
              <a:t>graph</a:t>
            </a:r>
          </a:p>
          <a:p>
            <a:pPr lvl="1"/>
            <a:r>
              <a:rPr lang="en-US" dirty="0" smtClean="0"/>
              <a:t>Example</a:t>
            </a:r>
          </a:p>
          <a:p>
            <a:pPr lvl="1"/>
            <a:r>
              <a:rPr lang="en-US" dirty="0"/>
              <a:t>B is friends with A, C</a:t>
            </a:r>
            <a:r>
              <a:rPr lang="en-US" dirty="0" smtClean="0"/>
              <a:t>, </a:t>
            </a:r>
            <a:r>
              <a:rPr lang="en-IN" dirty="0" smtClean="0"/>
              <a:t>and </a:t>
            </a:r>
            <a:r>
              <a:rPr lang="en-IN" dirty="0"/>
              <a:t>D</a:t>
            </a:r>
            <a:r>
              <a:rPr lang="en-IN" dirty="0" smtClean="0"/>
              <a:t>.</a:t>
            </a:r>
          </a:p>
          <a:p>
            <a:pPr marL="274238" lvl="1" indent="0">
              <a:buNone/>
            </a:pPr>
            <a:r>
              <a:rPr lang="en-IN" dirty="0" smtClean="0"/>
              <a:t>                      = 7!/(5!*2!) </a:t>
            </a:r>
          </a:p>
          <a:p>
            <a:pPr lvl="1"/>
            <a:r>
              <a:rPr lang="en-IN" dirty="0"/>
              <a:t> </a:t>
            </a:r>
            <a:r>
              <a:rPr lang="en-IN" dirty="0" smtClean="0"/>
              <a:t>                   = </a:t>
            </a:r>
            <a:r>
              <a:rPr lang="en-IN" dirty="0"/>
              <a:t>21 pairs of </a:t>
            </a:r>
            <a:r>
              <a:rPr lang="en-IN" dirty="0" smtClean="0"/>
              <a:t>nodes</a:t>
            </a:r>
          </a:p>
          <a:p>
            <a:pPr lvl="1"/>
            <a:endParaRPr lang="en-US" dirty="0"/>
          </a:p>
          <a:p>
            <a:pPr lvl="1"/>
            <a:endParaRPr lang="en-US" sz="900" dirty="0" smtClean="0"/>
          </a:p>
          <a:p>
            <a:pPr lvl="1"/>
            <a:r>
              <a:rPr lang="en-US" dirty="0" smtClean="0"/>
              <a:t>“Locality </a:t>
            </a:r>
            <a:r>
              <a:rPr lang="en-US" dirty="0"/>
              <a:t>of </a:t>
            </a:r>
            <a:r>
              <a:rPr lang="en-US" dirty="0" smtClean="0"/>
              <a:t>relationships“ - relationships </a:t>
            </a:r>
            <a:r>
              <a:rPr lang="en-US" dirty="0"/>
              <a:t>between individuals or entities are primarily concentrated within a specific geographic area or </a:t>
            </a:r>
            <a:r>
              <a:rPr lang="en-US" dirty="0" smtClean="0"/>
              <a:t>community.</a:t>
            </a:r>
            <a:endParaRPr lang="en-IN" dirty="0" smtClean="0"/>
          </a:p>
          <a:p>
            <a:pPr lvl="1"/>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9</a:t>
            </a:fld>
            <a:endParaRPr lang="en-IN"/>
          </a:p>
        </p:txBody>
      </p:sp>
      <p:pic>
        <p:nvPicPr>
          <p:cNvPr id="7" name="Picture 6"/>
          <p:cNvPicPr>
            <a:picLocks noChangeAspect="1"/>
          </p:cNvPicPr>
          <p:nvPr/>
        </p:nvPicPr>
        <p:blipFill>
          <a:blip r:embed="rId2"/>
          <a:stretch>
            <a:fillRect/>
          </a:stretch>
        </p:blipFill>
        <p:spPr>
          <a:xfrm>
            <a:off x="6166420" y="2708920"/>
            <a:ext cx="4252748" cy="1891819"/>
          </a:xfrm>
          <a:prstGeom prst="rect">
            <a:avLst/>
          </a:prstGeom>
        </p:spPr>
      </p:pic>
      <p:pic>
        <p:nvPicPr>
          <p:cNvPr id="8" name="Picture 7"/>
          <p:cNvPicPr>
            <a:picLocks noChangeAspect="1"/>
          </p:cNvPicPr>
          <p:nvPr/>
        </p:nvPicPr>
        <p:blipFill>
          <a:blip r:embed="rId3"/>
          <a:stretch>
            <a:fillRect/>
          </a:stretch>
        </p:blipFill>
        <p:spPr>
          <a:xfrm>
            <a:off x="1701924" y="4229100"/>
            <a:ext cx="1190791" cy="952633"/>
          </a:xfrm>
          <a:prstGeom prst="rect">
            <a:avLst/>
          </a:prstGeom>
        </p:spPr>
      </p:pic>
    </p:spTree>
    <p:extLst>
      <p:ext uri="{BB962C8B-B14F-4D97-AF65-F5344CB8AC3E}">
        <p14:creationId xmlns:p14="http://schemas.microsoft.com/office/powerpoint/2010/main" val="43089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Varieties of Social Networks</a:t>
            </a:r>
          </a:p>
        </p:txBody>
      </p:sp>
      <p:sp>
        <p:nvSpPr>
          <p:cNvPr id="3" name="Content Placeholder 2"/>
          <p:cNvSpPr>
            <a:spLocks noGrp="1"/>
          </p:cNvSpPr>
          <p:nvPr>
            <p:ph idx="1"/>
          </p:nvPr>
        </p:nvSpPr>
        <p:spPr/>
        <p:txBody>
          <a:bodyPr>
            <a:normAutofit/>
          </a:bodyPr>
          <a:lstStyle/>
          <a:p>
            <a:r>
              <a:rPr lang="en-IN" dirty="0"/>
              <a:t>Telephone </a:t>
            </a:r>
            <a:r>
              <a:rPr lang="en-IN" dirty="0" smtClean="0"/>
              <a:t>Networks</a:t>
            </a:r>
          </a:p>
          <a:p>
            <a:endParaRPr lang="en-US" dirty="0" smtClean="0"/>
          </a:p>
          <a:p>
            <a:endParaRPr lang="en-US" dirty="0"/>
          </a:p>
          <a:p>
            <a:endParaRPr lang="en-US" dirty="0" smtClean="0"/>
          </a:p>
          <a:p>
            <a:r>
              <a:rPr lang="en-US" dirty="0" smtClean="0"/>
              <a:t>Mobile Phone Networks</a:t>
            </a:r>
          </a:p>
          <a:p>
            <a:endParaRPr lang="en-US" dirty="0" smtClean="0"/>
          </a:p>
          <a:p>
            <a:endParaRPr lang="en-US" dirty="0"/>
          </a:p>
          <a:p>
            <a:endParaRPr lang="en-US" dirty="0" smtClean="0"/>
          </a:p>
          <a:p>
            <a:endParaRPr lang="en-US" dirty="0" smtClean="0"/>
          </a:p>
          <a:p>
            <a:r>
              <a:rPr lang="en-US" dirty="0" smtClean="0"/>
              <a:t>Email Networks</a:t>
            </a:r>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10</a:t>
            </a:fld>
            <a:endParaRPr lang="en-IN"/>
          </a:p>
        </p:txBody>
      </p:sp>
      <p:pic>
        <p:nvPicPr>
          <p:cNvPr id="4098" name="Picture 2" descr="TELEPHONE NETWORKS – Leap Networks – Arab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63080" y="1378220"/>
            <a:ext cx="2342972" cy="1706566"/>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Why Fixed and Mobile Networks are Merging - The Economic Potential of  Madrid as a Digital Hub - Digital Infrastructure and Transforming Markets -  Issues - dotmagazin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26460" y="3211636"/>
            <a:ext cx="2479190" cy="139454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Best email provider | TechRada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63080" y="4858396"/>
            <a:ext cx="2924833" cy="1645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6201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Graphs With Several Node Types</a:t>
            </a:r>
            <a:endParaRPr lang="en-IN" dirty="0"/>
          </a:p>
        </p:txBody>
      </p:sp>
      <p:sp>
        <p:nvSpPr>
          <p:cNvPr id="3" name="Content Placeholder 2"/>
          <p:cNvSpPr>
            <a:spLocks noGrp="1"/>
          </p:cNvSpPr>
          <p:nvPr>
            <p:ph idx="1"/>
          </p:nvPr>
        </p:nvSpPr>
        <p:spPr>
          <a:xfrm>
            <a:off x="1261543" y="1412777"/>
            <a:ext cx="6489053" cy="4968552"/>
          </a:xfrm>
        </p:spPr>
        <p:txBody>
          <a:bodyPr>
            <a:normAutofit/>
          </a:bodyPr>
          <a:lstStyle/>
          <a:p>
            <a:pPr>
              <a:spcAft>
                <a:spcPts val="1200"/>
              </a:spcAft>
            </a:pPr>
            <a:r>
              <a:rPr lang="en-US" dirty="0"/>
              <a:t>A </a:t>
            </a:r>
            <a:r>
              <a:rPr lang="en-US" b="1" dirty="0"/>
              <a:t>tripartite</a:t>
            </a:r>
            <a:r>
              <a:rPr lang="en-US" dirty="0"/>
              <a:t> graph representing users, tags, and Web </a:t>
            </a:r>
            <a:r>
              <a:rPr lang="en-US" dirty="0" smtClean="0"/>
              <a:t>pages</a:t>
            </a:r>
          </a:p>
          <a:p>
            <a:pPr>
              <a:spcAft>
                <a:spcPts val="1200"/>
              </a:spcAft>
            </a:pPr>
            <a:r>
              <a:rPr lang="en-US" dirty="0"/>
              <a:t>There are three sets of nodes, which we may think </a:t>
            </a:r>
            <a:r>
              <a:rPr lang="en-US" dirty="0" smtClean="0"/>
              <a:t>of </a:t>
            </a:r>
            <a:r>
              <a:rPr lang="en-IN" dirty="0" smtClean="0"/>
              <a:t>as </a:t>
            </a:r>
            <a:r>
              <a:rPr lang="en-IN" dirty="0"/>
              <a:t>users {U1,U2}, tags {T1, T2, T3, T4}, and Web pages {W1,W2,W3</a:t>
            </a:r>
            <a:r>
              <a:rPr lang="en-IN" dirty="0" smtClean="0"/>
              <a:t>}.</a:t>
            </a:r>
          </a:p>
          <a:p>
            <a:pPr>
              <a:spcAft>
                <a:spcPts val="1200"/>
              </a:spcAft>
            </a:pPr>
            <a:r>
              <a:rPr lang="en-IN" dirty="0" smtClean="0"/>
              <a:t>The edge </a:t>
            </a:r>
            <a:r>
              <a:rPr lang="en-US" dirty="0" smtClean="0"/>
              <a:t>(</a:t>
            </a:r>
            <a:r>
              <a:rPr lang="en-US" dirty="0">
                <a:solidFill>
                  <a:srgbClr val="FF0000"/>
                </a:solidFill>
              </a:rPr>
              <a:t>U1, T2</a:t>
            </a:r>
            <a:r>
              <a:rPr lang="en-US" dirty="0"/>
              <a:t>) means that user U1 has placed the tag T2 on at least one page.</a:t>
            </a:r>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11</a:t>
            </a:fld>
            <a:endParaRPr lang="en-IN"/>
          </a:p>
        </p:txBody>
      </p:sp>
      <p:pic>
        <p:nvPicPr>
          <p:cNvPr id="6" name="Picture 5"/>
          <p:cNvPicPr>
            <a:picLocks noChangeAspect="1"/>
          </p:cNvPicPr>
          <p:nvPr/>
        </p:nvPicPr>
        <p:blipFill>
          <a:blip r:embed="rId2"/>
          <a:stretch>
            <a:fillRect/>
          </a:stretch>
        </p:blipFill>
        <p:spPr>
          <a:xfrm>
            <a:off x="7750596" y="1556792"/>
            <a:ext cx="3258005" cy="4124901"/>
          </a:xfrm>
          <a:prstGeom prst="rect">
            <a:avLst/>
          </a:prstGeom>
        </p:spPr>
      </p:pic>
      <p:cxnSp>
        <p:nvCxnSpPr>
          <p:cNvPr id="8" name="Straight Connector 7"/>
          <p:cNvCxnSpPr/>
          <p:nvPr/>
        </p:nvCxnSpPr>
        <p:spPr>
          <a:xfrm>
            <a:off x="8470676" y="3468350"/>
            <a:ext cx="648072" cy="0"/>
          </a:xfrm>
          <a:prstGeom prst="line">
            <a:avLst/>
          </a:prstGeom>
          <a:ln w="28575">
            <a:solidFill>
              <a:srgbClr val="FF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70443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Clustering of Social-Network Graphs</a:t>
            </a:r>
          </a:p>
        </p:txBody>
      </p:sp>
      <p:sp>
        <p:nvSpPr>
          <p:cNvPr id="3" name="Content Placeholder 2"/>
          <p:cNvSpPr>
            <a:spLocks noGrp="1"/>
          </p:cNvSpPr>
          <p:nvPr>
            <p:ph idx="1"/>
          </p:nvPr>
        </p:nvSpPr>
        <p:spPr>
          <a:xfrm>
            <a:off x="1261543" y="1412776"/>
            <a:ext cx="5624957" cy="4968551"/>
          </a:xfrm>
        </p:spPr>
        <p:txBody>
          <a:bodyPr>
            <a:normAutofit/>
          </a:bodyPr>
          <a:lstStyle/>
          <a:p>
            <a:r>
              <a:rPr lang="en-US" dirty="0"/>
              <a:t>S</a:t>
            </a:r>
            <a:r>
              <a:rPr lang="en-US" dirty="0" smtClean="0"/>
              <a:t>ocial </a:t>
            </a:r>
            <a:r>
              <a:rPr lang="en-US" dirty="0"/>
              <a:t>networks </a:t>
            </a:r>
            <a:r>
              <a:rPr lang="en-US" dirty="0" smtClean="0"/>
              <a:t>contain </a:t>
            </a:r>
            <a:r>
              <a:rPr lang="en-US" b="1" dirty="0"/>
              <a:t>communities</a:t>
            </a:r>
            <a:r>
              <a:rPr lang="en-US" dirty="0"/>
              <a:t> </a:t>
            </a:r>
            <a:r>
              <a:rPr lang="en-US" dirty="0" smtClean="0"/>
              <a:t>of entities </a:t>
            </a:r>
            <a:r>
              <a:rPr lang="en-US" dirty="0"/>
              <a:t>that are connected by many edges. </a:t>
            </a:r>
            <a:endParaRPr lang="en-US" dirty="0" smtClean="0"/>
          </a:p>
          <a:p>
            <a:r>
              <a:rPr lang="en-US" dirty="0" smtClean="0"/>
              <a:t>These </a:t>
            </a:r>
            <a:r>
              <a:rPr lang="en-US" dirty="0"/>
              <a:t>typically correspond to </a:t>
            </a:r>
            <a:r>
              <a:rPr lang="en-US" dirty="0" smtClean="0"/>
              <a:t>groups of </a:t>
            </a:r>
            <a:r>
              <a:rPr lang="en-US" b="1" dirty="0"/>
              <a:t>friends at school </a:t>
            </a:r>
            <a:r>
              <a:rPr lang="en-US" dirty="0"/>
              <a:t>or groups of researchers interested in the same </a:t>
            </a:r>
            <a:r>
              <a:rPr lang="en-US" dirty="0" smtClean="0"/>
              <a:t>topic.</a:t>
            </a:r>
          </a:p>
          <a:p>
            <a:r>
              <a:rPr lang="en-US" dirty="0" smtClean="0"/>
              <a:t>First </a:t>
            </a:r>
            <a:r>
              <a:rPr lang="en-US" dirty="0"/>
              <a:t>step would be to define a </a:t>
            </a:r>
            <a:r>
              <a:rPr lang="en-US" b="1" dirty="0"/>
              <a:t>distance </a:t>
            </a:r>
            <a:r>
              <a:rPr lang="en-US" b="1" dirty="0" smtClean="0"/>
              <a:t>measure</a:t>
            </a:r>
          </a:p>
          <a:p>
            <a:r>
              <a:rPr lang="en-IN" dirty="0" smtClean="0"/>
              <a:t>The </a:t>
            </a:r>
            <a:r>
              <a:rPr lang="en-IN" dirty="0"/>
              <a:t>edges of </a:t>
            </a:r>
            <a:r>
              <a:rPr lang="en-IN" dirty="0" smtClean="0"/>
              <a:t>the </a:t>
            </a:r>
            <a:r>
              <a:rPr lang="en-US" dirty="0" smtClean="0"/>
              <a:t>graph </a:t>
            </a:r>
            <a:r>
              <a:rPr lang="en-US" dirty="0"/>
              <a:t>have </a:t>
            </a:r>
            <a:r>
              <a:rPr lang="en-US" b="1" dirty="0"/>
              <a:t>labels</a:t>
            </a:r>
            <a:r>
              <a:rPr lang="en-US" dirty="0"/>
              <a:t>, these labels might be usable as a distance measure</a:t>
            </a:r>
            <a:endParaRPr lang="en-US" dirty="0" smtClean="0"/>
          </a:p>
          <a:p>
            <a:endParaRPr lang="en-US" dirty="0" smtClean="0"/>
          </a:p>
          <a:p>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12</a:t>
            </a:fld>
            <a:endParaRPr lang="en-IN"/>
          </a:p>
        </p:txBody>
      </p:sp>
      <p:pic>
        <p:nvPicPr>
          <p:cNvPr id="5122" name="Picture 2" descr="https://bedatablog.netlify.app/social-clusters-i/featured_hudf69d419fe4891615e141f1a4a68043e_475933_720x0_resize_lanczos_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2524" y="1628800"/>
            <a:ext cx="4098924" cy="2533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9982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Applying Standard Clustering Methods</a:t>
            </a:r>
          </a:p>
        </p:txBody>
      </p:sp>
      <p:sp>
        <p:nvSpPr>
          <p:cNvPr id="3" name="Content Placeholder 2"/>
          <p:cNvSpPr>
            <a:spLocks noGrp="1"/>
          </p:cNvSpPr>
          <p:nvPr>
            <p:ph idx="1"/>
          </p:nvPr>
        </p:nvSpPr>
        <p:spPr/>
        <p:txBody>
          <a:bodyPr/>
          <a:lstStyle/>
          <a:p>
            <a:r>
              <a:rPr lang="en-IN" dirty="0">
                <a:solidFill>
                  <a:srgbClr val="FF0000"/>
                </a:solidFill>
              </a:rPr>
              <a:t>H</a:t>
            </a:r>
            <a:r>
              <a:rPr lang="en-IN" dirty="0" smtClean="0">
                <a:solidFill>
                  <a:srgbClr val="FF0000"/>
                </a:solidFill>
              </a:rPr>
              <a:t>ierarchical </a:t>
            </a:r>
            <a:r>
              <a:rPr lang="en-IN" dirty="0">
                <a:solidFill>
                  <a:srgbClr val="FF0000"/>
                </a:solidFill>
              </a:rPr>
              <a:t>(agglomerative</a:t>
            </a:r>
            <a:r>
              <a:rPr lang="en-IN" dirty="0" smtClean="0">
                <a:solidFill>
                  <a:srgbClr val="FF0000"/>
                </a:solidFill>
              </a:rPr>
              <a:t>) Clustering Method</a:t>
            </a:r>
          </a:p>
          <a:p>
            <a:pPr lvl="1"/>
            <a:r>
              <a:rPr lang="en-US" dirty="0" smtClean="0"/>
              <a:t>A </a:t>
            </a:r>
            <a:r>
              <a:rPr lang="en-US" dirty="0"/>
              <a:t>method used to group social network nodes into communities by iteratively </a:t>
            </a:r>
            <a:r>
              <a:rPr lang="en-US" b="1" dirty="0"/>
              <a:t>merging</a:t>
            </a:r>
            <a:r>
              <a:rPr lang="en-US" dirty="0"/>
              <a:t> the </a:t>
            </a:r>
            <a:r>
              <a:rPr lang="en-US" b="1" dirty="0"/>
              <a:t>closest</a:t>
            </a:r>
            <a:r>
              <a:rPr lang="en-US" dirty="0"/>
              <a:t> clusters until a single cluster </a:t>
            </a:r>
            <a:r>
              <a:rPr lang="en-US" dirty="0" smtClean="0"/>
              <a:t>remains.</a:t>
            </a:r>
          </a:p>
          <a:p>
            <a:pPr lvl="1"/>
            <a:r>
              <a:rPr lang="en-US" dirty="0" smtClean="0"/>
              <a:t>This resulting hierarchical </a:t>
            </a:r>
            <a:r>
              <a:rPr lang="en-US" dirty="0"/>
              <a:t>structure </a:t>
            </a:r>
            <a:r>
              <a:rPr lang="en-US" dirty="0" smtClean="0"/>
              <a:t>is known as </a:t>
            </a:r>
            <a:r>
              <a:rPr lang="en-US" b="1" dirty="0" err="1" smtClean="0"/>
              <a:t>dendrogram</a:t>
            </a:r>
            <a:r>
              <a:rPr lang="en-US" dirty="0" smtClean="0"/>
              <a:t>.</a:t>
            </a:r>
            <a:endParaRPr lang="en-IN" dirty="0" smtClean="0"/>
          </a:p>
          <a:p>
            <a:r>
              <a:rPr lang="en-IN" dirty="0">
                <a:solidFill>
                  <a:srgbClr val="FF0000"/>
                </a:solidFill>
              </a:rPr>
              <a:t>P</a:t>
            </a:r>
            <a:r>
              <a:rPr lang="en-IN" dirty="0" smtClean="0">
                <a:solidFill>
                  <a:srgbClr val="FF0000"/>
                </a:solidFill>
              </a:rPr>
              <a:t>oint-assignment </a:t>
            </a:r>
            <a:r>
              <a:rPr lang="en-IN" dirty="0">
                <a:solidFill>
                  <a:srgbClr val="FF0000"/>
                </a:solidFill>
              </a:rPr>
              <a:t>Clustering </a:t>
            </a:r>
            <a:r>
              <a:rPr lang="en-IN" dirty="0" smtClean="0">
                <a:solidFill>
                  <a:srgbClr val="FF0000"/>
                </a:solidFill>
              </a:rPr>
              <a:t>Method</a:t>
            </a:r>
          </a:p>
          <a:p>
            <a:pPr lvl="1"/>
            <a:r>
              <a:rPr lang="en-US" dirty="0"/>
              <a:t>Point-assignment clustering, like </a:t>
            </a:r>
            <a:r>
              <a:rPr lang="en-US" b="1" dirty="0"/>
              <a:t>K-means</a:t>
            </a:r>
            <a:r>
              <a:rPr lang="en-US" dirty="0"/>
              <a:t>, groups data points by assigning them to the nearest cluster centroid, iteratively refining the clusters until convergence. </a:t>
            </a:r>
            <a:endParaRPr lang="en-US" dirty="0" smtClean="0"/>
          </a:p>
          <a:p>
            <a:pPr lvl="1"/>
            <a:r>
              <a:rPr lang="en-US" dirty="0" smtClean="0"/>
              <a:t>Useful </a:t>
            </a:r>
            <a:r>
              <a:rPr lang="en-US" dirty="0"/>
              <a:t>for analyzing social networks by identifying </a:t>
            </a:r>
            <a:r>
              <a:rPr lang="en-US" b="1" dirty="0"/>
              <a:t>groups</a:t>
            </a:r>
            <a:r>
              <a:rPr lang="en-US" dirty="0"/>
              <a:t> with </a:t>
            </a:r>
            <a:r>
              <a:rPr lang="en-US" b="1" dirty="0"/>
              <a:t>similar characteristics </a:t>
            </a:r>
            <a:r>
              <a:rPr lang="en-US" dirty="0"/>
              <a:t>or behaviors. </a:t>
            </a:r>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13</a:t>
            </a:fld>
            <a:endParaRPr lang="en-IN"/>
          </a:p>
        </p:txBody>
      </p:sp>
    </p:spTree>
    <p:extLst>
      <p:ext uri="{BB962C8B-B14F-4D97-AF65-F5344CB8AC3E}">
        <p14:creationId xmlns:p14="http://schemas.microsoft.com/office/powerpoint/2010/main" val="2934951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Sample Pictures</a:t>
            </a:r>
            <a:endParaRPr lang="en-IN" dirty="0"/>
          </a:p>
        </p:txBody>
      </p:sp>
      <p:sp>
        <p:nvSpPr>
          <p:cNvPr id="3" name="Content Placeholder 2"/>
          <p:cNvSpPr>
            <a:spLocks noGrp="1"/>
          </p:cNvSpPr>
          <p:nvPr>
            <p:ph idx="1"/>
          </p:nvPr>
        </p:nvSpPr>
        <p:spPr/>
        <p:txBody>
          <a:bodyPr/>
          <a:lstStyle/>
          <a:p>
            <a:r>
              <a:rPr lang="en-IN" dirty="0" smtClean="0"/>
              <a:t>Point-Based			Hierarchical-based</a:t>
            </a:r>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14</a:t>
            </a:fld>
            <a:endParaRPr lang="en-IN"/>
          </a:p>
        </p:txBody>
      </p:sp>
      <p:pic>
        <p:nvPicPr>
          <p:cNvPr id="1026" name="Picture 2" descr="Graph clust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828" y="1844824"/>
            <a:ext cx="4287995" cy="39604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verything on Hierarchical Clustering | by Renu Khandelwal | Towards AI"/>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3379" y="2354002"/>
            <a:ext cx="5867400" cy="3086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9227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62" name="Rectangle 2"/>
          <p:cNvSpPr>
            <a:spLocks noGrp="1" noChangeArrowheads="1"/>
          </p:cNvSpPr>
          <p:nvPr>
            <p:ph type="title"/>
          </p:nvPr>
        </p:nvSpPr>
        <p:spPr>
          <a:xfrm>
            <a:off x="1903413" y="492126"/>
            <a:ext cx="7667626" cy="574675"/>
          </a:xfrm>
        </p:spPr>
        <p:txBody>
          <a:bodyPr vert="horz" lIns="92075" tIns="46038" rIns="92075" bIns="46038" rtlCol="0" anchor="b">
            <a:normAutofit fontScale="90000"/>
          </a:bodyPr>
          <a:lstStyle/>
          <a:p>
            <a:pPr>
              <a:defRPr/>
            </a:pPr>
            <a:r>
              <a:rPr lang="en-US" altLang="zh-CN" dirty="0" smtClean="0"/>
              <a:t>Hierarchical Clustering</a:t>
            </a:r>
          </a:p>
        </p:txBody>
      </p:sp>
      <p:sp>
        <p:nvSpPr>
          <p:cNvPr id="56323" name="Rectangle 3"/>
          <p:cNvSpPr>
            <a:spLocks noGrp="1" noChangeArrowheads="1"/>
          </p:cNvSpPr>
          <p:nvPr>
            <p:ph idx="1"/>
          </p:nvPr>
        </p:nvSpPr>
        <p:spPr>
          <a:xfrm>
            <a:off x="1903412" y="1295400"/>
            <a:ext cx="8305800" cy="5181600"/>
          </a:xfrm>
        </p:spPr>
        <p:txBody>
          <a:bodyPr vert="horz" lIns="92075" tIns="46038" rIns="92075" bIns="46038" rtlCol="0">
            <a:normAutofit/>
          </a:bodyPr>
          <a:lstStyle/>
          <a:p>
            <a:pPr eaLnBrk="1" hangingPunct="1">
              <a:spcBef>
                <a:spcPct val="50000"/>
              </a:spcBef>
            </a:pPr>
            <a:r>
              <a:rPr lang="en-US" altLang="zh-CN"/>
              <a:t>Use distance matrix as clustering criteria.  This method </a:t>
            </a:r>
            <a:r>
              <a:rPr lang="en-US" altLang="zh-CN" i="1"/>
              <a:t>does not require the number of clusters</a:t>
            </a:r>
            <a:r>
              <a:rPr lang="en-US" altLang="zh-CN"/>
              <a:t> </a:t>
            </a:r>
            <a:r>
              <a:rPr lang="en-US" altLang="zh-CN" b="1" i="1"/>
              <a:t>k</a:t>
            </a:r>
            <a:r>
              <a:rPr lang="en-US" altLang="zh-CN"/>
              <a:t> as an input, but needs a termination condition </a:t>
            </a:r>
          </a:p>
          <a:p>
            <a:pPr eaLnBrk="1" hangingPunct="1">
              <a:spcBef>
                <a:spcPct val="50000"/>
              </a:spcBef>
            </a:pPr>
            <a:r>
              <a:rPr lang="en-US" altLang="en-US"/>
              <a:t>Minimum distance clustering is also called as single linkage hierarchical clustering or nearest neighbor clustering. Distance between two clusters is defined by the minimum distance between objects of the two clusters, as shown below. </a:t>
            </a:r>
            <a:endParaRPr lang="en-US" altLang="zh-CN"/>
          </a:p>
        </p:txBody>
      </p:sp>
      <p:sp>
        <p:nvSpPr>
          <p:cNvPr id="60" name="Date Placeholder 3"/>
          <p:cNvSpPr>
            <a:spLocks noGrp="1"/>
          </p:cNvSpPr>
          <p:nvPr>
            <p:ph type="dt" sz="quarter" idx="10"/>
          </p:nvPr>
        </p:nvSpPr>
        <p:spPr/>
        <p:txBody>
          <a:bodyPr/>
          <a:lstStyle/>
          <a:p>
            <a:pPr>
              <a:defRPr/>
            </a:pPr>
            <a:fld id="{FF10CAD3-9F36-405F-AD47-C20DA03BD82B}" type="datetime4">
              <a:rPr lang="en-US"/>
              <a:pPr>
                <a:defRPr/>
              </a:pPr>
              <a:t>March 19, 2025</a:t>
            </a:fld>
            <a:endParaRPr lang="en-US"/>
          </a:p>
        </p:txBody>
      </p:sp>
      <p:sp>
        <p:nvSpPr>
          <p:cNvPr id="61" name="Footer Placeholder 4"/>
          <p:cNvSpPr>
            <a:spLocks noGrp="1"/>
          </p:cNvSpPr>
          <p:nvPr>
            <p:ph type="ftr" sz="quarter" idx="11"/>
          </p:nvPr>
        </p:nvSpPr>
        <p:spPr/>
        <p:txBody>
          <a:bodyPr/>
          <a:lstStyle/>
          <a:p>
            <a:pPr>
              <a:defRPr/>
            </a:pPr>
            <a:r>
              <a:rPr lang="en-US"/>
              <a:t>S. Nandagopalan, BIT</a:t>
            </a:r>
          </a:p>
        </p:txBody>
      </p:sp>
      <p:sp>
        <p:nvSpPr>
          <p:cNvPr id="5632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47EC591-D88C-45AB-BA23-4754E0300134}" type="slidenum">
              <a:rPr lang="en-US" altLang="en-US" sz="1200">
                <a:solidFill>
                  <a:srgbClr val="953735"/>
                </a:solidFill>
                <a:latin typeface="Palatino Linotype" panose="02040502050505030304" pitchFamily="18" charset="0"/>
              </a:rPr>
              <a:pPr>
                <a:spcBef>
                  <a:spcPct val="0"/>
                </a:spcBef>
                <a:buFontTx/>
                <a:buNone/>
              </a:pPr>
              <a:t>15</a:t>
            </a:fld>
            <a:endParaRPr lang="en-US" altLang="en-US" sz="1200">
              <a:solidFill>
                <a:srgbClr val="953735"/>
              </a:solidFill>
              <a:latin typeface="Palatino Linotype" panose="02040502050505030304" pitchFamily="18" charset="0"/>
            </a:endParaRPr>
          </a:p>
        </p:txBody>
      </p:sp>
      <p:pic>
        <p:nvPicPr>
          <p:cNvPr id="56327" name="Picture 64" descr="hierarchical clust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6380" y="4267201"/>
            <a:ext cx="3513138"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2326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Example</a:t>
            </a:r>
            <a:endParaRPr lang="en-US" dirty="0"/>
          </a:p>
        </p:txBody>
      </p:sp>
      <p:sp>
        <p:nvSpPr>
          <p:cNvPr id="57347" name="Content Placeholder 2"/>
          <p:cNvSpPr>
            <a:spLocks noGrp="1"/>
          </p:cNvSpPr>
          <p:nvPr>
            <p:ph idx="1"/>
          </p:nvPr>
        </p:nvSpPr>
        <p:spPr/>
        <p:txBody>
          <a:bodyPr/>
          <a:lstStyle/>
          <a:p>
            <a:r>
              <a:rPr lang="en-US" altLang="en-US"/>
              <a:t>For example, we have given an input distance matrix of size 6 by 6. This distance matrix was calculated based on the object features</a:t>
            </a:r>
          </a:p>
          <a:p>
            <a:r>
              <a:rPr lang="en-US" altLang="en-US"/>
              <a:t>In the beginning we have 6 clusters. Our goal is to group those 6 clusters such that at the end of the iterations, we will have only single cluster consists of the whole six original objects.</a:t>
            </a:r>
          </a:p>
        </p:txBody>
      </p:sp>
      <p:sp>
        <p:nvSpPr>
          <p:cNvPr id="4" name="Date Placeholder 3"/>
          <p:cNvSpPr>
            <a:spLocks noGrp="1"/>
          </p:cNvSpPr>
          <p:nvPr>
            <p:ph type="dt" sz="quarter" idx="10"/>
          </p:nvPr>
        </p:nvSpPr>
        <p:spPr/>
        <p:txBody>
          <a:bodyPr/>
          <a:lstStyle/>
          <a:p>
            <a:pPr>
              <a:defRPr/>
            </a:pPr>
            <a:fld id="{F2405D96-B3D6-495D-ACE0-6BAA3DD26D34}" type="datetime4">
              <a:rPr lang="en-US" smtClean="0"/>
              <a:pPr>
                <a:defRPr/>
              </a:pPr>
              <a:t>March 19, 2025</a:t>
            </a:fld>
            <a:endParaRPr lang="en-US"/>
          </a:p>
        </p:txBody>
      </p:sp>
      <p:sp>
        <p:nvSpPr>
          <p:cNvPr id="5" name="Footer Placeholder 4"/>
          <p:cNvSpPr>
            <a:spLocks noGrp="1"/>
          </p:cNvSpPr>
          <p:nvPr>
            <p:ph type="ftr" sz="quarter" idx="11"/>
          </p:nvPr>
        </p:nvSpPr>
        <p:spPr/>
        <p:txBody>
          <a:bodyPr/>
          <a:lstStyle/>
          <a:p>
            <a:pPr>
              <a:defRPr/>
            </a:pPr>
            <a:r>
              <a:rPr lang="en-US" smtClean="0"/>
              <a:t>S. Nandagopalan, BIT</a:t>
            </a:r>
            <a:endParaRPr lang="en-US"/>
          </a:p>
        </p:txBody>
      </p:sp>
      <p:sp>
        <p:nvSpPr>
          <p:cNvPr id="5735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D5E3CA2-10D4-4EAC-8FBD-76B72D13EFCC}" type="slidenum">
              <a:rPr lang="en-US" altLang="en-US" sz="1200">
                <a:solidFill>
                  <a:srgbClr val="953735"/>
                </a:solidFill>
                <a:latin typeface="Palatino Linotype" panose="02040502050505030304" pitchFamily="18" charset="0"/>
              </a:rPr>
              <a:pPr>
                <a:spcBef>
                  <a:spcPct val="0"/>
                </a:spcBef>
                <a:buFontTx/>
                <a:buNone/>
              </a:pPr>
              <a:t>16</a:t>
            </a:fld>
            <a:endParaRPr lang="en-US" altLang="en-US" sz="1200">
              <a:solidFill>
                <a:srgbClr val="953735"/>
              </a:solidFill>
              <a:latin typeface="Palatino Linotype" panose="02040502050505030304" pitchFamily="18" charset="0"/>
            </a:endParaRPr>
          </a:p>
        </p:txBody>
      </p:sp>
      <p:pic>
        <p:nvPicPr>
          <p:cNvPr id="57351" name="Picture 2" descr="hierarchical clust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9226" y="4038600"/>
            <a:ext cx="4827587"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7352" name="Picture 9" descr="coordina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213" y="4135438"/>
            <a:ext cx="2493963" cy="188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ight Arrow 2"/>
          <p:cNvSpPr/>
          <p:nvPr/>
        </p:nvSpPr>
        <p:spPr>
          <a:xfrm>
            <a:off x="4875212" y="5067300"/>
            <a:ext cx="381000" cy="190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extLst>
      <p:ext uri="{BB962C8B-B14F-4D97-AF65-F5344CB8AC3E}">
        <p14:creationId xmlns:p14="http://schemas.microsoft.com/office/powerpoint/2010/main" val="9399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Example…</a:t>
            </a:r>
            <a:endParaRPr lang="en-US" dirty="0"/>
          </a:p>
        </p:txBody>
      </p:sp>
      <p:sp>
        <p:nvSpPr>
          <p:cNvPr id="58371" name="Content Placeholder 2"/>
          <p:cNvSpPr>
            <a:spLocks noGrp="1"/>
          </p:cNvSpPr>
          <p:nvPr>
            <p:ph idx="1"/>
          </p:nvPr>
        </p:nvSpPr>
        <p:spPr>
          <a:xfrm>
            <a:off x="1261543" y="1412776"/>
            <a:ext cx="9690116" cy="5353149"/>
          </a:xfrm>
        </p:spPr>
        <p:txBody>
          <a:bodyPr>
            <a:normAutofit/>
          </a:bodyPr>
          <a:lstStyle/>
          <a:p>
            <a:r>
              <a:rPr lang="en-US" altLang="en-US" sz="2000" dirty="0"/>
              <a:t>In each step of the iteration, we find the closest pair clusters. In this case, the closest cluster is between cluster F and D with shortest distance of 0.5. Thus, we group cluster D and F into cluster (D, F). </a:t>
            </a:r>
          </a:p>
          <a:p>
            <a:r>
              <a:rPr lang="en-US" altLang="en-US" sz="2000" dirty="0" smtClean="0"/>
              <a:t>Update </a:t>
            </a:r>
            <a:r>
              <a:rPr lang="en-US" altLang="en-US" sz="2000" dirty="0"/>
              <a:t>the distance matrix (see distance matrix below). Distance between ungrouped clusters will not change from the original distance matrix. </a:t>
            </a:r>
          </a:p>
          <a:p>
            <a:endParaRPr lang="en-US" altLang="en-US" sz="2000" dirty="0"/>
          </a:p>
          <a:p>
            <a:endParaRPr lang="en-US" altLang="en-US" sz="2000" dirty="0"/>
          </a:p>
          <a:p>
            <a:endParaRPr lang="en-US" altLang="en-US" sz="2000" dirty="0"/>
          </a:p>
          <a:p>
            <a:endParaRPr lang="en-US" altLang="en-US" sz="2000" dirty="0"/>
          </a:p>
          <a:p>
            <a:endParaRPr lang="en-US" altLang="en-US" sz="2000" dirty="0"/>
          </a:p>
          <a:p>
            <a:endParaRPr lang="en-US" altLang="en-US" sz="2000" dirty="0" smtClean="0"/>
          </a:p>
          <a:p>
            <a:r>
              <a:rPr lang="en-US" altLang="en-US" sz="2000" dirty="0" smtClean="0"/>
              <a:t>Now </a:t>
            </a:r>
            <a:r>
              <a:rPr lang="en-US" altLang="en-US" sz="2000" dirty="0"/>
              <a:t>the problem is how to calculate distance between newly grouped clusters (D, F) and other clusters?</a:t>
            </a:r>
            <a:endParaRPr lang="en-US" altLang="en-US" sz="1800" dirty="0"/>
          </a:p>
        </p:txBody>
      </p:sp>
      <p:sp>
        <p:nvSpPr>
          <p:cNvPr id="4" name="Date Placeholder 3"/>
          <p:cNvSpPr>
            <a:spLocks noGrp="1"/>
          </p:cNvSpPr>
          <p:nvPr>
            <p:ph type="dt" sz="quarter" idx="10"/>
          </p:nvPr>
        </p:nvSpPr>
        <p:spPr/>
        <p:txBody>
          <a:bodyPr/>
          <a:lstStyle/>
          <a:p>
            <a:pPr>
              <a:defRPr/>
            </a:pPr>
            <a:fld id="{F2405D96-B3D6-495D-ACE0-6BAA3DD26D34}" type="datetime4">
              <a:rPr lang="en-US" smtClean="0"/>
              <a:pPr>
                <a:defRPr/>
              </a:pPr>
              <a:t>March 19, 2025</a:t>
            </a:fld>
            <a:endParaRPr lang="en-US"/>
          </a:p>
        </p:txBody>
      </p:sp>
      <p:sp>
        <p:nvSpPr>
          <p:cNvPr id="5" name="Footer Placeholder 4"/>
          <p:cNvSpPr>
            <a:spLocks noGrp="1"/>
          </p:cNvSpPr>
          <p:nvPr>
            <p:ph type="ftr" sz="quarter" idx="11"/>
          </p:nvPr>
        </p:nvSpPr>
        <p:spPr/>
        <p:txBody>
          <a:bodyPr/>
          <a:lstStyle/>
          <a:p>
            <a:pPr>
              <a:defRPr/>
            </a:pPr>
            <a:r>
              <a:rPr lang="en-US" smtClean="0"/>
              <a:t>S. Nandagopalan, BIT</a:t>
            </a:r>
            <a:endParaRPr lang="en-US"/>
          </a:p>
        </p:txBody>
      </p:sp>
      <p:sp>
        <p:nvSpPr>
          <p:cNvPr id="5837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086C92B-CAAD-4346-AE7D-E303837FF6DB}" type="slidenum">
              <a:rPr lang="en-US" altLang="en-US" sz="1200">
                <a:solidFill>
                  <a:srgbClr val="953735"/>
                </a:solidFill>
                <a:latin typeface="Palatino Linotype" panose="02040502050505030304" pitchFamily="18" charset="0"/>
              </a:rPr>
              <a:pPr>
                <a:spcBef>
                  <a:spcPct val="0"/>
                </a:spcBef>
                <a:buFontTx/>
                <a:buNone/>
              </a:pPr>
              <a:t>17</a:t>
            </a:fld>
            <a:endParaRPr lang="en-US" altLang="en-US" sz="1200">
              <a:solidFill>
                <a:srgbClr val="953735"/>
              </a:solidFill>
              <a:latin typeface="Palatino Linotype" panose="02040502050505030304" pitchFamily="18" charset="0"/>
            </a:endParaRPr>
          </a:p>
        </p:txBody>
      </p:sp>
      <p:pic>
        <p:nvPicPr>
          <p:cNvPr id="58375" name="Picture 2" descr="hierarchical clust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0436" y="3284984"/>
            <a:ext cx="4622080" cy="2207121"/>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pic>
        <p:nvPicPr>
          <p:cNvPr id="8" name="Picture 2" descr="hierarchical cluster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0461" y="3284984"/>
            <a:ext cx="4827587" cy="22098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88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Example…</a:t>
            </a:r>
            <a:endParaRPr lang="en-US" dirty="0"/>
          </a:p>
        </p:txBody>
      </p:sp>
      <p:sp>
        <p:nvSpPr>
          <p:cNvPr id="59395" name="Content Placeholder 2"/>
          <p:cNvSpPr>
            <a:spLocks noGrp="1"/>
          </p:cNvSpPr>
          <p:nvPr>
            <p:ph idx="1"/>
          </p:nvPr>
        </p:nvSpPr>
        <p:spPr/>
        <p:txBody>
          <a:bodyPr/>
          <a:lstStyle/>
          <a:p>
            <a:r>
              <a:rPr lang="en-US" altLang="en-US" sz="2000"/>
              <a:t>That is exactly where the linkage rule comes into effect. Using single linkage, we specify minimum distance between original objects of the two clusters.</a:t>
            </a:r>
          </a:p>
          <a:p>
            <a:r>
              <a:rPr lang="en-US" altLang="en-US" sz="2000"/>
              <a:t>Using the input distance matrix, distance between cluster (D, F) and cluster A is computed as</a:t>
            </a:r>
          </a:p>
          <a:p>
            <a:endParaRPr lang="en-US" altLang="en-US" sz="2000"/>
          </a:p>
          <a:p>
            <a:r>
              <a:rPr lang="en-US" altLang="en-US" sz="2000"/>
              <a:t>Distance between cluster (D, F) and cluster B is</a:t>
            </a:r>
          </a:p>
          <a:p>
            <a:endParaRPr lang="en-US" altLang="en-US" sz="2000"/>
          </a:p>
          <a:p>
            <a:r>
              <a:rPr lang="en-US" altLang="en-US" sz="2000"/>
              <a:t>Similarly, distance between cluster (D, F) and cluster C is</a:t>
            </a:r>
          </a:p>
          <a:p>
            <a:endParaRPr lang="en-US" altLang="en-US" sz="2000"/>
          </a:p>
          <a:p>
            <a:r>
              <a:rPr lang="en-US" altLang="en-US" sz="2000"/>
              <a:t>Finally, distance between cluster E and cluster (D, F) is calculated as</a:t>
            </a:r>
          </a:p>
          <a:p>
            <a:endParaRPr lang="en-US" altLang="en-US" sz="2000"/>
          </a:p>
          <a:p>
            <a:endParaRPr lang="en-US" altLang="en-US" sz="2000"/>
          </a:p>
        </p:txBody>
      </p:sp>
      <p:sp>
        <p:nvSpPr>
          <p:cNvPr id="4" name="Date Placeholder 3"/>
          <p:cNvSpPr>
            <a:spLocks noGrp="1"/>
          </p:cNvSpPr>
          <p:nvPr>
            <p:ph type="dt" sz="quarter" idx="10"/>
          </p:nvPr>
        </p:nvSpPr>
        <p:spPr/>
        <p:txBody>
          <a:bodyPr/>
          <a:lstStyle/>
          <a:p>
            <a:pPr>
              <a:defRPr/>
            </a:pPr>
            <a:fld id="{F2405D96-B3D6-495D-ACE0-6BAA3DD26D34}" type="datetime4">
              <a:rPr lang="en-US" smtClean="0"/>
              <a:pPr>
                <a:defRPr/>
              </a:pPr>
              <a:t>March 19, 2025</a:t>
            </a:fld>
            <a:endParaRPr lang="en-US"/>
          </a:p>
        </p:txBody>
      </p:sp>
      <p:sp>
        <p:nvSpPr>
          <p:cNvPr id="5" name="Footer Placeholder 4"/>
          <p:cNvSpPr>
            <a:spLocks noGrp="1"/>
          </p:cNvSpPr>
          <p:nvPr>
            <p:ph type="ftr" sz="quarter" idx="11"/>
          </p:nvPr>
        </p:nvSpPr>
        <p:spPr/>
        <p:txBody>
          <a:bodyPr/>
          <a:lstStyle/>
          <a:p>
            <a:pPr>
              <a:defRPr/>
            </a:pPr>
            <a:r>
              <a:rPr lang="en-US" smtClean="0"/>
              <a:t>S. Nandagopalan, BIT</a:t>
            </a:r>
            <a:endParaRPr lang="en-US"/>
          </a:p>
        </p:txBody>
      </p:sp>
      <p:sp>
        <p:nvSpPr>
          <p:cNvPr id="5939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7AF787E-6896-4C6E-A50B-23C9566FDF64}" type="slidenum">
              <a:rPr lang="en-US" altLang="en-US" sz="1200">
                <a:solidFill>
                  <a:srgbClr val="953735"/>
                </a:solidFill>
                <a:latin typeface="Palatino Linotype" panose="02040502050505030304" pitchFamily="18" charset="0"/>
              </a:rPr>
              <a:pPr>
                <a:spcBef>
                  <a:spcPct val="0"/>
                </a:spcBef>
                <a:buFontTx/>
                <a:buNone/>
              </a:pPr>
              <a:t>18</a:t>
            </a:fld>
            <a:endParaRPr lang="en-US" altLang="en-US" sz="1200">
              <a:solidFill>
                <a:srgbClr val="953735"/>
              </a:solidFill>
              <a:latin typeface="Palatino Linotype" panose="02040502050505030304" pitchFamily="18" charset="0"/>
            </a:endParaRPr>
          </a:p>
        </p:txBody>
      </p:sp>
      <p:pic>
        <p:nvPicPr>
          <p:cNvPr id="59399" name="Picture 2" descr="hierarchical clust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20601" y="2762671"/>
            <a:ext cx="457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0" name="Picture 4" descr="hierarchical cluster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20601" y="3706553"/>
            <a:ext cx="4629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1" name="Picture 6" descr="hierarchical cluster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20601" y="4596476"/>
            <a:ext cx="46704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402" name="Picture 8" descr="hierarchical clusteri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06375" y="5591175"/>
            <a:ext cx="4572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9474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Example…</a:t>
            </a:r>
            <a:endParaRPr lang="en-US" dirty="0"/>
          </a:p>
        </p:txBody>
      </p:sp>
      <p:sp>
        <p:nvSpPr>
          <p:cNvPr id="60419" name="Content Placeholder 2"/>
          <p:cNvSpPr>
            <a:spLocks noGrp="1"/>
          </p:cNvSpPr>
          <p:nvPr>
            <p:ph idx="1"/>
          </p:nvPr>
        </p:nvSpPr>
        <p:spPr/>
        <p:txBody>
          <a:bodyPr/>
          <a:lstStyle/>
          <a:p>
            <a:r>
              <a:rPr lang="en-US" altLang="en-US" sz="2000" dirty="0"/>
              <a:t>Updated matrix:</a:t>
            </a:r>
          </a:p>
          <a:p>
            <a:endParaRPr lang="en-US" altLang="en-US" sz="2000" dirty="0"/>
          </a:p>
          <a:p>
            <a:endParaRPr lang="en-US" altLang="en-US" sz="2000" dirty="0"/>
          </a:p>
          <a:p>
            <a:endParaRPr lang="en-US" altLang="en-US" sz="2000" dirty="0"/>
          </a:p>
          <a:p>
            <a:endParaRPr lang="en-US" altLang="en-US" sz="2000" dirty="0"/>
          </a:p>
          <a:p>
            <a:r>
              <a:rPr lang="en-US" altLang="en-US" sz="2000" dirty="0" smtClean="0"/>
              <a:t>Now </a:t>
            </a:r>
            <a:r>
              <a:rPr lang="en-US" altLang="en-US" sz="2000" dirty="0"/>
              <a:t>we update the distance matrix. Aside from the first row and first column, all the other elements of the new distance matrix are not changed.</a:t>
            </a:r>
          </a:p>
        </p:txBody>
      </p:sp>
      <p:sp>
        <p:nvSpPr>
          <p:cNvPr id="4" name="Date Placeholder 3"/>
          <p:cNvSpPr>
            <a:spLocks noGrp="1"/>
          </p:cNvSpPr>
          <p:nvPr>
            <p:ph type="dt" sz="quarter" idx="10"/>
          </p:nvPr>
        </p:nvSpPr>
        <p:spPr/>
        <p:txBody>
          <a:bodyPr/>
          <a:lstStyle/>
          <a:p>
            <a:pPr>
              <a:defRPr/>
            </a:pPr>
            <a:fld id="{F2405D96-B3D6-495D-ACE0-6BAA3DD26D34}" type="datetime4">
              <a:rPr lang="en-US" smtClean="0"/>
              <a:pPr>
                <a:defRPr/>
              </a:pPr>
              <a:t>March 19, 2025</a:t>
            </a:fld>
            <a:endParaRPr lang="en-US"/>
          </a:p>
        </p:txBody>
      </p:sp>
      <p:sp>
        <p:nvSpPr>
          <p:cNvPr id="5" name="Footer Placeholder 4"/>
          <p:cNvSpPr>
            <a:spLocks noGrp="1"/>
          </p:cNvSpPr>
          <p:nvPr>
            <p:ph type="ftr" sz="quarter" idx="11"/>
          </p:nvPr>
        </p:nvSpPr>
        <p:spPr/>
        <p:txBody>
          <a:bodyPr/>
          <a:lstStyle/>
          <a:p>
            <a:pPr>
              <a:defRPr/>
            </a:pPr>
            <a:r>
              <a:rPr lang="en-US" smtClean="0"/>
              <a:t>S. Nandagopalan, BIT</a:t>
            </a:r>
            <a:endParaRPr lang="en-US"/>
          </a:p>
        </p:txBody>
      </p:sp>
      <p:sp>
        <p:nvSpPr>
          <p:cNvPr id="6042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28CB928-2086-48FB-AF0C-C8E0D05D9F8B}" type="slidenum">
              <a:rPr lang="en-US" altLang="en-US" sz="1200">
                <a:solidFill>
                  <a:srgbClr val="953735"/>
                </a:solidFill>
                <a:latin typeface="Palatino Linotype" panose="02040502050505030304" pitchFamily="18" charset="0"/>
              </a:rPr>
              <a:pPr>
                <a:spcBef>
                  <a:spcPct val="0"/>
                </a:spcBef>
                <a:buFontTx/>
                <a:buNone/>
              </a:pPr>
              <a:t>19</a:t>
            </a:fld>
            <a:endParaRPr lang="en-US" altLang="en-US" sz="1200">
              <a:solidFill>
                <a:srgbClr val="953735"/>
              </a:solidFill>
              <a:latin typeface="Palatino Linotype" panose="02040502050505030304" pitchFamily="18" charset="0"/>
            </a:endParaRPr>
          </a:p>
        </p:txBody>
      </p:sp>
      <p:pic>
        <p:nvPicPr>
          <p:cNvPr id="60423" name="Picture 2" descr="hierarchical clust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0044" y="1268760"/>
            <a:ext cx="4392099" cy="204594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pic>
        <p:nvPicPr>
          <p:cNvPr id="60424" name="Picture 4" descr="hierarchical cluster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9633" y="4437112"/>
            <a:ext cx="4383576" cy="18002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4046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Example…</a:t>
            </a:r>
            <a:endParaRPr lang="en-US" dirty="0"/>
          </a:p>
        </p:txBody>
      </p:sp>
      <p:sp>
        <p:nvSpPr>
          <p:cNvPr id="61443" name="Content Placeholder 2"/>
          <p:cNvSpPr>
            <a:spLocks noGrp="1"/>
          </p:cNvSpPr>
          <p:nvPr>
            <p:ph idx="1"/>
          </p:nvPr>
        </p:nvSpPr>
        <p:spPr/>
        <p:txBody>
          <a:bodyPr/>
          <a:lstStyle/>
          <a:p>
            <a:endParaRPr lang="en-US" altLang="en-US" smtClean="0"/>
          </a:p>
        </p:txBody>
      </p:sp>
      <p:sp>
        <p:nvSpPr>
          <p:cNvPr id="4" name="Date Placeholder 3"/>
          <p:cNvSpPr>
            <a:spLocks noGrp="1"/>
          </p:cNvSpPr>
          <p:nvPr>
            <p:ph type="dt" sz="quarter" idx="10"/>
          </p:nvPr>
        </p:nvSpPr>
        <p:spPr/>
        <p:txBody>
          <a:bodyPr/>
          <a:lstStyle/>
          <a:p>
            <a:pPr>
              <a:defRPr/>
            </a:pPr>
            <a:fld id="{F2405D96-B3D6-495D-ACE0-6BAA3DD26D34}" type="datetime4">
              <a:rPr lang="en-US" smtClean="0"/>
              <a:pPr>
                <a:defRPr/>
              </a:pPr>
              <a:t>March 19, 2025</a:t>
            </a:fld>
            <a:endParaRPr lang="en-US"/>
          </a:p>
        </p:txBody>
      </p:sp>
      <p:sp>
        <p:nvSpPr>
          <p:cNvPr id="5" name="Footer Placeholder 4"/>
          <p:cNvSpPr>
            <a:spLocks noGrp="1"/>
          </p:cNvSpPr>
          <p:nvPr>
            <p:ph type="ftr" sz="quarter" idx="11"/>
          </p:nvPr>
        </p:nvSpPr>
        <p:spPr/>
        <p:txBody>
          <a:bodyPr/>
          <a:lstStyle/>
          <a:p>
            <a:pPr>
              <a:defRPr/>
            </a:pPr>
            <a:r>
              <a:rPr lang="en-US" smtClean="0"/>
              <a:t>S. Nandagopalan, BIT</a:t>
            </a:r>
            <a:endParaRPr lang="en-US"/>
          </a:p>
        </p:txBody>
      </p:sp>
      <p:sp>
        <p:nvSpPr>
          <p:cNvPr id="614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8C6D556-1239-4D36-B1AA-4F034349977E}" type="slidenum">
              <a:rPr lang="en-US" altLang="en-US" sz="1200">
                <a:solidFill>
                  <a:srgbClr val="953735"/>
                </a:solidFill>
                <a:latin typeface="Palatino Linotype" panose="02040502050505030304" pitchFamily="18" charset="0"/>
              </a:rPr>
              <a:pPr>
                <a:spcBef>
                  <a:spcPct val="0"/>
                </a:spcBef>
                <a:buFontTx/>
                <a:buNone/>
              </a:pPr>
              <a:t>20</a:t>
            </a:fld>
            <a:endParaRPr lang="en-US" altLang="en-US" sz="1200">
              <a:solidFill>
                <a:srgbClr val="953735"/>
              </a:solidFill>
              <a:latin typeface="Palatino Linotype" panose="02040502050505030304" pitchFamily="18" charset="0"/>
            </a:endParaRPr>
          </a:p>
        </p:txBody>
      </p:sp>
      <p:pic>
        <p:nvPicPr>
          <p:cNvPr id="61447" name="Picture 2" descr="hierarchical clust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612" y="1752600"/>
            <a:ext cx="548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8" name="Picture 4" descr="hierarchical cluster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2012" y="2590801"/>
            <a:ext cx="74676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9" name="Picture 6" descr="hierarchical cluster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6012" y="3352800"/>
            <a:ext cx="51054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50" name="Picture 8" descr="hierarchical clusteri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80915" y="4131456"/>
            <a:ext cx="4022725" cy="18288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pic>
        <p:nvPicPr>
          <p:cNvPr id="61451" name="Picture 10" descr="hierarchical clusteri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3012" y="4114800"/>
            <a:ext cx="3733800" cy="18288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6202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Example…</a:t>
            </a:r>
            <a:endParaRPr lang="en-US" dirty="0"/>
          </a:p>
        </p:txBody>
      </p:sp>
      <p:sp>
        <p:nvSpPr>
          <p:cNvPr id="62467" name="Content Placeholder 2"/>
          <p:cNvSpPr>
            <a:spLocks noGrp="1"/>
          </p:cNvSpPr>
          <p:nvPr>
            <p:ph idx="1"/>
          </p:nvPr>
        </p:nvSpPr>
        <p:spPr/>
        <p:txBody>
          <a:bodyPr/>
          <a:lstStyle/>
          <a:p>
            <a:endParaRPr lang="en-US" altLang="en-US" dirty="0" smtClean="0"/>
          </a:p>
        </p:txBody>
      </p:sp>
      <p:sp>
        <p:nvSpPr>
          <p:cNvPr id="4" name="Date Placeholder 3"/>
          <p:cNvSpPr>
            <a:spLocks noGrp="1"/>
          </p:cNvSpPr>
          <p:nvPr>
            <p:ph type="dt" sz="quarter" idx="10"/>
          </p:nvPr>
        </p:nvSpPr>
        <p:spPr/>
        <p:txBody>
          <a:bodyPr/>
          <a:lstStyle/>
          <a:p>
            <a:pPr>
              <a:defRPr/>
            </a:pPr>
            <a:fld id="{F2405D96-B3D6-495D-ACE0-6BAA3DD26D34}" type="datetime4">
              <a:rPr lang="en-US" smtClean="0"/>
              <a:pPr>
                <a:defRPr/>
              </a:pPr>
              <a:t>March 19, 2025</a:t>
            </a:fld>
            <a:endParaRPr lang="en-US"/>
          </a:p>
        </p:txBody>
      </p:sp>
      <p:sp>
        <p:nvSpPr>
          <p:cNvPr id="5" name="Footer Placeholder 4"/>
          <p:cNvSpPr>
            <a:spLocks noGrp="1"/>
          </p:cNvSpPr>
          <p:nvPr>
            <p:ph type="ftr" sz="quarter" idx="11"/>
          </p:nvPr>
        </p:nvSpPr>
        <p:spPr/>
        <p:txBody>
          <a:bodyPr/>
          <a:lstStyle/>
          <a:p>
            <a:pPr>
              <a:defRPr/>
            </a:pPr>
            <a:r>
              <a:rPr lang="en-US" smtClean="0"/>
              <a:t>S. Nandagopalan, BIT</a:t>
            </a:r>
            <a:endParaRPr lang="en-US"/>
          </a:p>
        </p:txBody>
      </p:sp>
      <p:sp>
        <p:nvSpPr>
          <p:cNvPr id="624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DE14B0C-2417-4CE9-9D9A-296468EE1D19}" type="slidenum">
              <a:rPr lang="en-US" altLang="en-US" sz="1200">
                <a:solidFill>
                  <a:srgbClr val="953735"/>
                </a:solidFill>
                <a:latin typeface="Palatino Linotype" panose="02040502050505030304" pitchFamily="18" charset="0"/>
              </a:rPr>
              <a:pPr>
                <a:spcBef>
                  <a:spcPct val="0"/>
                </a:spcBef>
                <a:buFontTx/>
                <a:buNone/>
              </a:pPr>
              <a:t>21</a:t>
            </a:fld>
            <a:endParaRPr lang="en-US" altLang="en-US" sz="1200">
              <a:solidFill>
                <a:srgbClr val="953735"/>
              </a:solidFill>
              <a:latin typeface="Palatino Linotype" panose="02040502050505030304" pitchFamily="18" charset="0"/>
            </a:endParaRPr>
          </a:p>
        </p:txBody>
      </p:sp>
      <p:pic>
        <p:nvPicPr>
          <p:cNvPr id="62471" name="Picture 2" descr="hierarchical clust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1801" y="1828800"/>
            <a:ext cx="82296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2" name="Picture 4" descr="hierarchical cluster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75843" y="2315717"/>
            <a:ext cx="56864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3" name="Picture 6" descr="hierarchical cluster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5196" y="2896741"/>
            <a:ext cx="3774982" cy="1600200"/>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pic>
        <p:nvPicPr>
          <p:cNvPr id="62474" name="Picture 8" descr="hierarchical clusteri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3612" y="4648200"/>
            <a:ext cx="551815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75" name="Picture 10" descr="hierarchical clusteri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2212" y="5257800"/>
            <a:ext cx="537368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47055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Example…</a:t>
            </a:r>
            <a:endParaRPr lang="en-US" dirty="0"/>
          </a:p>
        </p:txBody>
      </p:sp>
      <p:sp>
        <p:nvSpPr>
          <p:cNvPr id="63491" name="Content Placeholder 2"/>
          <p:cNvSpPr>
            <a:spLocks noGrp="1"/>
          </p:cNvSpPr>
          <p:nvPr>
            <p:ph idx="1"/>
          </p:nvPr>
        </p:nvSpPr>
        <p:spPr>
          <a:xfrm>
            <a:off x="1979612" y="1268760"/>
            <a:ext cx="8363272" cy="5360640"/>
          </a:xfrm>
        </p:spPr>
        <p:txBody>
          <a:bodyPr>
            <a:normAutofit/>
          </a:bodyPr>
          <a:lstStyle/>
          <a:p>
            <a:pPr>
              <a:spcBef>
                <a:spcPct val="0"/>
              </a:spcBef>
            </a:pPr>
            <a:r>
              <a:rPr lang="en-US" altLang="en-US" sz="1800" dirty="0"/>
              <a:t>In the beginning we have 6 clusters: A, B, C, D, E and F</a:t>
            </a:r>
          </a:p>
          <a:p>
            <a:pPr>
              <a:spcBef>
                <a:spcPct val="0"/>
              </a:spcBef>
            </a:pPr>
            <a:r>
              <a:rPr lang="en-US" altLang="en-US" sz="1800" dirty="0"/>
              <a:t>We merge cluster D and F into cluster (D, F) at distance</a:t>
            </a:r>
            <a:r>
              <a:rPr lang="en-US" altLang="en-US" sz="1800" b="1" dirty="0"/>
              <a:t> 0.50</a:t>
            </a:r>
            <a:endParaRPr lang="en-US" altLang="en-US" sz="1800" dirty="0"/>
          </a:p>
          <a:p>
            <a:pPr>
              <a:spcBef>
                <a:spcPct val="0"/>
              </a:spcBef>
            </a:pPr>
            <a:r>
              <a:rPr lang="en-US" altLang="en-US" sz="1800" dirty="0"/>
              <a:t>We merge cluster A and cluster B into (A, B) at distance </a:t>
            </a:r>
            <a:r>
              <a:rPr lang="en-US" altLang="en-US" sz="1800" b="1" dirty="0"/>
              <a:t>0.71</a:t>
            </a:r>
            <a:endParaRPr lang="en-US" altLang="en-US" sz="1800" dirty="0"/>
          </a:p>
          <a:p>
            <a:pPr>
              <a:spcBef>
                <a:spcPct val="0"/>
              </a:spcBef>
            </a:pPr>
            <a:r>
              <a:rPr lang="en-US" altLang="en-US" sz="1800" dirty="0"/>
              <a:t>We merge cluster E and (D, F) into ((D, F), E) at distance </a:t>
            </a:r>
            <a:r>
              <a:rPr lang="en-US" altLang="en-US" sz="1800" b="1" dirty="0"/>
              <a:t>1.00</a:t>
            </a:r>
            <a:endParaRPr lang="en-US" altLang="en-US" sz="1800" dirty="0"/>
          </a:p>
          <a:p>
            <a:pPr>
              <a:spcBef>
                <a:spcPct val="0"/>
              </a:spcBef>
            </a:pPr>
            <a:r>
              <a:rPr lang="en-US" altLang="en-US" sz="1800" dirty="0"/>
              <a:t>We merge cluster ((D, F), E) and C into (((D, F), E), C) at distance </a:t>
            </a:r>
            <a:r>
              <a:rPr lang="en-US" altLang="en-US" sz="1800" b="1" dirty="0"/>
              <a:t>1.41</a:t>
            </a:r>
            <a:endParaRPr lang="en-US" altLang="en-US" sz="1800" dirty="0"/>
          </a:p>
          <a:p>
            <a:pPr>
              <a:spcBef>
                <a:spcPct val="0"/>
              </a:spcBef>
            </a:pPr>
            <a:r>
              <a:rPr lang="en-US" altLang="en-US" sz="1800" dirty="0"/>
              <a:t>We merge cluster (((D, F), E), C) and (A, B) into ((((D, F), E), C), (A, B)) at distance </a:t>
            </a:r>
            <a:r>
              <a:rPr lang="en-US" altLang="en-US" sz="1800" b="1" dirty="0"/>
              <a:t>2.50</a:t>
            </a:r>
            <a:endParaRPr lang="en-US" altLang="en-US" sz="1800" dirty="0"/>
          </a:p>
          <a:p>
            <a:pPr>
              <a:spcBef>
                <a:spcPct val="0"/>
              </a:spcBef>
            </a:pPr>
            <a:r>
              <a:rPr lang="en-US" altLang="en-US" sz="1800" dirty="0"/>
              <a:t>The last cluster contain all the objects, thus conclude the computation</a:t>
            </a:r>
          </a:p>
          <a:p>
            <a:endParaRPr lang="en-US" altLang="en-US" sz="1800" dirty="0"/>
          </a:p>
        </p:txBody>
      </p:sp>
      <p:sp>
        <p:nvSpPr>
          <p:cNvPr id="4" name="Date Placeholder 3"/>
          <p:cNvSpPr>
            <a:spLocks noGrp="1"/>
          </p:cNvSpPr>
          <p:nvPr>
            <p:ph type="dt" sz="quarter" idx="10"/>
          </p:nvPr>
        </p:nvSpPr>
        <p:spPr/>
        <p:txBody>
          <a:bodyPr/>
          <a:lstStyle/>
          <a:p>
            <a:pPr>
              <a:defRPr/>
            </a:pPr>
            <a:fld id="{F2405D96-B3D6-495D-ACE0-6BAA3DD26D34}" type="datetime4">
              <a:rPr lang="en-US" smtClean="0"/>
              <a:pPr>
                <a:defRPr/>
              </a:pPr>
              <a:t>March 19, 2025</a:t>
            </a:fld>
            <a:endParaRPr lang="en-US"/>
          </a:p>
        </p:txBody>
      </p:sp>
      <p:sp>
        <p:nvSpPr>
          <p:cNvPr id="5" name="Footer Placeholder 4"/>
          <p:cNvSpPr>
            <a:spLocks noGrp="1"/>
          </p:cNvSpPr>
          <p:nvPr>
            <p:ph type="ftr" sz="quarter" idx="11"/>
          </p:nvPr>
        </p:nvSpPr>
        <p:spPr/>
        <p:txBody>
          <a:bodyPr/>
          <a:lstStyle/>
          <a:p>
            <a:pPr>
              <a:defRPr/>
            </a:pPr>
            <a:r>
              <a:rPr lang="en-US" smtClean="0"/>
              <a:t>S. Nandagopalan, BIT</a:t>
            </a:r>
            <a:endParaRPr lang="en-US"/>
          </a:p>
        </p:txBody>
      </p:sp>
      <p:sp>
        <p:nvSpPr>
          <p:cNvPr id="634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9443332-CE93-45B0-A1FD-4295001AFBE4}" type="slidenum">
              <a:rPr lang="en-US" altLang="en-US" sz="1200">
                <a:solidFill>
                  <a:srgbClr val="953735"/>
                </a:solidFill>
                <a:latin typeface="Palatino Linotype" panose="02040502050505030304" pitchFamily="18" charset="0"/>
              </a:rPr>
              <a:pPr>
                <a:spcBef>
                  <a:spcPct val="0"/>
                </a:spcBef>
                <a:buFontTx/>
                <a:buNone/>
              </a:pPr>
              <a:t>22</a:t>
            </a:fld>
            <a:endParaRPr lang="en-US" altLang="en-US" sz="1200">
              <a:solidFill>
                <a:srgbClr val="953735"/>
              </a:solidFill>
              <a:latin typeface="Palatino Linotype" panose="02040502050505030304" pitchFamily="18" charset="0"/>
            </a:endParaRPr>
          </a:p>
        </p:txBody>
      </p:sp>
      <p:pic>
        <p:nvPicPr>
          <p:cNvPr id="63495" name="Picture 2" descr="hierarchical clust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3842" y="3871218"/>
            <a:ext cx="2532063"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6" name="Picture 4" descr="hierarchical clustering"/>
          <p:cNvPicPr>
            <a:picLocks noChangeAspect="1" noChangeArrowheads="1"/>
          </p:cNvPicPr>
          <p:nvPr/>
        </p:nvPicPr>
        <p:blipFill>
          <a:blip r:embed="rId3">
            <a:clrChange>
              <a:clrFrom>
                <a:srgbClr val="FFFAF3"/>
              </a:clrFrom>
              <a:clrTo>
                <a:srgbClr val="FFFAF3">
                  <a:alpha val="0"/>
                </a:srgbClr>
              </a:clrTo>
            </a:clrChange>
            <a:extLst>
              <a:ext uri="{28A0092B-C50C-407E-A947-70E740481C1C}">
                <a14:useLocalDpi xmlns:a14="http://schemas.microsoft.com/office/drawing/2010/main" val="0"/>
              </a:ext>
            </a:extLst>
          </a:blip>
          <a:srcRect/>
          <a:stretch>
            <a:fillRect/>
          </a:stretch>
        </p:blipFill>
        <p:spPr bwMode="auto">
          <a:xfrm>
            <a:off x="4421996" y="3907731"/>
            <a:ext cx="2862263" cy="239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7" name="Rectangle 8"/>
          <p:cNvSpPr>
            <a:spLocks noChangeArrowheads="1"/>
          </p:cNvSpPr>
          <p:nvPr/>
        </p:nvSpPr>
        <p:spPr bwMode="auto">
          <a:xfrm>
            <a:off x="8786249" y="6310511"/>
            <a:ext cx="1506538"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1800" b="1" dirty="0" err="1">
                <a:latin typeface="Tahoma" panose="020B0604030504040204" pitchFamily="34" charset="0"/>
              </a:rPr>
              <a:t>dendogram</a:t>
            </a:r>
            <a:endParaRPr lang="en-US" altLang="en-US" sz="1800" b="1" dirty="0">
              <a:latin typeface="Tahoma" panose="020B0604030504040204" pitchFamily="34" charset="0"/>
            </a:endParaRPr>
          </a:p>
        </p:txBody>
      </p:sp>
      <p:pic>
        <p:nvPicPr>
          <p:cNvPr id="10" name="Picture 6" descr="hierarchical clusteri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8199" y="4365104"/>
            <a:ext cx="3099005" cy="1313656"/>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478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IN" dirty="0"/>
          </a:p>
        </p:txBody>
      </p:sp>
      <p:sp>
        <p:nvSpPr>
          <p:cNvPr id="3" name="Content Placeholder 2"/>
          <p:cNvSpPr>
            <a:spLocks noGrp="1"/>
          </p:cNvSpPr>
          <p:nvPr>
            <p:ph idx="1"/>
          </p:nvPr>
        </p:nvSpPr>
        <p:spPr>
          <a:xfrm>
            <a:off x="909837" y="1412777"/>
            <a:ext cx="4968551" cy="4968552"/>
          </a:xfrm>
        </p:spPr>
        <p:txBody>
          <a:bodyPr/>
          <a:lstStyle/>
          <a:p>
            <a:r>
              <a:rPr lang="en-US" dirty="0">
                <a:solidFill>
                  <a:srgbClr val="C00000"/>
                </a:solidFill>
              </a:rPr>
              <a:t>T</a:t>
            </a:r>
            <a:r>
              <a:rPr lang="en-US" dirty="0" smtClean="0">
                <a:solidFill>
                  <a:srgbClr val="C00000"/>
                </a:solidFill>
              </a:rPr>
              <a:t>here </a:t>
            </a:r>
            <a:r>
              <a:rPr lang="en-US" dirty="0">
                <a:solidFill>
                  <a:srgbClr val="C00000"/>
                </a:solidFill>
              </a:rPr>
              <a:t>are two communities {A,B,C} and {D,E, F,G</a:t>
            </a:r>
            <a:r>
              <a:rPr lang="en-US" dirty="0" smtClean="0">
                <a:solidFill>
                  <a:srgbClr val="C00000"/>
                </a:solidFill>
              </a:rPr>
              <a:t>}.</a:t>
            </a:r>
          </a:p>
          <a:p>
            <a:r>
              <a:rPr lang="en-IN" dirty="0" err="1" smtClean="0">
                <a:solidFill>
                  <a:srgbClr val="C00000"/>
                </a:solidFill>
              </a:rPr>
              <a:t>Subcommunities</a:t>
            </a:r>
            <a:r>
              <a:rPr lang="en-IN" dirty="0" smtClean="0">
                <a:solidFill>
                  <a:srgbClr val="C00000"/>
                </a:solidFill>
              </a:rPr>
              <a:t>-</a:t>
            </a:r>
            <a:r>
              <a:rPr lang="en-IN" dirty="0">
                <a:solidFill>
                  <a:srgbClr val="C00000"/>
                </a:solidFill>
              </a:rPr>
              <a:t>{D,E, F} and </a:t>
            </a:r>
            <a:r>
              <a:rPr lang="en-IN" dirty="0" smtClean="0">
                <a:solidFill>
                  <a:srgbClr val="C00000"/>
                </a:solidFill>
              </a:rPr>
              <a:t>  {</a:t>
            </a:r>
            <a:r>
              <a:rPr lang="en-IN" dirty="0">
                <a:solidFill>
                  <a:srgbClr val="C00000"/>
                </a:solidFill>
              </a:rPr>
              <a:t>D, F,G</a:t>
            </a:r>
            <a:r>
              <a:rPr lang="en-IN" dirty="0" smtClean="0">
                <a:solidFill>
                  <a:srgbClr val="C00000"/>
                </a:solidFill>
              </a:rPr>
              <a:t>}</a:t>
            </a:r>
          </a:p>
          <a:p>
            <a:r>
              <a:rPr lang="en-IN" dirty="0" smtClean="0"/>
              <a:t>With </a:t>
            </a:r>
            <a:r>
              <a:rPr lang="en-IN" dirty="0"/>
              <a:t>hierarchical </a:t>
            </a:r>
            <a:r>
              <a:rPr lang="en-IN" dirty="0" smtClean="0"/>
              <a:t>clustering, we will combine B and D.</a:t>
            </a:r>
          </a:p>
          <a:p>
            <a:r>
              <a:rPr lang="en-US" dirty="0" smtClean="0"/>
              <a:t>A </a:t>
            </a:r>
            <a:r>
              <a:rPr lang="en-US" dirty="0"/>
              <a:t>point-assignment approach </a:t>
            </a:r>
            <a:r>
              <a:rPr lang="en-US" dirty="0" smtClean="0"/>
              <a:t>will assume all </a:t>
            </a:r>
            <a:r>
              <a:rPr lang="en-US" dirty="0"/>
              <a:t>edges are at the same distance </a:t>
            </a:r>
            <a:r>
              <a:rPr lang="en-US" dirty="0" smtClean="0"/>
              <a:t>and hence assign wrong cluster.</a:t>
            </a:r>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23</a:t>
            </a:fld>
            <a:endParaRPr lang="en-IN"/>
          </a:p>
        </p:txBody>
      </p:sp>
      <p:pic>
        <p:nvPicPr>
          <p:cNvPr id="7" name="Picture 6"/>
          <p:cNvPicPr>
            <a:picLocks noChangeAspect="1"/>
          </p:cNvPicPr>
          <p:nvPr/>
        </p:nvPicPr>
        <p:blipFill>
          <a:blip r:embed="rId2"/>
          <a:stretch>
            <a:fillRect/>
          </a:stretch>
        </p:blipFill>
        <p:spPr>
          <a:xfrm>
            <a:off x="5662364" y="2204864"/>
            <a:ext cx="5472360" cy="2272629"/>
          </a:xfrm>
          <a:prstGeom prst="rect">
            <a:avLst/>
          </a:prstGeom>
        </p:spPr>
      </p:pic>
    </p:spTree>
    <p:extLst>
      <p:ext uri="{BB962C8B-B14F-4D97-AF65-F5344CB8AC3E}">
        <p14:creationId xmlns:p14="http://schemas.microsoft.com/office/powerpoint/2010/main" val="297603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K-Means on Social Network</a:t>
            </a:r>
            <a:endParaRPr lang="en-IN" dirty="0"/>
          </a:p>
        </p:txBody>
      </p:sp>
      <p:sp>
        <p:nvSpPr>
          <p:cNvPr id="3" name="Content Placeholder 2"/>
          <p:cNvSpPr>
            <a:spLocks noGrp="1"/>
          </p:cNvSpPr>
          <p:nvPr>
            <p:ph idx="1"/>
          </p:nvPr>
        </p:nvSpPr>
        <p:spPr/>
        <p:txBody>
          <a:bodyPr/>
          <a:lstStyle/>
          <a:p>
            <a:r>
              <a:rPr lang="en-IN" b="1" dirty="0"/>
              <a:t>Step 1:</a:t>
            </a:r>
          </a:p>
          <a:p>
            <a:r>
              <a:rPr lang="en-IN" dirty="0" smtClean="0"/>
              <a:t>Consider the Graph-&gt;</a:t>
            </a:r>
          </a:p>
          <a:p>
            <a:endParaRPr lang="en-IN" dirty="0"/>
          </a:p>
          <a:p>
            <a:r>
              <a:rPr lang="en-IN" dirty="0" smtClean="0"/>
              <a:t>The Adjacency Matrix</a:t>
            </a:r>
          </a:p>
          <a:p>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24</a:t>
            </a:fld>
            <a:endParaRPr lang="en-IN"/>
          </a:p>
        </p:txBody>
      </p:sp>
      <p:pic>
        <p:nvPicPr>
          <p:cNvPr id="6" name="Picture 5"/>
          <p:cNvPicPr>
            <a:picLocks noChangeAspect="1"/>
          </p:cNvPicPr>
          <p:nvPr/>
        </p:nvPicPr>
        <p:blipFill>
          <a:blip r:embed="rId2"/>
          <a:stretch>
            <a:fillRect/>
          </a:stretch>
        </p:blipFill>
        <p:spPr>
          <a:xfrm>
            <a:off x="5446340" y="1660960"/>
            <a:ext cx="5381625" cy="2209800"/>
          </a:xfrm>
          <a:prstGeom prst="rect">
            <a:avLst/>
          </a:prstGeom>
        </p:spPr>
      </p:pic>
      <p:cxnSp>
        <p:nvCxnSpPr>
          <p:cNvPr id="8" name="Straight Connector 7"/>
          <p:cNvCxnSpPr/>
          <p:nvPr/>
        </p:nvCxnSpPr>
        <p:spPr>
          <a:xfrm flipV="1">
            <a:off x="6670476" y="2091996"/>
            <a:ext cx="2016224" cy="9049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6699051" y="2063421"/>
            <a:ext cx="3580913" cy="10489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3"/>
          <a:stretch>
            <a:fillRect/>
          </a:stretch>
        </p:blipFill>
        <p:spPr>
          <a:xfrm>
            <a:off x="1341884" y="3513971"/>
            <a:ext cx="8588699" cy="2842578"/>
          </a:xfrm>
          <a:prstGeom prst="rect">
            <a:avLst/>
          </a:prstGeom>
        </p:spPr>
      </p:pic>
    </p:spTree>
    <p:extLst>
      <p:ext uri="{BB962C8B-B14F-4D97-AF65-F5344CB8AC3E}">
        <p14:creationId xmlns:p14="http://schemas.microsoft.com/office/powerpoint/2010/main" val="3815660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Step 2</a:t>
            </a:r>
            <a:endParaRPr lang="en-IN" dirty="0"/>
          </a:p>
        </p:txBody>
      </p:sp>
      <p:sp>
        <p:nvSpPr>
          <p:cNvPr id="3" name="Content Placeholder 2"/>
          <p:cNvSpPr>
            <a:spLocks noGrp="1"/>
          </p:cNvSpPr>
          <p:nvPr>
            <p:ph idx="1"/>
          </p:nvPr>
        </p:nvSpPr>
        <p:spPr/>
        <p:txBody>
          <a:bodyPr>
            <a:normAutofit/>
          </a:bodyPr>
          <a:lstStyle/>
          <a:p>
            <a:r>
              <a:rPr lang="en-US" dirty="0" smtClean="0"/>
              <a:t>Choose </a:t>
            </a:r>
            <a:r>
              <a:rPr lang="en-US" b="1" i="1" dirty="0" smtClean="0"/>
              <a:t>k</a:t>
            </a:r>
            <a:r>
              <a:rPr lang="en-US" b="1" dirty="0" smtClean="0"/>
              <a:t> = 2</a:t>
            </a:r>
            <a:r>
              <a:rPr lang="en-US" dirty="0" smtClean="0"/>
              <a:t> </a:t>
            </a:r>
          </a:p>
          <a:p>
            <a:r>
              <a:rPr lang="en-US" dirty="0" smtClean="0"/>
              <a:t>Use </a:t>
            </a:r>
            <a:r>
              <a:rPr lang="en-US" dirty="0"/>
              <a:t>the </a:t>
            </a:r>
            <a:r>
              <a:rPr lang="en-US" b="1" dirty="0"/>
              <a:t>Euclidean distance</a:t>
            </a:r>
            <a:r>
              <a:rPr lang="en-US" dirty="0"/>
              <a:t> </a:t>
            </a:r>
            <a:r>
              <a:rPr lang="en-US" dirty="0" smtClean="0"/>
              <a:t> </a:t>
            </a:r>
            <a:endParaRPr lang="en-US" dirty="0"/>
          </a:p>
          <a:p>
            <a:r>
              <a:rPr lang="en-US" b="1" dirty="0"/>
              <a:t>Initialize Centroids</a:t>
            </a:r>
            <a:endParaRPr lang="en-US" dirty="0"/>
          </a:p>
          <a:p>
            <a:pPr lvl="1"/>
            <a:r>
              <a:rPr lang="en-US" dirty="0"/>
              <a:t>Randomly select two initial centroids from the dataset.</a:t>
            </a:r>
          </a:p>
          <a:p>
            <a:pPr lvl="1"/>
            <a:r>
              <a:rPr lang="en-US" dirty="0"/>
              <a:t>Let’s assume Users </a:t>
            </a:r>
            <a:r>
              <a:rPr lang="en-US" b="1" dirty="0"/>
              <a:t>A</a:t>
            </a:r>
            <a:r>
              <a:rPr lang="en-US" dirty="0"/>
              <a:t> and </a:t>
            </a:r>
            <a:r>
              <a:rPr lang="en-US" b="1" dirty="0"/>
              <a:t>D</a:t>
            </a:r>
            <a:r>
              <a:rPr lang="en-US" dirty="0"/>
              <a:t> are chosen as initial centroids</a:t>
            </a:r>
            <a:r>
              <a:rPr lang="en-US" dirty="0" smtClean="0"/>
              <a:t>.</a:t>
            </a:r>
          </a:p>
          <a:p>
            <a:r>
              <a:rPr lang="en-US" dirty="0"/>
              <a:t>Example calculation for User B:</a:t>
            </a:r>
          </a:p>
          <a:p>
            <a:pPr lvl="1"/>
            <a:r>
              <a:rPr lang="en-US" dirty="0"/>
              <a:t>Distance to A = √((1-0)² + (0-1)² + (1-1)² + (1-0)² + (0-0)² + (0-0)²) = √(1+1+0+1+0+0) = √3</a:t>
            </a:r>
          </a:p>
          <a:p>
            <a:pPr lvl="1"/>
            <a:r>
              <a:rPr lang="en-US" dirty="0"/>
              <a:t>Distance to D = √((1-0)² + (1-1)² + (0-1)² + (1-0)² + (0-1)² + (0-1)²) = √(1+0+1+1+1+1) = √5</a:t>
            </a:r>
          </a:p>
          <a:p>
            <a:r>
              <a:rPr lang="en-US" dirty="0"/>
              <a:t>Since </a:t>
            </a:r>
            <a:r>
              <a:rPr lang="en-US" b="1" dirty="0"/>
              <a:t>B is closer to A</a:t>
            </a:r>
            <a:r>
              <a:rPr lang="en-US" dirty="0"/>
              <a:t>, it is assigned to Cluster 1.</a:t>
            </a:r>
          </a:p>
          <a:p>
            <a:endParaRPr lang="en-US" dirty="0"/>
          </a:p>
          <a:p>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25</a:t>
            </a:fld>
            <a:endParaRPr lang="en-IN"/>
          </a:p>
        </p:txBody>
      </p:sp>
      <p:pic>
        <p:nvPicPr>
          <p:cNvPr id="6" name="Picture 5"/>
          <p:cNvPicPr>
            <a:picLocks noChangeAspect="1"/>
          </p:cNvPicPr>
          <p:nvPr/>
        </p:nvPicPr>
        <p:blipFill>
          <a:blip r:embed="rId2"/>
          <a:stretch>
            <a:fillRect/>
          </a:stretch>
        </p:blipFill>
        <p:spPr>
          <a:xfrm>
            <a:off x="5662364" y="-27384"/>
            <a:ext cx="6554628" cy="2169367"/>
          </a:xfrm>
          <a:prstGeom prst="rect">
            <a:avLst/>
          </a:prstGeom>
        </p:spPr>
      </p:pic>
    </p:spTree>
    <p:extLst>
      <p:ext uri="{BB962C8B-B14F-4D97-AF65-F5344CB8AC3E}">
        <p14:creationId xmlns:p14="http://schemas.microsoft.com/office/powerpoint/2010/main" val="3691903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Step 3</a:t>
            </a:r>
            <a:endParaRPr lang="en-IN" dirty="0"/>
          </a:p>
        </p:txBody>
      </p:sp>
      <p:sp>
        <p:nvSpPr>
          <p:cNvPr id="3" name="Content Placeholder 2"/>
          <p:cNvSpPr>
            <a:spLocks noGrp="1"/>
          </p:cNvSpPr>
          <p:nvPr>
            <p:ph idx="1"/>
          </p:nvPr>
        </p:nvSpPr>
        <p:spPr>
          <a:xfrm>
            <a:off x="1261543" y="1412777"/>
            <a:ext cx="4472829" cy="4968552"/>
          </a:xfrm>
        </p:spPr>
        <p:txBody>
          <a:bodyPr/>
          <a:lstStyle/>
          <a:p>
            <a:r>
              <a:rPr lang="en-US" dirty="0"/>
              <a:t>After running K-Means, we get </a:t>
            </a:r>
            <a:r>
              <a:rPr lang="en-US" b="1" dirty="0"/>
              <a:t>two clusters</a:t>
            </a:r>
            <a:r>
              <a:rPr lang="en-US" dirty="0"/>
              <a:t>:</a:t>
            </a:r>
          </a:p>
          <a:p>
            <a:pPr lvl="1"/>
            <a:r>
              <a:rPr lang="en-US" b="1" dirty="0"/>
              <a:t>Cluster 1:</a:t>
            </a:r>
            <a:r>
              <a:rPr lang="en-US" dirty="0"/>
              <a:t> A, B, C</a:t>
            </a:r>
          </a:p>
          <a:p>
            <a:pPr lvl="1"/>
            <a:r>
              <a:rPr lang="en-US" b="1" dirty="0"/>
              <a:t>Cluster 2:</a:t>
            </a:r>
            <a:r>
              <a:rPr lang="en-US" dirty="0"/>
              <a:t> D, E, F</a:t>
            </a:r>
          </a:p>
          <a:p>
            <a:r>
              <a:rPr lang="en-US" dirty="0"/>
              <a:t>This means:</a:t>
            </a:r>
          </a:p>
          <a:p>
            <a:pPr lvl="1"/>
            <a:r>
              <a:rPr lang="en-US" b="1" dirty="0"/>
              <a:t>Cluster 1 (A, B, C)</a:t>
            </a:r>
            <a:r>
              <a:rPr lang="en-US" dirty="0"/>
              <a:t>: Users who are more densely connected among themselves.</a:t>
            </a:r>
          </a:p>
          <a:p>
            <a:pPr lvl="1"/>
            <a:r>
              <a:rPr lang="en-US" b="1" dirty="0"/>
              <a:t>Cluster 2 (D, E, F)</a:t>
            </a:r>
            <a:r>
              <a:rPr lang="en-US" dirty="0"/>
              <a:t>: A separate subgroup with stronger internal connections.</a:t>
            </a:r>
          </a:p>
          <a:p>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26</a:t>
            </a:fld>
            <a:endParaRPr lang="en-IN"/>
          </a:p>
        </p:txBody>
      </p:sp>
      <p:pic>
        <p:nvPicPr>
          <p:cNvPr id="7" name="Picture 6"/>
          <p:cNvPicPr>
            <a:picLocks noChangeAspect="1"/>
          </p:cNvPicPr>
          <p:nvPr/>
        </p:nvPicPr>
        <p:blipFill>
          <a:blip r:embed="rId2"/>
          <a:stretch>
            <a:fillRect/>
          </a:stretch>
        </p:blipFill>
        <p:spPr>
          <a:xfrm>
            <a:off x="5550884" y="1700808"/>
            <a:ext cx="5381625" cy="2209800"/>
          </a:xfrm>
          <a:prstGeom prst="rect">
            <a:avLst/>
          </a:prstGeom>
        </p:spPr>
      </p:pic>
      <p:cxnSp>
        <p:nvCxnSpPr>
          <p:cNvPr id="8" name="Straight Connector 7"/>
          <p:cNvCxnSpPr/>
          <p:nvPr/>
        </p:nvCxnSpPr>
        <p:spPr>
          <a:xfrm flipV="1">
            <a:off x="6775020" y="2131844"/>
            <a:ext cx="2016224" cy="9049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V="1">
            <a:off x="6803595" y="2103269"/>
            <a:ext cx="3580913" cy="10489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Oval 9"/>
          <p:cNvSpPr/>
          <p:nvPr/>
        </p:nvSpPr>
        <p:spPr>
          <a:xfrm>
            <a:off x="5302324" y="1412777"/>
            <a:ext cx="2592288" cy="2016223"/>
          </a:xfrm>
          <a:prstGeom prst="ellipse">
            <a:avLst/>
          </a:prstGeom>
          <a:solidFill>
            <a:schemeClr val="accent2">
              <a:lumMod val="20000"/>
              <a:lumOff val="80000"/>
              <a:alpha val="5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p:cNvSpPr/>
          <p:nvPr/>
        </p:nvSpPr>
        <p:spPr>
          <a:xfrm>
            <a:off x="8356341" y="1295919"/>
            <a:ext cx="3066663" cy="2808312"/>
          </a:xfrm>
          <a:prstGeom prst="ellipse">
            <a:avLst/>
          </a:prstGeom>
          <a:solidFill>
            <a:srgbClr val="FFC9E4">
              <a:alpha val="5764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986833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Betweenness</a:t>
            </a:r>
            <a:endParaRPr lang="en-IN" dirty="0"/>
          </a:p>
        </p:txBody>
      </p:sp>
      <p:sp>
        <p:nvSpPr>
          <p:cNvPr id="3" name="Content Placeholder 2"/>
          <p:cNvSpPr>
            <a:spLocks noGrp="1"/>
          </p:cNvSpPr>
          <p:nvPr>
            <p:ph idx="1"/>
          </p:nvPr>
        </p:nvSpPr>
        <p:spPr/>
        <p:txBody>
          <a:bodyPr/>
          <a:lstStyle/>
          <a:p>
            <a:r>
              <a:rPr lang="en-US" dirty="0" smtClean="0"/>
              <a:t>Technique to </a:t>
            </a:r>
            <a:r>
              <a:rPr lang="en-US" dirty="0"/>
              <a:t>find communities in social networks</a:t>
            </a:r>
            <a:r>
              <a:rPr lang="en-US" dirty="0" smtClean="0"/>
              <a:t>.</a:t>
            </a:r>
          </a:p>
          <a:p>
            <a:r>
              <a:rPr lang="en-US" b="1" dirty="0" smtClean="0"/>
              <a:t>Definition:</a:t>
            </a:r>
            <a:r>
              <a:rPr lang="en-US" dirty="0" smtClean="0"/>
              <a:t> </a:t>
            </a:r>
            <a:r>
              <a:rPr lang="en-US" dirty="0"/>
              <a:t>the </a:t>
            </a:r>
            <a:r>
              <a:rPr lang="en-US" dirty="0" err="1"/>
              <a:t>betweenness</a:t>
            </a:r>
            <a:r>
              <a:rPr lang="en-US" dirty="0"/>
              <a:t> of an edge (</a:t>
            </a:r>
            <a:r>
              <a:rPr lang="en-US" i="1" dirty="0"/>
              <a:t>a</a:t>
            </a:r>
            <a:r>
              <a:rPr lang="en-US" dirty="0"/>
              <a:t>, </a:t>
            </a:r>
            <a:r>
              <a:rPr lang="en-US" i="1" dirty="0"/>
              <a:t>b</a:t>
            </a:r>
            <a:r>
              <a:rPr lang="en-US" dirty="0"/>
              <a:t>) to be the number of pairs of </a:t>
            </a:r>
            <a:r>
              <a:rPr lang="en-US" dirty="0" smtClean="0"/>
              <a:t>nodes </a:t>
            </a:r>
            <a:r>
              <a:rPr lang="en-US" i="1" dirty="0" smtClean="0"/>
              <a:t>x</a:t>
            </a:r>
            <a:r>
              <a:rPr lang="en-US" dirty="0" smtClean="0"/>
              <a:t> </a:t>
            </a:r>
            <a:r>
              <a:rPr lang="en-US" dirty="0"/>
              <a:t>and </a:t>
            </a:r>
            <a:r>
              <a:rPr lang="en-US" i="1" dirty="0"/>
              <a:t>y</a:t>
            </a:r>
            <a:r>
              <a:rPr lang="en-US" dirty="0"/>
              <a:t> such that the edge (</a:t>
            </a:r>
            <a:r>
              <a:rPr lang="en-US" i="1" dirty="0"/>
              <a:t>a</a:t>
            </a:r>
            <a:r>
              <a:rPr lang="en-US" dirty="0"/>
              <a:t>, </a:t>
            </a:r>
            <a:r>
              <a:rPr lang="en-US" i="1" dirty="0"/>
              <a:t>b</a:t>
            </a:r>
            <a:r>
              <a:rPr lang="en-US" dirty="0"/>
              <a:t>) lies on the shortest path between </a:t>
            </a:r>
            <a:r>
              <a:rPr lang="en-US" i="1" dirty="0"/>
              <a:t>x</a:t>
            </a:r>
            <a:r>
              <a:rPr lang="en-US" dirty="0"/>
              <a:t> and </a:t>
            </a:r>
            <a:r>
              <a:rPr lang="en-US" i="1" dirty="0"/>
              <a:t>y</a:t>
            </a:r>
            <a:r>
              <a:rPr lang="en-US" dirty="0" smtClean="0"/>
              <a:t>.</a:t>
            </a:r>
          </a:p>
          <a:p>
            <a:r>
              <a:rPr lang="en-US" dirty="0" smtClean="0"/>
              <a:t>That is, the </a:t>
            </a:r>
            <a:r>
              <a:rPr lang="en-US" dirty="0"/>
              <a:t>edge (</a:t>
            </a:r>
            <a:r>
              <a:rPr lang="en-US" i="1" dirty="0"/>
              <a:t>a</a:t>
            </a:r>
            <a:r>
              <a:rPr lang="en-US" dirty="0"/>
              <a:t>, </a:t>
            </a:r>
            <a:r>
              <a:rPr lang="en-US" i="1" dirty="0"/>
              <a:t>b</a:t>
            </a:r>
            <a:r>
              <a:rPr lang="en-US" dirty="0"/>
              <a:t>) </a:t>
            </a:r>
            <a:r>
              <a:rPr lang="en-US" dirty="0" smtClean="0"/>
              <a:t>runs between </a:t>
            </a:r>
            <a:r>
              <a:rPr lang="en-US" dirty="0"/>
              <a:t>two different communities; that is, </a:t>
            </a:r>
            <a:r>
              <a:rPr lang="en-US" i="1" dirty="0"/>
              <a:t>a</a:t>
            </a:r>
            <a:r>
              <a:rPr lang="en-US" dirty="0"/>
              <a:t> and </a:t>
            </a:r>
            <a:r>
              <a:rPr lang="en-US" i="1" dirty="0"/>
              <a:t>b</a:t>
            </a:r>
            <a:r>
              <a:rPr lang="en-US" dirty="0"/>
              <a:t> do not belong to the </a:t>
            </a:r>
            <a:r>
              <a:rPr lang="en-US" dirty="0" smtClean="0"/>
              <a:t>same </a:t>
            </a:r>
            <a:r>
              <a:rPr lang="en-IN" dirty="0" smtClean="0"/>
              <a:t>community.</a:t>
            </a:r>
          </a:p>
          <a:p>
            <a:r>
              <a:rPr lang="en-IN" dirty="0"/>
              <a:t>H</a:t>
            </a:r>
            <a:r>
              <a:rPr lang="en-IN" dirty="0" smtClean="0"/>
              <a:t>ighest </a:t>
            </a:r>
            <a:r>
              <a:rPr lang="en-IN" dirty="0" err="1" smtClean="0"/>
              <a:t>betweenness</a:t>
            </a:r>
            <a:r>
              <a:rPr lang="en-IN" dirty="0"/>
              <a:t> </a:t>
            </a:r>
            <a:r>
              <a:rPr lang="en-IN" dirty="0" smtClean="0"/>
              <a:t>is Edge {B, D}</a:t>
            </a:r>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27</a:t>
            </a:fld>
            <a:endParaRPr lang="en-IN"/>
          </a:p>
        </p:txBody>
      </p:sp>
      <p:pic>
        <p:nvPicPr>
          <p:cNvPr id="8" name="Picture 7"/>
          <p:cNvPicPr>
            <a:picLocks noChangeAspect="1"/>
          </p:cNvPicPr>
          <p:nvPr/>
        </p:nvPicPr>
        <p:blipFill>
          <a:blip r:embed="rId2"/>
          <a:stretch>
            <a:fillRect/>
          </a:stretch>
        </p:blipFill>
        <p:spPr>
          <a:xfrm>
            <a:off x="3502124" y="4365104"/>
            <a:ext cx="5472360" cy="2272629"/>
          </a:xfrm>
          <a:prstGeom prst="rect">
            <a:avLst/>
          </a:prstGeom>
        </p:spPr>
      </p:pic>
      <p:sp>
        <p:nvSpPr>
          <p:cNvPr id="7" name="Rectangle 6"/>
          <p:cNvSpPr/>
          <p:nvPr/>
        </p:nvSpPr>
        <p:spPr>
          <a:xfrm>
            <a:off x="5602217" y="4667994"/>
            <a:ext cx="1176924" cy="720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42747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543" y="365760"/>
            <a:ext cx="9690116" cy="686976"/>
          </a:xfrm>
        </p:spPr>
        <p:txBody>
          <a:bodyPr>
            <a:normAutofit fontScale="90000"/>
          </a:bodyPr>
          <a:lstStyle/>
          <a:p>
            <a:r>
              <a:rPr lang="en-IN" dirty="0" err="1"/>
              <a:t>Betweenness</a:t>
            </a:r>
            <a:r>
              <a:rPr lang="en-IN" dirty="0"/>
              <a:t> to Find Communities</a:t>
            </a:r>
          </a:p>
        </p:txBody>
      </p:sp>
      <p:sp>
        <p:nvSpPr>
          <p:cNvPr id="3" name="Content Placeholder 2"/>
          <p:cNvSpPr>
            <a:spLocks noGrp="1"/>
          </p:cNvSpPr>
          <p:nvPr>
            <p:ph idx="1"/>
          </p:nvPr>
        </p:nvSpPr>
        <p:spPr>
          <a:xfrm>
            <a:off x="1261543" y="1196753"/>
            <a:ext cx="9690116" cy="5184576"/>
          </a:xfrm>
        </p:spPr>
        <p:txBody>
          <a:bodyPr/>
          <a:lstStyle/>
          <a:p>
            <a:r>
              <a:rPr lang="en-IN" dirty="0" smtClean="0"/>
              <a:t>Since edge {B,D} has the highest </a:t>
            </a:r>
            <a:r>
              <a:rPr lang="en-IN" dirty="0" err="1" smtClean="0"/>
              <a:t>betweenness</a:t>
            </a:r>
            <a:r>
              <a:rPr lang="en-IN" dirty="0" smtClean="0"/>
              <a:t>, it is removed first.</a:t>
            </a:r>
          </a:p>
          <a:p>
            <a:r>
              <a:rPr lang="en-IN" dirty="0" smtClean="0"/>
              <a:t>So we get two communities {A,B,C}, {D,E,F,G}</a:t>
            </a:r>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28</a:t>
            </a:fld>
            <a:endParaRPr lang="en-IN"/>
          </a:p>
        </p:txBody>
      </p:sp>
      <p:pic>
        <p:nvPicPr>
          <p:cNvPr id="6" name="Picture 5"/>
          <p:cNvPicPr>
            <a:picLocks noChangeAspect="1"/>
          </p:cNvPicPr>
          <p:nvPr/>
        </p:nvPicPr>
        <p:blipFill>
          <a:blip r:embed="rId2"/>
          <a:stretch>
            <a:fillRect/>
          </a:stretch>
        </p:blipFill>
        <p:spPr>
          <a:xfrm>
            <a:off x="2349996" y="2103440"/>
            <a:ext cx="5616624" cy="2477688"/>
          </a:xfrm>
          <a:prstGeom prst="rect">
            <a:avLst/>
          </a:prstGeom>
        </p:spPr>
      </p:pic>
      <p:pic>
        <p:nvPicPr>
          <p:cNvPr id="7" name="Picture 6"/>
          <p:cNvPicPr>
            <a:picLocks noChangeAspect="1"/>
          </p:cNvPicPr>
          <p:nvPr/>
        </p:nvPicPr>
        <p:blipFill>
          <a:blip r:embed="rId3"/>
          <a:stretch>
            <a:fillRect/>
          </a:stretch>
        </p:blipFill>
        <p:spPr>
          <a:xfrm>
            <a:off x="2901418" y="4662775"/>
            <a:ext cx="4993194" cy="2103151"/>
          </a:xfrm>
          <a:prstGeom prst="rect">
            <a:avLst/>
          </a:prstGeom>
        </p:spPr>
      </p:pic>
    </p:spTree>
    <p:extLst>
      <p:ext uri="{BB962C8B-B14F-4D97-AF65-F5344CB8AC3E}">
        <p14:creationId xmlns:p14="http://schemas.microsoft.com/office/powerpoint/2010/main" val="1909287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543" y="365760"/>
            <a:ext cx="9690116" cy="542960"/>
          </a:xfrm>
        </p:spPr>
        <p:txBody>
          <a:bodyPr>
            <a:normAutofit fontScale="90000"/>
          </a:bodyPr>
          <a:lstStyle/>
          <a:p>
            <a:r>
              <a:rPr lang="en-IN" dirty="0" smtClean="0"/>
              <a:t>Creating Projects in IntelliJ</a:t>
            </a:r>
            <a:endParaRPr lang="en-IN" dirty="0"/>
          </a:p>
        </p:txBody>
      </p:sp>
      <p:sp>
        <p:nvSpPr>
          <p:cNvPr id="3" name="Content Placeholder 2"/>
          <p:cNvSpPr>
            <a:spLocks noGrp="1"/>
          </p:cNvSpPr>
          <p:nvPr>
            <p:ph idx="1"/>
          </p:nvPr>
        </p:nvSpPr>
        <p:spPr>
          <a:xfrm>
            <a:off x="1261543" y="980728"/>
            <a:ext cx="9690116" cy="5400601"/>
          </a:xfrm>
        </p:spPr>
        <p:txBody>
          <a:bodyPr/>
          <a:lstStyle/>
          <a:p>
            <a:r>
              <a:rPr lang="en-IN" dirty="0" smtClean="0"/>
              <a:t>Projects for </a:t>
            </a:r>
            <a:r>
              <a:rPr lang="en-IN" b="1" dirty="0" smtClean="0">
                <a:solidFill>
                  <a:srgbClr val="FF0000"/>
                </a:solidFill>
              </a:rPr>
              <a:t>Scala</a:t>
            </a:r>
            <a:r>
              <a:rPr lang="en-IN" dirty="0" smtClean="0"/>
              <a:t> Programming</a:t>
            </a:r>
          </a:p>
          <a:p>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29</a:t>
            </a:fld>
            <a:endParaRPr lang="en-IN"/>
          </a:p>
        </p:txBody>
      </p:sp>
      <p:pic>
        <p:nvPicPr>
          <p:cNvPr id="6" name="Picture 5"/>
          <p:cNvPicPr>
            <a:picLocks noChangeAspect="1"/>
          </p:cNvPicPr>
          <p:nvPr/>
        </p:nvPicPr>
        <p:blipFill>
          <a:blip r:embed="rId2"/>
          <a:stretch>
            <a:fillRect/>
          </a:stretch>
        </p:blipFill>
        <p:spPr>
          <a:xfrm>
            <a:off x="3715755" y="1492399"/>
            <a:ext cx="7405024" cy="5281142"/>
          </a:xfrm>
          <a:prstGeom prst="rect">
            <a:avLst/>
          </a:prstGeom>
        </p:spPr>
      </p:pic>
      <p:pic>
        <p:nvPicPr>
          <p:cNvPr id="7" name="Picture 6"/>
          <p:cNvPicPr>
            <a:picLocks noChangeAspect="1"/>
          </p:cNvPicPr>
          <p:nvPr/>
        </p:nvPicPr>
        <p:blipFill>
          <a:blip r:embed="rId3"/>
          <a:stretch>
            <a:fillRect/>
          </a:stretch>
        </p:blipFill>
        <p:spPr>
          <a:xfrm>
            <a:off x="491919" y="1484784"/>
            <a:ext cx="5560298" cy="1806294"/>
          </a:xfrm>
          <a:prstGeom prst="rect">
            <a:avLst/>
          </a:prstGeom>
        </p:spPr>
      </p:pic>
    </p:spTree>
    <p:extLst>
      <p:ext uri="{BB962C8B-B14F-4D97-AF65-F5344CB8AC3E}">
        <p14:creationId xmlns:p14="http://schemas.microsoft.com/office/powerpoint/2010/main" val="2034679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543" y="365760"/>
            <a:ext cx="9690116" cy="542960"/>
          </a:xfrm>
        </p:spPr>
        <p:txBody>
          <a:bodyPr>
            <a:normAutofit fontScale="90000"/>
          </a:bodyPr>
          <a:lstStyle/>
          <a:p>
            <a:r>
              <a:rPr lang="en-IN" dirty="0" smtClean="0"/>
              <a:t>Creating Projects in IntelliJ</a:t>
            </a:r>
            <a:endParaRPr lang="en-IN" dirty="0"/>
          </a:p>
        </p:txBody>
      </p:sp>
      <p:sp>
        <p:nvSpPr>
          <p:cNvPr id="3" name="Content Placeholder 2"/>
          <p:cNvSpPr>
            <a:spLocks noGrp="1"/>
          </p:cNvSpPr>
          <p:nvPr>
            <p:ph idx="1"/>
          </p:nvPr>
        </p:nvSpPr>
        <p:spPr>
          <a:xfrm>
            <a:off x="1261543" y="980728"/>
            <a:ext cx="9690116" cy="5400601"/>
          </a:xfrm>
        </p:spPr>
        <p:txBody>
          <a:bodyPr/>
          <a:lstStyle/>
          <a:p>
            <a:r>
              <a:rPr lang="en-IN" dirty="0" smtClean="0"/>
              <a:t>Projects for </a:t>
            </a:r>
            <a:r>
              <a:rPr lang="en-IN" b="1" dirty="0" smtClean="0">
                <a:solidFill>
                  <a:srgbClr val="FF0000"/>
                </a:solidFill>
              </a:rPr>
              <a:t>Python</a:t>
            </a:r>
            <a:r>
              <a:rPr lang="en-IN" dirty="0" smtClean="0">
                <a:solidFill>
                  <a:srgbClr val="FF0000"/>
                </a:solidFill>
              </a:rPr>
              <a:t> </a:t>
            </a:r>
            <a:r>
              <a:rPr lang="en-IN" dirty="0" smtClean="0"/>
              <a:t>Programming</a:t>
            </a:r>
          </a:p>
          <a:p>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30</a:t>
            </a:fld>
            <a:endParaRPr lang="en-IN"/>
          </a:p>
        </p:txBody>
      </p:sp>
      <p:pic>
        <p:nvPicPr>
          <p:cNvPr id="6" name="Picture 5"/>
          <p:cNvPicPr>
            <a:picLocks noChangeAspect="1"/>
          </p:cNvPicPr>
          <p:nvPr/>
        </p:nvPicPr>
        <p:blipFill>
          <a:blip r:embed="rId2"/>
          <a:stretch>
            <a:fillRect/>
          </a:stretch>
        </p:blipFill>
        <p:spPr>
          <a:xfrm>
            <a:off x="3715755" y="1492399"/>
            <a:ext cx="7405024" cy="5281142"/>
          </a:xfrm>
          <a:prstGeom prst="rect">
            <a:avLst/>
          </a:prstGeom>
        </p:spPr>
      </p:pic>
      <p:pic>
        <p:nvPicPr>
          <p:cNvPr id="7" name="Picture 6"/>
          <p:cNvPicPr>
            <a:picLocks noChangeAspect="1"/>
          </p:cNvPicPr>
          <p:nvPr/>
        </p:nvPicPr>
        <p:blipFill>
          <a:blip r:embed="rId3"/>
          <a:stretch>
            <a:fillRect/>
          </a:stretch>
        </p:blipFill>
        <p:spPr>
          <a:xfrm>
            <a:off x="491919" y="1484784"/>
            <a:ext cx="5560298" cy="1806294"/>
          </a:xfrm>
          <a:prstGeom prst="rect">
            <a:avLst/>
          </a:prstGeom>
        </p:spPr>
      </p:pic>
    </p:spTree>
    <p:extLst>
      <p:ext uri="{BB962C8B-B14F-4D97-AF65-F5344CB8AC3E}">
        <p14:creationId xmlns:p14="http://schemas.microsoft.com/office/powerpoint/2010/main" val="1423825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mtClean="0"/>
              <a:t>What is GraphX?</a:t>
            </a:r>
            <a:endParaRPr lang="en-IN" dirty="0"/>
          </a:p>
        </p:txBody>
      </p:sp>
      <p:sp>
        <p:nvSpPr>
          <p:cNvPr id="9" name="Content Placeholder 8"/>
          <p:cNvSpPr>
            <a:spLocks noGrp="1"/>
          </p:cNvSpPr>
          <p:nvPr>
            <p:ph idx="1"/>
          </p:nvPr>
        </p:nvSpPr>
        <p:spPr>
          <a:xfrm>
            <a:off x="1261543" y="1412777"/>
            <a:ext cx="8937325" cy="4968552"/>
          </a:xfrm>
        </p:spPr>
        <p:txBody>
          <a:bodyPr>
            <a:normAutofit/>
          </a:bodyPr>
          <a:lstStyle/>
          <a:p>
            <a:pPr>
              <a:spcAft>
                <a:spcPts val="1800"/>
              </a:spcAft>
            </a:pPr>
            <a:r>
              <a:rPr lang="en-US" sz="2800" b="1" dirty="0" err="1"/>
              <a:t>GraphX</a:t>
            </a:r>
            <a:r>
              <a:rPr lang="en-US" sz="2800" dirty="0"/>
              <a:t> is a distributed graph analytics framework. </a:t>
            </a:r>
            <a:endParaRPr lang="en-US" sz="2800" dirty="0" smtClean="0"/>
          </a:p>
          <a:p>
            <a:pPr>
              <a:spcAft>
                <a:spcPts val="1800"/>
              </a:spcAft>
            </a:pPr>
            <a:r>
              <a:rPr lang="en-US" sz="2800" dirty="0" smtClean="0"/>
              <a:t>It </a:t>
            </a:r>
            <a:r>
              <a:rPr lang="en-US" sz="2800" dirty="0"/>
              <a:t>is a Spark library that extends Spark for </a:t>
            </a:r>
            <a:r>
              <a:rPr lang="en-US" sz="2800" dirty="0" smtClean="0"/>
              <a:t>large-scale graph </a:t>
            </a:r>
            <a:r>
              <a:rPr lang="en-US" sz="2800" dirty="0"/>
              <a:t>processing. </a:t>
            </a:r>
            <a:endParaRPr lang="en-US" sz="2800" dirty="0" smtClean="0"/>
          </a:p>
          <a:p>
            <a:pPr>
              <a:spcAft>
                <a:spcPts val="1800"/>
              </a:spcAft>
            </a:pPr>
            <a:r>
              <a:rPr lang="en-US" sz="2800" dirty="0" smtClean="0"/>
              <a:t>It </a:t>
            </a:r>
            <a:r>
              <a:rPr lang="en-US" sz="2800" dirty="0"/>
              <a:t>provides a higher-level abstraction for graphs analytics than that provided by the </a:t>
            </a:r>
            <a:r>
              <a:rPr lang="en-US" sz="2800" dirty="0" smtClean="0"/>
              <a:t>Spark </a:t>
            </a:r>
            <a:r>
              <a:rPr lang="en-IN" sz="2800" dirty="0" smtClean="0"/>
              <a:t>core </a:t>
            </a:r>
            <a:r>
              <a:rPr lang="en-IN" sz="2800" dirty="0"/>
              <a:t>API.</a:t>
            </a:r>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31</a:t>
            </a:fld>
            <a:endParaRPr lang="en-IN"/>
          </a:p>
        </p:txBody>
      </p:sp>
    </p:spTree>
    <p:extLst>
      <p:ext uri="{BB962C8B-B14F-4D97-AF65-F5344CB8AC3E}">
        <p14:creationId xmlns:p14="http://schemas.microsoft.com/office/powerpoint/2010/main" val="2186901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Graph Analytics Pipeline</a:t>
            </a:r>
            <a:endParaRPr lang="en-IN" dirty="0"/>
          </a:p>
        </p:txBody>
      </p:sp>
      <p:sp>
        <p:nvSpPr>
          <p:cNvPr id="3" name="Content Placeholder 2"/>
          <p:cNvSpPr>
            <a:spLocks noGrp="1"/>
          </p:cNvSpPr>
          <p:nvPr>
            <p:ph idx="1"/>
          </p:nvPr>
        </p:nvSpPr>
        <p:spPr/>
        <p:txBody>
          <a:bodyPr>
            <a:normAutofit/>
          </a:bodyPr>
          <a:lstStyle/>
          <a:p>
            <a:pPr marL="0" indent="0">
              <a:buNone/>
            </a:pPr>
            <a:r>
              <a:rPr lang="en-IN" sz="2800" dirty="0"/>
              <a:t>a) Read raw data.</a:t>
            </a:r>
          </a:p>
          <a:p>
            <a:pPr marL="0" indent="0">
              <a:buNone/>
            </a:pPr>
            <a:r>
              <a:rPr lang="en-US" sz="2800" dirty="0"/>
              <a:t>b) Preprocess data (e.g., cleanse data).</a:t>
            </a:r>
          </a:p>
          <a:p>
            <a:pPr marL="0" indent="0">
              <a:buNone/>
            </a:pPr>
            <a:r>
              <a:rPr lang="en-US" sz="2800" dirty="0"/>
              <a:t>c) Extract vertices and edges to create a property graph.</a:t>
            </a:r>
          </a:p>
          <a:p>
            <a:pPr marL="0" indent="0">
              <a:buNone/>
            </a:pPr>
            <a:r>
              <a:rPr lang="en-IN" sz="2800" dirty="0"/>
              <a:t>d) Slice a subgraph.</a:t>
            </a:r>
          </a:p>
          <a:p>
            <a:pPr marL="0" indent="0">
              <a:buNone/>
            </a:pPr>
            <a:r>
              <a:rPr lang="en-IN" sz="2800" dirty="0"/>
              <a:t>e) Run graph algorithms.</a:t>
            </a:r>
          </a:p>
          <a:p>
            <a:pPr marL="0" indent="0">
              <a:buNone/>
            </a:pPr>
            <a:r>
              <a:rPr lang="en-IN" sz="2800" dirty="0"/>
              <a:t>f) </a:t>
            </a:r>
            <a:r>
              <a:rPr lang="en-IN" sz="2800" dirty="0" err="1"/>
              <a:t>Analyze</a:t>
            </a:r>
            <a:r>
              <a:rPr lang="en-IN" sz="2800" dirty="0"/>
              <a:t> the results.</a:t>
            </a:r>
          </a:p>
          <a:p>
            <a:pPr marL="0" indent="0">
              <a:buNone/>
            </a:pPr>
            <a:r>
              <a:rPr lang="en-US" sz="2800" dirty="0"/>
              <a:t>g) Repeat steps </a:t>
            </a:r>
            <a:r>
              <a:rPr lang="en-US" sz="2800" i="1" dirty="0"/>
              <a:t>e</a:t>
            </a:r>
            <a:r>
              <a:rPr lang="en-US" sz="2800" dirty="0"/>
              <a:t> and </a:t>
            </a:r>
            <a:r>
              <a:rPr lang="en-US" sz="2800" i="1" dirty="0"/>
              <a:t>f</a:t>
            </a:r>
            <a:r>
              <a:rPr lang="en-US" sz="2800" dirty="0"/>
              <a:t> with another slice of the graph</a:t>
            </a:r>
            <a:endParaRPr lang="en-IN" sz="2800"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32</a:t>
            </a:fld>
            <a:endParaRPr lang="en-IN"/>
          </a:p>
        </p:txBody>
      </p:sp>
    </p:spTree>
    <p:extLst>
      <p:ext uri="{BB962C8B-B14F-4D97-AF65-F5344CB8AC3E}">
        <p14:creationId xmlns:p14="http://schemas.microsoft.com/office/powerpoint/2010/main" val="204056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543" y="365760"/>
            <a:ext cx="9690116" cy="614968"/>
          </a:xfrm>
        </p:spPr>
        <p:txBody>
          <a:bodyPr>
            <a:normAutofit/>
          </a:bodyPr>
          <a:lstStyle/>
          <a:p>
            <a:r>
              <a:rPr lang="en-IN" sz="3600" dirty="0"/>
              <a:t>Resilient Distributed Datasets (RDDs)</a:t>
            </a:r>
          </a:p>
        </p:txBody>
      </p:sp>
      <p:sp>
        <p:nvSpPr>
          <p:cNvPr id="3" name="Content Placeholder 2"/>
          <p:cNvSpPr>
            <a:spLocks noGrp="1"/>
          </p:cNvSpPr>
          <p:nvPr>
            <p:ph idx="1"/>
          </p:nvPr>
        </p:nvSpPr>
        <p:spPr/>
        <p:txBody>
          <a:bodyPr/>
          <a:lstStyle/>
          <a:p>
            <a:r>
              <a:rPr lang="en-US" dirty="0"/>
              <a:t> </a:t>
            </a:r>
            <a:r>
              <a:rPr lang="en-US" dirty="0" smtClean="0"/>
              <a:t>RDD is </a:t>
            </a:r>
            <a:r>
              <a:rPr lang="en-US" dirty="0"/>
              <a:t>a fault-tolerant collection of elements that can be operated on in parallel. </a:t>
            </a:r>
            <a:endParaRPr lang="en-US" dirty="0" smtClean="0"/>
          </a:p>
          <a:p>
            <a:r>
              <a:rPr lang="en-US" dirty="0" smtClean="0"/>
              <a:t>There </a:t>
            </a:r>
            <a:r>
              <a:rPr lang="en-US" dirty="0"/>
              <a:t>are two ways to create RDDs: </a:t>
            </a:r>
            <a:endParaRPr lang="en-US" dirty="0" smtClean="0"/>
          </a:p>
          <a:p>
            <a:pPr lvl="1"/>
            <a:r>
              <a:rPr lang="en-US" i="1" dirty="0" smtClean="0"/>
              <a:t>parallelizing</a:t>
            </a:r>
            <a:r>
              <a:rPr lang="en-US" dirty="0"/>
              <a:t> an existing collection in your driver </a:t>
            </a:r>
            <a:r>
              <a:rPr lang="en-US" dirty="0" smtClean="0"/>
              <a:t>program</a:t>
            </a:r>
          </a:p>
          <a:p>
            <a:pPr lvl="1"/>
            <a:r>
              <a:rPr lang="en-US" dirty="0" smtClean="0"/>
              <a:t>referencing </a:t>
            </a:r>
            <a:r>
              <a:rPr lang="en-US" dirty="0"/>
              <a:t>a dataset in an external storage system, such as a shared filesystem, </a:t>
            </a:r>
            <a:r>
              <a:rPr lang="en-US" dirty="0" smtClean="0"/>
              <a:t>HDFS.</a:t>
            </a:r>
          </a:p>
          <a:p>
            <a:r>
              <a:rPr lang="en-IN" dirty="0"/>
              <a:t>Parallelized Collections</a:t>
            </a:r>
          </a:p>
          <a:p>
            <a:pPr lvl="1"/>
            <a:r>
              <a:rPr lang="en-US" dirty="0"/>
              <a:t>Parallelized collections are created by calling </a:t>
            </a:r>
            <a:r>
              <a:rPr lang="en-US" dirty="0" err="1"/>
              <a:t>SparkContext’s</a:t>
            </a:r>
            <a:r>
              <a:rPr lang="en-US" dirty="0"/>
              <a:t> parallelize method on an existing collection in your driver </a:t>
            </a:r>
            <a:r>
              <a:rPr lang="en-US" dirty="0" smtClean="0"/>
              <a:t>program.</a:t>
            </a:r>
          </a:p>
          <a:p>
            <a:pPr lvl="1"/>
            <a:endParaRPr lang="en-IN" dirty="0"/>
          </a:p>
          <a:p>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33</a:t>
            </a:fld>
            <a:endParaRPr lang="en-IN"/>
          </a:p>
        </p:txBody>
      </p:sp>
      <p:sp>
        <p:nvSpPr>
          <p:cNvPr id="9" name="Rectangle 3"/>
          <p:cNvSpPr>
            <a:spLocks noChangeArrowheads="1"/>
          </p:cNvSpPr>
          <p:nvPr/>
        </p:nvSpPr>
        <p:spPr bwMode="auto">
          <a:xfrm>
            <a:off x="1773932" y="5433752"/>
            <a:ext cx="8359673" cy="1172096"/>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smtClean="0">
                <a:ln>
                  <a:noFill/>
                </a:ln>
                <a:solidFill>
                  <a:srgbClr val="007020"/>
                </a:solidFill>
                <a:effectLst/>
                <a:latin typeface="Menlo"/>
              </a:rPr>
              <a:t>val</a:t>
            </a:r>
            <a:r>
              <a:rPr kumimoji="0" lang="en-US" altLang="en-US" sz="1600" b="0" i="0" u="none" strike="noStrike" cap="none" normalizeH="0" baseline="0" dirty="0" smtClean="0">
                <a:ln>
                  <a:noFill/>
                </a:ln>
                <a:solidFill>
                  <a:srgbClr val="333333"/>
                </a:solidFill>
                <a:effectLst/>
                <a:latin typeface="Menlo"/>
              </a:rPr>
              <a:t> </a:t>
            </a:r>
            <a:r>
              <a:rPr kumimoji="0" lang="en-US" altLang="en-US" sz="1600" b="0" i="0" u="none" strike="noStrike" cap="none" normalizeH="0" baseline="0" dirty="0" smtClean="0">
                <a:ln>
                  <a:noFill/>
                </a:ln>
                <a:solidFill>
                  <a:srgbClr val="BB60D5"/>
                </a:solidFill>
                <a:effectLst/>
                <a:latin typeface="Menlo"/>
              </a:rPr>
              <a:t>data</a:t>
            </a:r>
            <a:r>
              <a:rPr kumimoji="0" lang="en-US" altLang="en-US" sz="1600" b="0" i="0" u="none" strike="noStrike" cap="none" normalizeH="0" baseline="0" dirty="0" smtClean="0">
                <a:ln>
                  <a:noFill/>
                </a:ln>
                <a:solidFill>
                  <a:srgbClr val="333333"/>
                </a:solidFill>
                <a:effectLst/>
                <a:latin typeface="Menlo"/>
              </a:rPr>
              <a:t> </a:t>
            </a:r>
            <a:r>
              <a:rPr kumimoji="0" lang="en-US" altLang="en-US" sz="1600" b="1" i="0" u="none" strike="noStrike" cap="none" normalizeH="0" baseline="0" dirty="0" smtClean="0">
                <a:ln>
                  <a:noFill/>
                </a:ln>
                <a:solidFill>
                  <a:srgbClr val="007020"/>
                </a:solidFill>
                <a:effectLst/>
                <a:latin typeface="Menlo"/>
              </a:rPr>
              <a:t>=</a:t>
            </a:r>
            <a:r>
              <a:rPr kumimoji="0" lang="en-US" altLang="en-US" sz="1600" b="0" i="0" u="none" strike="noStrike" cap="none" normalizeH="0" baseline="0" dirty="0" smtClean="0">
                <a:ln>
                  <a:noFill/>
                </a:ln>
                <a:solidFill>
                  <a:srgbClr val="333333"/>
                </a:solidFill>
                <a:effectLst/>
                <a:latin typeface="Menlo"/>
              </a:rPr>
              <a:t> </a:t>
            </a:r>
            <a:r>
              <a:rPr kumimoji="0" lang="en-US" altLang="en-US" sz="1600" b="1" i="0" u="none" strike="noStrike" cap="none" normalizeH="0" baseline="0" dirty="0" smtClean="0">
                <a:ln>
                  <a:noFill/>
                </a:ln>
                <a:solidFill>
                  <a:srgbClr val="0E84B5"/>
                </a:solidFill>
                <a:effectLst/>
                <a:latin typeface="Menlo"/>
              </a:rPr>
              <a:t>Array</a:t>
            </a:r>
            <a:r>
              <a:rPr kumimoji="0" lang="en-US" altLang="en-US" sz="3600" b="0" i="0" u="none" strike="noStrike" cap="none" normalizeH="0" baseline="0" dirty="0" smtClean="0">
                <a:ln>
                  <a:noFill/>
                </a:ln>
                <a:solidFill>
                  <a:srgbClr val="666666"/>
                </a:solidFill>
                <a:effectLst/>
                <a:latin typeface="Arial" panose="020B0604020202020204" pitchFamily="34" charset="0"/>
              </a:rPr>
              <a:t>(</a:t>
            </a:r>
            <a:r>
              <a:rPr kumimoji="0" lang="en-US" altLang="en-US" sz="1600" b="0" i="0" u="none" strike="noStrike" cap="none" normalizeH="0" baseline="0" dirty="0" smtClean="0">
                <a:ln>
                  <a:noFill/>
                </a:ln>
                <a:solidFill>
                  <a:srgbClr val="40A070"/>
                </a:solidFill>
                <a:effectLst/>
                <a:latin typeface="Menlo"/>
              </a:rPr>
              <a:t>1</a:t>
            </a:r>
            <a:r>
              <a:rPr kumimoji="0" lang="en-US" altLang="en-US" sz="3600" b="0" i="0" u="none" strike="noStrike" cap="none" normalizeH="0" baseline="0" dirty="0" smtClean="0">
                <a:ln>
                  <a:noFill/>
                </a:ln>
                <a:solidFill>
                  <a:srgbClr val="666666"/>
                </a:solidFill>
                <a:effectLst/>
                <a:latin typeface="Arial" panose="020B0604020202020204" pitchFamily="34" charset="0"/>
              </a:rPr>
              <a:t>,</a:t>
            </a:r>
            <a:r>
              <a:rPr kumimoji="0" lang="en-US" altLang="en-US" sz="1600" b="0" i="0" u="none" strike="noStrike" cap="none" normalizeH="0" baseline="0" dirty="0" smtClean="0">
                <a:ln>
                  <a:noFill/>
                </a:ln>
                <a:solidFill>
                  <a:srgbClr val="333333"/>
                </a:solidFill>
                <a:effectLst/>
                <a:latin typeface="Menlo"/>
              </a:rPr>
              <a:t> </a:t>
            </a:r>
            <a:r>
              <a:rPr kumimoji="0" lang="en-US" altLang="en-US" sz="1600" b="0" i="0" u="none" strike="noStrike" cap="none" normalizeH="0" baseline="0" dirty="0" smtClean="0">
                <a:ln>
                  <a:noFill/>
                </a:ln>
                <a:solidFill>
                  <a:srgbClr val="40A070"/>
                </a:solidFill>
                <a:effectLst/>
                <a:latin typeface="Menlo"/>
              </a:rPr>
              <a:t>2</a:t>
            </a:r>
            <a:r>
              <a:rPr kumimoji="0" lang="en-US" altLang="en-US" sz="3600" b="0" i="0" u="none" strike="noStrike" cap="none" normalizeH="0" baseline="0" dirty="0" smtClean="0">
                <a:ln>
                  <a:noFill/>
                </a:ln>
                <a:solidFill>
                  <a:srgbClr val="666666"/>
                </a:solidFill>
                <a:effectLst/>
                <a:latin typeface="Arial" panose="020B0604020202020204" pitchFamily="34" charset="0"/>
              </a:rPr>
              <a:t>,</a:t>
            </a:r>
            <a:r>
              <a:rPr kumimoji="0" lang="en-US" altLang="en-US" sz="1600" b="0" i="0" u="none" strike="noStrike" cap="none" normalizeH="0" baseline="0" dirty="0" smtClean="0">
                <a:ln>
                  <a:noFill/>
                </a:ln>
                <a:solidFill>
                  <a:srgbClr val="333333"/>
                </a:solidFill>
                <a:effectLst/>
                <a:latin typeface="Menlo"/>
              </a:rPr>
              <a:t> </a:t>
            </a:r>
            <a:r>
              <a:rPr kumimoji="0" lang="en-US" altLang="en-US" sz="1600" b="0" i="0" u="none" strike="noStrike" cap="none" normalizeH="0" baseline="0" dirty="0" smtClean="0">
                <a:ln>
                  <a:noFill/>
                </a:ln>
                <a:solidFill>
                  <a:srgbClr val="40A070"/>
                </a:solidFill>
                <a:effectLst/>
                <a:latin typeface="Menlo"/>
              </a:rPr>
              <a:t>3</a:t>
            </a:r>
            <a:r>
              <a:rPr kumimoji="0" lang="en-US" altLang="en-US" sz="3600" b="0" i="0" u="none" strike="noStrike" cap="none" normalizeH="0" baseline="0" dirty="0" smtClean="0">
                <a:ln>
                  <a:noFill/>
                </a:ln>
                <a:solidFill>
                  <a:srgbClr val="666666"/>
                </a:solidFill>
                <a:effectLst/>
                <a:latin typeface="Arial" panose="020B0604020202020204" pitchFamily="34" charset="0"/>
              </a:rPr>
              <a:t>,</a:t>
            </a:r>
            <a:r>
              <a:rPr kumimoji="0" lang="en-US" altLang="en-US" sz="1600" b="0" i="0" u="none" strike="noStrike" cap="none" normalizeH="0" baseline="0" dirty="0" smtClean="0">
                <a:ln>
                  <a:noFill/>
                </a:ln>
                <a:solidFill>
                  <a:srgbClr val="333333"/>
                </a:solidFill>
                <a:effectLst/>
                <a:latin typeface="Menlo"/>
              </a:rPr>
              <a:t> </a:t>
            </a:r>
            <a:r>
              <a:rPr kumimoji="0" lang="en-US" altLang="en-US" sz="1600" b="0" i="0" u="none" strike="noStrike" cap="none" normalizeH="0" baseline="0" dirty="0" smtClean="0">
                <a:ln>
                  <a:noFill/>
                </a:ln>
                <a:solidFill>
                  <a:srgbClr val="40A070"/>
                </a:solidFill>
                <a:effectLst/>
                <a:latin typeface="Menlo"/>
              </a:rPr>
              <a:t>4</a:t>
            </a:r>
            <a:r>
              <a:rPr kumimoji="0" lang="en-US" altLang="en-US" sz="3600" b="0" i="0" u="none" strike="noStrike" cap="none" normalizeH="0" baseline="0" dirty="0" smtClean="0">
                <a:ln>
                  <a:noFill/>
                </a:ln>
                <a:solidFill>
                  <a:srgbClr val="666666"/>
                </a:solidFill>
                <a:effectLst/>
                <a:latin typeface="Arial" panose="020B0604020202020204" pitchFamily="34" charset="0"/>
              </a:rPr>
              <a:t>,</a:t>
            </a:r>
            <a:r>
              <a:rPr kumimoji="0" lang="en-US" altLang="en-US" sz="1600" b="0" i="0" u="none" strike="noStrike" cap="none" normalizeH="0" baseline="0" dirty="0" smtClean="0">
                <a:ln>
                  <a:noFill/>
                </a:ln>
                <a:solidFill>
                  <a:srgbClr val="333333"/>
                </a:solidFill>
                <a:effectLst/>
                <a:latin typeface="Menlo"/>
              </a:rPr>
              <a:t> </a:t>
            </a:r>
            <a:r>
              <a:rPr kumimoji="0" lang="en-US" altLang="en-US" sz="1600" b="0" i="0" u="none" strike="noStrike" cap="none" normalizeH="0" baseline="0" dirty="0" smtClean="0">
                <a:ln>
                  <a:noFill/>
                </a:ln>
                <a:solidFill>
                  <a:srgbClr val="40A070"/>
                </a:solidFill>
                <a:effectLst/>
                <a:latin typeface="Menlo"/>
              </a:rPr>
              <a:t>5</a:t>
            </a:r>
            <a:r>
              <a:rPr kumimoji="0" lang="en-US" altLang="en-US" sz="3600" b="0" i="0" u="none" strike="noStrike" cap="none" normalizeH="0" baseline="0" dirty="0" smtClean="0">
                <a:ln>
                  <a:noFill/>
                </a:ln>
                <a:solidFill>
                  <a:srgbClr val="666666"/>
                </a:solidFill>
                <a:effectLst/>
                <a:latin typeface="Arial" panose="020B0604020202020204" pitchFamily="34" charset="0"/>
              </a:rPr>
              <a:t>)</a:t>
            </a:r>
            <a:r>
              <a:rPr kumimoji="0" lang="en-US" altLang="en-US" sz="1600" b="0" i="0" u="none" strike="noStrike" cap="none" normalizeH="0" baseline="0" dirty="0" smtClean="0">
                <a:ln>
                  <a:noFill/>
                </a:ln>
                <a:solidFill>
                  <a:srgbClr val="333333"/>
                </a:solidFill>
                <a:effectLst/>
                <a:latin typeface="Menlo"/>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err="1" smtClean="0">
                <a:ln>
                  <a:noFill/>
                </a:ln>
                <a:solidFill>
                  <a:srgbClr val="007020"/>
                </a:solidFill>
                <a:effectLst/>
                <a:latin typeface="Menlo"/>
              </a:rPr>
              <a:t>val</a:t>
            </a:r>
            <a:r>
              <a:rPr kumimoji="0" lang="en-US" altLang="en-US" sz="1600" b="0" i="0" u="none" strike="noStrike" cap="none" normalizeH="0" baseline="0" dirty="0" smtClean="0">
                <a:ln>
                  <a:noFill/>
                </a:ln>
                <a:solidFill>
                  <a:srgbClr val="333333"/>
                </a:solidFill>
                <a:effectLst/>
                <a:latin typeface="Menlo"/>
              </a:rPr>
              <a:t> </a:t>
            </a:r>
            <a:r>
              <a:rPr kumimoji="0" lang="en-US" altLang="en-US" sz="1600" b="0" i="0" u="none" strike="noStrike" cap="none" normalizeH="0" baseline="0" dirty="0" err="1" smtClean="0">
                <a:ln>
                  <a:noFill/>
                </a:ln>
                <a:solidFill>
                  <a:srgbClr val="BB60D5"/>
                </a:solidFill>
                <a:effectLst/>
                <a:latin typeface="Menlo"/>
              </a:rPr>
              <a:t>RDDdata</a:t>
            </a:r>
            <a:r>
              <a:rPr kumimoji="0" lang="en-US" altLang="en-US" sz="1600" b="0" i="0" u="none" strike="noStrike" cap="none" normalizeH="0" baseline="0" dirty="0" smtClean="0">
                <a:ln>
                  <a:noFill/>
                </a:ln>
                <a:solidFill>
                  <a:srgbClr val="333333"/>
                </a:solidFill>
                <a:effectLst/>
                <a:latin typeface="Menlo"/>
              </a:rPr>
              <a:t> </a:t>
            </a:r>
            <a:r>
              <a:rPr kumimoji="0" lang="en-US" altLang="en-US" sz="1600" b="1" i="0" u="none" strike="noStrike" cap="none" normalizeH="0" baseline="0" dirty="0" smtClean="0">
                <a:ln>
                  <a:noFill/>
                </a:ln>
                <a:solidFill>
                  <a:srgbClr val="007020"/>
                </a:solidFill>
                <a:effectLst/>
                <a:latin typeface="Menlo"/>
              </a:rPr>
              <a:t>=</a:t>
            </a:r>
            <a:r>
              <a:rPr kumimoji="0" lang="en-US" altLang="en-US" sz="1600" b="0" i="0" u="none" strike="noStrike" cap="none" normalizeH="0" baseline="0" dirty="0" smtClean="0">
                <a:ln>
                  <a:noFill/>
                </a:ln>
                <a:solidFill>
                  <a:srgbClr val="333333"/>
                </a:solidFill>
                <a:effectLst/>
                <a:latin typeface="Menlo"/>
              </a:rPr>
              <a:t> </a:t>
            </a:r>
            <a:r>
              <a:rPr kumimoji="0" lang="en-US" altLang="en-US" sz="1600" b="0" i="0" u="none" strike="noStrike" cap="none" normalizeH="0" baseline="0" dirty="0" err="1" smtClean="0">
                <a:ln>
                  <a:noFill/>
                </a:ln>
                <a:solidFill>
                  <a:srgbClr val="BB60D5"/>
                </a:solidFill>
                <a:effectLst/>
                <a:latin typeface="Menlo"/>
              </a:rPr>
              <a:t>sc</a:t>
            </a:r>
            <a:r>
              <a:rPr kumimoji="0" lang="en-US" altLang="en-US" sz="3600" b="0" i="0" u="none" strike="noStrike" cap="none" normalizeH="0" baseline="0" dirty="0" err="1" smtClean="0">
                <a:ln>
                  <a:noFill/>
                </a:ln>
                <a:solidFill>
                  <a:srgbClr val="666666"/>
                </a:solidFill>
                <a:effectLst/>
                <a:latin typeface="Arial" panose="020B0604020202020204" pitchFamily="34" charset="0"/>
              </a:rPr>
              <a:t>.</a:t>
            </a:r>
            <a:r>
              <a:rPr kumimoji="0" lang="en-US" altLang="en-US" sz="1600" b="0" i="0" u="none" strike="noStrike" cap="none" normalizeH="0" baseline="0" dirty="0" err="1" smtClean="0">
                <a:ln>
                  <a:noFill/>
                </a:ln>
                <a:solidFill>
                  <a:srgbClr val="333333"/>
                </a:solidFill>
                <a:effectLst/>
                <a:latin typeface="Menlo"/>
              </a:rPr>
              <a:t>parallelize</a:t>
            </a:r>
            <a:r>
              <a:rPr kumimoji="0" lang="en-US" altLang="en-US" sz="3600" b="0" i="0" u="none" strike="noStrike" cap="none" normalizeH="0" baseline="0" dirty="0" smtClean="0">
                <a:ln>
                  <a:noFill/>
                </a:ln>
                <a:solidFill>
                  <a:srgbClr val="666666"/>
                </a:solidFill>
                <a:effectLst/>
                <a:latin typeface="Arial" panose="020B0604020202020204" pitchFamily="34" charset="0"/>
              </a:rPr>
              <a:t>(</a:t>
            </a:r>
            <a:r>
              <a:rPr kumimoji="0" lang="en-US" altLang="en-US" b="0" i="0" u="none" strike="noStrike" cap="none" normalizeH="0" baseline="0" dirty="0" smtClean="0">
                <a:ln>
                  <a:noFill/>
                </a:ln>
                <a:solidFill>
                  <a:schemeClr val="tx1"/>
                </a:solidFill>
                <a:effectLst/>
                <a:latin typeface="Arial" panose="020B0604020202020204" pitchFamily="34" charset="0"/>
              </a:rPr>
              <a:t>data</a:t>
            </a:r>
            <a:r>
              <a:rPr kumimoji="0" lang="en-US" altLang="en-US" sz="3600" b="0" i="0" u="none" strike="noStrike" cap="none" normalizeH="0" baseline="0" dirty="0" smtClean="0">
                <a:ln>
                  <a:noFill/>
                </a:ln>
                <a:solidFill>
                  <a:srgbClr val="666666"/>
                </a:solidFill>
                <a:effectLst/>
                <a:latin typeface="Arial" panose="020B0604020202020204" pitchFamily="34" charset="0"/>
              </a:rPr>
              <a:t>)</a:t>
            </a:r>
            <a:r>
              <a:rPr kumimoji="0" lang="en-US" altLang="en-US" sz="1100" b="0" i="0" u="none" strike="noStrike" cap="none" normalizeH="0" baseline="0" dirty="0" smtClean="0">
                <a:ln>
                  <a:noFill/>
                </a:ln>
                <a:solidFill>
                  <a:schemeClr val="tx1"/>
                </a:solidFill>
                <a:effectLst/>
              </a:rPr>
              <a:t> </a:t>
            </a:r>
            <a:endParaRPr kumimoji="0" lang="en-US" altLang="en-US" sz="3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19498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Creating a Graph </a:t>
            </a:r>
            <a:r>
              <a:rPr lang="en-IN" dirty="0" smtClean="0"/>
              <a:t>with </a:t>
            </a:r>
            <a:r>
              <a:rPr lang="en-IN" dirty="0" smtClean="0"/>
              <a:t>Scala</a:t>
            </a:r>
            <a:endParaRPr lang="en-IN" dirty="0"/>
          </a:p>
        </p:txBody>
      </p:sp>
      <p:sp>
        <p:nvSpPr>
          <p:cNvPr id="3" name="Content Placeholder 2"/>
          <p:cNvSpPr>
            <a:spLocks noGrp="1"/>
          </p:cNvSpPr>
          <p:nvPr>
            <p:ph idx="1"/>
          </p:nvPr>
        </p:nvSpPr>
        <p:spPr/>
        <p:txBody>
          <a:bodyPr/>
          <a:lstStyle/>
          <a:p>
            <a:pPr marL="0" indent="0">
              <a:buNone/>
            </a:pPr>
            <a:r>
              <a:rPr lang="en-IN" dirty="0"/>
              <a:t>package </a:t>
            </a:r>
            <a:r>
              <a:rPr lang="en-IN" dirty="0" err="1"/>
              <a:t>BDAPrj</a:t>
            </a:r>
            <a:endParaRPr lang="en-IN" dirty="0"/>
          </a:p>
          <a:p>
            <a:pPr marL="0" indent="0">
              <a:buNone/>
            </a:pPr>
            <a:r>
              <a:rPr lang="en-IN" b="1" dirty="0">
                <a:solidFill>
                  <a:srgbClr val="FF0000"/>
                </a:solidFill>
              </a:rPr>
              <a:t>import </a:t>
            </a:r>
            <a:r>
              <a:rPr lang="en-IN" b="1" dirty="0" err="1">
                <a:solidFill>
                  <a:srgbClr val="FF0000"/>
                </a:solidFill>
              </a:rPr>
              <a:t>org.apache.spark.graphx</a:t>
            </a:r>
            <a:r>
              <a:rPr lang="en-IN" b="1" dirty="0">
                <a:solidFill>
                  <a:srgbClr val="FF0000"/>
                </a:solidFill>
              </a:rPr>
              <a:t>._</a:t>
            </a:r>
          </a:p>
          <a:p>
            <a:pPr marL="0" indent="0">
              <a:buNone/>
            </a:pPr>
            <a:r>
              <a:rPr lang="en-IN" dirty="0"/>
              <a:t>import </a:t>
            </a:r>
            <a:r>
              <a:rPr lang="en-IN" dirty="0" err="1"/>
              <a:t>org.apache.spark.SparkConf</a:t>
            </a:r>
            <a:endParaRPr lang="en-IN" dirty="0"/>
          </a:p>
          <a:p>
            <a:pPr marL="0" indent="0">
              <a:buNone/>
            </a:pPr>
            <a:r>
              <a:rPr lang="en-IN" dirty="0"/>
              <a:t>import </a:t>
            </a:r>
            <a:r>
              <a:rPr lang="en-IN" dirty="0" err="1"/>
              <a:t>org.apache.spark.SparkContext</a:t>
            </a:r>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34</a:t>
            </a:fld>
            <a:endParaRPr lang="en-IN"/>
          </a:p>
        </p:txBody>
      </p:sp>
    </p:spTree>
    <p:extLst>
      <p:ext uri="{BB962C8B-B14F-4D97-AF65-F5344CB8AC3E}">
        <p14:creationId xmlns:p14="http://schemas.microsoft.com/office/powerpoint/2010/main" val="312698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Creating a Spark Context</a:t>
            </a:r>
            <a:endParaRPr lang="en-IN" dirty="0"/>
          </a:p>
        </p:txBody>
      </p:sp>
      <p:sp>
        <p:nvSpPr>
          <p:cNvPr id="3" name="Content Placeholder 2"/>
          <p:cNvSpPr>
            <a:spLocks noGrp="1"/>
          </p:cNvSpPr>
          <p:nvPr>
            <p:ph idx="1"/>
          </p:nvPr>
        </p:nvSpPr>
        <p:spPr/>
        <p:txBody>
          <a:bodyPr/>
          <a:lstStyle/>
          <a:p>
            <a:pPr marL="0" indent="0">
              <a:buNone/>
            </a:pPr>
            <a:r>
              <a:rPr lang="en-IN" b="1" dirty="0"/>
              <a:t>object</a:t>
            </a:r>
            <a:r>
              <a:rPr lang="en-IN" dirty="0"/>
              <a:t> </a:t>
            </a:r>
            <a:r>
              <a:rPr lang="en-IN" dirty="0" err="1"/>
              <a:t>GraphTextBook</a:t>
            </a:r>
            <a:r>
              <a:rPr lang="en-IN" dirty="0"/>
              <a:t> {</a:t>
            </a:r>
          </a:p>
          <a:p>
            <a:pPr marL="0" indent="0">
              <a:buNone/>
            </a:pPr>
            <a:r>
              <a:rPr lang="en-IN" dirty="0"/>
              <a:t>  </a:t>
            </a:r>
            <a:r>
              <a:rPr lang="en-IN" b="1" dirty="0" err="1"/>
              <a:t>def</a:t>
            </a:r>
            <a:r>
              <a:rPr lang="en-IN" dirty="0"/>
              <a:t> </a:t>
            </a:r>
            <a:r>
              <a:rPr lang="en-IN" b="1" dirty="0"/>
              <a:t>main(</a:t>
            </a:r>
            <a:r>
              <a:rPr lang="en-IN" b="1" dirty="0" err="1"/>
              <a:t>args</a:t>
            </a:r>
            <a:r>
              <a:rPr lang="en-IN" dirty="0"/>
              <a:t>: Array[String]): Unit = {</a:t>
            </a:r>
          </a:p>
          <a:p>
            <a:pPr marL="0" indent="0">
              <a:buNone/>
            </a:pPr>
            <a:r>
              <a:rPr lang="en-IN" dirty="0"/>
              <a:t>    // Create a </a:t>
            </a:r>
            <a:r>
              <a:rPr lang="en-IN" dirty="0" err="1"/>
              <a:t>SparkConf</a:t>
            </a:r>
            <a:r>
              <a:rPr lang="en-IN" dirty="0"/>
              <a:t> object</a:t>
            </a:r>
          </a:p>
          <a:p>
            <a:pPr marL="0" indent="0">
              <a:buNone/>
            </a:pPr>
            <a:r>
              <a:rPr lang="en-IN" dirty="0"/>
              <a:t>    </a:t>
            </a:r>
            <a:r>
              <a:rPr lang="en-IN" b="1" dirty="0" err="1"/>
              <a:t>val</a:t>
            </a:r>
            <a:r>
              <a:rPr lang="en-IN" dirty="0"/>
              <a:t> </a:t>
            </a:r>
            <a:r>
              <a:rPr lang="en-IN" dirty="0" err="1"/>
              <a:t>conf</a:t>
            </a:r>
            <a:r>
              <a:rPr lang="en-IN" dirty="0"/>
              <a:t> = new </a:t>
            </a:r>
            <a:r>
              <a:rPr lang="en-IN" dirty="0" err="1"/>
              <a:t>SparkConf</a:t>
            </a:r>
            <a:r>
              <a:rPr lang="en-IN" dirty="0"/>
              <a:t>()</a:t>
            </a:r>
          </a:p>
          <a:p>
            <a:pPr marL="0" indent="0">
              <a:buNone/>
            </a:pPr>
            <a:r>
              <a:rPr lang="en-IN" dirty="0"/>
              <a:t>      .</a:t>
            </a:r>
            <a:r>
              <a:rPr lang="en-IN" dirty="0" err="1"/>
              <a:t>setAppName</a:t>
            </a:r>
            <a:r>
              <a:rPr lang="en-IN" dirty="0"/>
              <a:t>("Graph Creation</a:t>
            </a:r>
            <a:r>
              <a:rPr lang="en-IN" dirty="0" smtClean="0"/>
              <a:t>")</a:t>
            </a:r>
          </a:p>
          <a:p>
            <a:pPr marL="0" indent="0">
              <a:buNone/>
            </a:pPr>
            <a:r>
              <a:rPr lang="en-IN" dirty="0"/>
              <a:t> </a:t>
            </a:r>
            <a:r>
              <a:rPr lang="en-IN" dirty="0" smtClean="0"/>
              <a:t>      // </a:t>
            </a:r>
            <a:r>
              <a:rPr lang="en-IN" dirty="0"/>
              <a:t>Adjust "local[*]" based on your cluster setup</a:t>
            </a:r>
          </a:p>
          <a:p>
            <a:pPr marL="0" indent="0">
              <a:buNone/>
            </a:pPr>
            <a:r>
              <a:rPr lang="en-IN" dirty="0" smtClean="0"/>
              <a:t>      </a:t>
            </a:r>
            <a:r>
              <a:rPr lang="en-IN" dirty="0"/>
              <a:t>.</a:t>
            </a:r>
            <a:r>
              <a:rPr lang="en-IN" dirty="0" err="1"/>
              <a:t>setMaster</a:t>
            </a:r>
            <a:r>
              <a:rPr lang="en-IN" dirty="0"/>
              <a:t>("local[*]") </a:t>
            </a:r>
            <a:r>
              <a:rPr lang="en-IN" dirty="0" smtClean="0"/>
              <a:t>// </a:t>
            </a:r>
            <a:r>
              <a:rPr lang="en-IN" dirty="0"/>
              <a:t>Create </a:t>
            </a:r>
            <a:r>
              <a:rPr lang="en-IN" dirty="0" err="1"/>
              <a:t>SparkContext</a:t>
            </a:r>
            <a:endParaRPr lang="en-IN" dirty="0"/>
          </a:p>
          <a:p>
            <a:pPr marL="0" indent="0">
              <a:buNone/>
            </a:pPr>
            <a:r>
              <a:rPr lang="en-IN" dirty="0"/>
              <a:t>    </a:t>
            </a:r>
            <a:r>
              <a:rPr lang="en-IN" b="1" dirty="0" err="1" smtClean="0"/>
              <a:t>val</a:t>
            </a:r>
            <a:r>
              <a:rPr lang="en-IN" dirty="0" smtClean="0"/>
              <a:t> </a:t>
            </a:r>
            <a:r>
              <a:rPr lang="en-IN" dirty="0" err="1"/>
              <a:t>sc</a:t>
            </a:r>
            <a:r>
              <a:rPr lang="en-IN" dirty="0"/>
              <a:t> = new </a:t>
            </a:r>
            <a:r>
              <a:rPr lang="en-IN" dirty="0" err="1"/>
              <a:t>SparkContext</a:t>
            </a:r>
            <a:r>
              <a:rPr lang="en-IN" dirty="0"/>
              <a:t>(</a:t>
            </a:r>
            <a:r>
              <a:rPr lang="en-IN" dirty="0" err="1"/>
              <a:t>conf</a:t>
            </a:r>
            <a:r>
              <a:rPr lang="en-IN" dirty="0"/>
              <a:t>)</a:t>
            </a:r>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35</a:t>
            </a:fld>
            <a:endParaRPr lang="en-IN"/>
          </a:p>
        </p:txBody>
      </p:sp>
    </p:spTree>
    <p:extLst>
      <p:ext uri="{BB962C8B-B14F-4D97-AF65-F5344CB8AC3E}">
        <p14:creationId xmlns:p14="http://schemas.microsoft.com/office/powerpoint/2010/main" val="3251320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Create Data for Graph</a:t>
            </a:r>
            <a:endParaRPr lang="en-IN" dirty="0"/>
          </a:p>
        </p:txBody>
      </p:sp>
      <p:sp>
        <p:nvSpPr>
          <p:cNvPr id="3" name="Content Placeholder 2"/>
          <p:cNvSpPr>
            <a:spLocks noGrp="1"/>
          </p:cNvSpPr>
          <p:nvPr>
            <p:ph idx="1"/>
          </p:nvPr>
        </p:nvSpPr>
        <p:spPr/>
        <p:txBody>
          <a:bodyPr>
            <a:normAutofit fontScale="70000" lnSpcReduction="20000"/>
          </a:bodyPr>
          <a:lstStyle/>
          <a:p>
            <a:pPr marL="0" indent="0">
              <a:buNone/>
            </a:pPr>
            <a:r>
              <a:rPr lang="en-IN" b="1" dirty="0"/>
              <a:t>case</a:t>
            </a:r>
            <a:r>
              <a:rPr lang="en-IN" dirty="0"/>
              <a:t> </a:t>
            </a:r>
            <a:r>
              <a:rPr lang="en-IN" b="1" dirty="0"/>
              <a:t>class</a:t>
            </a:r>
            <a:r>
              <a:rPr lang="en-IN" dirty="0"/>
              <a:t> User(name: String, age: </a:t>
            </a:r>
            <a:r>
              <a:rPr lang="en-IN" dirty="0" err="1"/>
              <a:t>Int</a:t>
            </a:r>
            <a:r>
              <a:rPr lang="en-IN" dirty="0"/>
              <a:t>)</a:t>
            </a:r>
          </a:p>
          <a:p>
            <a:pPr marL="0" indent="0">
              <a:buNone/>
            </a:pPr>
            <a:r>
              <a:rPr lang="en-IN" dirty="0"/>
              <a:t>    </a:t>
            </a:r>
            <a:r>
              <a:rPr lang="en-IN" b="1" dirty="0" err="1"/>
              <a:t>val</a:t>
            </a:r>
            <a:r>
              <a:rPr lang="en-IN" dirty="0"/>
              <a:t> </a:t>
            </a:r>
            <a:r>
              <a:rPr lang="en-IN" b="1" dirty="0">
                <a:solidFill>
                  <a:srgbClr val="FF0000"/>
                </a:solidFill>
              </a:rPr>
              <a:t>users</a:t>
            </a:r>
            <a:r>
              <a:rPr lang="en-IN" dirty="0">
                <a:solidFill>
                  <a:srgbClr val="FF0000"/>
                </a:solidFill>
              </a:rPr>
              <a:t> </a:t>
            </a:r>
            <a:r>
              <a:rPr lang="en-IN" dirty="0"/>
              <a:t>= List((1L, User("Alex", 26)), (2L, User("Bill", 42)), (3L, User("Carol", 18)),</a:t>
            </a:r>
          </a:p>
          <a:p>
            <a:pPr marL="0" indent="0">
              <a:buNone/>
            </a:pPr>
            <a:r>
              <a:rPr lang="en-IN" dirty="0"/>
              <a:t>      (4L, User("Dave", 16)), (5L, User("Eve", 45)), (6L, User("</a:t>
            </a:r>
            <a:r>
              <a:rPr lang="en-IN" dirty="0" err="1"/>
              <a:t>Farell</a:t>
            </a:r>
            <a:r>
              <a:rPr lang="en-IN" dirty="0"/>
              <a:t>", 30)),</a:t>
            </a:r>
          </a:p>
          <a:p>
            <a:pPr marL="0" indent="0">
              <a:buNone/>
            </a:pPr>
            <a:r>
              <a:rPr lang="en-IN" dirty="0"/>
              <a:t>      (7L, User("Garry", 32)), (8L, User("Harry", 36)), (9L, User("Ivan", 28)),</a:t>
            </a:r>
          </a:p>
          <a:p>
            <a:pPr marL="0" indent="0">
              <a:buNone/>
            </a:pPr>
            <a:r>
              <a:rPr lang="en-IN" dirty="0"/>
              <a:t>      (10L, User("Jill", 48))</a:t>
            </a:r>
          </a:p>
          <a:p>
            <a:pPr marL="0" indent="0">
              <a:buNone/>
            </a:pPr>
            <a:r>
              <a:rPr lang="en-IN" dirty="0"/>
              <a:t>    )</a:t>
            </a:r>
          </a:p>
          <a:p>
            <a:pPr marL="0" indent="0">
              <a:buNone/>
            </a:pPr>
            <a:r>
              <a:rPr lang="en-IN" dirty="0"/>
              <a:t>    </a:t>
            </a:r>
            <a:r>
              <a:rPr lang="en-IN" b="1" dirty="0" err="1">
                <a:solidFill>
                  <a:srgbClr val="FF0000"/>
                </a:solidFill>
              </a:rPr>
              <a:t>val</a:t>
            </a:r>
            <a:r>
              <a:rPr lang="en-IN" dirty="0">
                <a:solidFill>
                  <a:srgbClr val="FF0000"/>
                </a:solidFill>
              </a:rPr>
              <a:t> </a:t>
            </a:r>
            <a:r>
              <a:rPr lang="en-IN" dirty="0" err="1">
                <a:solidFill>
                  <a:srgbClr val="FF0000"/>
                </a:solidFill>
              </a:rPr>
              <a:t>usersRDD</a:t>
            </a:r>
            <a:r>
              <a:rPr lang="en-IN" dirty="0">
                <a:solidFill>
                  <a:srgbClr val="FF0000"/>
                </a:solidFill>
              </a:rPr>
              <a:t> = </a:t>
            </a:r>
            <a:r>
              <a:rPr lang="en-IN" b="1" dirty="0" err="1">
                <a:solidFill>
                  <a:srgbClr val="FF0000"/>
                </a:solidFill>
              </a:rPr>
              <a:t>sc.parallelize</a:t>
            </a:r>
            <a:r>
              <a:rPr lang="en-IN" b="1" dirty="0">
                <a:solidFill>
                  <a:srgbClr val="FF0000"/>
                </a:solidFill>
              </a:rPr>
              <a:t>(users</a:t>
            </a:r>
            <a:r>
              <a:rPr lang="en-IN" dirty="0">
                <a:solidFill>
                  <a:srgbClr val="FF0000"/>
                </a:solidFill>
              </a:rPr>
              <a:t>)</a:t>
            </a:r>
          </a:p>
          <a:p>
            <a:pPr marL="0" indent="0">
              <a:buNone/>
            </a:pPr>
            <a:r>
              <a:rPr lang="en-IN" dirty="0"/>
              <a:t>    </a:t>
            </a:r>
            <a:r>
              <a:rPr lang="en-IN" b="1" dirty="0" err="1"/>
              <a:t>val</a:t>
            </a:r>
            <a:r>
              <a:rPr lang="en-IN" dirty="0"/>
              <a:t> </a:t>
            </a:r>
            <a:r>
              <a:rPr lang="en-IN" b="1" dirty="0">
                <a:solidFill>
                  <a:srgbClr val="FF0000"/>
                </a:solidFill>
              </a:rPr>
              <a:t>follows</a:t>
            </a:r>
            <a:r>
              <a:rPr lang="en-IN" dirty="0">
                <a:solidFill>
                  <a:srgbClr val="FF0000"/>
                </a:solidFill>
              </a:rPr>
              <a:t> </a:t>
            </a:r>
            <a:r>
              <a:rPr lang="en-IN" dirty="0"/>
              <a:t>= List(Edge(1L, 2L, 1), Edge(2L, 3L, 1), Edge(3L, 1L, 1), Edge(3L, 4L, 1),</a:t>
            </a:r>
          </a:p>
          <a:p>
            <a:pPr marL="0" indent="0">
              <a:buNone/>
            </a:pPr>
            <a:r>
              <a:rPr lang="en-IN" dirty="0"/>
              <a:t>      Edge(3L, 5L, 1), Edge(4L, 5L, 1), Edge(6L, 5L, 1), Edge(7L, 6L, 1),</a:t>
            </a:r>
          </a:p>
          <a:p>
            <a:pPr marL="0" indent="0">
              <a:buNone/>
            </a:pPr>
            <a:r>
              <a:rPr lang="en-IN" dirty="0"/>
              <a:t>      Edge(6L, 8L, 1), Edge(7L, 8L, 1), Edge(7L, 9L, 1), Edge(9L, 8L, 1),</a:t>
            </a:r>
          </a:p>
          <a:p>
            <a:pPr marL="0" indent="0">
              <a:buNone/>
            </a:pPr>
            <a:r>
              <a:rPr lang="en-IN" dirty="0"/>
              <a:t>      Edge(8L, 10L, 1), Edge(10L, 9L, 1), Edge(1L, 11L, 1)</a:t>
            </a:r>
          </a:p>
          <a:p>
            <a:pPr marL="0" indent="0">
              <a:buNone/>
            </a:pPr>
            <a:r>
              <a:rPr lang="en-IN" dirty="0"/>
              <a:t>    )</a:t>
            </a:r>
          </a:p>
          <a:p>
            <a:pPr marL="0" indent="0">
              <a:buNone/>
            </a:pPr>
            <a:r>
              <a:rPr lang="en-IN" dirty="0"/>
              <a:t>    </a:t>
            </a:r>
            <a:r>
              <a:rPr lang="en-IN" b="1" dirty="0" err="1">
                <a:solidFill>
                  <a:srgbClr val="FF0000"/>
                </a:solidFill>
              </a:rPr>
              <a:t>val</a:t>
            </a:r>
            <a:r>
              <a:rPr lang="en-IN" dirty="0">
                <a:solidFill>
                  <a:srgbClr val="FF0000"/>
                </a:solidFill>
              </a:rPr>
              <a:t> </a:t>
            </a:r>
            <a:r>
              <a:rPr lang="en-IN" dirty="0" err="1">
                <a:solidFill>
                  <a:srgbClr val="FF0000"/>
                </a:solidFill>
              </a:rPr>
              <a:t>followsRDD</a:t>
            </a:r>
            <a:r>
              <a:rPr lang="en-IN" dirty="0">
                <a:solidFill>
                  <a:srgbClr val="FF0000"/>
                </a:solidFill>
              </a:rPr>
              <a:t> = </a:t>
            </a:r>
            <a:r>
              <a:rPr lang="en-IN" b="1" dirty="0" err="1">
                <a:solidFill>
                  <a:srgbClr val="FF0000"/>
                </a:solidFill>
              </a:rPr>
              <a:t>sc.parallelize</a:t>
            </a:r>
            <a:r>
              <a:rPr lang="en-IN" b="1" dirty="0">
                <a:solidFill>
                  <a:srgbClr val="FF0000"/>
                </a:solidFill>
              </a:rPr>
              <a:t>(follows</a:t>
            </a:r>
            <a:r>
              <a:rPr lang="en-IN" dirty="0">
                <a:solidFill>
                  <a:srgbClr val="FF0000"/>
                </a:solidFill>
              </a:rPr>
              <a:t>)</a:t>
            </a:r>
          </a:p>
          <a:p>
            <a:pPr marL="0" indent="0">
              <a:buNone/>
            </a:pPr>
            <a:r>
              <a:rPr lang="en-IN" dirty="0"/>
              <a:t>    </a:t>
            </a:r>
            <a:r>
              <a:rPr lang="en-IN" b="1" dirty="0" err="1"/>
              <a:t>val</a:t>
            </a:r>
            <a:r>
              <a:rPr lang="en-IN" dirty="0"/>
              <a:t> </a:t>
            </a:r>
            <a:r>
              <a:rPr lang="en-IN" dirty="0" err="1"/>
              <a:t>defaultUser</a:t>
            </a:r>
            <a:r>
              <a:rPr lang="en-IN" dirty="0"/>
              <a:t> = User("NA", 0)</a:t>
            </a:r>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36</a:t>
            </a:fld>
            <a:endParaRPr lang="en-IN"/>
          </a:p>
        </p:txBody>
      </p:sp>
    </p:spTree>
    <p:extLst>
      <p:ext uri="{BB962C8B-B14F-4D97-AF65-F5344CB8AC3E}">
        <p14:creationId xmlns:p14="http://schemas.microsoft.com/office/powerpoint/2010/main" val="3256983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Create Graph</a:t>
            </a:r>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IN" dirty="0"/>
              <a:t> // Create the Graph</a:t>
            </a:r>
          </a:p>
          <a:p>
            <a:pPr marL="0" indent="0">
              <a:buNone/>
            </a:pPr>
            <a:r>
              <a:rPr lang="en-IN" dirty="0"/>
              <a:t>    </a:t>
            </a:r>
            <a:r>
              <a:rPr lang="en-IN" b="1" dirty="0" err="1"/>
              <a:t>val</a:t>
            </a:r>
            <a:r>
              <a:rPr lang="en-IN" dirty="0"/>
              <a:t> </a:t>
            </a:r>
            <a:r>
              <a:rPr lang="en-IN" dirty="0" err="1"/>
              <a:t>socialGraph</a:t>
            </a:r>
            <a:r>
              <a:rPr lang="en-IN" dirty="0"/>
              <a:t> = </a:t>
            </a:r>
            <a:r>
              <a:rPr lang="en-IN" b="1" dirty="0">
                <a:solidFill>
                  <a:srgbClr val="FF0000"/>
                </a:solidFill>
              </a:rPr>
              <a:t>Graph</a:t>
            </a:r>
            <a:r>
              <a:rPr lang="en-IN" dirty="0"/>
              <a:t>(</a:t>
            </a:r>
            <a:r>
              <a:rPr lang="en-IN" dirty="0" err="1"/>
              <a:t>usersRDD</a:t>
            </a:r>
            <a:r>
              <a:rPr lang="en-IN" dirty="0"/>
              <a:t>, </a:t>
            </a:r>
            <a:r>
              <a:rPr lang="en-IN" dirty="0" err="1"/>
              <a:t>followsRDD</a:t>
            </a:r>
            <a:r>
              <a:rPr lang="en-IN" dirty="0"/>
              <a:t>, </a:t>
            </a:r>
            <a:r>
              <a:rPr lang="en-IN" dirty="0" err="1"/>
              <a:t>defaultUser</a:t>
            </a:r>
            <a:r>
              <a:rPr lang="en-IN" dirty="0"/>
              <a:t>)</a:t>
            </a:r>
          </a:p>
          <a:p>
            <a:pPr marL="0" indent="0">
              <a:buNone/>
            </a:pPr>
            <a:endParaRPr lang="en-IN" dirty="0"/>
          </a:p>
          <a:p>
            <a:pPr marL="0" indent="0">
              <a:buNone/>
            </a:pPr>
            <a:r>
              <a:rPr lang="en-IN" dirty="0"/>
              <a:t>    // Print no. of edges &amp; vertices</a:t>
            </a:r>
          </a:p>
          <a:p>
            <a:pPr marL="0" indent="0">
              <a:buNone/>
            </a:pPr>
            <a:r>
              <a:rPr lang="en-IN" dirty="0"/>
              <a:t>    </a:t>
            </a:r>
            <a:r>
              <a:rPr lang="en-IN" b="1" dirty="0" err="1"/>
              <a:t>val</a:t>
            </a:r>
            <a:r>
              <a:rPr lang="en-IN" dirty="0"/>
              <a:t> </a:t>
            </a:r>
            <a:r>
              <a:rPr lang="en-IN" dirty="0" err="1"/>
              <a:t>numEdges</a:t>
            </a:r>
            <a:r>
              <a:rPr lang="en-IN" dirty="0"/>
              <a:t> = </a:t>
            </a:r>
            <a:r>
              <a:rPr lang="en-IN" dirty="0" err="1"/>
              <a:t>socialGraph.numEdges</a:t>
            </a:r>
            <a:endParaRPr lang="en-IN" dirty="0"/>
          </a:p>
          <a:p>
            <a:pPr marL="0" indent="0">
              <a:buNone/>
            </a:pPr>
            <a:r>
              <a:rPr lang="en-IN" dirty="0"/>
              <a:t>    </a:t>
            </a:r>
            <a:r>
              <a:rPr lang="en-IN" b="1" dirty="0" err="1"/>
              <a:t>val</a:t>
            </a:r>
            <a:r>
              <a:rPr lang="en-IN" dirty="0"/>
              <a:t> </a:t>
            </a:r>
            <a:r>
              <a:rPr lang="en-IN" dirty="0" err="1"/>
              <a:t>numVertices</a:t>
            </a:r>
            <a:r>
              <a:rPr lang="en-IN" dirty="0"/>
              <a:t> = </a:t>
            </a:r>
            <a:r>
              <a:rPr lang="en-IN" dirty="0" err="1"/>
              <a:t>socialGraph.numVertices</a:t>
            </a:r>
            <a:endParaRPr lang="en-IN" dirty="0"/>
          </a:p>
          <a:p>
            <a:pPr marL="0" indent="0">
              <a:buNone/>
            </a:pPr>
            <a:r>
              <a:rPr lang="en-IN" dirty="0"/>
              <a:t>    </a:t>
            </a:r>
            <a:r>
              <a:rPr lang="en-IN" b="1" dirty="0" err="1"/>
              <a:t>println</a:t>
            </a:r>
            <a:r>
              <a:rPr lang="en-IN" dirty="0"/>
              <a:t>("No. of vertices = " + </a:t>
            </a:r>
            <a:r>
              <a:rPr lang="en-IN" dirty="0" err="1"/>
              <a:t>numVertices</a:t>
            </a:r>
            <a:r>
              <a:rPr lang="en-IN" dirty="0"/>
              <a:t>)</a:t>
            </a:r>
          </a:p>
          <a:p>
            <a:pPr marL="0" indent="0">
              <a:buNone/>
            </a:pPr>
            <a:r>
              <a:rPr lang="en-IN" dirty="0"/>
              <a:t>    </a:t>
            </a:r>
            <a:r>
              <a:rPr lang="en-IN" b="1" dirty="0" err="1"/>
              <a:t>println</a:t>
            </a:r>
            <a:r>
              <a:rPr lang="en-IN" dirty="0"/>
              <a:t>("No. of Edges = " + </a:t>
            </a:r>
            <a:r>
              <a:rPr lang="en-IN" dirty="0" err="1"/>
              <a:t>numEdges</a:t>
            </a:r>
            <a:r>
              <a:rPr lang="en-IN" dirty="0" smtClean="0"/>
              <a:t>)</a:t>
            </a:r>
          </a:p>
          <a:p>
            <a:pPr marL="0" indent="0">
              <a:buNone/>
            </a:pPr>
            <a:r>
              <a:rPr lang="en-IN" dirty="0" smtClean="0"/>
              <a:t>    </a:t>
            </a:r>
            <a:r>
              <a:rPr lang="en-IN" b="1" dirty="0" smtClean="0"/>
              <a:t>for</a:t>
            </a:r>
            <a:r>
              <a:rPr lang="en-IN" dirty="0" smtClean="0"/>
              <a:t> </a:t>
            </a:r>
            <a:r>
              <a:rPr lang="en-IN" dirty="0"/>
              <a:t>(edge &lt;- </a:t>
            </a:r>
            <a:r>
              <a:rPr lang="en-IN" dirty="0" err="1"/>
              <a:t>socialGraph.edges.collect</a:t>
            </a:r>
            <a:r>
              <a:rPr lang="en-IN" dirty="0"/>
              <a:t>()) {</a:t>
            </a:r>
          </a:p>
          <a:p>
            <a:pPr marL="0" indent="0">
              <a:buNone/>
            </a:pPr>
            <a:r>
              <a:rPr lang="en-IN" dirty="0"/>
              <a:t>      </a:t>
            </a:r>
            <a:r>
              <a:rPr lang="en-IN" b="1" dirty="0" err="1"/>
              <a:t>println</a:t>
            </a:r>
            <a:r>
              <a:rPr lang="en-IN" dirty="0"/>
              <a:t>(</a:t>
            </a:r>
            <a:r>
              <a:rPr lang="en-IN" dirty="0" err="1"/>
              <a:t>s"Edge</a:t>
            </a:r>
            <a:r>
              <a:rPr lang="en-IN" dirty="0"/>
              <a:t>: ${</a:t>
            </a:r>
            <a:r>
              <a:rPr lang="en-IN" dirty="0" err="1"/>
              <a:t>edge.srcId</a:t>
            </a:r>
            <a:r>
              <a:rPr lang="en-IN" dirty="0"/>
              <a:t>} -&gt; ${</a:t>
            </a:r>
            <a:r>
              <a:rPr lang="en-IN" dirty="0" err="1"/>
              <a:t>edge.dstId</a:t>
            </a:r>
            <a:r>
              <a:rPr lang="en-IN" dirty="0"/>
              <a:t>}, Attribute: ${</a:t>
            </a:r>
            <a:r>
              <a:rPr lang="en-IN" dirty="0" err="1"/>
              <a:t>edge.attr</a:t>
            </a:r>
            <a:r>
              <a:rPr lang="en-IN" dirty="0"/>
              <a:t>}")</a:t>
            </a:r>
          </a:p>
          <a:p>
            <a:pPr marL="0" indent="0">
              <a:buNone/>
            </a:pPr>
            <a:r>
              <a:rPr lang="en-IN" dirty="0"/>
              <a:t>    }</a:t>
            </a:r>
          </a:p>
          <a:p>
            <a:pPr marL="0" indent="0">
              <a:buNone/>
            </a:pPr>
            <a:r>
              <a:rPr lang="en-IN" dirty="0"/>
              <a:t>  }</a:t>
            </a:r>
          </a:p>
          <a:p>
            <a:pPr marL="0" indent="0">
              <a:buNone/>
            </a:pPr>
            <a:r>
              <a:rPr lang="en-IN" dirty="0"/>
              <a:t>}</a:t>
            </a:r>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37</a:t>
            </a:fld>
            <a:endParaRPr lang="en-IN"/>
          </a:p>
        </p:txBody>
      </p:sp>
    </p:spTree>
    <p:extLst>
      <p:ext uri="{BB962C8B-B14F-4D97-AF65-F5344CB8AC3E}">
        <p14:creationId xmlns:p14="http://schemas.microsoft.com/office/powerpoint/2010/main" val="1516132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Output</a:t>
            </a:r>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38</a:t>
            </a:fld>
            <a:endParaRPr lang="en-IN"/>
          </a:p>
        </p:txBody>
      </p:sp>
      <p:pic>
        <p:nvPicPr>
          <p:cNvPr id="8" name="Picture 7"/>
          <p:cNvPicPr>
            <a:picLocks noChangeAspect="1"/>
          </p:cNvPicPr>
          <p:nvPr/>
        </p:nvPicPr>
        <p:blipFill>
          <a:blip r:embed="rId2"/>
          <a:stretch>
            <a:fillRect/>
          </a:stretch>
        </p:blipFill>
        <p:spPr>
          <a:xfrm>
            <a:off x="3790156" y="106025"/>
            <a:ext cx="5688632" cy="6275304"/>
          </a:xfrm>
          <a:prstGeom prst="rect">
            <a:avLst/>
          </a:prstGeom>
        </p:spPr>
      </p:pic>
    </p:spTree>
    <p:extLst>
      <p:ext uri="{BB962C8B-B14F-4D97-AF65-F5344CB8AC3E}">
        <p14:creationId xmlns:p14="http://schemas.microsoft.com/office/powerpoint/2010/main" val="1029553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543" y="365760"/>
            <a:ext cx="9690116" cy="686976"/>
          </a:xfrm>
        </p:spPr>
        <p:txBody>
          <a:bodyPr>
            <a:normAutofit fontScale="90000"/>
          </a:bodyPr>
          <a:lstStyle/>
          <a:p>
            <a:r>
              <a:rPr lang="en-IN" dirty="0" smtClean="0"/>
              <a:t>Graphs using PySpark</a:t>
            </a:r>
            <a:endParaRPr lang="en-IN" dirty="0"/>
          </a:p>
        </p:txBody>
      </p:sp>
      <p:sp>
        <p:nvSpPr>
          <p:cNvPr id="3" name="Content Placeholder 2"/>
          <p:cNvSpPr>
            <a:spLocks noGrp="1"/>
          </p:cNvSpPr>
          <p:nvPr>
            <p:ph idx="1"/>
          </p:nvPr>
        </p:nvSpPr>
        <p:spPr>
          <a:xfrm>
            <a:off x="1261543" y="1412777"/>
            <a:ext cx="4544837" cy="4968552"/>
          </a:xfrm>
        </p:spPr>
        <p:txBody>
          <a:bodyPr/>
          <a:lstStyle/>
          <a:p>
            <a:r>
              <a:rPr lang="en-IN" b="1" dirty="0" smtClean="0"/>
              <a:t>What is </a:t>
            </a:r>
            <a:r>
              <a:rPr lang="en-IN" b="1" dirty="0" err="1" smtClean="0"/>
              <a:t>GraphFrames</a:t>
            </a:r>
            <a:r>
              <a:rPr lang="en-IN" b="1" dirty="0" smtClean="0"/>
              <a:t>?</a:t>
            </a:r>
          </a:p>
          <a:p>
            <a:r>
              <a:rPr lang="en-US" dirty="0" err="1"/>
              <a:t>GraphFrames</a:t>
            </a:r>
            <a:r>
              <a:rPr lang="en-US" dirty="0"/>
              <a:t> is a library in Apache Spark that makes it easy to work with graphs and graph-parallel computations. </a:t>
            </a:r>
            <a:endParaRPr lang="en-US" dirty="0" smtClean="0"/>
          </a:p>
          <a:p>
            <a:r>
              <a:rPr lang="en-US" dirty="0" smtClean="0"/>
              <a:t>It </a:t>
            </a:r>
            <a:r>
              <a:rPr lang="en-US" dirty="0"/>
              <a:t>allows you to represent graphs using </a:t>
            </a:r>
            <a:r>
              <a:rPr lang="en-US" dirty="0" err="1"/>
              <a:t>DataFrames</a:t>
            </a:r>
            <a:r>
              <a:rPr lang="en-US" dirty="0"/>
              <a:t> and provides various efficient algorithms for graph processing</a:t>
            </a:r>
            <a:r>
              <a:rPr lang="en-US" dirty="0" smtClean="0"/>
              <a:t>.</a:t>
            </a:r>
          </a:p>
          <a:p>
            <a:endParaRPr lang="en-IN"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39</a:t>
            </a:fld>
            <a:endParaRPr lang="en-IN"/>
          </a:p>
        </p:txBody>
      </p:sp>
      <p:sp>
        <p:nvSpPr>
          <p:cNvPr id="8" name="Rectangle 2"/>
          <p:cNvSpPr>
            <a:spLocks noChangeArrowheads="1"/>
          </p:cNvSpPr>
          <p:nvPr/>
        </p:nvSpPr>
        <p:spPr bwMode="auto">
          <a:xfrm>
            <a:off x="6310436" y="1115917"/>
            <a:ext cx="4536504" cy="5632311"/>
          </a:xfrm>
          <a:prstGeom prst="rect">
            <a:avLst/>
          </a:prstGeom>
          <a:solidFill>
            <a:schemeClr val="accent5">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 Create vertices </a:t>
            </a:r>
            <a:r>
              <a:rPr lang="en-US" altLang="en-US" sz="2000" dirty="0" err="1">
                <a:latin typeface="Roboto" panose="02000000000000000000" pitchFamily="2" charset="0"/>
                <a:ea typeface="Roboto" panose="02000000000000000000" pitchFamily="2" charset="0"/>
              </a:rPr>
              <a:t>DataFrame</a:t>
            </a:r>
            <a:endParaRPr lang="en-US" altLang="en-US" sz="2000" dirty="0">
              <a:latin typeface="Roboto" panose="02000000000000000000" pitchFamily="2" charset="0"/>
              <a:ea typeface="Roboto" panose="02000000000000000000" pitchFamily="2" charset="0"/>
            </a:endParaRP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vertices = </a:t>
            </a:r>
            <a:r>
              <a:rPr lang="en-US" altLang="en-US" sz="2000" dirty="0" err="1">
                <a:latin typeface="Roboto" panose="02000000000000000000" pitchFamily="2" charset="0"/>
                <a:ea typeface="Roboto" panose="02000000000000000000" pitchFamily="2" charset="0"/>
              </a:rPr>
              <a:t>spark.createDataFrame</a:t>
            </a:r>
            <a:r>
              <a:rPr lang="en-US" altLang="en-US" sz="2000" dirty="0">
                <a:latin typeface="Roboto" panose="02000000000000000000" pitchFamily="2" charset="0"/>
                <a:ea typeface="Roboto" panose="02000000000000000000" pitchFamily="2" charset="0"/>
              </a:rPr>
              <a:t>([</a:t>
            </a: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    (1, "Alice"),</a:t>
            </a: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    (2, "Bob"),</a:t>
            </a: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    (3, "Charlie"),</a:t>
            </a: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    (4, "Darwin")</a:t>
            </a: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 ["id", "name"])</a:t>
            </a:r>
          </a:p>
          <a:p>
            <a:pPr lvl="0" defTabSz="914400" eaLnBrk="0" fontAlgn="base" hangingPunct="0">
              <a:spcBef>
                <a:spcPct val="0"/>
              </a:spcBef>
              <a:spcAft>
                <a:spcPct val="0"/>
              </a:spcAft>
            </a:pPr>
            <a:endParaRPr lang="en-US" altLang="en-US" sz="2000" dirty="0">
              <a:latin typeface="Roboto" panose="02000000000000000000" pitchFamily="2" charset="0"/>
              <a:ea typeface="Roboto" panose="02000000000000000000" pitchFamily="2" charset="0"/>
            </a:endParaRP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 Create edges </a:t>
            </a:r>
            <a:r>
              <a:rPr lang="en-US" altLang="en-US" sz="2000" dirty="0" err="1">
                <a:latin typeface="Roboto" panose="02000000000000000000" pitchFamily="2" charset="0"/>
                <a:ea typeface="Roboto" panose="02000000000000000000" pitchFamily="2" charset="0"/>
              </a:rPr>
              <a:t>DataFrame</a:t>
            </a:r>
            <a:endParaRPr lang="en-US" altLang="en-US" sz="2000" dirty="0">
              <a:latin typeface="Roboto" panose="02000000000000000000" pitchFamily="2" charset="0"/>
              <a:ea typeface="Roboto" panose="02000000000000000000" pitchFamily="2" charset="0"/>
            </a:endParaRP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edges = </a:t>
            </a:r>
            <a:r>
              <a:rPr lang="en-US" altLang="en-US" sz="2000" dirty="0" err="1">
                <a:latin typeface="Roboto" panose="02000000000000000000" pitchFamily="2" charset="0"/>
                <a:ea typeface="Roboto" panose="02000000000000000000" pitchFamily="2" charset="0"/>
              </a:rPr>
              <a:t>spark.createDataFrame</a:t>
            </a:r>
            <a:r>
              <a:rPr lang="en-US" altLang="en-US" sz="2000" dirty="0">
                <a:latin typeface="Roboto" panose="02000000000000000000" pitchFamily="2" charset="0"/>
                <a:ea typeface="Roboto" panose="02000000000000000000" pitchFamily="2" charset="0"/>
              </a:rPr>
              <a:t>([</a:t>
            </a: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    (1, 2, "friend"),</a:t>
            </a: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    (2, 3, "friend"),</a:t>
            </a: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    (2, 4, "follows"),</a:t>
            </a: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    (3, 4, "likes")</a:t>
            </a: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 ["</a:t>
            </a:r>
            <a:r>
              <a:rPr lang="en-US" altLang="en-US" sz="2000" dirty="0" err="1">
                <a:latin typeface="Roboto" panose="02000000000000000000" pitchFamily="2" charset="0"/>
                <a:ea typeface="Roboto" panose="02000000000000000000" pitchFamily="2" charset="0"/>
              </a:rPr>
              <a:t>src</a:t>
            </a:r>
            <a:r>
              <a:rPr lang="en-US" altLang="en-US" sz="2000" dirty="0">
                <a:latin typeface="Roboto" panose="02000000000000000000" pitchFamily="2" charset="0"/>
                <a:ea typeface="Roboto" panose="02000000000000000000" pitchFamily="2" charset="0"/>
              </a:rPr>
              <a:t>", "</a:t>
            </a:r>
            <a:r>
              <a:rPr lang="en-US" altLang="en-US" sz="2000" dirty="0" err="1">
                <a:latin typeface="Roboto" panose="02000000000000000000" pitchFamily="2" charset="0"/>
                <a:ea typeface="Roboto" panose="02000000000000000000" pitchFamily="2" charset="0"/>
              </a:rPr>
              <a:t>dst</a:t>
            </a:r>
            <a:r>
              <a:rPr lang="en-US" altLang="en-US" sz="2000" dirty="0">
                <a:latin typeface="Roboto" panose="02000000000000000000" pitchFamily="2" charset="0"/>
                <a:ea typeface="Roboto" panose="02000000000000000000" pitchFamily="2" charset="0"/>
              </a:rPr>
              <a:t>", "relationship"])</a:t>
            </a:r>
          </a:p>
          <a:p>
            <a:pPr lvl="0" defTabSz="914400" eaLnBrk="0" fontAlgn="base" hangingPunct="0">
              <a:spcBef>
                <a:spcPct val="0"/>
              </a:spcBef>
              <a:spcAft>
                <a:spcPct val="0"/>
              </a:spcAft>
            </a:pPr>
            <a:endParaRPr lang="en-US" altLang="en-US" sz="2000" dirty="0">
              <a:latin typeface="Roboto" panose="02000000000000000000" pitchFamily="2" charset="0"/>
              <a:ea typeface="Roboto" panose="02000000000000000000" pitchFamily="2" charset="0"/>
            </a:endParaRPr>
          </a:p>
          <a:p>
            <a:pPr lvl="0" defTabSz="914400" eaLnBrk="0" fontAlgn="base" hangingPunct="0">
              <a:spcBef>
                <a:spcPct val="0"/>
              </a:spcBef>
              <a:spcAft>
                <a:spcPct val="0"/>
              </a:spcAft>
            </a:pPr>
            <a:r>
              <a:rPr lang="en-US" altLang="en-US" sz="2000" dirty="0">
                <a:latin typeface="Roboto" panose="02000000000000000000" pitchFamily="2" charset="0"/>
                <a:ea typeface="Roboto" panose="02000000000000000000" pitchFamily="2" charset="0"/>
              </a:rPr>
              <a:t># Create </a:t>
            </a:r>
            <a:r>
              <a:rPr lang="en-US" altLang="en-US" sz="2000" dirty="0" err="1">
                <a:latin typeface="Roboto" panose="02000000000000000000" pitchFamily="2" charset="0"/>
                <a:ea typeface="Roboto" panose="02000000000000000000" pitchFamily="2" charset="0"/>
              </a:rPr>
              <a:t>GraphFrame</a:t>
            </a:r>
            <a:endParaRPr lang="en-US" altLang="en-US" sz="2000" dirty="0">
              <a:latin typeface="Roboto" panose="02000000000000000000" pitchFamily="2" charset="0"/>
              <a:ea typeface="Roboto" panose="02000000000000000000" pitchFamily="2" charset="0"/>
            </a:endParaRPr>
          </a:p>
          <a:p>
            <a:pPr lvl="0" defTabSz="914400" eaLnBrk="0" fontAlgn="base" hangingPunct="0">
              <a:spcBef>
                <a:spcPct val="0"/>
              </a:spcBef>
              <a:spcAft>
                <a:spcPct val="0"/>
              </a:spcAft>
            </a:pPr>
            <a:r>
              <a:rPr lang="en-US" altLang="en-US" sz="2000" b="1" dirty="0">
                <a:latin typeface="Roboto" panose="02000000000000000000" pitchFamily="2" charset="0"/>
                <a:ea typeface="Roboto" panose="02000000000000000000" pitchFamily="2" charset="0"/>
              </a:rPr>
              <a:t>g = </a:t>
            </a:r>
            <a:r>
              <a:rPr lang="en-US" altLang="en-US" sz="2000" b="1" dirty="0" err="1">
                <a:latin typeface="Roboto" panose="02000000000000000000" pitchFamily="2" charset="0"/>
                <a:ea typeface="Roboto" panose="02000000000000000000" pitchFamily="2" charset="0"/>
              </a:rPr>
              <a:t>GraphFrame</a:t>
            </a:r>
            <a:r>
              <a:rPr lang="en-US" altLang="en-US" sz="2000" b="1" dirty="0">
                <a:latin typeface="Roboto" panose="02000000000000000000" pitchFamily="2" charset="0"/>
                <a:ea typeface="Roboto" panose="02000000000000000000" pitchFamily="2" charset="0"/>
              </a:rPr>
              <a:t>(vertices, edges)</a:t>
            </a:r>
            <a:endParaRPr kumimoji="0" lang="en-US" altLang="en-US" sz="3200" b="1" i="0" u="none" strike="noStrike" cap="none" normalizeH="0" baseline="0" dirty="0" smtClean="0">
              <a:ln>
                <a:noFill/>
              </a:ln>
              <a:effectLst/>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37642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543" y="365760"/>
            <a:ext cx="9690116" cy="686976"/>
          </a:xfrm>
        </p:spPr>
        <p:txBody>
          <a:bodyPr>
            <a:normAutofit fontScale="90000"/>
          </a:bodyPr>
          <a:lstStyle/>
          <a:p>
            <a:r>
              <a:rPr lang="en-IN" dirty="0" smtClean="0"/>
              <a:t>Graphs using PySpark - Example</a:t>
            </a:r>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40</a:t>
            </a:fld>
            <a:endParaRPr lang="en-IN"/>
          </a:p>
        </p:txBody>
      </p:sp>
      <p:pic>
        <p:nvPicPr>
          <p:cNvPr id="6" name="Picture 5"/>
          <p:cNvPicPr>
            <a:picLocks noChangeAspect="1"/>
          </p:cNvPicPr>
          <p:nvPr/>
        </p:nvPicPr>
        <p:blipFill>
          <a:blip r:embed="rId2"/>
          <a:stretch>
            <a:fillRect/>
          </a:stretch>
        </p:blipFill>
        <p:spPr>
          <a:xfrm>
            <a:off x="1557908" y="1107680"/>
            <a:ext cx="7776864" cy="5781574"/>
          </a:xfrm>
          <a:prstGeom prst="rect">
            <a:avLst/>
          </a:prstGeom>
        </p:spPr>
      </p:pic>
    </p:spTree>
    <p:extLst>
      <p:ext uri="{BB962C8B-B14F-4D97-AF65-F5344CB8AC3E}">
        <p14:creationId xmlns:p14="http://schemas.microsoft.com/office/powerpoint/2010/main" val="1770839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41</a:t>
            </a:fld>
            <a:endParaRPr lang="en-IN"/>
          </a:p>
        </p:txBody>
      </p:sp>
      <p:pic>
        <p:nvPicPr>
          <p:cNvPr id="6" name="Picture 5"/>
          <p:cNvPicPr>
            <a:picLocks noChangeAspect="1"/>
          </p:cNvPicPr>
          <p:nvPr/>
        </p:nvPicPr>
        <p:blipFill>
          <a:blip r:embed="rId2"/>
          <a:stretch>
            <a:fillRect/>
          </a:stretch>
        </p:blipFill>
        <p:spPr>
          <a:xfrm>
            <a:off x="2782044" y="116632"/>
            <a:ext cx="6998533" cy="6858000"/>
          </a:xfrm>
          <a:prstGeom prst="rect">
            <a:avLst/>
          </a:prstGeom>
        </p:spPr>
      </p:pic>
    </p:spTree>
    <p:extLst>
      <p:ext uri="{BB962C8B-B14F-4D97-AF65-F5344CB8AC3E}">
        <p14:creationId xmlns:p14="http://schemas.microsoft.com/office/powerpoint/2010/main" val="498474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42</a:t>
            </a:fld>
            <a:endParaRPr lang="en-IN"/>
          </a:p>
        </p:txBody>
      </p:sp>
      <p:pic>
        <p:nvPicPr>
          <p:cNvPr id="6" name="Picture 5"/>
          <p:cNvPicPr>
            <a:picLocks noChangeAspect="1"/>
          </p:cNvPicPr>
          <p:nvPr/>
        </p:nvPicPr>
        <p:blipFill>
          <a:blip r:embed="rId2"/>
          <a:stretch>
            <a:fillRect/>
          </a:stretch>
        </p:blipFill>
        <p:spPr>
          <a:xfrm>
            <a:off x="2638028" y="364233"/>
            <a:ext cx="6582694" cy="6401693"/>
          </a:xfrm>
          <a:prstGeom prst="rect">
            <a:avLst/>
          </a:prstGeom>
        </p:spPr>
      </p:pic>
    </p:spTree>
    <p:extLst>
      <p:ext uri="{BB962C8B-B14F-4D97-AF65-F5344CB8AC3E}">
        <p14:creationId xmlns:p14="http://schemas.microsoft.com/office/powerpoint/2010/main" val="3461063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43</a:t>
            </a:fld>
            <a:endParaRPr lang="en-IN"/>
          </a:p>
        </p:txBody>
      </p:sp>
      <p:pic>
        <p:nvPicPr>
          <p:cNvPr id="6" name="Picture 5"/>
          <p:cNvPicPr>
            <a:picLocks noChangeAspect="1"/>
          </p:cNvPicPr>
          <p:nvPr/>
        </p:nvPicPr>
        <p:blipFill>
          <a:blip r:embed="rId2"/>
          <a:stretch>
            <a:fillRect/>
          </a:stretch>
        </p:blipFill>
        <p:spPr>
          <a:xfrm>
            <a:off x="2710036" y="146919"/>
            <a:ext cx="6456826" cy="6619007"/>
          </a:xfrm>
          <a:prstGeom prst="rect">
            <a:avLst/>
          </a:prstGeom>
        </p:spPr>
      </p:pic>
    </p:spTree>
    <p:extLst>
      <p:ext uri="{BB962C8B-B14F-4D97-AF65-F5344CB8AC3E}">
        <p14:creationId xmlns:p14="http://schemas.microsoft.com/office/powerpoint/2010/main" val="750431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Output</a:t>
            </a:r>
            <a:endParaRPr lang="en-IN" dirty="0"/>
          </a:p>
        </p:txBody>
      </p:sp>
      <p:sp>
        <p:nvSpPr>
          <p:cNvPr id="3" name="Content Placeholder 2"/>
          <p:cNvSpPr>
            <a:spLocks noGrp="1"/>
          </p:cNvSpPr>
          <p:nvPr>
            <p:ph idx="1"/>
          </p:nvPr>
        </p:nvSpPr>
        <p:spPr/>
        <p:txBody>
          <a:bodyPr/>
          <a:lstStyle/>
          <a:p>
            <a:endParaRPr lang="en-IN"/>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lstStyle/>
          <a:p>
            <a:fld id="{34C99D79-8A4B-4031-B1E0-AF26F8EDF2BC}" type="slidenum">
              <a:rPr lang="en-IN" smtClean="0"/>
              <a:pPr/>
              <a:t>44</a:t>
            </a:fld>
            <a:endParaRPr lang="en-IN"/>
          </a:p>
        </p:txBody>
      </p:sp>
      <p:pic>
        <p:nvPicPr>
          <p:cNvPr id="6" name="Picture 5"/>
          <p:cNvPicPr>
            <a:picLocks noChangeAspect="1"/>
          </p:cNvPicPr>
          <p:nvPr/>
        </p:nvPicPr>
        <p:blipFill>
          <a:blip r:embed="rId2"/>
          <a:stretch>
            <a:fillRect/>
          </a:stretch>
        </p:blipFill>
        <p:spPr>
          <a:xfrm>
            <a:off x="2998068" y="1643794"/>
            <a:ext cx="5275433" cy="4506517"/>
          </a:xfrm>
          <a:prstGeom prst="rect">
            <a:avLst/>
          </a:prstGeom>
          <a:ln>
            <a:solidFill>
              <a:schemeClr val="accent1"/>
            </a:solidFill>
          </a:ln>
        </p:spPr>
      </p:pic>
    </p:spTree>
    <p:extLst>
      <p:ext uri="{BB962C8B-B14F-4D97-AF65-F5344CB8AC3E}">
        <p14:creationId xmlns:p14="http://schemas.microsoft.com/office/powerpoint/2010/main" val="561897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half" idx="2"/>
          </p:nvPr>
        </p:nvSpPr>
        <p:spPr>
          <a:xfrm>
            <a:off x="308569" y="111721"/>
            <a:ext cx="4838196" cy="5911552"/>
          </a:xfrm>
        </p:spPr>
        <p:txBody>
          <a:bodyPr/>
          <a:lstStyle/>
          <a:p>
            <a:r>
              <a:rPr lang="en-IN" sz="2000" b="1" dirty="0" err="1" smtClean="0">
                <a:solidFill>
                  <a:srgbClr val="FF0000"/>
                </a:solidFill>
              </a:rPr>
              <a:t>NetworkX</a:t>
            </a:r>
            <a:endParaRPr lang="en-IN" sz="2000" b="1" dirty="0" smtClean="0">
              <a:solidFill>
                <a:srgbClr val="FF0000"/>
              </a:solidFill>
            </a:endParaRPr>
          </a:p>
          <a:p>
            <a:endParaRPr lang="en-IN" dirty="0"/>
          </a:p>
        </p:txBody>
      </p:sp>
      <p:sp>
        <p:nvSpPr>
          <p:cNvPr id="9" name="Content Placeholder 8"/>
          <p:cNvSpPr>
            <a:spLocks noGrp="1"/>
          </p:cNvSpPr>
          <p:nvPr>
            <p:ph sz="quarter" idx="4"/>
          </p:nvPr>
        </p:nvSpPr>
        <p:spPr>
          <a:xfrm>
            <a:off x="5459340" y="111721"/>
            <a:ext cx="5085930" cy="6060480"/>
          </a:xfrm>
        </p:spPr>
        <p:txBody>
          <a:bodyPr>
            <a:normAutofit/>
          </a:bodyPr>
          <a:lstStyle/>
          <a:p>
            <a:r>
              <a:rPr lang="en-IN" sz="2000" b="1" dirty="0" err="1" smtClean="0">
                <a:solidFill>
                  <a:srgbClr val="FF0000"/>
                </a:solidFill>
              </a:rPr>
              <a:t>GraphX</a:t>
            </a:r>
            <a:endParaRPr lang="en-IN" sz="2000" b="1" dirty="0" smtClean="0">
              <a:solidFill>
                <a:srgbClr val="FF0000"/>
              </a:solidFill>
            </a:endParaRPr>
          </a:p>
          <a:p>
            <a:endParaRPr lang="en-IN" sz="2000" b="1" dirty="0"/>
          </a:p>
          <a:p>
            <a:endParaRPr lang="en-IN" sz="2000" b="1" dirty="0"/>
          </a:p>
        </p:txBody>
      </p:sp>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normAutofit lnSpcReduction="10000"/>
          </a:bodyPr>
          <a:lstStyle/>
          <a:p>
            <a:fld id="{34C99D79-8A4B-4031-B1E0-AF26F8EDF2BC}" type="slidenum">
              <a:rPr lang="en-IN" smtClean="0"/>
              <a:pPr/>
              <a:t>45</a:t>
            </a:fld>
            <a:endParaRPr lang="en-IN"/>
          </a:p>
        </p:txBody>
      </p:sp>
      <p:sp>
        <p:nvSpPr>
          <p:cNvPr id="12" name="Rectangle 11"/>
          <p:cNvSpPr/>
          <p:nvPr/>
        </p:nvSpPr>
        <p:spPr>
          <a:xfrm>
            <a:off x="405780" y="669321"/>
            <a:ext cx="4838196" cy="5786199"/>
          </a:xfrm>
          <a:prstGeom prst="rect">
            <a:avLst/>
          </a:prstGeom>
          <a:solidFill>
            <a:schemeClr val="accent6">
              <a:lumMod val="20000"/>
              <a:lumOff val="80000"/>
            </a:schemeClr>
          </a:solidFill>
          <a:effectLst>
            <a:outerShdw blurRad="50800" dist="38100" dir="2700000" algn="tl" rotWithShape="0">
              <a:prstClr val="black">
                <a:alpha val="40000"/>
              </a:prstClr>
            </a:outerShdw>
          </a:effectLst>
        </p:spPr>
        <p:txBody>
          <a:bodyPr wrap="square">
            <a:spAutoFit/>
          </a:bodyPr>
          <a:lstStyle/>
          <a:p>
            <a:pPr>
              <a:spcAft>
                <a:spcPts val="1200"/>
              </a:spcAft>
            </a:pPr>
            <a:r>
              <a:rPr lang="en-US" sz="2000" b="1" dirty="0"/>
              <a:t>Language</a:t>
            </a:r>
            <a:r>
              <a:rPr lang="en-US" sz="2000" dirty="0"/>
              <a:t>: Python </a:t>
            </a:r>
          </a:p>
          <a:p>
            <a:pPr>
              <a:spcAft>
                <a:spcPts val="1200"/>
              </a:spcAft>
            </a:pPr>
            <a:r>
              <a:rPr lang="en-US" sz="2000" b="1" dirty="0"/>
              <a:t>Purpose</a:t>
            </a:r>
            <a:r>
              <a:rPr lang="en-US" sz="2000" dirty="0"/>
              <a:t>: For creating, manipulating, and analyzing graphs in </a:t>
            </a:r>
            <a:r>
              <a:rPr lang="en-US" sz="2000" dirty="0" smtClean="0"/>
              <a:t>Python. </a:t>
            </a:r>
            <a:endParaRPr lang="en-US" sz="2000" dirty="0"/>
          </a:p>
          <a:p>
            <a:pPr>
              <a:spcAft>
                <a:spcPts val="1200"/>
              </a:spcAft>
            </a:pPr>
            <a:r>
              <a:rPr lang="en-US" sz="2000" b="1" dirty="0"/>
              <a:t>Scalability</a:t>
            </a:r>
            <a:r>
              <a:rPr lang="en-US" sz="2000" dirty="0"/>
              <a:t>: Primarily designed for in-memory graph processing, making it suitable for smaller to medium-sized graphs. </a:t>
            </a:r>
          </a:p>
          <a:p>
            <a:pPr>
              <a:spcAft>
                <a:spcPts val="1200"/>
              </a:spcAft>
            </a:pPr>
            <a:r>
              <a:rPr lang="en-US" sz="2000" b="1" dirty="0"/>
              <a:t>Algorithm Library</a:t>
            </a:r>
            <a:r>
              <a:rPr lang="en-US" sz="2000" dirty="0"/>
              <a:t>: Offers a wide range of graph algorithms and tools for various analysis tasks. </a:t>
            </a:r>
          </a:p>
          <a:p>
            <a:pPr>
              <a:spcAft>
                <a:spcPts val="1200"/>
              </a:spcAft>
            </a:pPr>
            <a:r>
              <a:rPr lang="en-US" sz="2000" b="1" dirty="0"/>
              <a:t>Visualization</a:t>
            </a:r>
            <a:r>
              <a:rPr lang="en-US" sz="2000" dirty="0"/>
              <a:t>: Provides basic graph visualization capabilities, but for more complex or large </a:t>
            </a:r>
            <a:r>
              <a:rPr lang="en-US" sz="2000" dirty="0" smtClean="0"/>
              <a:t>graphs, use </a:t>
            </a:r>
            <a:r>
              <a:rPr lang="en-US" sz="2000" dirty="0"/>
              <a:t>dedicated visualization tools. </a:t>
            </a:r>
          </a:p>
          <a:p>
            <a:pPr>
              <a:spcAft>
                <a:spcPts val="1200"/>
              </a:spcAft>
            </a:pPr>
            <a:r>
              <a:rPr lang="en-US" sz="2000" b="1" dirty="0"/>
              <a:t>Example</a:t>
            </a:r>
            <a:r>
              <a:rPr lang="en-US" sz="2000" dirty="0"/>
              <a:t>: </a:t>
            </a:r>
            <a:r>
              <a:rPr lang="en-US" sz="2000" dirty="0" err="1"/>
              <a:t>nx.Graph</a:t>
            </a:r>
            <a:r>
              <a:rPr lang="en-US" sz="2000" dirty="0"/>
              <a:t>() for creating a graph object. </a:t>
            </a:r>
            <a:endParaRPr lang="en-IN" sz="2000" dirty="0"/>
          </a:p>
        </p:txBody>
      </p:sp>
      <p:sp>
        <p:nvSpPr>
          <p:cNvPr id="14" name="Rectangle 13"/>
          <p:cNvSpPr/>
          <p:nvPr/>
        </p:nvSpPr>
        <p:spPr>
          <a:xfrm>
            <a:off x="5459340" y="669321"/>
            <a:ext cx="5429373" cy="5734903"/>
          </a:xfrm>
          <a:prstGeom prst="rect">
            <a:avLst/>
          </a:prstGeom>
          <a:solidFill>
            <a:srgbClr val="FFC9E4"/>
          </a:solidFill>
          <a:effectLst>
            <a:outerShdw blurRad="50800" dist="38100" dir="2700000" algn="tl" rotWithShape="0">
              <a:prstClr val="black">
                <a:alpha val="40000"/>
              </a:prstClr>
            </a:outerShdw>
          </a:effectLst>
        </p:spPr>
        <p:txBody>
          <a:bodyPr wrap="square">
            <a:spAutoFit/>
          </a:bodyPr>
          <a:lstStyle/>
          <a:p>
            <a:pPr>
              <a:spcAft>
                <a:spcPts val="1600"/>
              </a:spcAft>
            </a:pPr>
            <a:r>
              <a:rPr lang="en-US" sz="2000" b="1" dirty="0"/>
              <a:t>Language</a:t>
            </a:r>
            <a:r>
              <a:rPr lang="en-US" sz="2000" dirty="0"/>
              <a:t>: Scala (part of Apache Spark) </a:t>
            </a:r>
          </a:p>
          <a:p>
            <a:pPr>
              <a:spcAft>
                <a:spcPts val="1600"/>
              </a:spcAft>
            </a:pPr>
            <a:r>
              <a:rPr lang="en-US" sz="2000" b="1" dirty="0"/>
              <a:t>Purpose</a:t>
            </a:r>
            <a:r>
              <a:rPr lang="en-US" sz="2000" dirty="0"/>
              <a:t>: For handling large-scale graph data and performing distributed graph computations using Apache Spark. </a:t>
            </a:r>
          </a:p>
          <a:p>
            <a:pPr>
              <a:spcAft>
                <a:spcPts val="1600"/>
              </a:spcAft>
            </a:pPr>
            <a:r>
              <a:rPr lang="en-US" sz="2000" b="1" dirty="0"/>
              <a:t>Scalability</a:t>
            </a:r>
            <a:r>
              <a:rPr lang="en-US" sz="2000" dirty="0"/>
              <a:t>: Designed for processing graphs that don't fit into memory, leveraging Spark's distributed computing capabilities. </a:t>
            </a:r>
          </a:p>
          <a:p>
            <a:pPr>
              <a:spcAft>
                <a:spcPts val="1600"/>
              </a:spcAft>
            </a:pPr>
            <a:r>
              <a:rPr lang="en-US" sz="2000" b="1" dirty="0"/>
              <a:t>Algorithm Library</a:t>
            </a:r>
            <a:r>
              <a:rPr lang="en-US" sz="2000" dirty="0"/>
              <a:t>: Provides a set of graph algorithms and operators, including </a:t>
            </a:r>
            <a:r>
              <a:rPr lang="en-US" sz="2000" dirty="0" err="1"/>
              <a:t>Pregel</a:t>
            </a:r>
            <a:r>
              <a:rPr lang="en-US" sz="2000" dirty="0"/>
              <a:t> for distributed graph computations. </a:t>
            </a:r>
          </a:p>
          <a:p>
            <a:pPr>
              <a:spcAft>
                <a:spcPts val="1600"/>
              </a:spcAft>
            </a:pPr>
            <a:r>
              <a:rPr lang="en-US" sz="2000" b="1" dirty="0"/>
              <a:t>Visualization</a:t>
            </a:r>
            <a:r>
              <a:rPr lang="en-US" sz="2000" dirty="0"/>
              <a:t>: Doesn't have built-in visualization tools, but can integrate with other visualization tools like </a:t>
            </a:r>
            <a:r>
              <a:rPr lang="en-US" sz="2000" dirty="0" err="1"/>
              <a:t>Gephi</a:t>
            </a:r>
            <a:r>
              <a:rPr lang="en-US" sz="2000" dirty="0"/>
              <a:t>. </a:t>
            </a:r>
          </a:p>
          <a:p>
            <a:pPr>
              <a:spcAft>
                <a:spcPts val="1600"/>
              </a:spcAft>
            </a:pPr>
            <a:r>
              <a:rPr lang="en-US" sz="2000" b="1" dirty="0"/>
              <a:t>Example</a:t>
            </a:r>
            <a:r>
              <a:rPr lang="en-US" sz="2000" dirty="0"/>
              <a:t>: </a:t>
            </a:r>
            <a:r>
              <a:rPr lang="en-US" sz="2000" dirty="0" err="1"/>
              <a:t>GraphV,E</a:t>
            </a:r>
            <a:r>
              <a:rPr lang="en-US" sz="2000" dirty="0"/>
              <a:t> for creating a graph object. </a:t>
            </a:r>
            <a:endParaRPr lang="en-IN" sz="1200" dirty="0" smtClean="0"/>
          </a:p>
        </p:txBody>
      </p:sp>
    </p:spTree>
    <p:extLst>
      <p:ext uri="{BB962C8B-B14F-4D97-AF65-F5344CB8AC3E}">
        <p14:creationId xmlns:p14="http://schemas.microsoft.com/office/powerpoint/2010/main" val="2602293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smtClean="0"/>
              <a:t>Dr. S. Nandagopalan</a:t>
            </a:r>
            <a:endParaRPr lang="en-US"/>
          </a:p>
        </p:txBody>
      </p:sp>
      <p:sp>
        <p:nvSpPr>
          <p:cNvPr id="5" name="Slide Number Placeholder 4"/>
          <p:cNvSpPr>
            <a:spLocks noGrp="1"/>
          </p:cNvSpPr>
          <p:nvPr>
            <p:ph type="sldNum" sz="quarter" idx="12"/>
          </p:nvPr>
        </p:nvSpPr>
        <p:spPr/>
        <p:txBody>
          <a:bodyPr>
            <a:normAutofit lnSpcReduction="10000"/>
          </a:bodyPr>
          <a:lstStyle/>
          <a:p>
            <a:fld id="{34C99D79-8A4B-4031-B1E0-AF26F8EDF2BC}" type="slidenum">
              <a:rPr lang="en-IN" smtClean="0"/>
              <a:pPr/>
              <a:t>46</a:t>
            </a:fld>
            <a:endParaRPr lang="en-IN"/>
          </a:p>
        </p:txBody>
      </p:sp>
      <p:sp>
        <p:nvSpPr>
          <p:cNvPr id="6" name="TextBox 5"/>
          <p:cNvSpPr txBox="1"/>
          <p:nvPr/>
        </p:nvSpPr>
        <p:spPr>
          <a:xfrm>
            <a:off x="1989956" y="2204864"/>
            <a:ext cx="7157288" cy="1323439"/>
          </a:xfrm>
          <a:prstGeom prst="rect">
            <a:avLst/>
          </a:prstGeom>
          <a:noFill/>
        </p:spPr>
        <p:txBody>
          <a:bodyPr wrap="square" rtlCol="0">
            <a:spAutoFit/>
          </a:bodyPr>
          <a:lstStyle/>
          <a:p>
            <a:pPr algn="ctr"/>
            <a:r>
              <a:rPr lang="en-US" sz="8000" smtClean="0">
                <a:solidFill>
                  <a:srgbClr val="FF0066"/>
                </a:solidFill>
                <a:latin typeface="Tw Cen MT Condensed Extra Bold" panose="020B0803020202020204" pitchFamily="34" charset="0"/>
              </a:rPr>
              <a:t>Thank You</a:t>
            </a:r>
            <a:endParaRPr lang="en-IN" sz="8000">
              <a:solidFill>
                <a:srgbClr val="FF0066"/>
              </a:solidFill>
              <a:latin typeface="Tw Cen MT Condensed Extra Bold" panose="020B0803020202020204" pitchFamily="34" charset="0"/>
            </a:endParaRPr>
          </a:p>
        </p:txBody>
      </p:sp>
    </p:spTree>
    <p:extLst>
      <p:ext uri="{BB962C8B-B14F-4D97-AF65-F5344CB8AC3E}">
        <p14:creationId xmlns:p14="http://schemas.microsoft.com/office/powerpoint/2010/main" val="700279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View">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theme>
</file>

<file path=ppt/theme/theme3.xml><?xml version="1.0" encoding="utf-8"?>
<a:theme xmlns:a="http://schemas.openxmlformats.org/drawingml/2006/main" name="Office Theme">
  <a:themeElements>
    <a:clrScheme name="Cooking_16x9">
      <a:dk1>
        <a:srgbClr val="000000"/>
      </a:dk1>
      <a:lt1>
        <a:sysClr val="window" lastClr="FFFFFF"/>
      </a:lt1>
      <a:dk2>
        <a:srgbClr val="7F7F7F"/>
      </a:dk2>
      <a:lt2>
        <a:srgbClr val="E6E6E6"/>
      </a:lt2>
      <a:accent1>
        <a:srgbClr val="89C01C"/>
      </a:accent1>
      <a:accent2>
        <a:srgbClr val="FCB22C"/>
      </a:accent2>
      <a:accent3>
        <a:srgbClr val="FE750E"/>
      </a:accent3>
      <a:accent4>
        <a:srgbClr val="F23610"/>
      </a:accent4>
      <a:accent5>
        <a:srgbClr val="7C283A"/>
      </a:accent5>
      <a:accent6>
        <a:srgbClr val="3E7520"/>
      </a:accent6>
      <a:hlink>
        <a:srgbClr val="89C01C"/>
      </a:hlink>
      <a:folHlink>
        <a:srgbClr val="A6A6A6"/>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1Subtle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gradFill rotWithShape="1">
          <a:gsLst>
            <a:gs pos="0">
              <a:schemeClr val="phClr">
                <a:tint val="50000"/>
                <a:satMod val="180000"/>
              </a:schemeClr>
            </a:gs>
            <a:gs pos="100000">
              <a:schemeClr val="phClr">
                <a:shade val="45000"/>
                <a:satMod val="120000"/>
              </a:schemeClr>
            </a:gs>
          </a:gsLst>
          <a:path path="circle">
            <a:fillToRect l="180000" t="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E700CCB-20BA-4760-AB9F-AC3B63ED32E0}">
  <ds:schemaRefs>
    <ds:schemaRef ds:uri="http://purl.org/dc/dcmitype/"/>
    <ds:schemaRef ds:uri="http://schemas.microsoft.com/office/2006/metadata/properties"/>
    <ds:schemaRef ds:uri="http://purl.org/dc/terms/"/>
    <ds:schemaRef ds:uri="http://schemas.microsoft.com/office/2006/documentManagement/types"/>
    <ds:schemaRef ds:uri="http://schemas.openxmlformats.org/package/2006/metadata/core-properties"/>
    <ds:schemaRef ds:uri="a4f35948-e619-41b3-aa29-22878b09cfd2"/>
    <ds:schemaRef ds:uri="http://purl.org/dc/elements/1.1/"/>
    <ds:schemaRef ds:uri="http://schemas.microsoft.com/office/infopath/2007/PartnerControls"/>
    <ds:schemaRef ds:uri="40262f94-9f35-4ac3-9a90-690165a166b7"/>
    <ds:schemaRef ds:uri="http://www.w3.org/XML/1998/namespace"/>
  </ds:schemaRefs>
</ds:datastoreItem>
</file>

<file path=customXml/itemProps2.xml><?xml version="1.0" encoding="utf-8"?>
<ds:datastoreItem xmlns:ds="http://schemas.openxmlformats.org/officeDocument/2006/customXml" ds:itemID="{308942AA-0721-4324-BC2C-A3CB43F24E71}">
  <ds:schemaRefs>
    <ds:schemaRef ds:uri="http://schemas.microsoft.com/sharepoint/v3/contenttype/forms"/>
  </ds:schemaRefs>
</ds:datastoreItem>
</file>

<file path=customXml/itemProps3.xml><?xml version="1.0" encoding="utf-8"?>
<ds:datastoreItem xmlns:ds="http://schemas.openxmlformats.org/officeDocument/2006/customXml" ds:itemID="{FB14945D-DABB-422F-9B28-D299995C92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TM03457515[[fn=View]]</Template>
  <TotalTime>8057</TotalTime>
  <Words>2380</Words>
  <Application>Microsoft Office PowerPoint</Application>
  <PresentationFormat>Custom</PresentationFormat>
  <Paragraphs>358</Paragraphs>
  <Slides>46</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46</vt:i4>
      </vt:variant>
    </vt:vector>
  </HeadingPairs>
  <TitlesOfParts>
    <vt:vector size="58" baseType="lpstr">
      <vt:lpstr>SimSun</vt:lpstr>
      <vt:lpstr>Arial</vt:lpstr>
      <vt:lpstr>Century Schoolbook</vt:lpstr>
      <vt:lpstr>Constantia</vt:lpstr>
      <vt:lpstr>Menlo</vt:lpstr>
      <vt:lpstr>Palatino Linotype</vt:lpstr>
      <vt:lpstr>Roboto</vt:lpstr>
      <vt:lpstr>Tahoma</vt:lpstr>
      <vt:lpstr>Tw Cen MT Condensed Extra Bold</vt:lpstr>
      <vt:lpstr>UtopiaStd-Regular</vt:lpstr>
      <vt:lpstr>Wingdings 2</vt:lpstr>
      <vt:lpstr>View</vt:lpstr>
      <vt:lpstr>Module  9: Social-Network Graphs</vt:lpstr>
      <vt:lpstr>Agenda</vt:lpstr>
      <vt:lpstr>Introduction</vt:lpstr>
      <vt:lpstr>Social Media Communities</vt:lpstr>
      <vt:lpstr>Social Networks as Graphs</vt:lpstr>
      <vt:lpstr>A Property Graph</vt:lpstr>
      <vt:lpstr>Example</vt:lpstr>
      <vt:lpstr>A Social Network Graph</vt:lpstr>
      <vt:lpstr>Characteristics of a Social Network</vt:lpstr>
      <vt:lpstr>Varieties of Social Networks</vt:lpstr>
      <vt:lpstr>Graphs With Several Node Types</vt:lpstr>
      <vt:lpstr>Clustering of Social-Network Graphs</vt:lpstr>
      <vt:lpstr>Applying Standard Clustering Methods</vt:lpstr>
      <vt:lpstr>Sample Pictures</vt:lpstr>
      <vt:lpstr>Hierarchical Clustering</vt:lpstr>
      <vt:lpstr>Example</vt:lpstr>
      <vt:lpstr>Example…</vt:lpstr>
      <vt:lpstr>Example…</vt:lpstr>
      <vt:lpstr>Example…</vt:lpstr>
      <vt:lpstr>Example…</vt:lpstr>
      <vt:lpstr>Example…</vt:lpstr>
      <vt:lpstr>Example…</vt:lpstr>
      <vt:lpstr>Example</vt:lpstr>
      <vt:lpstr>K-Means on Social Network</vt:lpstr>
      <vt:lpstr>Step 2</vt:lpstr>
      <vt:lpstr>Step 3</vt:lpstr>
      <vt:lpstr>Betweenness</vt:lpstr>
      <vt:lpstr>Betweenness to Find Communities</vt:lpstr>
      <vt:lpstr>Creating Projects in IntelliJ</vt:lpstr>
      <vt:lpstr>Creating Projects in IntelliJ</vt:lpstr>
      <vt:lpstr>What is GraphX?</vt:lpstr>
      <vt:lpstr>Graph Analytics Pipeline</vt:lpstr>
      <vt:lpstr>Resilient Distributed Datasets (RDDs)</vt:lpstr>
      <vt:lpstr>Creating a Graph with Scala</vt:lpstr>
      <vt:lpstr>Creating a Spark Context</vt:lpstr>
      <vt:lpstr>Create Data for Graph</vt:lpstr>
      <vt:lpstr>Create Graph</vt:lpstr>
      <vt:lpstr>Output</vt:lpstr>
      <vt:lpstr>Graphs using PySpark</vt:lpstr>
      <vt:lpstr>Graphs using PySpark - Example</vt:lpstr>
      <vt:lpstr>PowerPoint Presentation</vt:lpstr>
      <vt:lpstr>PowerPoint Presentation</vt:lpstr>
      <vt:lpstr>PowerPoint Presentation</vt:lpstr>
      <vt:lpstr>Output</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Microsoft account</dc:creator>
  <cp:lastModifiedBy>S</cp:lastModifiedBy>
  <cp:revision>268</cp:revision>
  <dcterms:created xsi:type="dcterms:W3CDTF">2024-08-14T04:47:15Z</dcterms:created>
  <dcterms:modified xsi:type="dcterms:W3CDTF">2025-03-19T05:16:46Z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