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1"/>
  </p:notesMasterIdLst>
  <p:handoutMasterIdLst>
    <p:handoutMasterId r:id="rId52"/>
  </p:handoutMasterIdLst>
  <p:sldIdLst>
    <p:sldId id="272" r:id="rId5"/>
    <p:sldId id="258" r:id="rId6"/>
    <p:sldId id="275" r:id="rId7"/>
    <p:sldId id="276" r:id="rId8"/>
    <p:sldId id="277" r:id="rId9"/>
    <p:sldId id="311" r:id="rId10"/>
    <p:sldId id="282" r:id="rId11"/>
    <p:sldId id="283" r:id="rId12"/>
    <p:sldId id="284" r:id="rId13"/>
    <p:sldId id="286" r:id="rId14"/>
    <p:sldId id="288" r:id="rId15"/>
    <p:sldId id="289" r:id="rId16"/>
    <p:sldId id="278" r:id="rId17"/>
    <p:sldId id="279" r:id="rId18"/>
    <p:sldId id="280" r:id="rId19"/>
    <p:sldId id="319" r:id="rId20"/>
    <p:sldId id="320" r:id="rId21"/>
    <p:sldId id="281" r:id="rId22"/>
    <p:sldId id="285" r:id="rId23"/>
    <p:sldId id="287" r:id="rId24"/>
    <p:sldId id="290" r:id="rId25"/>
    <p:sldId id="291" r:id="rId26"/>
    <p:sldId id="292" r:id="rId27"/>
    <p:sldId id="293" r:id="rId28"/>
    <p:sldId id="312" r:id="rId29"/>
    <p:sldId id="294" r:id="rId30"/>
    <p:sldId id="295" r:id="rId31"/>
    <p:sldId id="296" r:id="rId32"/>
    <p:sldId id="297" r:id="rId33"/>
    <p:sldId id="315" r:id="rId34"/>
    <p:sldId id="298" r:id="rId35"/>
    <p:sldId id="299" r:id="rId36"/>
    <p:sldId id="300" r:id="rId37"/>
    <p:sldId id="302" r:id="rId38"/>
    <p:sldId id="303" r:id="rId39"/>
    <p:sldId id="306" r:id="rId40"/>
    <p:sldId id="307" r:id="rId41"/>
    <p:sldId id="308" r:id="rId42"/>
    <p:sldId id="309" r:id="rId43"/>
    <p:sldId id="304" r:id="rId44"/>
    <p:sldId id="313" r:id="rId45"/>
    <p:sldId id="314" r:id="rId46"/>
    <p:sldId id="316" r:id="rId47"/>
    <p:sldId id="317" r:id="rId48"/>
    <p:sldId id="318" r:id="rId49"/>
    <p:sldId id="310" r:id="rId50"/>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3"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206A"/>
    <a:srgbClr val="FF00FF"/>
    <a:srgbClr val="8A6900"/>
    <a:srgbClr val="004D86"/>
    <a:srgbClr val="6A2D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527" autoAdjust="0"/>
    <p:restoredTop sz="94492" autoAdjust="0"/>
  </p:normalViewPr>
  <p:slideViewPr>
    <p:cSldViewPr>
      <p:cViewPr varScale="1">
        <p:scale>
          <a:sx n="80" d="100"/>
          <a:sy n="80" d="100"/>
        </p:scale>
        <p:origin x="163" y="53"/>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1986"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E03B7-B591-4A2A-B695-014C5A39F13E}" type="datetimeFigureOut">
              <a:rPr lang="en-US"/>
              <a:t>2/24/2025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E322BB-75AD-4A1E-9661-2724167329F0}" type="slidenum">
              <a:rPr/>
              <a:t>‹#›</a:t>
            </a:fld>
            <a:endParaRPr/>
          </a:p>
        </p:txBody>
      </p:sp>
    </p:spTree>
    <p:extLst>
      <p:ext uri="{BB962C8B-B14F-4D97-AF65-F5344CB8AC3E}">
        <p14:creationId xmlns:p14="http://schemas.microsoft.com/office/powerpoint/2010/main" val="2512705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DFBD7B-E4FB-4AA8-9540-FD148073ACB3}" type="datetimeFigureOut">
              <a:rPr lang="en-US"/>
              <a:t>2/24/2025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45B7DE-1198-4F2F-B574-CA8CAE341642}" type="slidenum">
              <a:rPr/>
              <a:t>‹#›</a:t>
            </a:fld>
            <a:endParaRPr/>
          </a:p>
        </p:txBody>
      </p:sp>
    </p:spTree>
    <p:extLst>
      <p:ext uri="{BB962C8B-B14F-4D97-AF65-F5344CB8AC3E}">
        <p14:creationId xmlns:p14="http://schemas.microsoft.com/office/powerpoint/2010/main" val="188231245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dirty="0"/>
          </a:p>
        </p:txBody>
      </p:sp>
    </p:spTree>
    <p:extLst>
      <p:ext uri="{BB962C8B-B14F-4D97-AF65-F5344CB8AC3E}">
        <p14:creationId xmlns:p14="http://schemas.microsoft.com/office/powerpoint/2010/main" val="2461344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squares"/>
          <p:cNvGrpSpPr/>
          <p:nvPr/>
        </p:nvGrpSpPr>
        <p:grpSpPr>
          <a:xfrm>
            <a:off x="0" y="1135743"/>
            <a:ext cx="1622332" cy="799981"/>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1828324" y="362396"/>
            <a:ext cx="9141619" cy="1050380"/>
          </a:xfrm>
        </p:spPr>
        <p:txBody>
          <a:bodyPr>
            <a:noAutofit/>
          </a:bodyPr>
          <a:lstStyle>
            <a:lvl1pPr>
              <a:lnSpc>
                <a:spcPct val="80000"/>
              </a:lnSpc>
              <a:defRPr sz="5400"/>
            </a:lvl1pPr>
          </a:lstStyle>
          <a:p>
            <a:r>
              <a:rPr lang="en-US" dirty="0" smtClean="0"/>
              <a:t>Click to edit Master title style</a:t>
            </a:r>
            <a:endParaRPr dirty="0"/>
          </a:p>
        </p:txBody>
      </p:sp>
      <p:sp>
        <p:nvSpPr>
          <p:cNvPr id="3" name="Subtitle 2"/>
          <p:cNvSpPr>
            <a:spLocks noGrp="1"/>
          </p:cNvSpPr>
          <p:nvPr>
            <p:ph type="subTitle" idx="1"/>
          </p:nvPr>
        </p:nvSpPr>
        <p:spPr>
          <a:xfrm>
            <a:off x="1828324" y="2089595"/>
            <a:ext cx="9141619" cy="886344"/>
          </a:xfrm>
        </p:spPr>
        <p:txBody>
          <a:bodyPr>
            <a:normAutofit/>
          </a:bodyPr>
          <a:lstStyle>
            <a:lvl1pPr marL="0" indent="0" algn="l">
              <a:buNone/>
              <a:defRPr sz="2800">
                <a:solidFill>
                  <a:schemeClr val="accent1">
                    <a:lumMod val="75000"/>
                  </a:schemeClr>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smtClean="0"/>
              <a:t>Click to edit Master subtitle style</a:t>
            </a:r>
            <a:endParaRPr dirty="0"/>
          </a:p>
        </p:txBody>
      </p:sp>
      <p:sp>
        <p:nvSpPr>
          <p:cNvPr id="5" name="Footer Placeholder 4"/>
          <p:cNvSpPr>
            <a:spLocks noGrp="1"/>
          </p:cNvSpPr>
          <p:nvPr>
            <p:ph type="ftr" sz="quarter" idx="11"/>
          </p:nvPr>
        </p:nvSpPr>
        <p:spPr/>
        <p:txBody>
          <a:bodyPr/>
          <a:lstStyle/>
          <a:p>
            <a:r>
              <a:rPr lang="en-US" smtClean="0"/>
              <a:t>Dr. S. Nandagopalan</a:t>
            </a:r>
            <a:endParaRPr lang="en-US" dirty="0"/>
          </a:p>
        </p:txBody>
      </p:sp>
      <p:sp>
        <p:nvSpPr>
          <p:cNvPr id="4" name="Date Placeholder 3"/>
          <p:cNvSpPr>
            <a:spLocks noGrp="1"/>
          </p:cNvSpPr>
          <p:nvPr>
            <p:ph type="dt" sz="half" idx="10"/>
          </p:nvPr>
        </p:nvSpPr>
        <p:spPr/>
        <p:txBody>
          <a:bodyPr/>
          <a:lstStyle/>
          <a:p>
            <a:fld id="{7425B027-8230-4CA9-B030-A32CFBBF06C6}" type="datetime1">
              <a:rPr lang="en-US" smtClean="0"/>
              <a:t>2/24/2025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887510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8883" y="152400"/>
            <a:ext cx="9751060" cy="900336"/>
          </a:xfrm>
        </p:spPr>
        <p:txBody>
          <a:bodyPr>
            <a:normAutofit/>
          </a:bodyPr>
          <a:lstStyle>
            <a:lvl1pPr>
              <a:defRPr sz="4000" b="1">
                <a:solidFill>
                  <a:schemeClr val="accent4">
                    <a:lumMod val="75000"/>
                  </a:schemeClr>
                </a:solidFill>
                <a:latin typeface="Bookman Old Style" panose="02050604050505020204" pitchFamily="18" charset="0"/>
              </a:defRPr>
            </a:lvl1pPr>
          </a:lstStyle>
          <a:p>
            <a:r>
              <a:rPr lang="en-US" dirty="0" smtClean="0"/>
              <a:t>Click to edit Master title style</a:t>
            </a:r>
            <a:endParaRPr dirty="0"/>
          </a:p>
        </p:txBody>
      </p:sp>
      <p:sp>
        <p:nvSpPr>
          <p:cNvPr id="3" name="Content Placeholder 2"/>
          <p:cNvSpPr>
            <a:spLocks noGrp="1"/>
          </p:cNvSpPr>
          <p:nvPr>
            <p:ph idx="1"/>
          </p:nvPr>
        </p:nvSpPr>
        <p:spPr>
          <a:xfrm>
            <a:off x="1205860" y="1196752"/>
            <a:ext cx="9751060" cy="5040560"/>
          </a:xfrm>
        </p:spPr>
        <p:txBody>
          <a:bodyPr/>
          <a:lstStyle>
            <a:lvl1pPr>
              <a:lnSpc>
                <a:spcPct val="100000"/>
              </a:lnSpc>
              <a:spcBef>
                <a:spcPts val="1200"/>
              </a:spcBef>
              <a:defRPr sz="2400">
                <a:latin typeface="Georgia" panose="02040502050405020303" pitchFamily="18" charset="0"/>
              </a:defRPr>
            </a:lvl1pPr>
            <a:lvl2pPr>
              <a:lnSpc>
                <a:spcPct val="100000"/>
              </a:lnSpc>
              <a:defRPr/>
            </a:lvl2pPr>
            <a:lvl3pPr>
              <a:lnSpc>
                <a:spcPct val="100000"/>
              </a:lnSpc>
              <a:defRPr/>
            </a:lvl3pPr>
            <a:lvl4pPr>
              <a:lnSpc>
                <a:spcPct val="100000"/>
              </a:lnSpc>
              <a:defRPr/>
            </a:lvl4pPr>
            <a:lvl5pPr>
              <a:lnSpc>
                <a:spcPct val="100000"/>
              </a:lnSpc>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5" name="Footer Placeholder 4"/>
          <p:cNvSpPr>
            <a:spLocks noGrp="1"/>
          </p:cNvSpPr>
          <p:nvPr>
            <p:ph type="ftr" sz="quarter" idx="11"/>
          </p:nvPr>
        </p:nvSpPr>
        <p:spPr>
          <a:xfrm>
            <a:off x="-530324" y="6381328"/>
            <a:ext cx="13033447" cy="252000"/>
          </a:xfr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5400000" scaled="1"/>
            <a:tileRect/>
          </a:gradFill>
        </p:spPr>
        <p:txBody>
          <a:bodyPr/>
          <a:lstStyle>
            <a:lvl1pPr>
              <a:defRPr>
                <a:solidFill>
                  <a:schemeClr val="bg1"/>
                </a:solidFill>
              </a:defRPr>
            </a:lvl1pPr>
          </a:lstStyle>
          <a:p>
            <a:pPr algn="ctr"/>
            <a:r>
              <a:rPr lang="en-US" dirty="0" smtClean="0"/>
              <a:t>Dr. S. Nandagopalan</a:t>
            </a:r>
            <a:endParaRPr lang="en-US" dirty="0"/>
          </a:p>
        </p:txBody>
      </p:sp>
      <p:sp>
        <p:nvSpPr>
          <p:cNvPr id="4" name="Date Placeholder 3"/>
          <p:cNvSpPr>
            <a:spLocks noGrp="1"/>
          </p:cNvSpPr>
          <p:nvPr>
            <p:ph type="dt" sz="half" idx="10"/>
          </p:nvPr>
        </p:nvSpPr>
        <p:spPr>
          <a:xfrm>
            <a:off x="9521073" y="6381328"/>
            <a:ext cx="1422030" cy="252000"/>
          </a:xfrm>
        </p:spPr>
        <p:txBody>
          <a:bodyPr/>
          <a:lstStyle>
            <a:lvl1pPr>
              <a:defRPr>
                <a:solidFill>
                  <a:schemeClr val="bg1"/>
                </a:solidFill>
              </a:defRPr>
            </a:lvl1pPr>
          </a:lstStyle>
          <a:p>
            <a:fld id="{41C46A4F-9AE2-4997-9303-702592667B17}" type="datetime1">
              <a:rPr lang="en-US" smtClean="0"/>
              <a:pPr/>
              <a:t>2/24/2025</a:t>
            </a:fld>
            <a:endParaRPr lang="en-US" dirty="0"/>
          </a:p>
        </p:txBody>
      </p:sp>
      <p:sp>
        <p:nvSpPr>
          <p:cNvPr id="6" name="Slide Number Placeholder 5"/>
          <p:cNvSpPr>
            <a:spLocks noGrp="1"/>
          </p:cNvSpPr>
          <p:nvPr>
            <p:ph type="sldNum" sz="quarter" idx="12"/>
          </p:nvPr>
        </p:nvSpPr>
        <p:spPr>
          <a:xfrm>
            <a:off x="11044676" y="6381328"/>
            <a:ext cx="812588" cy="252000"/>
          </a:xfrm>
        </p:spPr>
        <p:txBody>
          <a:bodyPr/>
          <a:lstStyle>
            <a:lvl1pPr>
              <a:defRPr b="1">
                <a:solidFill>
                  <a:schemeClr val="bg1"/>
                </a:solidFill>
              </a:defRPr>
            </a:lvl1pPr>
          </a:lstStyle>
          <a:p>
            <a:fld id="{34C99D79-8A4B-4031-B1E0-AF26F8EDF2BC}" type="slidenum">
              <a:rPr lang="en-IN" smtClean="0"/>
              <a:pPr/>
              <a:t>‹#›</a:t>
            </a:fld>
            <a:endParaRPr lang="en-IN" dirty="0"/>
          </a:p>
        </p:txBody>
      </p:sp>
    </p:spTree>
    <p:extLst>
      <p:ext uri="{BB962C8B-B14F-4D97-AF65-F5344CB8AC3E}">
        <p14:creationId xmlns:p14="http://schemas.microsoft.com/office/powerpoint/2010/main" val="343515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 name="squares"/>
          <p:cNvGrpSpPr/>
          <p:nvPr/>
        </p:nvGrpSpPr>
        <p:grpSpPr>
          <a:xfrm>
            <a:off x="0" y="3124415"/>
            <a:ext cx="1622332" cy="805061"/>
            <a:chOff x="0" y="2343311"/>
            <a:chExt cx="1217066" cy="603796"/>
          </a:xfrm>
        </p:grpSpPr>
        <p:sp>
          <p:nvSpPr>
            <p:cNvPr id="8" name="Rounded Rectangle 7"/>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9" name="bottom graphic"/>
          <p:cNvGrpSpPr/>
          <p:nvPr/>
        </p:nvGrpSpPr>
        <p:grpSpPr>
          <a:xfrm>
            <a:off x="0" y="5409216"/>
            <a:ext cx="12188825" cy="1462483"/>
            <a:chOff x="0" y="4056912"/>
            <a:chExt cx="9144000" cy="1096862"/>
          </a:xfrm>
        </p:grpSpPr>
        <p:sp>
          <p:nvSpPr>
            <p:cNvPr id="20" name="Freeform 19"/>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title"/>
          </p:nvPr>
        </p:nvSpPr>
        <p:spPr>
          <a:xfrm>
            <a:off x="1828324" y="1932518"/>
            <a:ext cx="9141619" cy="2105367"/>
          </a:xfrm>
        </p:spPr>
        <p:txBody>
          <a:bodyPr anchor="b">
            <a:normAutofit/>
          </a:bodyPr>
          <a:lstStyle>
            <a:lvl1pPr algn="l">
              <a:defRPr sz="6000" b="0" cap="none" baseline="0"/>
            </a:lvl1pPr>
          </a:lstStyle>
          <a:p>
            <a:r>
              <a:rPr lang="en-US" smtClean="0"/>
              <a:t>Click to edit Master title style</a:t>
            </a:r>
            <a:endParaRPr/>
          </a:p>
        </p:txBody>
      </p:sp>
      <p:sp>
        <p:nvSpPr>
          <p:cNvPr id="3" name="Text Placeholder 2"/>
          <p:cNvSpPr>
            <a:spLocks noGrp="1"/>
          </p:cNvSpPr>
          <p:nvPr>
            <p:ph type="body" idx="1"/>
          </p:nvPr>
        </p:nvSpPr>
        <p:spPr>
          <a:xfrm>
            <a:off x="1828324" y="4084264"/>
            <a:ext cx="9141619" cy="933297"/>
          </a:xfrm>
        </p:spPr>
        <p:txBody>
          <a:bodyPr anchor="t">
            <a:normAutofit/>
          </a:bodyPr>
          <a:lstStyle>
            <a:lvl1pPr marL="0" indent="0">
              <a:buNone/>
              <a:defRPr sz="2800">
                <a:solidFill>
                  <a:schemeClr val="accent1">
                    <a:lumMod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Dr. S. Nandagopalan</a:t>
            </a:r>
            <a:endParaRPr lang="en-US" dirty="0"/>
          </a:p>
        </p:txBody>
      </p:sp>
      <p:sp>
        <p:nvSpPr>
          <p:cNvPr id="4" name="Date Placeholder 3"/>
          <p:cNvSpPr>
            <a:spLocks noGrp="1"/>
          </p:cNvSpPr>
          <p:nvPr>
            <p:ph type="dt" sz="half" idx="10"/>
          </p:nvPr>
        </p:nvSpPr>
        <p:spPr/>
        <p:txBody>
          <a:bodyPr/>
          <a:lstStyle/>
          <a:p>
            <a:fld id="{B07C1879-7CAB-46C5-8FD3-1A3C7C0EF581}" type="datetime1">
              <a:rPr lang="en-US" smtClean="0"/>
              <a:t>2/24/2025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43569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1295400"/>
          </a:xfrm>
        </p:spPr>
        <p:txBody>
          <a:bodyPr/>
          <a:lstStyle/>
          <a:p>
            <a:r>
              <a:rPr lang="en-US" smtClean="0"/>
              <a:t>Click to edit Master title style</a:t>
            </a:r>
            <a:endParaRPr/>
          </a:p>
        </p:txBody>
      </p:sp>
      <p:sp>
        <p:nvSpPr>
          <p:cNvPr id="3" name="Content Placeholder 2"/>
          <p:cNvSpPr>
            <a:spLocks noGrp="1"/>
          </p:cNvSpPr>
          <p:nvPr>
            <p:ph sz="half" idx="1"/>
          </p:nvPr>
        </p:nvSpPr>
        <p:spPr>
          <a:xfrm>
            <a:off x="1141412" y="1600200"/>
            <a:ext cx="487553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094412" y="1600200"/>
            <a:ext cx="487553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Dr. S. Nandagopalan</a:t>
            </a:r>
            <a:endParaRPr lang="en-US" dirty="0"/>
          </a:p>
        </p:txBody>
      </p:sp>
      <p:sp>
        <p:nvSpPr>
          <p:cNvPr id="5" name="Date Placeholder 4"/>
          <p:cNvSpPr>
            <a:spLocks noGrp="1"/>
          </p:cNvSpPr>
          <p:nvPr>
            <p:ph type="dt" sz="half" idx="10"/>
          </p:nvPr>
        </p:nvSpPr>
        <p:spPr/>
        <p:txBody>
          <a:bodyPr/>
          <a:lstStyle/>
          <a:p>
            <a:fld id="{7869D1F5-5371-4452-B08C-C6B969AC6D5F}" type="datetime1">
              <a:rPr lang="en-US" smtClean="0"/>
              <a:t>2/24/2025</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29779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1295400"/>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141412" y="1524000"/>
            <a:ext cx="487553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4" name="Content Placeholder 3"/>
          <p:cNvSpPr>
            <a:spLocks noGrp="1"/>
          </p:cNvSpPr>
          <p:nvPr>
            <p:ph sz="half" idx="2"/>
          </p:nvPr>
        </p:nvSpPr>
        <p:spPr>
          <a:xfrm>
            <a:off x="1141412" y="2413000"/>
            <a:ext cx="487553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094412" y="1524000"/>
            <a:ext cx="487553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6" name="Content Placeholder 5"/>
          <p:cNvSpPr>
            <a:spLocks noGrp="1"/>
          </p:cNvSpPr>
          <p:nvPr>
            <p:ph sz="quarter" idx="4"/>
          </p:nvPr>
        </p:nvSpPr>
        <p:spPr>
          <a:xfrm>
            <a:off x="6094412" y="2413000"/>
            <a:ext cx="487553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smtClean="0"/>
              <a:t>Dr. S. Nandagopalan</a:t>
            </a:r>
            <a:endParaRPr lang="en-US" dirty="0"/>
          </a:p>
        </p:txBody>
      </p:sp>
      <p:sp>
        <p:nvSpPr>
          <p:cNvPr id="7" name="Date Placeholder 6"/>
          <p:cNvSpPr>
            <a:spLocks noGrp="1"/>
          </p:cNvSpPr>
          <p:nvPr>
            <p:ph type="dt" sz="half" idx="10"/>
          </p:nvPr>
        </p:nvSpPr>
        <p:spPr/>
        <p:txBody>
          <a:bodyPr/>
          <a:lstStyle/>
          <a:p>
            <a:fld id="{255D15AE-4DD7-4660-8F83-34F5753ED6FC}" type="datetime1">
              <a:rPr lang="en-US" smtClean="0"/>
              <a:t>2/24/2025</a:t>
            </a:fld>
            <a:endParaRPr/>
          </a:p>
        </p:txBody>
      </p:sp>
      <p:sp>
        <p:nvSpPr>
          <p:cNvPr id="9" name="Slide Number Placeholder 8"/>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487039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smtClean="0"/>
              <a:t>Dr. S. Nandagopalan</a:t>
            </a:r>
            <a:endParaRPr lang="en-US" dirty="0"/>
          </a:p>
        </p:txBody>
      </p:sp>
      <p:sp>
        <p:nvSpPr>
          <p:cNvPr id="3" name="Date Placeholder 2"/>
          <p:cNvSpPr>
            <a:spLocks noGrp="1"/>
          </p:cNvSpPr>
          <p:nvPr>
            <p:ph type="dt" sz="half" idx="10"/>
          </p:nvPr>
        </p:nvSpPr>
        <p:spPr/>
        <p:txBody>
          <a:bodyPr/>
          <a:lstStyle/>
          <a:p>
            <a:fld id="{136067E1-5669-46B4-81A2-DDF9A9702C7C}" type="datetime1">
              <a:rPr lang="en-US" smtClean="0"/>
              <a:t>2/24/2025</a:t>
            </a:fld>
            <a:endParaRPr/>
          </a:p>
        </p:txBody>
      </p:sp>
      <p:sp>
        <p:nvSpPr>
          <p:cNvPr id="5" name="Slide Number Placeholder 4"/>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9690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8" name="bottom graphic"/>
          <p:cNvGrpSpPr/>
          <p:nvPr/>
        </p:nvGrpSpPr>
        <p:grpSpPr>
          <a:xfrm>
            <a:off x="0" y="5409216"/>
            <a:ext cx="12188825" cy="1462483"/>
            <a:chOff x="0" y="4056912"/>
            <a:chExt cx="9144000" cy="1096862"/>
          </a:xfrm>
        </p:grpSpPr>
        <p:sp>
          <p:nvSpPr>
            <p:cNvPr id="9" name="Freeform 8"/>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3" name="Footer Placeholder 2"/>
          <p:cNvSpPr>
            <a:spLocks noGrp="1"/>
          </p:cNvSpPr>
          <p:nvPr>
            <p:ph type="ftr" sz="quarter" idx="11"/>
          </p:nvPr>
        </p:nvSpPr>
        <p:spPr/>
        <p:txBody>
          <a:bodyPr/>
          <a:lstStyle/>
          <a:p>
            <a:r>
              <a:rPr lang="en-US" smtClean="0"/>
              <a:t>Dr. S. Nandagopalan</a:t>
            </a:r>
            <a:endParaRPr lang="en-US" dirty="0"/>
          </a:p>
        </p:txBody>
      </p:sp>
      <p:sp>
        <p:nvSpPr>
          <p:cNvPr id="2" name="Date Placeholder 1"/>
          <p:cNvSpPr>
            <a:spLocks noGrp="1"/>
          </p:cNvSpPr>
          <p:nvPr>
            <p:ph type="dt" sz="half" idx="10"/>
          </p:nvPr>
        </p:nvSpPr>
        <p:spPr/>
        <p:txBody>
          <a:bodyPr/>
          <a:lstStyle/>
          <a:p>
            <a:fld id="{2A5CF3EF-2E02-4034-8ECE-4FD358A2E221}" type="datetime1">
              <a:rPr lang="en-US" smtClean="0"/>
              <a:t>2/24/2025</a:t>
            </a:fld>
            <a:endParaRPr/>
          </a:p>
        </p:txBody>
      </p:sp>
      <p:sp>
        <p:nvSpPr>
          <p:cNvPr id="4" name="Slide Number Placeholder 3"/>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225395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smtClean="0"/>
              <a:t>Click to edit Master title style</a:t>
            </a:r>
            <a:endParaRPr/>
          </a:p>
        </p:txBody>
      </p:sp>
      <p:sp>
        <p:nvSpPr>
          <p:cNvPr id="3" name="Content Placeholder 2"/>
          <p:cNvSpPr>
            <a:spLocks noGrp="1"/>
          </p:cNvSpPr>
          <p:nvPr>
            <p:ph idx="1"/>
          </p:nvPr>
        </p:nvSpPr>
        <p:spPr>
          <a:xfrm>
            <a:off x="4875530" y="1600200"/>
            <a:ext cx="6094413"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1218883" y="1600202"/>
            <a:ext cx="3453500" cy="4571999"/>
          </a:xfrm>
        </p:spPr>
        <p:txBody>
          <a:bodyPr>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Dr. S. Nandagopalan</a:t>
            </a:r>
            <a:endParaRPr lang="en-US" dirty="0"/>
          </a:p>
        </p:txBody>
      </p:sp>
      <p:sp>
        <p:nvSpPr>
          <p:cNvPr id="5" name="Date Placeholder 4"/>
          <p:cNvSpPr>
            <a:spLocks noGrp="1"/>
          </p:cNvSpPr>
          <p:nvPr>
            <p:ph type="dt" sz="half" idx="10"/>
          </p:nvPr>
        </p:nvSpPr>
        <p:spPr/>
        <p:txBody>
          <a:bodyPr/>
          <a:lstStyle/>
          <a:p>
            <a:fld id="{9F599085-7EB4-45BC-AE14-BF804F8F70FA}" type="datetime1">
              <a:rPr lang="en-US" smtClean="0"/>
              <a:t>2/24/2025</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48396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218887" y="1600200"/>
            <a:ext cx="6703850" cy="3657600"/>
          </a:xfrm>
          <a:prstGeom prst="roundRect">
            <a:avLst>
              <a:gd name="adj" fmla="val 3098"/>
            </a:avLst>
          </a:prstGeom>
        </p:spPr>
        <p:txBody>
          <a:bodyPr>
            <a:normAutofit/>
          </a:bodyPr>
          <a:lstStyle>
            <a:lvl1pPr marL="0" indent="0">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smtClean="0"/>
              <a:t>Click icon to add picture</a:t>
            </a:r>
            <a:endParaRPr/>
          </a:p>
        </p:txBody>
      </p:sp>
      <p:sp>
        <p:nvSpPr>
          <p:cNvPr id="4" name="Text Placeholder 3"/>
          <p:cNvSpPr>
            <a:spLocks noGrp="1"/>
          </p:cNvSpPr>
          <p:nvPr>
            <p:ph type="body" sz="half" idx="2"/>
          </p:nvPr>
        </p:nvSpPr>
        <p:spPr>
          <a:xfrm>
            <a:off x="8125883" y="1600200"/>
            <a:ext cx="2844059" cy="3759200"/>
          </a:xfrm>
        </p:spPr>
        <p:txBody>
          <a:bodyPr anchor="b">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Dr. S. Nandagopalan</a:t>
            </a:r>
            <a:endParaRPr lang="en-US" dirty="0"/>
          </a:p>
        </p:txBody>
      </p:sp>
      <p:sp>
        <p:nvSpPr>
          <p:cNvPr id="5" name="Date Placeholder 4"/>
          <p:cNvSpPr>
            <a:spLocks noGrp="1"/>
          </p:cNvSpPr>
          <p:nvPr>
            <p:ph type="dt" sz="half" idx="10"/>
          </p:nvPr>
        </p:nvSpPr>
        <p:spPr/>
        <p:txBody>
          <a:bodyPr/>
          <a:lstStyle/>
          <a:p>
            <a:fld id="{23CE62C7-4086-4122-8BAF-94B398AC2A0C}" type="datetime1">
              <a:rPr lang="en-US" smtClean="0"/>
              <a:t>2/24/2025</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442985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Dr. S. Nandagopalan</a:t>
            </a:r>
            <a:endParaRPr lang="en-US" dirty="0"/>
          </a:p>
        </p:txBody>
      </p:sp>
      <p:sp>
        <p:nvSpPr>
          <p:cNvPr id="4" name="Date Placeholder 3"/>
          <p:cNvSpPr>
            <a:spLocks noGrp="1"/>
          </p:cNvSpPr>
          <p:nvPr>
            <p:ph type="dt" sz="half" idx="10"/>
          </p:nvPr>
        </p:nvSpPr>
        <p:spPr/>
        <p:txBody>
          <a:bodyPr/>
          <a:lstStyle/>
          <a:p>
            <a:fld id="{FAA82F0D-02AF-46ED-8A27-FBB87FE27549}" type="datetime1">
              <a:rPr lang="en-US" smtClean="0"/>
              <a:t>2/24/2025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64082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squares"/>
          <p:cNvGrpSpPr/>
          <p:nvPr/>
        </p:nvGrpSpPr>
        <p:grpSpPr>
          <a:xfrm rot="5400000">
            <a:off x="9583007" y="233864"/>
            <a:ext cx="1063300" cy="524046"/>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5" name="bottom graphic"/>
          <p:cNvGrpSpPr/>
          <p:nvPr/>
        </p:nvGrpSpPr>
        <p:grpSpPr>
          <a:xfrm>
            <a:off x="0" y="5395517"/>
            <a:ext cx="12188825" cy="1462483"/>
            <a:chOff x="0" y="4046638"/>
            <a:chExt cx="9144000" cy="1096862"/>
          </a:xfrm>
        </p:grpSpPr>
        <p:sp>
          <p:nvSpPr>
            <p:cNvPr id="16" name="Freeform 15"/>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72"/>
            <p:cNvSpPr/>
            <p:nvPr/>
          </p:nvSpPr>
          <p:spPr bwMode="ltGray">
            <a:xfrm rot="5400000">
              <a:off x="4023569" y="23069"/>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Vertical Title 1"/>
          <p:cNvSpPr>
            <a:spLocks noGrp="1"/>
          </p:cNvSpPr>
          <p:nvPr>
            <p:ph type="title" orient="vert"/>
          </p:nvPr>
        </p:nvSpPr>
        <p:spPr>
          <a:xfrm>
            <a:off x="9751060" y="1150514"/>
            <a:ext cx="1828324" cy="5021685"/>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8882" y="1150514"/>
            <a:ext cx="8227457" cy="5021685"/>
          </a:xfrm>
        </p:spPr>
        <p:txBody>
          <a:bodyPr vert="eaVert"/>
          <a:lstStyle>
            <a:lvl5pPr>
              <a:defRPr/>
            </a:lvl5pPr>
            <a:lvl6pPr>
              <a:defRPr/>
            </a:lvl6pPr>
            <a:lvl7pPr>
              <a:defRPr/>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Dr. S. Nandagopalan</a:t>
            </a:r>
            <a:endParaRPr lang="en-US" dirty="0"/>
          </a:p>
        </p:txBody>
      </p:sp>
      <p:sp>
        <p:nvSpPr>
          <p:cNvPr id="4" name="Date Placeholder 3"/>
          <p:cNvSpPr>
            <a:spLocks noGrp="1"/>
          </p:cNvSpPr>
          <p:nvPr>
            <p:ph type="dt" sz="half" idx="10"/>
          </p:nvPr>
        </p:nvSpPr>
        <p:spPr/>
        <p:txBody>
          <a:bodyPr/>
          <a:lstStyle/>
          <a:p>
            <a:fld id="{8CC97777-1304-4ED4-AFCA-9F3DD1C2330F}" type="datetime1">
              <a:rPr lang="en-US" smtClean="0"/>
              <a:t>2/24/2025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8164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1" name="bottom graphic"/>
          <p:cNvGrpSpPr/>
          <p:nvPr/>
        </p:nvGrpSpPr>
        <p:grpSpPr>
          <a:xfrm>
            <a:off x="0" y="5409216"/>
            <a:ext cx="12188825" cy="1462483"/>
            <a:chOff x="0" y="4056912"/>
            <a:chExt cx="9144000" cy="1096862"/>
          </a:xfrm>
        </p:grpSpPr>
        <p:sp>
          <p:nvSpPr>
            <p:cNvPr id="21" name="Freeform 20"/>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grpSp>
        <p:nvGrpSpPr>
          <p:cNvPr id="7" name="squares"/>
          <p:cNvGrpSpPr/>
          <p:nvPr/>
        </p:nvGrpSpPr>
        <p:grpSpPr>
          <a:xfrm>
            <a:off x="1" y="800551"/>
            <a:ext cx="1063023" cy="524183"/>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152400"/>
            <a:ext cx="9751060" cy="1295400"/>
          </a:xfrm>
          <a:prstGeom prst="rect">
            <a:avLst/>
          </a:prstGeom>
        </p:spPr>
        <p:txBody>
          <a:bodyPr vert="horz" lIns="121899" tIns="60949" rIns="121899" bIns="60949"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8883" y="1600200"/>
            <a:ext cx="9751060" cy="4572000"/>
          </a:xfrm>
          <a:prstGeom prst="rect">
            <a:avLst/>
          </a:prstGeom>
        </p:spPr>
        <p:txBody>
          <a:bodyPr vert="horz" lIns="121899" tIns="60949" rIns="121899" bIns="6094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Footer Placeholder 4"/>
          <p:cNvSpPr>
            <a:spLocks noGrp="1"/>
          </p:cNvSpPr>
          <p:nvPr>
            <p:ph type="ftr" sz="quarter" idx="3"/>
          </p:nvPr>
        </p:nvSpPr>
        <p:spPr>
          <a:xfrm>
            <a:off x="1218883" y="6448425"/>
            <a:ext cx="8288401" cy="180976"/>
          </a:xfrm>
          <a:prstGeom prst="rect">
            <a:avLst/>
          </a:prstGeom>
        </p:spPr>
        <p:txBody>
          <a:bodyPr vert="horz" lIns="121899" tIns="60949" rIns="121899" bIns="60949" rtlCol="0" anchor="ctr"/>
          <a:lstStyle>
            <a:lvl1pPr algn="l">
              <a:defRPr sz="1200">
                <a:solidFill>
                  <a:schemeClr val="tx1"/>
                </a:solidFill>
              </a:defRPr>
            </a:lvl1pPr>
          </a:lstStyle>
          <a:p>
            <a:r>
              <a:rPr lang="en-US" smtClean="0"/>
              <a:t>Dr. S. Nandagopalan</a:t>
            </a:r>
            <a:endParaRPr lang="en-US" dirty="0"/>
          </a:p>
        </p:txBody>
      </p:sp>
      <p:sp>
        <p:nvSpPr>
          <p:cNvPr id="4" name="Date Placeholder 3"/>
          <p:cNvSpPr>
            <a:spLocks noGrp="1"/>
          </p:cNvSpPr>
          <p:nvPr>
            <p:ph type="dt" sz="half" idx="2"/>
          </p:nvPr>
        </p:nvSpPr>
        <p:spPr>
          <a:xfrm>
            <a:off x="9547913" y="6448425"/>
            <a:ext cx="1422030" cy="180976"/>
          </a:xfrm>
          <a:prstGeom prst="rect">
            <a:avLst/>
          </a:prstGeom>
        </p:spPr>
        <p:txBody>
          <a:bodyPr vert="horz" lIns="121899" tIns="60949" rIns="121899" bIns="60949" rtlCol="0" anchor="ctr"/>
          <a:lstStyle>
            <a:lvl1pPr algn="r">
              <a:defRPr sz="1200">
                <a:solidFill>
                  <a:schemeClr val="tx1"/>
                </a:solidFill>
              </a:defRPr>
            </a:lvl1pPr>
          </a:lstStyle>
          <a:p>
            <a:fld id="{6A1C346F-78B5-44D3-8C13-231D1FC5F03D}" type="datetime1">
              <a:rPr lang="en-US" smtClean="0"/>
              <a:t>2/24/2025</a:t>
            </a:fld>
            <a:endParaRPr dirty="0"/>
          </a:p>
        </p:txBody>
      </p:sp>
      <p:sp>
        <p:nvSpPr>
          <p:cNvPr id="6" name="Slide Number Placeholder 5"/>
          <p:cNvSpPr>
            <a:spLocks noGrp="1"/>
          </p:cNvSpPr>
          <p:nvPr>
            <p:ph type="sldNum" sz="quarter" idx="4"/>
          </p:nvPr>
        </p:nvSpPr>
        <p:spPr>
          <a:xfrm>
            <a:off x="11071516" y="6448425"/>
            <a:ext cx="812588" cy="180976"/>
          </a:xfrm>
          <a:prstGeom prst="rect">
            <a:avLst/>
          </a:prstGeom>
        </p:spPr>
        <p:txBody>
          <a:bodyPr vert="horz" lIns="121899" tIns="60949" rIns="121899" bIns="60949" rtlCol="0" anchor="ctr"/>
          <a:lstStyle>
            <a:lvl1pPr algn="r">
              <a:defRPr sz="1200">
                <a:solidFill>
                  <a:schemeClr val="tx1"/>
                </a:solidFill>
              </a:defRPr>
            </a:lvl1pPr>
          </a:lstStyle>
          <a:p>
            <a:fld id="{34C99D79-8A4B-4031-B1E0-AF26F8EDF2BC}" type="slidenum">
              <a:rPr/>
              <a:pPr/>
              <a:t>‹#›</a:t>
            </a:fld>
            <a:endParaRPr/>
          </a:p>
        </p:txBody>
      </p:sp>
    </p:spTree>
    <p:extLst>
      <p:ext uri="{BB962C8B-B14F-4D97-AF65-F5344CB8AC3E}">
        <p14:creationId xmlns:p14="http://schemas.microsoft.com/office/powerpoint/2010/main" val="1782682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800"/>
        </a:spcBef>
        <a:buClr>
          <a:schemeClr val="accent1">
            <a:lumMod val="75000"/>
          </a:schemeClr>
        </a:buClr>
        <a:buFont typeface="Arial" pitchFamily="34" charset="0"/>
        <a:buChar char="•"/>
        <a:defRPr sz="2800" kern="1200">
          <a:solidFill>
            <a:schemeClr val="tx1"/>
          </a:solidFill>
          <a:latin typeface="+mn-lt"/>
          <a:ea typeface="+mn-ea"/>
          <a:cs typeface="+mn-cs"/>
        </a:defRPr>
      </a:lvl1pPr>
      <a:lvl2pPr marL="755772" indent="-304747" algn="l" defTabSz="1218987" rtl="0" eaLnBrk="1" latinLnBrk="0" hangingPunct="1">
        <a:lnSpc>
          <a:spcPct val="90000"/>
        </a:lnSpc>
        <a:spcBef>
          <a:spcPts val="1200"/>
        </a:spcBef>
        <a:buClr>
          <a:schemeClr val="accent1">
            <a:lumMod val="75000"/>
          </a:schemeClr>
        </a:buClr>
        <a:buFont typeface="Arial" pitchFamily="34" charset="0"/>
        <a:buChar char="–"/>
        <a:defRPr sz="2400" kern="1200">
          <a:solidFill>
            <a:schemeClr val="tx1"/>
          </a:solidFill>
          <a:latin typeface="+mn-lt"/>
          <a:ea typeface="+mn-ea"/>
          <a:cs typeface="+mn-cs"/>
        </a:defRPr>
      </a:lvl2pPr>
      <a:lvl3pPr marL="120679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3pPr>
      <a:lvl4pPr marL="1657822"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4pPr>
      <a:lvl5pPr marL="210884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5pPr>
      <a:lvl6pPr marL="255987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6pPr>
      <a:lvl7pPr marL="301089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7pPr>
      <a:lvl8pPr marL="346192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8pPr>
      <a:lvl9pPr marL="391294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youtu.be/gYoTw2LaaKI?si=sG0QDJKoUoTfIhPU"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ight sky with mountains far away on the horizon">
            <a:extLst>
              <a:ext uri="{FF2B5EF4-FFF2-40B4-BE49-F238E27FC236}">
                <a16:creationId xmlns="" xmlns:a16="http://schemas.microsoft.com/office/drawing/2014/main" id="{7C454B0C-0819-4D56-9275-BCE254DA659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0"/>
            <a:ext cx="12188805" cy="6856204"/>
          </a:xfrm>
          <a:prstGeom prst="rect">
            <a:avLst/>
          </a:prstGeom>
          <a:solidFill>
            <a:schemeClr val="accent3">
              <a:lumMod val="75000"/>
            </a:schemeClr>
          </a:solidFill>
        </p:spPr>
      </p:pic>
      <p:sp>
        <p:nvSpPr>
          <p:cNvPr id="2" name="Title 1">
            <a:extLst>
              <a:ext uri="{FF2B5EF4-FFF2-40B4-BE49-F238E27FC236}">
                <a16:creationId xmlns="" xmlns:a16="http://schemas.microsoft.com/office/drawing/2014/main" id="{340C7600-5BA8-4A54-887F-74AF87750A31}"/>
              </a:ext>
            </a:extLst>
          </p:cNvPr>
          <p:cNvSpPr>
            <a:spLocks noGrp="1"/>
          </p:cNvSpPr>
          <p:nvPr>
            <p:ph type="title"/>
          </p:nvPr>
        </p:nvSpPr>
        <p:spPr>
          <a:xfrm>
            <a:off x="1826264" y="2376321"/>
            <a:ext cx="9141619" cy="2105367"/>
          </a:xfrm>
        </p:spPr>
        <p:txBody>
          <a:bodyPr>
            <a:normAutofit fontScale="90000"/>
          </a:bodyPr>
          <a:lstStyle/>
          <a:p>
            <a:r>
              <a:rPr lang="en-US" b="1" dirty="0" smtClean="0">
                <a:solidFill>
                  <a:schemeClr val="accent3">
                    <a:lumMod val="60000"/>
                    <a:lumOff val="40000"/>
                  </a:schemeClr>
                </a:solidFill>
                <a:latin typeface="Book Antiqua" panose="02040602050305030304" pitchFamily="18" charset="0"/>
              </a:rPr>
              <a:t>Module  7:</a:t>
            </a:r>
            <a:r>
              <a:rPr lang="en-US" b="1" dirty="0" smtClean="0">
                <a:solidFill>
                  <a:srgbClr val="0070C0"/>
                </a:solidFill>
                <a:latin typeface="Book Antiqua" panose="02040602050305030304" pitchFamily="18" charset="0"/>
              </a:rPr>
              <a:t/>
            </a:r>
            <a:br>
              <a:rPr lang="en-US" b="1" dirty="0" smtClean="0">
                <a:solidFill>
                  <a:srgbClr val="0070C0"/>
                </a:solidFill>
                <a:latin typeface="Book Antiqua" panose="02040602050305030304" pitchFamily="18" charset="0"/>
              </a:rPr>
            </a:br>
            <a:r>
              <a:rPr lang="en-IN" b="1" dirty="0">
                <a:solidFill>
                  <a:schemeClr val="bg1"/>
                </a:solidFill>
                <a:latin typeface="Arial Black" panose="020B0A04020102020204" pitchFamily="34" charset="0"/>
              </a:rPr>
              <a:t>Data </a:t>
            </a:r>
            <a:r>
              <a:rPr lang="en-IN" b="1" dirty="0" smtClean="0">
                <a:solidFill>
                  <a:schemeClr val="bg1"/>
                </a:solidFill>
                <a:latin typeface="Arial Black" panose="020B0A04020102020204" pitchFamily="34" charset="0"/>
              </a:rPr>
              <a:t>Streaming</a:t>
            </a:r>
            <a:br>
              <a:rPr lang="en-IN" b="1" dirty="0" smtClean="0">
                <a:solidFill>
                  <a:schemeClr val="bg1"/>
                </a:solidFill>
                <a:latin typeface="Arial Black" panose="020B0A04020102020204" pitchFamily="34" charset="0"/>
              </a:rPr>
            </a:br>
            <a:r>
              <a:rPr lang="en-IN" sz="4900" b="1" dirty="0" smtClean="0">
                <a:solidFill>
                  <a:srgbClr val="FFC000"/>
                </a:solidFill>
                <a:latin typeface="Arial Narrow" panose="020B0606020202030204" pitchFamily="34" charset="0"/>
              </a:rPr>
              <a:t>- with Apache Kafka &amp; Spark</a:t>
            </a:r>
            <a:r>
              <a:rPr lang="en-IN" b="1" dirty="0" smtClean="0">
                <a:solidFill>
                  <a:schemeClr val="bg1"/>
                </a:solidFill>
                <a:latin typeface="Arial Black" panose="020B0A04020102020204" pitchFamily="34" charset="0"/>
              </a:rPr>
              <a:t>                </a:t>
            </a:r>
            <a:endParaRPr lang="en-US" b="1" dirty="0">
              <a:solidFill>
                <a:schemeClr val="bg1"/>
              </a:solidFill>
              <a:latin typeface="Arial Black" panose="020B0A04020102020204" pitchFamily="34" charset="0"/>
            </a:endParaRPr>
          </a:p>
        </p:txBody>
      </p:sp>
      <p:sp>
        <p:nvSpPr>
          <p:cNvPr id="6" name="Text Placeholder 5"/>
          <p:cNvSpPr>
            <a:spLocks noGrp="1"/>
          </p:cNvSpPr>
          <p:nvPr>
            <p:ph type="body" idx="1"/>
          </p:nvPr>
        </p:nvSpPr>
        <p:spPr>
          <a:xfrm>
            <a:off x="1832441" y="4869160"/>
            <a:ext cx="9838444" cy="933297"/>
          </a:xfrm>
        </p:spPr>
        <p:txBody>
          <a:bodyPr>
            <a:normAutofit fontScale="92500" lnSpcReduction="20000"/>
          </a:bodyPr>
          <a:lstStyle/>
          <a:p>
            <a:pPr algn="r"/>
            <a:r>
              <a:rPr lang="en-US" dirty="0" smtClean="0">
                <a:solidFill>
                  <a:schemeClr val="accent4">
                    <a:lumMod val="40000"/>
                    <a:lumOff val="60000"/>
                  </a:schemeClr>
                </a:solidFill>
                <a:latin typeface="Berlin Sans FB Demi" panose="020E0802020502020306" pitchFamily="34" charset="0"/>
              </a:rPr>
              <a:t>Dr. </a:t>
            </a:r>
            <a:r>
              <a:rPr lang="en-US" dirty="0" err="1" smtClean="0">
                <a:solidFill>
                  <a:schemeClr val="accent4">
                    <a:lumMod val="40000"/>
                    <a:lumOff val="60000"/>
                  </a:schemeClr>
                </a:solidFill>
                <a:latin typeface="Berlin Sans FB Demi" panose="020E0802020502020306" pitchFamily="34" charset="0"/>
              </a:rPr>
              <a:t>Shanmugam</a:t>
            </a:r>
            <a:r>
              <a:rPr lang="en-US" dirty="0" smtClean="0">
                <a:solidFill>
                  <a:schemeClr val="accent4">
                    <a:lumMod val="40000"/>
                    <a:lumOff val="60000"/>
                  </a:schemeClr>
                </a:solidFill>
                <a:latin typeface="Berlin Sans FB Demi" panose="020E0802020502020306" pitchFamily="34" charset="0"/>
              </a:rPr>
              <a:t> Nandagopalan</a:t>
            </a:r>
          </a:p>
          <a:p>
            <a:pPr algn="r"/>
            <a:r>
              <a:rPr lang="en-US" sz="2600" dirty="0" smtClean="0">
                <a:solidFill>
                  <a:schemeClr val="accent4">
                    <a:lumMod val="40000"/>
                    <a:lumOff val="60000"/>
                  </a:schemeClr>
                </a:solidFill>
                <a:latin typeface="Berlin Sans FB" panose="020E0602020502020306" pitchFamily="34" charset="0"/>
              </a:rPr>
              <a:t>shanmugamnandagopalan@mfu.ac.th</a:t>
            </a:r>
            <a:endParaRPr lang="en-IN" dirty="0">
              <a:solidFill>
                <a:schemeClr val="accent4">
                  <a:lumMod val="40000"/>
                  <a:lumOff val="60000"/>
                </a:schemeClr>
              </a:solidFill>
              <a:latin typeface="Berlin Sans FB" panose="020E0602020502020306" pitchFamily="34" charset="0"/>
            </a:endParaRPr>
          </a:p>
        </p:txBody>
      </p:sp>
      <p:sp>
        <p:nvSpPr>
          <p:cNvPr id="4" name="Slide Number Placeholder 3"/>
          <p:cNvSpPr>
            <a:spLocks noGrp="1"/>
          </p:cNvSpPr>
          <p:nvPr>
            <p:ph type="sldNum" sz="quarter" idx="12"/>
          </p:nvPr>
        </p:nvSpPr>
        <p:spPr/>
        <p:txBody>
          <a:bodyPr/>
          <a:lstStyle/>
          <a:p>
            <a:fld id="{34C99D79-8A4B-4031-B1E0-AF26F8EDF2BC}" type="slidenum">
              <a:rPr lang="en-IN" smtClean="0"/>
              <a:t>1</a:t>
            </a:fld>
            <a:endParaRPr lang="en-IN"/>
          </a:p>
        </p:txBody>
      </p:sp>
      <p:pic>
        <p:nvPicPr>
          <p:cNvPr id="1026" name="Picture 2" descr="What is Apache Kafka and When to Use It | Contabo Blo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3563" b="2324"/>
          <a:stretch/>
        </p:blipFill>
        <p:spPr bwMode="auto">
          <a:xfrm>
            <a:off x="7318548" y="454393"/>
            <a:ext cx="4352337" cy="1921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29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Agenda</a:t>
            </a:r>
            <a:endParaRPr lang="en-US" dirty="0"/>
          </a:p>
        </p:txBody>
      </p:sp>
      <p:sp>
        <p:nvSpPr>
          <p:cNvPr id="6" name="Content Placeholder 5"/>
          <p:cNvSpPr>
            <a:spLocks noGrp="1"/>
          </p:cNvSpPr>
          <p:nvPr>
            <p:ph idx="1"/>
          </p:nvPr>
        </p:nvSpPr>
        <p:spPr/>
        <p:txBody>
          <a:bodyPr>
            <a:normAutofit fontScale="92500" lnSpcReduction="10000"/>
          </a:bodyPr>
          <a:lstStyle/>
          <a:p>
            <a:r>
              <a:rPr lang="en-US" sz="3200" dirty="0">
                <a:latin typeface="Microsoft PhagsPa" panose="020B0502040204020203" pitchFamily="34" charset="0"/>
              </a:rPr>
              <a:t>Introduction to real-time data </a:t>
            </a:r>
            <a:r>
              <a:rPr lang="en-US" sz="3200" dirty="0" smtClean="0">
                <a:latin typeface="Microsoft PhagsPa" panose="020B0502040204020203" pitchFamily="34" charset="0"/>
              </a:rPr>
              <a:t>processing</a:t>
            </a:r>
          </a:p>
          <a:p>
            <a:pPr>
              <a:spcBef>
                <a:spcPts val="600"/>
              </a:spcBef>
            </a:pPr>
            <a:r>
              <a:rPr lang="en-US" sz="2800" dirty="0">
                <a:latin typeface="Microsoft PhagsPa" panose="020B0502040204020203" pitchFamily="34" charset="0"/>
                <a:ea typeface="Roboto" panose="02000000000000000000" pitchFamily="2" charset="0"/>
              </a:rPr>
              <a:t>What is Real-time Data Processing?</a:t>
            </a:r>
          </a:p>
          <a:p>
            <a:pPr lvl="1">
              <a:spcBef>
                <a:spcPts val="600"/>
              </a:spcBef>
            </a:pPr>
            <a:r>
              <a:rPr lang="en-US" altLang="en-US" dirty="0">
                <a:latin typeface="Berlin Sans FB" panose="020E0602020502020306" pitchFamily="34" charset="0"/>
              </a:rPr>
              <a:t>Key Concepts and Definitions</a:t>
            </a:r>
          </a:p>
          <a:p>
            <a:pPr lvl="1">
              <a:spcBef>
                <a:spcPts val="600"/>
              </a:spcBef>
            </a:pPr>
            <a:r>
              <a:rPr lang="en-US" altLang="en-US" dirty="0">
                <a:latin typeface="Berlin Sans FB" panose="020E0602020502020306" pitchFamily="34" charset="0"/>
              </a:rPr>
              <a:t>Importance and Applications</a:t>
            </a:r>
          </a:p>
          <a:p>
            <a:pPr lvl="1">
              <a:spcBef>
                <a:spcPts val="600"/>
              </a:spcBef>
            </a:pPr>
            <a:r>
              <a:rPr lang="en-US" altLang="en-US" dirty="0">
                <a:latin typeface="Berlin Sans FB" panose="020E0602020502020306" pitchFamily="34" charset="0"/>
              </a:rPr>
              <a:t>Real-Time Data Architecture</a:t>
            </a:r>
          </a:p>
          <a:p>
            <a:pPr lvl="1">
              <a:spcBef>
                <a:spcPts val="600"/>
              </a:spcBef>
            </a:pPr>
            <a:r>
              <a:rPr lang="en-US" altLang="en-US" dirty="0">
                <a:latin typeface="Berlin Sans FB" panose="020E0602020502020306" pitchFamily="34" charset="0"/>
              </a:rPr>
              <a:t>Data Streams and Event Processing</a:t>
            </a:r>
          </a:p>
          <a:p>
            <a:pPr lvl="1">
              <a:spcBef>
                <a:spcPts val="600"/>
              </a:spcBef>
            </a:pPr>
            <a:r>
              <a:rPr lang="en-US" altLang="en-US" dirty="0">
                <a:latin typeface="Berlin Sans FB" panose="020E0602020502020306" pitchFamily="34" charset="0"/>
              </a:rPr>
              <a:t>Technologies and Tools</a:t>
            </a:r>
          </a:p>
          <a:p>
            <a:pPr lvl="1">
              <a:spcBef>
                <a:spcPts val="600"/>
              </a:spcBef>
            </a:pPr>
            <a:r>
              <a:rPr lang="en-US" altLang="en-US" dirty="0">
                <a:latin typeface="Berlin Sans FB" panose="020E0602020502020306" pitchFamily="34" charset="0"/>
              </a:rPr>
              <a:t>Challenges and Solutions</a:t>
            </a:r>
          </a:p>
          <a:p>
            <a:r>
              <a:rPr lang="en-US" sz="3200" dirty="0" smtClean="0">
                <a:latin typeface="Microsoft PhagsPa" panose="020B0502040204020203" pitchFamily="34" charset="0"/>
              </a:rPr>
              <a:t>Stream </a:t>
            </a:r>
            <a:r>
              <a:rPr lang="en-US" sz="3200" dirty="0">
                <a:latin typeface="Microsoft PhagsPa" panose="020B0502040204020203" pitchFamily="34" charset="0"/>
              </a:rPr>
              <a:t>processing frameworks - Apache </a:t>
            </a:r>
            <a:r>
              <a:rPr lang="en-US" sz="3200" dirty="0" smtClean="0">
                <a:latin typeface="Microsoft PhagsPa" panose="020B0502040204020203" pitchFamily="34" charset="0"/>
              </a:rPr>
              <a:t>Kafka</a:t>
            </a:r>
          </a:p>
          <a:p>
            <a:r>
              <a:rPr lang="en-US" sz="3200" dirty="0" smtClean="0">
                <a:latin typeface="Microsoft PhagsPa" panose="020B0502040204020203" pitchFamily="34" charset="0"/>
              </a:rPr>
              <a:t>Handling </a:t>
            </a:r>
            <a:r>
              <a:rPr lang="en-US" sz="3200" dirty="0">
                <a:latin typeface="Microsoft PhagsPa" panose="020B0502040204020203" pitchFamily="34" charset="0"/>
              </a:rPr>
              <a:t>real-time data streams and event </a:t>
            </a:r>
            <a:r>
              <a:rPr lang="en-US" sz="3200" dirty="0" smtClean="0">
                <a:latin typeface="Microsoft PhagsPa" panose="020B0502040204020203" pitchFamily="34" charset="0"/>
              </a:rPr>
              <a:t>processing </a:t>
            </a:r>
          </a:p>
          <a:p>
            <a:r>
              <a:rPr lang="en-US" sz="3200" dirty="0" smtClean="0">
                <a:latin typeface="Microsoft PhagsPa" panose="020B0502040204020203" pitchFamily="34" charset="0"/>
              </a:rPr>
              <a:t>Spark Streaming Demo</a:t>
            </a:r>
            <a:endParaRPr lang="en-US" sz="3200" dirty="0">
              <a:latin typeface="Microsoft PhagsPa" panose="020B0502040204020203" pitchFamily="34" charset="0"/>
            </a:endParaRPr>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2</a:t>
            </a:fld>
            <a:endParaRPr lang="en-IN"/>
          </a:p>
        </p:txBody>
      </p:sp>
    </p:spTree>
    <p:extLst>
      <p:ext uri="{BB962C8B-B14F-4D97-AF65-F5344CB8AC3E}">
        <p14:creationId xmlns:p14="http://schemas.microsoft.com/office/powerpoint/2010/main" val="204134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Real-time Data Processing?</a:t>
            </a:r>
            <a:endParaRPr lang="en-IN" dirty="0"/>
          </a:p>
        </p:txBody>
      </p:sp>
      <p:sp>
        <p:nvSpPr>
          <p:cNvPr id="9" name="Content Placeholder 8"/>
          <p:cNvSpPr>
            <a:spLocks noGrp="1"/>
          </p:cNvSpPr>
          <p:nvPr>
            <p:ph idx="1"/>
          </p:nvPr>
        </p:nvSpPr>
        <p:spPr/>
        <p:txBody>
          <a:bodyPr/>
          <a:lstStyle/>
          <a:p>
            <a:r>
              <a:rPr lang="en-US" b="1" dirty="0"/>
              <a:t>Processing data instantly as it arrives</a:t>
            </a:r>
            <a:r>
              <a:rPr lang="en-US" b="1" dirty="0" smtClean="0"/>
              <a:t>.</a:t>
            </a:r>
          </a:p>
          <a:p>
            <a:r>
              <a:rPr lang="en-US" b="1" dirty="0" smtClean="0"/>
              <a:t>Characteristics</a:t>
            </a:r>
            <a:r>
              <a:rPr lang="en-US" b="1" dirty="0"/>
              <a:t>:</a:t>
            </a:r>
            <a:endParaRPr lang="en-US" dirty="0"/>
          </a:p>
          <a:p>
            <a:pPr lvl="1"/>
            <a:r>
              <a:rPr lang="en-US" dirty="0"/>
              <a:t>Low latency</a:t>
            </a:r>
          </a:p>
          <a:p>
            <a:pPr lvl="1"/>
            <a:r>
              <a:rPr lang="en-US" dirty="0"/>
              <a:t>High throughput</a:t>
            </a:r>
          </a:p>
          <a:p>
            <a:pPr lvl="1"/>
            <a:r>
              <a:rPr lang="en-US" dirty="0"/>
              <a:t>Continuous </a:t>
            </a:r>
            <a:r>
              <a:rPr lang="en-US" dirty="0" smtClean="0"/>
              <a:t>processing</a:t>
            </a:r>
          </a:p>
          <a:p>
            <a:pPr algn="just"/>
            <a:r>
              <a:rPr lang="en-IN" sz="2000" b="1" dirty="0"/>
              <a:t>LinkedIn’s activity </a:t>
            </a:r>
            <a:r>
              <a:rPr lang="en-IN" sz="2000" b="1" dirty="0" smtClean="0"/>
              <a:t>stream – Apache Kafka</a:t>
            </a:r>
            <a:endParaRPr lang="en-US" sz="2000" b="1" dirty="0" smtClean="0"/>
          </a:p>
          <a:p>
            <a:pPr algn="just"/>
            <a:r>
              <a:rPr lang="en-US" sz="2000" b="1" dirty="0" smtClean="0"/>
              <a:t>Simon’s </a:t>
            </a:r>
            <a:r>
              <a:rPr lang="en-US" sz="2000" b="1" dirty="0" smtClean="0"/>
              <a:t>Use-Case: </a:t>
            </a:r>
            <a:r>
              <a:rPr lang="en-US" sz="2000" dirty="0"/>
              <a:t>A</a:t>
            </a:r>
            <a:r>
              <a:rPr lang="en-US" sz="2000" dirty="0" smtClean="0"/>
              <a:t> </a:t>
            </a:r>
            <a:r>
              <a:rPr lang="en-US" sz="2000" b="1" dirty="0"/>
              <a:t>wildlife monitoring system to observe population trends over time </a:t>
            </a:r>
            <a:r>
              <a:rPr lang="en-US" sz="2000" dirty="0"/>
              <a:t>using a Raspberry Pi, along with Apache Kafka</a:t>
            </a:r>
            <a:r>
              <a:rPr lang="en-US" sz="2000" baseline="30000" dirty="0"/>
              <a:t>®</a:t>
            </a:r>
            <a:r>
              <a:rPr lang="en-US" sz="2000" dirty="0"/>
              <a:t>, Kafka Connect, </a:t>
            </a:r>
            <a:r>
              <a:rPr lang="en-US" sz="2000" dirty="0" err="1"/>
              <a:t>ksqlDB</a:t>
            </a:r>
            <a:r>
              <a:rPr lang="en-US" sz="2000" dirty="0"/>
              <a:t>, </a:t>
            </a:r>
            <a:r>
              <a:rPr lang="en-US" sz="2000" dirty="0" err="1"/>
              <a:t>TensorFlow</a:t>
            </a:r>
            <a:r>
              <a:rPr lang="en-US" sz="2000" dirty="0"/>
              <a:t> Lite, and </a:t>
            </a:r>
            <a:r>
              <a:rPr lang="en-US" sz="2000" dirty="0" err="1"/>
              <a:t>Kibana</a:t>
            </a:r>
            <a:r>
              <a:rPr lang="en-US" sz="2000" dirty="0"/>
              <a:t>. He used the system to count animals in his Australian backyard and perform trend analysis on the </a:t>
            </a:r>
            <a:r>
              <a:rPr lang="en-US" sz="2000" dirty="0" smtClean="0"/>
              <a:t>results.</a:t>
            </a:r>
            <a:endParaRPr lang="en-US" sz="2000" dirty="0"/>
          </a:p>
          <a:p>
            <a:endParaRPr lang="en-IN" dirty="0"/>
          </a:p>
        </p:txBody>
      </p:sp>
      <p:sp>
        <p:nvSpPr>
          <p:cNvPr id="4" name="Footer Placeholder 3"/>
          <p:cNvSpPr>
            <a:spLocks noGrp="1"/>
          </p:cNvSpPr>
          <p:nvPr>
            <p:ph type="ftr" sz="quarter" idx="11"/>
          </p:nvPr>
        </p:nvSpPr>
        <p:spPr/>
        <p:txBody>
          <a:bodyPr/>
          <a:lstStyle/>
          <a:p>
            <a:pPr algn="ctr"/>
            <a:r>
              <a:rPr lang="en-US" dirty="0"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a:t>
            </a:fld>
            <a:endParaRPr lang="en-IN" dirty="0"/>
          </a:p>
        </p:txBody>
      </p:sp>
    </p:spTree>
    <p:extLst>
      <p:ext uri="{BB962C8B-B14F-4D97-AF65-F5344CB8AC3E}">
        <p14:creationId xmlns:p14="http://schemas.microsoft.com/office/powerpoint/2010/main" val="217663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r>
              <a:rPr lang="en-US" dirty="0" err="1" smtClean="0"/>
              <a:t>Contd</a:t>
            </a:r>
            <a:r>
              <a:rPr lang="en-US" dirty="0" smtClean="0"/>
              <a:t>…)</a:t>
            </a:r>
            <a:endParaRPr lang="en-IN" dirty="0"/>
          </a:p>
        </p:txBody>
      </p:sp>
      <p:sp>
        <p:nvSpPr>
          <p:cNvPr id="3" name="Content Placeholder 2"/>
          <p:cNvSpPr>
            <a:spLocks noGrp="1"/>
          </p:cNvSpPr>
          <p:nvPr>
            <p:ph idx="1"/>
          </p:nvPr>
        </p:nvSpPr>
        <p:spPr/>
        <p:txBody>
          <a:bodyPr/>
          <a:lstStyle/>
          <a:p>
            <a:r>
              <a:rPr lang="en-US" dirty="0" smtClean="0"/>
              <a:t>Receive </a:t>
            </a:r>
            <a:r>
              <a:rPr lang="en-US" dirty="0"/>
              <a:t>an alert when the temperature has reached the freezing point, querying data streams coming from a temperature sensor.</a:t>
            </a:r>
            <a:endParaRPr lang="en-US" dirty="0" smtClean="0"/>
          </a:p>
          <a:p>
            <a:r>
              <a:rPr lang="en-US" dirty="0" smtClean="0"/>
              <a:t>Other Use-cases: </a:t>
            </a:r>
          </a:p>
          <a:p>
            <a:pPr lvl="2"/>
            <a:r>
              <a:rPr lang="en-US" sz="2400" i="1" dirty="0" smtClean="0"/>
              <a:t>Smart Home automation</a:t>
            </a:r>
          </a:p>
          <a:p>
            <a:pPr lvl="2"/>
            <a:r>
              <a:rPr lang="en-US" sz="2400" i="1" dirty="0" smtClean="0"/>
              <a:t>Credit card fraud detection</a:t>
            </a:r>
          </a:p>
          <a:p>
            <a:pPr lvl="2"/>
            <a:r>
              <a:rPr lang="en-US" sz="2400" i="1" dirty="0" smtClean="0"/>
              <a:t>Hugh frequency </a:t>
            </a:r>
            <a:r>
              <a:rPr lang="en-US" sz="2400" i="1" dirty="0" smtClean="0"/>
              <a:t>trading</a:t>
            </a:r>
          </a:p>
          <a:p>
            <a:pPr lvl="2"/>
            <a:r>
              <a:rPr lang="en-US" sz="2400" i="1" dirty="0" smtClean="0"/>
              <a:t>Monitor the patient health continuously</a:t>
            </a:r>
            <a:endParaRPr lang="en-IN" sz="2400" i="1" dirty="0" smtClean="0"/>
          </a:p>
          <a:p>
            <a:r>
              <a:rPr lang="en-IN" dirty="0" smtClean="0"/>
              <a:t>Incremental computation </a:t>
            </a:r>
            <a:r>
              <a:rPr lang="en-IN" dirty="0"/>
              <a:t>vs</a:t>
            </a:r>
            <a:r>
              <a:rPr lang="en-IN" dirty="0" smtClean="0"/>
              <a:t>. Batch </a:t>
            </a:r>
            <a:r>
              <a:rPr lang="en-IN" dirty="0"/>
              <a:t>computation</a:t>
            </a:r>
            <a:endParaRPr lang="en-IN" dirty="0" smtClean="0"/>
          </a:p>
          <a:p>
            <a:r>
              <a:rPr lang="en-IN" dirty="0" smtClean="0"/>
              <a:t>Speed layer vs. Batch layer</a:t>
            </a:r>
          </a:p>
          <a:p>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4</a:t>
            </a:fld>
            <a:endParaRPr lang="en-IN" dirty="0"/>
          </a:p>
        </p:txBody>
      </p:sp>
    </p:spTree>
    <p:extLst>
      <p:ext uri="{BB962C8B-B14F-4D97-AF65-F5344CB8AC3E}">
        <p14:creationId xmlns:p14="http://schemas.microsoft.com/office/powerpoint/2010/main" val="2992821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Example</a:t>
            </a:r>
            <a:endParaRPr lang="en-IN" dirty="0"/>
          </a:p>
        </p:txBody>
      </p:sp>
      <p:sp>
        <p:nvSpPr>
          <p:cNvPr id="3" name="Content Placeholder 2"/>
          <p:cNvSpPr>
            <a:spLocks noGrp="1"/>
          </p:cNvSpPr>
          <p:nvPr>
            <p:ph idx="1"/>
          </p:nvPr>
        </p:nvSpPr>
        <p:spPr>
          <a:xfrm>
            <a:off x="1205859" y="1196752"/>
            <a:ext cx="9764083" cy="5040560"/>
          </a:xfrm>
        </p:spPr>
        <p:txBody>
          <a:bodyPr/>
          <a:lstStyle/>
          <a:p>
            <a:r>
              <a:rPr lang="en-IN" dirty="0">
                <a:latin typeface="Times New Roman" panose="02020603050405020304" pitchFamily="18" charset="0"/>
                <a:cs typeface="Times New Roman" panose="02020603050405020304" pitchFamily="18" charset="0"/>
              </a:rPr>
              <a:t>Suppose your data </a:t>
            </a:r>
            <a:r>
              <a:rPr lang="en-IN" dirty="0" smtClean="0">
                <a:latin typeface="Times New Roman" panose="02020603050405020304" pitchFamily="18" charset="0"/>
                <a:cs typeface="Times New Roman" panose="02020603050405020304" pitchFamily="18" charset="0"/>
              </a:rPr>
              <a:t>system </a:t>
            </a:r>
            <a:r>
              <a:rPr lang="en-US" dirty="0" smtClean="0">
                <a:latin typeface="Times New Roman" panose="02020603050405020304" pitchFamily="18" charset="0"/>
                <a:cs typeface="Times New Roman" panose="02020603050405020304" pitchFamily="18" charset="0"/>
              </a:rPr>
              <a:t>receives </a:t>
            </a:r>
            <a:r>
              <a:rPr lang="en-US" dirty="0">
                <a:latin typeface="Times New Roman" panose="02020603050405020304" pitchFamily="18" charset="0"/>
                <a:cs typeface="Times New Roman" panose="02020603050405020304" pitchFamily="18" charset="0"/>
              </a:rPr>
              <a:t>32 GB of new data per </a:t>
            </a:r>
            <a:r>
              <a:rPr lang="en-US" dirty="0" smtClean="0">
                <a:latin typeface="Times New Roman" panose="02020603050405020304" pitchFamily="18" charset="0"/>
                <a:cs typeface="Times New Roman" panose="02020603050405020304" pitchFamily="18" charset="0"/>
              </a:rPr>
              <a:t>day (24 hours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that new data gets into the serving </a:t>
            </a:r>
            <a:r>
              <a:rPr lang="en-US" dirty="0" smtClean="0">
                <a:latin typeface="Times New Roman" panose="02020603050405020304" pitchFamily="18" charset="0"/>
                <a:cs typeface="Times New Roman" panose="02020603050405020304" pitchFamily="18" charset="0"/>
              </a:rPr>
              <a:t>layer within </a:t>
            </a:r>
            <a:r>
              <a:rPr lang="en-US" dirty="0">
                <a:latin typeface="Times New Roman" panose="02020603050405020304" pitchFamily="18" charset="0"/>
                <a:cs typeface="Times New Roman" panose="02020603050405020304" pitchFamily="18" charset="0"/>
              </a:rPr>
              <a:t>6 hours of being received</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That is, 8 GB for every 6 hours.</a:t>
            </a:r>
          </a:p>
          <a:p>
            <a:r>
              <a:rPr lang="en-US" dirty="0" smtClean="0">
                <a:latin typeface="Times New Roman" panose="02020603050405020304" pitchFamily="18" charset="0"/>
                <a:cs typeface="Times New Roman" panose="02020603050405020304" pitchFamily="18" charset="0"/>
              </a:rPr>
              <a:t>Or, 8GB+</a:t>
            </a:r>
            <a:r>
              <a:rPr lang="en-US" dirty="0">
                <a:latin typeface="Times New Roman" panose="02020603050405020304" pitchFamily="18" charset="0"/>
                <a:cs typeface="Times New Roman" panose="02020603050405020304" pitchFamily="18" charset="0"/>
              </a:rPr>
              <a:t> 8GB</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8GB</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8GB in </a:t>
            </a:r>
            <a:r>
              <a:rPr lang="en-US" dirty="0" smtClean="0">
                <a:latin typeface="Times New Roman" panose="02020603050405020304" pitchFamily="18" charset="0"/>
                <a:cs typeface="Times New Roman" panose="02020603050405020304" pitchFamily="18" charset="0"/>
              </a:rPr>
              <a:t>6+6+6+6 (=24 hours).</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Running </a:t>
            </a:r>
            <a:r>
              <a:rPr lang="en-US" dirty="0">
                <a:latin typeface="Times New Roman" panose="02020603050405020304" pitchFamily="18" charset="0"/>
                <a:cs typeface="Times New Roman" panose="02020603050405020304" pitchFamily="18" charset="0"/>
              </a:rPr>
              <a:t>a function on 8 </a:t>
            </a:r>
            <a:r>
              <a:rPr lang="en-US" dirty="0" smtClean="0">
                <a:latin typeface="Times New Roman" panose="02020603050405020304" pitchFamily="18" charset="0"/>
                <a:cs typeface="Times New Roman" panose="02020603050405020304" pitchFamily="18" charset="0"/>
              </a:rPr>
              <a:t>GB of </a:t>
            </a:r>
            <a:r>
              <a:rPr lang="en-US" dirty="0">
                <a:latin typeface="Times New Roman" panose="02020603050405020304" pitchFamily="18" charset="0"/>
                <a:cs typeface="Times New Roman" panose="02020603050405020304" pitchFamily="18" charset="0"/>
              </a:rPr>
              <a:t>data each time you receive a new piece of data will be extremely </a:t>
            </a:r>
            <a:r>
              <a:rPr lang="en-US" dirty="0" smtClean="0">
                <a:latin typeface="Times New Roman" panose="02020603050405020304" pitchFamily="18" charset="0"/>
                <a:cs typeface="Times New Roman" panose="02020603050405020304" pitchFamily="18" charset="0"/>
              </a:rPr>
              <a:t>resource intensive.</a:t>
            </a:r>
          </a:p>
          <a:p>
            <a:r>
              <a:rPr lang="en-US" dirty="0" smtClean="0">
                <a:latin typeface="Times New Roman" panose="02020603050405020304" pitchFamily="18" charset="0"/>
                <a:cs typeface="Times New Roman" panose="02020603050405020304" pitchFamily="18" charset="0"/>
              </a:rPr>
              <a:t>Assume Average </a:t>
            </a:r>
            <a:r>
              <a:rPr lang="en-US" dirty="0">
                <a:latin typeface="Times New Roman" panose="02020603050405020304" pitchFamily="18" charset="0"/>
                <a:cs typeface="Times New Roman" panose="02020603050405020304" pitchFamily="18" charset="0"/>
              </a:rPr>
              <a:t>size of a data unit is </a:t>
            </a:r>
            <a:r>
              <a:rPr lang="en-US" dirty="0" smtClean="0">
                <a:latin typeface="Times New Roman" panose="02020603050405020304" pitchFamily="18" charset="0"/>
                <a:cs typeface="Times New Roman" panose="02020603050405020304" pitchFamily="18" charset="0"/>
              </a:rPr>
              <a:t> = 100 byte</a:t>
            </a:r>
          </a:p>
          <a:p>
            <a:r>
              <a:rPr lang="en-US" dirty="0" smtClean="0">
                <a:latin typeface="Times New Roman" panose="02020603050405020304" pitchFamily="18" charset="0"/>
                <a:cs typeface="Times New Roman" panose="02020603050405020304" pitchFamily="18" charset="0"/>
              </a:rPr>
              <a:t>8 </a:t>
            </a:r>
            <a:r>
              <a:rPr lang="en-US" dirty="0">
                <a:latin typeface="Times New Roman" panose="02020603050405020304" pitchFamily="18" charset="0"/>
                <a:cs typeface="Times New Roman" panose="02020603050405020304" pitchFamily="18" charset="0"/>
              </a:rPr>
              <a:t>GB of recent </a:t>
            </a:r>
            <a:r>
              <a:rPr lang="en-US" dirty="0" smtClean="0">
                <a:latin typeface="Times New Roman" panose="02020603050405020304" pitchFamily="18" charset="0"/>
                <a:cs typeface="Times New Roman" panose="02020603050405020304" pitchFamily="18" charset="0"/>
              </a:rPr>
              <a:t>data = 86 </a:t>
            </a:r>
            <a:r>
              <a:rPr lang="en-US" dirty="0">
                <a:latin typeface="Times New Roman" panose="02020603050405020304" pitchFamily="18" charset="0"/>
                <a:cs typeface="Times New Roman" panose="02020603050405020304" pitchFamily="18" charset="0"/>
              </a:rPr>
              <a:t>million data </a:t>
            </a:r>
            <a:r>
              <a:rPr lang="en-US" dirty="0" smtClean="0">
                <a:latin typeface="Times New Roman" panose="02020603050405020304" pitchFamily="18" charset="0"/>
                <a:cs typeface="Times New Roman" panose="02020603050405020304" pitchFamily="18" charset="0"/>
              </a:rPr>
              <a:t>units</a:t>
            </a:r>
          </a:p>
          <a:p>
            <a:r>
              <a:rPr lang="en-US" dirty="0" smtClean="0">
                <a:latin typeface="Times New Roman" panose="02020603050405020304" pitchFamily="18" charset="0"/>
                <a:cs typeface="Times New Roman" panose="02020603050405020304" pitchFamily="18" charset="0"/>
              </a:rPr>
              <a:t>Processing time for </a:t>
            </a:r>
            <a:r>
              <a:rPr lang="en-US" dirty="0" smtClean="0">
                <a:latin typeface="Times New Roman" panose="02020603050405020304" pitchFamily="18" charset="0"/>
                <a:cs typeface="Times New Roman" panose="02020603050405020304" pitchFamily="18" charset="0"/>
              </a:rPr>
              <a:t>8GB data every </a:t>
            </a:r>
            <a:r>
              <a:rPr lang="en-US" dirty="0" smtClean="0">
                <a:latin typeface="Times New Roman" panose="02020603050405020304" pitchFamily="18" charset="0"/>
                <a:cs typeface="Times New Roman" panose="02020603050405020304" pitchFamily="18" charset="0"/>
              </a:rPr>
              <a:t>6 hours = </a:t>
            </a:r>
            <a:r>
              <a:rPr lang="en-IN" dirty="0">
                <a:latin typeface="Times New Roman" panose="02020603050405020304" pitchFamily="18" charset="0"/>
                <a:cs typeface="Times New Roman" panose="02020603050405020304" pitchFamily="18" charset="0"/>
              </a:rPr>
              <a:t>86,000,000 ✕ </a:t>
            </a:r>
            <a:r>
              <a:rPr lang="en-IN" dirty="0" smtClean="0">
                <a:latin typeface="Times New Roman" panose="02020603050405020304" pitchFamily="18" charset="0"/>
                <a:cs typeface="Times New Roman" panose="02020603050405020304" pitchFamily="18" charset="0"/>
              </a:rPr>
              <a:t>8GB</a:t>
            </a:r>
            <a:endParaRPr lang="en-IN"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5</a:t>
            </a:fld>
            <a:endParaRPr lang="en-IN" dirty="0"/>
          </a:p>
        </p:txBody>
      </p:sp>
    </p:spTree>
    <p:extLst>
      <p:ext uri="{BB962C8B-B14F-4D97-AF65-F5344CB8AC3E}">
        <p14:creationId xmlns:p14="http://schemas.microsoft.com/office/powerpoint/2010/main" val="1369127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Example</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6</a:t>
            </a:fld>
            <a:endParaRPr lang="en-IN" dirty="0"/>
          </a:p>
        </p:txBody>
      </p:sp>
      <p:pic>
        <p:nvPicPr>
          <p:cNvPr id="6" name="Picture 5"/>
          <p:cNvPicPr>
            <a:picLocks noChangeAspect="1"/>
          </p:cNvPicPr>
          <p:nvPr/>
        </p:nvPicPr>
        <p:blipFill>
          <a:blip r:embed="rId2"/>
          <a:stretch>
            <a:fillRect/>
          </a:stretch>
        </p:blipFill>
        <p:spPr>
          <a:xfrm>
            <a:off x="1341884" y="1052736"/>
            <a:ext cx="9073008" cy="4984314"/>
          </a:xfrm>
          <a:prstGeom prst="rect">
            <a:avLst/>
          </a:prstGeom>
        </p:spPr>
      </p:pic>
    </p:spTree>
    <p:extLst>
      <p:ext uri="{BB962C8B-B14F-4D97-AF65-F5344CB8AC3E}">
        <p14:creationId xmlns:p14="http://schemas.microsoft.com/office/powerpoint/2010/main" val="363008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is stream Processing needed</a:t>
            </a:r>
            <a:r>
              <a:rPr lang="en-US" dirty="0" smtClean="0"/>
              <a:t>?</a:t>
            </a:r>
            <a:endParaRPr lang="en-IN" dirty="0"/>
          </a:p>
        </p:txBody>
      </p:sp>
      <p:sp>
        <p:nvSpPr>
          <p:cNvPr id="3" name="Content Placeholder 2"/>
          <p:cNvSpPr>
            <a:spLocks noGrp="1"/>
          </p:cNvSpPr>
          <p:nvPr>
            <p:ph idx="1"/>
          </p:nvPr>
        </p:nvSpPr>
        <p:spPr/>
        <p:txBody>
          <a:bodyPr>
            <a:normAutofit fontScale="92500"/>
          </a:bodyPr>
          <a:lstStyle/>
          <a:p>
            <a:r>
              <a:rPr lang="en-US" b="1" dirty="0" smtClean="0"/>
              <a:t>Reason 1:</a:t>
            </a:r>
            <a:r>
              <a:rPr lang="en-US" dirty="0" smtClean="0"/>
              <a:t> Some </a:t>
            </a:r>
            <a:r>
              <a:rPr lang="en-US" dirty="0"/>
              <a:t>data naturally comes as a never-ending stream of events. </a:t>
            </a:r>
            <a:endParaRPr lang="en-US" dirty="0" smtClean="0"/>
          </a:p>
          <a:p>
            <a:r>
              <a:rPr lang="en-US" dirty="0" smtClean="0"/>
              <a:t>To </a:t>
            </a:r>
            <a:r>
              <a:rPr lang="en-US" dirty="0"/>
              <a:t>do batch processing, you need to store it, stop data collection at some time and processes the data. </a:t>
            </a:r>
            <a:endParaRPr lang="en-US" dirty="0" smtClean="0"/>
          </a:p>
          <a:p>
            <a:r>
              <a:rPr lang="en-US" dirty="0" smtClean="0"/>
              <a:t>Then </a:t>
            </a:r>
            <a:r>
              <a:rPr lang="en-US" dirty="0"/>
              <a:t>you have to do the next batch and then worry about aggregating across multiple batches. </a:t>
            </a:r>
            <a:endParaRPr lang="en-US" dirty="0" smtClean="0"/>
          </a:p>
          <a:p>
            <a:r>
              <a:rPr lang="en-US" dirty="0" smtClean="0"/>
              <a:t>In </a:t>
            </a:r>
            <a:r>
              <a:rPr lang="en-US" dirty="0"/>
              <a:t>contrast, streaming handles </a:t>
            </a:r>
            <a:r>
              <a:rPr lang="en-US" dirty="0" smtClean="0"/>
              <a:t>never ending </a:t>
            </a:r>
            <a:r>
              <a:rPr lang="en-US" dirty="0"/>
              <a:t>data streams gracefully and naturally. </a:t>
            </a:r>
            <a:endParaRPr lang="en-US" dirty="0" smtClean="0"/>
          </a:p>
          <a:p>
            <a:r>
              <a:rPr lang="en-US" dirty="0" smtClean="0"/>
              <a:t>You </a:t>
            </a:r>
            <a:r>
              <a:rPr lang="en-US" dirty="0"/>
              <a:t>can detect patterns, inspect results, look at multiple levels of focus, and also easily look at data from multiple streams simultaneously</a:t>
            </a:r>
            <a:r>
              <a:rPr lang="en-US" dirty="0" smtClean="0"/>
              <a:t>.</a:t>
            </a:r>
          </a:p>
          <a:p>
            <a:r>
              <a:rPr lang="en-US" dirty="0" smtClean="0">
                <a:solidFill>
                  <a:srgbClr val="0070C0"/>
                </a:solidFill>
              </a:rPr>
              <a:t>Example: </a:t>
            </a:r>
            <a:r>
              <a:rPr lang="en-US" dirty="0">
                <a:solidFill>
                  <a:srgbClr val="0070C0"/>
                </a:solidFill>
              </a:rPr>
              <a:t>traffic sensors, health sensors, transaction logs, activity logs, etc. Almost all </a:t>
            </a:r>
            <a:r>
              <a:rPr lang="en-US" dirty="0" err="1">
                <a:solidFill>
                  <a:srgbClr val="0070C0"/>
                </a:solidFill>
              </a:rPr>
              <a:t>IoT</a:t>
            </a:r>
            <a:r>
              <a:rPr lang="en-US" dirty="0">
                <a:solidFill>
                  <a:srgbClr val="0070C0"/>
                </a:solidFill>
              </a:rPr>
              <a:t> data are time series </a:t>
            </a:r>
            <a:r>
              <a:rPr lang="en-US" dirty="0" smtClean="0">
                <a:solidFill>
                  <a:srgbClr val="0070C0"/>
                </a:solidFill>
              </a:rPr>
              <a:t>data.</a:t>
            </a:r>
            <a:endParaRPr lang="en-IN" dirty="0">
              <a:solidFill>
                <a:srgbClr val="0070C0"/>
              </a:solidFill>
            </a:endParaRPr>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7</a:t>
            </a:fld>
            <a:endParaRPr lang="en-IN" dirty="0"/>
          </a:p>
        </p:txBody>
      </p:sp>
    </p:spTree>
    <p:extLst>
      <p:ext uri="{BB962C8B-B14F-4D97-AF65-F5344CB8AC3E}">
        <p14:creationId xmlns:p14="http://schemas.microsoft.com/office/powerpoint/2010/main" val="1981141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IN" dirty="0"/>
          </a:p>
        </p:txBody>
      </p:sp>
      <p:sp>
        <p:nvSpPr>
          <p:cNvPr id="3" name="Content Placeholder 2"/>
          <p:cNvSpPr>
            <a:spLocks noGrp="1"/>
          </p:cNvSpPr>
          <p:nvPr>
            <p:ph idx="1"/>
          </p:nvPr>
        </p:nvSpPr>
        <p:spPr>
          <a:xfrm>
            <a:off x="1218883" y="1024905"/>
            <a:ext cx="4299466" cy="5040560"/>
          </a:xfrm>
        </p:spPr>
        <p:txBody>
          <a:bodyPr>
            <a:normAutofit/>
          </a:bodyPr>
          <a:lstStyle/>
          <a:p>
            <a:pPr algn="just"/>
            <a:r>
              <a:rPr lang="en-US" sz="2000" b="1" dirty="0" smtClean="0"/>
              <a:t>Reason 2:</a:t>
            </a:r>
            <a:r>
              <a:rPr lang="en-US" sz="2000" dirty="0" smtClean="0"/>
              <a:t> </a:t>
            </a:r>
            <a:r>
              <a:rPr lang="en-US" sz="2000" dirty="0"/>
              <a:t>Batch processing lets the data build up and try to process them at once while stream processing process data as they come in hence spread the processing over time. </a:t>
            </a:r>
            <a:endParaRPr lang="en-US" sz="2000" dirty="0" smtClean="0"/>
          </a:p>
          <a:p>
            <a:pPr algn="just"/>
            <a:r>
              <a:rPr lang="en-US" sz="2000" dirty="0" smtClean="0"/>
              <a:t>Stream </a:t>
            </a:r>
            <a:r>
              <a:rPr lang="en-US" sz="2000" dirty="0"/>
              <a:t>processing </a:t>
            </a:r>
            <a:r>
              <a:rPr lang="en-US" sz="2000" dirty="0" smtClean="0"/>
              <a:t> - less </a:t>
            </a:r>
            <a:r>
              <a:rPr lang="en-US" sz="2000" dirty="0"/>
              <a:t>hardware than batch processing. </a:t>
            </a:r>
            <a:endParaRPr lang="en-US" sz="2000" dirty="0" smtClean="0"/>
          </a:p>
          <a:p>
            <a:pPr algn="just"/>
            <a:r>
              <a:rPr lang="en-US" sz="2000" dirty="0" smtClean="0"/>
              <a:t>Enables </a:t>
            </a:r>
            <a:r>
              <a:rPr lang="en-US" sz="2000" dirty="0"/>
              <a:t>approximate query processing via systematic load shedding. </a:t>
            </a:r>
            <a:endParaRPr lang="en-US" sz="2000" dirty="0" smtClean="0"/>
          </a:p>
          <a:p>
            <a:pPr algn="just"/>
            <a:r>
              <a:rPr lang="en-US" sz="2000" dirty="0" smtClean="0"/>
              <a:t>Fits </a:t>
            </a:r>
            <a:r>
              <a:rPr lang="en-US" sz="2000" dirty="0"/>
              <a:t>naturally into use cases where approximate answers are sufficient.</a:t>
            </a:r>
            <a:endParaRPr lang="en-IN" sz="2000"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8</a:t>
            </a:fld>
            <a:endParaRPr lang="en-IN" dirty="0"/>
          </a:p>
        </p:txBody>
      </p:sp>
      <p:pic>
        <p:nvPicPr>
          <p:cNvPr id="1026" name="Picture 2" descr="What is the difference between batch and stream processing? | thatD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6420" y="2348880"/>
            <a:ext cx="5328592" cy="2046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894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IN" dirty="0"/>
          </a:p>
        </p:txBody>
      </p:sp>
      <p:sp>
        <p:nvSpPr>
          <p:cNvPr id="3" name="Content Placeholder 2"/>
          <p:cNvSpPr>
            <a:spLocks noGrp="1"/>
          </p:cNvSpPr>
          <p:nvPr>
            <p:ph idx="1"/>
          </p:nvPr>
        </p:nvSpPr>
        <p:spPr>
          <a:xfrm>
            <a:off x="1205860" y="1196752"/>
            <a:ext cx="9065016" cy="5040560"/>
          </a:xfrm>
        </p:spPr>
        <p:txBody>
          <a:bodyPr/>
          <a:lstStyle/>
          <a:p>
            <a:r>
              <a:rPr lang="en-US" b="1" dirty="0" smtClean="0"/>
              <a:t>Reason 3:</a:t>
            </a:r>
            <a:r>
              <a:rPr lang="en-US" dirty="0" smtClean="0"/>
              <a:t>  </a:t>
            </a:r>
            <a:r>
              <a:rPr lang="en-US" dirty="0"/>
              <a:t>Sometimes data is huge and it is not even possible to store it. </a:t>
            </a:r>
            <a:endParaRPr lang="en-US" dirty="0" smtClean="0"/>
          </a:p>
          <a:p>
            <a:r>
              <a:rPr lang="en-US" dirty="0" smtClean="0"/>
              <a:t>Can </a:t>
            </a:r>
            <a:r>
              <a:rPr lang="en-US" dirty="0"/>
              <a:t>handle large fire horse style data and retain only useful bits</a:t>
            </a:r>
            <a:r>
              <a:rPr lang="en-US" dirty="0" smtClean="0"/>
              <a:t>.</a:t>
            </a:r>
          </a:p>
          <a:p>
            <a:r>
              <a:rPr lang="en-US" b="1" dirty="0" smtClean="0"/>
              <a:t>Reason 4:</a:t>
            </a:r>
            <a:r>
              <a:rPr lang="en-US" dirty="0" smtClean="0"/>
              <a:t> lot </a:t>
            </a:r>
            <a:r>
              <a:rPr lang="en-US" dirty="0"/>
              <a:t>of streaming data available </a:t>
            </a:r>
            <a:r>
              <a:rPr lang="en-US" dirty="0" smtClean="0"/>
              <a:t>(e.g</a:t>
            </a:r>
            <a:r>
              <a:rPr lang="en-US" dirty="0"/>
              <a:t>. customer transactions, activities, website visits) and they will grow faster with </a:t>
            </a:r>
            <a:r>
              <a:rPr lang="en-US" dirty="0" err="1"/>
              <a:t>IoT</a:t>
            </a:r>
            <a:r>
              <a:rPr lang="en-US" dirty="0"/>
              <a:t> use cases </a:t>
            </a:r>
            <a:r>
              <a:rPr lang="en-US" dirty="0" smtClean="0"/>
              <a:t>(all </a:t>
            </a:r>
            <a:r>
              <a:rPr lang="en-US" dirty="0"/>
              <a:t>kind of sensors). </a:t>
            </a:r>
            <a:endParaRPr lang="en-US" dirty="0" smtClean="0"/>
          </a:p>
          <a:p>
            <a:r>
              <a:rPr lang="en-US" dirty="0" smtClean="0"/>
              <a:t>More </a:t>
            </a:r>
            <a:r>
              <a:rPr lang="en-US" dirty="0"/>
              <a:t>natural model to think about and program those use cases.</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9</a:t>
            </a:fld>
            <a:endParaRPr lang="en-IN" dirty="0"/>
          </a:p>
        </p:txBody>
      </p:sp>
    </p:spTree>
    <p:extLst>
      <p:ext uri="{BB962C8B-B14F-4D97-AF65-F5344CB8AC3E}">
        <p14:creationId xmlns:p14="http://schemas.microsoft.com/office/powerpoint/2010/main" val="2447978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900336"/>
          </a:xfrm>
        </p:spPr>
        <p:txBody>
          <a:bodyPr/>
          <a:lstStyle/>
          <a:p>
            <a:r>
              <a:rPr lang="en-US" sz="4000" b="1" dirty="0" smtClean="0">
                <a:solidFill>
                  <a:srgbClr val="4E8542">
                    <a:lumMod val="75000"/>
                  </a:srgbClr>
                </a:solidFill>
                <a:latin typeface="Bookman Old Style" panose="02050604050505020204" pitchFamily="18" charset="0"/>
              </a:rPr>
              <a:t>Use Cases</a:t>
            </a:r>
            <a:endParaRPr lang="en-IN" dirty="0"/>
          </a:p>
        </p:txBody>
      </p:sp>
      <p:sp>
        <p:nvSpPr>
          <p:cNvPr id="6" name="Content Placeholder 5"/>
          <p:cNvSpPr>
            <a:spLocks noGrp="1"/>
          </p:cNvSpPr>
          <p:nvPr>
            <p:ph sz="half" idx="1"/>
          </p:nvPr>
        </p:nvSpPr>
        <p:spPr>
          <a:xfrm>
            <a:off x="1141412" y="1196752"/>
            <a:ext cx="4875530" cy="4975448"/>
          </a:xfrm>
        </p:spPr>
        <p:txBody>
          <a:bodyPr>
            <a:normAutofit lnSpcReduction="10000"/>
          </a:bodyPr>
          <a:lstStyle/>
          <a:p>
            <a:r>
              <a:rPr lang="en-US" sz="2000" dirty="0"/>
              <a:t>Algorithmic Trading, Stock Market Surveillance,</a:t>
            </a:r>
          </a:p>
          <a:p>
            <a:r>
              <a:rPr lang="en-US" sz="2000" dirty="0"/>
              <a:t>Smart Patient Care</a:t>
            </a:r>
          </a:p>
          <a:p>
            <a:r>
              <a:rPr lang="en-US" sz="2000" dirty="0"/>
              <a:t>Monitoring a production line</a:t>
            </a:r>
          </a:p>
          <a:p>
            <a:r>
              <a:rPr lang="en-US" sz="2000" dirty="0"/>
              <a:t>Supply chain optimizations</a:t>
            </a:r>
          </a:p>
          <a:p>
            <a:r>
              <a:rPr lang="en-US" sz="2000" dirty="0"/>
              <a:t>Intrusion, Surveillance and Fraud Detection </a:t>
            </a:r>
            <a:r>
              <a:rPr lang="en-US" sz="2000" dirty="0" smtClean="0"/>
              <a:t> </a:t>
            </a:r>
            <a:r>
              <a:rPr lang="en-US" sz="2000" dirty="0"/>
              <a:t>e.g. Uber)</a:t>
            </a:r>
          </a:p>
          <a:p>
            <a:r>
              <a:rPr lang="en-US" sz="2000" dirty="0"/>
              <a:t>Most Smart Device Applications: Smart Car, Smart Home ..</a:t>
            </a:r>
          </a:p>
          <a:p>
            <a:r>
              <a:rPr lang="en-US" sz="2000" dirty="0"/>
              <a:t>Smart Grid — (e.g. load prediction and outlier plug detection see Smart grids, 4 Billion events, throughout in range of 100Ks</a:t>
            </a:r>
            <a:r>
              <a:rPr lang="en-US" sz="2000" dirty="0" smtClean="0"/>
              <a:t>)</a:t>
            </a:r>
            <a:endParaRPr lang="en-US" sz="2000" dirty="0"/>
          </a:p>
        </p:txBody>
      </p:sp>
      <p:sp>
        <p:nvSpPr>
          <p:cNvPr id="7" name="Content Placeholder 6"/>
          <p:cNvSpPr>
            <a:spLocks noGrp="1"/>
          </p:cNvSpPr>
          <p:nvPr>
            <p:ph sz="half" idx="2"/>
          </p:nvPr>
        </p:nvSpPr>
        <p:spPr>
          <a:xfrm>
            <a:off x="6747980" y="1052736"/>
            <a:ext cx="4787685" cy="5544616"/>
          </a:xfrm>
        </p:spPr>
        <p:txBody>
          <a:bodyPr>
            <a:noAutofit/>
          </a:bodyPr>
          <a:lstStyle/>
          <a:p>
            <a:r>
              <a:rPr lang="en-US" sz="2000" dirty="0"/>
              <a:t>Traffic Monitoring, </a:t>
            </a:r>
            <a:r>
              <a:rPr lang="en-US" sz="2000" dirty="0" err="1"/>
              <a:t>Geofencing</a:t>
            </a:r>
            <a:r>
              <a:rPr lang="en-US" sz="2000" dirty="0"/>
              <a:t>, Vehicle, and Wildlife tracking — e.g. TFL London Transport Management System</a:t>
            </a:r>
          </a:p>
          <a:p>
            <a:r>
              <a:rPr lang="en-US" sz="2000" dirty="0" smtClean="0"/>
              <a:t>Sports </a:t>
            </a:r>
            <a:r>
              <a:rPr lang="en-US" sz="2000" dirty="0"/>
              <a:t>analytics — Augment Sports with real-time analytics </a:t>
            </a:r>
            <a:r>
              <a:rPr lang="en-US" sz="2000" dirty="0" smtClean="0"/>
              <a:t> </a:t>
            </a:r>
            <a:endParaRPr lang="en-US" sz="2000" dirty="0"/>
          </a:p>
          <a:p>
            <a:r>
              <a:rPr lang="en-US" sz="2000" dirty="0"/>
              <a:t>Context-aware promotions and advertising</a:t>
            </a:r>
          </a:p>
          <a:p>
            <a:r>
              <a:rPr lang="en-US" sz="2000" dirty="0"/>
              <a:t>Computer system and network monitoring</a:t>
            </a:r>
          </a:p>
          <a:p>
            <a:r>
              <a:rPr lang="en-US" sz="2000" dirty="0"/>
              <a:t>Predictive Maintenance, (e.g. Machine Learning Techniques for Predictive Maintenance)</a:t>
            </a:r>
          </a:p>
          <a:p>
            <a:r>
              <a:rPr lang="en-US" sz="2000" dirty="0"/>
              <a:t>Geospatial data </a:t>
            </a:r>
            <a:r>
              <a:rPr lang="en-US" sz="2000" dirty="0" smtClean="0"/>
              <a:t>processing</a:t>
            </a:r>
            <a:endParaRPr lang="en-US" sz="2000"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10</a:t>
            </a:fld>
            <a:endParaRPr lang="en-IN" dirty="0"/>
          </a:p>
        </p:txBody>
      </p:sp>
      <p:pic>
        <p:nvPicPr>
          <p:cNvPr id="9" name="Picture 8"/>
          <p:cNvPicPr>
            <a:picLocks noChangeAspect="1"/>
          </p:cNvPicPr>
          <p:nvPr/>
        </p:nvPicPr>
        <p:blipFill>
          <a:blip r:embed="rId2"/>
          <a:stretch>
            <a:fillRect/>
          </a:stretch>
        </p:blipFill>
        <p:spPr>
          <a:xfrm>
            <a:off x="1874351" y="6374306"/>
            <a:ext cx="8285182" cy="329213"/>
          </a:xfrm>
          <a:prstGeom prst="rect">
            <a:avLst/>
          </a:prstGeom>
        </p:spPr>
      </p:pic>
    </p:spTree>
    <p:extLst>
      <p:ext uri="{BB962C8B-B14F-4D97-AF65-F5344CB8AC3E}">
        <p14:creationId xmlns:p14="http://schemas.microsoft.com/office/powerpoint/2010/main" val="44586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Stream Processing Architectures</a:t>
            </a:r>
          </a:p>
        </p:txBody>
      </p:sp>
      <p:sp>
        <p:nvSpPr>
          <p:cNvPr id="3" name="Content Placeholder 2"/>
          <p:cNvSpPr>
            <a:spLocks noGrp="1"/>
          </p:cNvSpPr>
          <p:nvPr>
            <p:ph idx="1"/>
          </p:nvPr>
        </p:nvSpPr>
        <p:spPr/>
        <p:txBody>
          <a:bodyPr>
            <a:normAutofit/>
          </a:bodyPr>
          <a:lstStyle/>
          <a:p>
            <a:r>
              <a:rPr lang="en-IN" sz="2000" b="1" dirty="0"/>
              <a:t>Kappa Architecture</a:t>
            </a:r>
          </a:p>
          <a:p>
            <a:r>
              <a:rPr lang="en-US" sz="2000" dirty="0"/>
              <a:t>Kappa Architecture simplifies data processing by combining batch and real-time analytics into one. </a:t>
            </a:r>
            <a:endParaRPr lang="en-US" sz="2000" dirty="0" smtClean="0"/>
          </a:p>
          <a:p>
            <a:r>
              <a:rPr lang="en-US" sz="2000" dirty="0" smtClean="0"/>
              <a:t>Data </a:t>
            </a:r>
            <a:r>
              <a:rPr lang="en-US" sz="2000" dirty="0"/>
              <a:t>enters a central data queue such as Apache Kafka and is converted into a format that can be directly fed into an analytics database. </a:t>
            </a:r>
            <a:endParaRPr lang="en-US" sz="2000" dirty="0" smtClean="0"/>
          </a:p>
          <a:p>
            <a:r>
              <a:rPr lang="en-US" sz="2000" dirty="0" smtClean="0"/>
              <a:t>By </a:t>
            </a:r>
            <a:r>
              <a:rPr lang="en-US" sz="2000" dirty="0"/>
              <a:t>removing complexity and increasing efficiency, this unified method enables you to analyze data more quickly and instantly obtain deeper insights.</a:t>
            </a:r>
            <a:endParaRPr lang="en-IN" sz="2000"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11</a:t>
            </a:fld>
            <a:endParaRPr lang="en-IN" dirty="0"/>
          </a:p>
        </p:txBody>
      </p:sp>
      <p:pic>
        <p:nvPicPr>
          <p:cNvPr id="2050" name="Picture 2" descr="Kappa Architectur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9956" y="3933056"/>
            <a:ext cx="7620000" cy="201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5490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Lambda </a:t>
            </a:r>
            <a:r>
              <a:rPr lang="en-IN" dirty="0" smtClean="0"/>
              <a:t>Architecture</a:t>
            </a:r>
            <a:endParaRPr lang="en-IN" dirty="0"/>
          </a:p>
        </p:txBody>
      </p:sp>
      <p:sp>
        <p:nvSpPr>
          <p:cNvPr id="3" name="Content Placeholder 2"/>
          <p:cNvSpPr>
            <a:spLocks noGrp="1"/>
          </p:cNvSpPr>
          <p:nvPr>
            <p:ph idx="1"/>
          </p:nvPr>
        </p:nvSpPr>
        <p:spPr/>
        <p:txBody>
          <a:bodyPr>
            <a:normAutofit/>
          </a:bodyPr>
          <a:lstStyle/>
          <a:p>
            <a:r>
              <a:rPr lang="en-US" sz="2000" dirty="0" smtClean="0"/>
              <a:t>It blends </a:t>
            </a:r>
            <a:r>
              <a:rPr lang="en-US" sz="2000" dirty="0"/>
              <a:t>real-time stream processing for instant insights with conventional batch processing for historical analysis. </a:t>
            </a:r>
            <a:endParaRPr lang="en-US" sz="2000" dirty="0" smtClean="0"/>
          </a:p>
          <a:p>
            <a:r>
              <a:rPr lang="en-US" sz="2000" dirty="0" smtClean="0"/>
              <a:t>Enterprises </a:t>
            </a:r>
            <a:r>
              <a:rPr lang="en-US" sz="2000" dirty="0"/>
              <a:t>may see all aspects of their data, from quick changes to long-term patterns. </a:t>
            </a:r>
            <a:endParaRPr lang="en-US" sz="2000" dirty="0" smtClean="0"/>
          </a:p>
          <a:p>
            <a:r>
              <a:rPr lang="en-US" sz="2000" dirty="0" smtClean="0"/>
              <a:t>Elements: batch </a:t>
            </a:r>
            <a:r>
              <a:rPr lang="en-US" sz="2000" dirty="0"/>
              <a:t>pipeline for historical data analysis, a streaming pipeline for real-time data acquisition and </a:t>
            </a:r>
            <a:r>
              <a:rPr lang="en-US" sz="2000" dirty="0" smtClean="0"/>
              <a:t>processing.</a:t>
            </a:r>
            <a:endParaRPr lang="en-IN" sz="2000"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12</a:t>
            </a:fld>
            <a:endParaRPr lang="en-IN" dirty="0"/>
          </a:p>
        </p:txBody>
      </p:sp>
      <p:pic>
        <p:nvPicPr>
          <p:cNvPr id="3074" name="Picture 2" descr="The Lambda Architecture contains both a traditional batch data pipeline and a fast streaming pipeline for real-time data, as well as a serving layer for responding to quer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9997" y="3388946"/>
            <a:ext cx="6768752" cy="2961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1639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simple Solution</a:t>
            </a:r>
            <a:endParaRPr lang="en-IN" dirty="0"/>
          </a:p>
        </p:txBody>
      </p:sp>
      <p:sp>
        <p:nvSpPr>
          <p:cNvPr id="3" name="Content Placeholder 2"/>
          <p:cNvSpPr>
            <a:spLocks noGrp="1"/>
          </p:cNvSpPr>
          <p:nvPr>
            <p:ph idx="1"/>
          </p:nvPr>
        </p:nvSpPr>
        <p:spPr/>
        <p:txBody>
          <a:bodyPr/>
          <a:lstStyle/>
          <a:p>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13</a:t>
            </a:fld>
            <a:endParaRPr lang="en-IN" dirty="0"/>
          </a:p>
        </p:txBody>
      </p:sp>
      <p:pic>
        <p:nvPicPr>
          <p:cNvPr id="6" name="Picture 5"/>
          <p:cNvPicPr>
            <a:picLocks noChangeAspect="1"/>
          </p:cNvPicPr>
          <p:nvPr/>
        </p:nvPicPr>
        <p:blipFill>
          <a:blip r:embed="rId2"/>
          <a:stretch>
            <a:fillRect/>
          </a:stretch>
        </p:blipFill>
        <p:spPr>
          <a:xfrm>
            <a:off x="5446340" y="1196752"/>
            <a:ext cx="5184576" cy="1682809"/>
          </a:xfrm>
          <a:prstGeom prst="rect">
            <a:avLst/>
          </a:prstGeom>
          <a:ln>
            <a:solidFill>
              <a:schemeClr val="accent1"/>
            </a:solidFill>
          </a:ln>
        </p:spPr>
      </p:pic>
      <p:pic>
        <p:nvPicPr>
          <p:cNvPr id="7" name="Picture 6"/>
          <p:cNvPicPr>
            <a:picLocks noChangeAspect="1"/>
          </p:cNvPicPr>
          <p:nvPr/>
        </p:nvPicPr>
        <p:blipFill>
          <a:blip r:embed="rId3"/>
          <a:stretch>
            <a:fillRect/>
          </a:stretch>
        </p:blipFill>
        <p:spPr>
          <a:xfrm>
            <a:off x="4654252" y="3023577"/>
            <a:ext cx="6063977" cy="3213735"/>
          </a:xfrm>
          <a:prstGeom prst="rect">
            <a:avLst/>
          </a:prstGeom>
          <a:ln>
            <a:solidFill>
              <a:schemeClr val="accent1"/>
            </a:solidFill>
          </a:ln>
        </p:spPr>
      </p:pic>
      <p:sp>
        <p:nvSpPr>
          <p:cNvPr id="8" name="Rectangle 7"/>
          <p:cNvSpPr/>
          <p:nvPr/>
        </p:nvSpPr>
        <p:spPr>
          <a:xfrm>
            <a:off x="1680361" y="5517232"/>
            <a:ext cx="2973891" cy="461665"/>
          </a:xfrm>
          <a:prstGeom prst="rect">
            <a:avLst/>
          </a:prstGeom>
        </p:spPr>
        <p:txBody>
          <a:bodyPr wrap="none">
            <a:spAutoFit/>
          </a:bodyPr>
          <a:lstStyle/>
          <a:p>
            <a:r>
              <a:rPr lang="en-IN" dirty="0">
                <a:latin typeface="FranklinGothic-Demi"/>
              </a:rPr>
              <a:t>Incremental strategy</a:t>
            </a:r>
            <a:endParaRPr lang="en-IN" dirty="0"/>
          </a:p>
        </p:txBody>
      </p:sp>
      <p:sp>
        <p:nvSpPr>
          <p:cNvPr id="9" name="Rectangle 8"/>
          <p:cNvSpPr/>
          <p:nvPr/>
        </p:nvSpPr>
        <p:spPr>
          <a:xfrm>
            <a:off x="261764" y="2747536"/>
            <a:ext cx="4248472" cy="1938992"/>
          </a:xfrm>
          <a:prstGeom prst="rect">
            <a:avLst/>
          </a:prstGeom>
          <a:solidFill>
            <a:schemeClr val="accent2"/>
          </a:solidFill>
        </p:spPr>
        <p:txBody>
          <a:bodyPr wrap="square">
            <a:spAutoFit/>
          </a:bodyPr>
          <a:lstStyle/>
          <a:p>
            <a:r>
              <a:rPr lang="en-IN" sz="2000" b="1" dirty="0">
                <a:solidFill>
                  <a:srgbClr val="FFFF00"/>
                </a:solidFill>
                <a:latin typeface="NewBaskerville-Roman"/>
              </a:rPr>
              <a:t>Rather than compute functions</a:t>
            </a:r>
          </a:p>
          <a:p>
            <a:r>
              <a:rPr lang="en-US" sz="2000" b="1" dirty="0">
                <a:solidFill>
                  <a:srgbClr val="FFFF00"/>
                </a:solidFill>
                <a:latin typeface="NewBaskerville-Roman"/>
              </a:rPr>
              <a:t>on your entire dataset, you instead </a:t>
            </a:r>
            <a:r>
              <a:rPr lang="en-US" sz="2000" b="1" dirty="0" smtClean="0">
                <a:solidFill>
                  <a:srgbClr val="FFFF00"/>
                </a:solidFill>
                <a:latin typeface="NewBaskerville-Roman"/>
              </a:rPr>
              <a:t>compute </a:t>
            </a:r>
            <a:r>
              <a:rPr lang="en-US" sz="2000" b="1" dirty="0">
                <a:solidFill>
                  <a:srgbClr val="FFFF00"/>
                </a:solidFill>
                <a:latin typeface="NewBaskerville-Roman"/>
              </a:rPr>
              <a:t>using more complex incremental </a:t>
            </a:r>
            <a:r>
              <a:rPr lang="en-US" sz="2000" b="1" dirty="0" smtClean="0">
                <a:solidFill>
                  <a:srgbClr val="FFFF00"/>
                </a:solidFill>
                <a:latin typeface="NewBaskerville-Roman"/>
              </a:rPr>
              <a:t>algorithms on </a:t>
            </a:r>
            <a:r>
              <a:rPr lang="en-US" sz="2000" b="1" dirty="0">
                <a:solidFill>
                  <a:srgbClr val="FFFF00"/>
                </a:solidFill>
                <a:latin typeface="NewBaskerville-Roman"/>
              </a:rPr>
              <a:t>more complex forms </a:t>
            </a:r>
            <a:endParaRPr lang="en-US" sz="2000" b="1" dirty="0" smtClean="0">
              <a:solidFill>
                <a:srgbClr val="FFFF00"/>
              </a:solidFill>
              <a:latin typeface="NewBaskerville-Roman"/>
            </a:endParaRPr>
          </a:p>
          <a:p>
            <a:r>
              <a:rPr lang="en-US" sz="2000" b="1" dirty="0" smtClean="0">
                <a:solidFill>
                  <a:srgbClr val="FFFF00"/>
                </a:solidFill>
                <a:latin typeface="NewBaskerville-Roman"/>
              </a:rPr>
              <a:t>of </a:t>
            </a:r>
            <a:r>
              <a:rPr lang="en-US" sz="2000" b="1" dirty="0">
                <a:solidFill>
                  <a:srgbClr val="FFFF00"/>
                </a:solidFill>
                <a:latin typeface="NewBaskerville-Roman"/>
              </a:rPr>
              <a:t>storage.</a:t>
            </a:r>
            <a:endParaRPr lang="en-IN" sz="2000" b="1" dirty="0">
              <a:solidFill>
                <a:srgbClr val="FFFF00"/>
              </a:solidFill>
            </a:endParaRPr>
          </a:p>
        </p:txBody>
      </p:sp>
    </p:spTree>
    <p:extLst>
      <p:ext uri="{BB962C8B-B14F-4D97-AF65-F5344CB8AC3E}">
        <p14:creationId xmlns:p14="http://schemas.microsoft.com/office/powerpoint/2010/main" val="854744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Speed Layer Architecture</a:t>
            </a:r>
            <a:endParaRPr lang="en-IN" dirty="0"/>
          </a:p>
        </p:txBody>
      </p:sp>
      <p:sp>
        <p:nvSpPr>
          <p:cNvPr id="3" name="Content Placeholder 2"/>
          <p:cNvSpPr>
            <a:spLocks noGrp="1"/>
          </p:cNvSpPr>
          <p:nvPr>
            <p:ph idx="1"/>
          </p:nvPr>
        </p:nvSpPr>
        <p:spPr>
          <a:xfrm>
            <a:off x="1205860" y="1196752"/>
            <a:ext cx="5320600" cy="5040560"/>
          </a:xfrm>
        </p:spPr>
        <p:txBody>
          <a:bodyPr/>
          <a:lstStyle/>
          <a:p>
            <a:r>
              <a:rPr lang="en-IN" b="1" i="1" dirty="0"/>
              <a:t>Asynchronous versus synchronous </a:t>
            </a:r>
            <a:r>
              <a:rPr lang="en-IN" b="1" i="1" dirty="0" smtClean="0"/>
              <a:t>updates</a:t>
            </a:r>
          </a:p>
          <a:p>
            <a:r>
              <a:rPr lang="en-IN" b="1" i="1" dirty="0"/>
              <a:t>synchronous updates </a:t>
            </a:r>
            <a:r>
              <a:rPr lang="en-IN" b="1" i="1" dirty="0" smtClean="0"/>
              <a:t>: </a:t>
            </a:r>
            <a:r>
              <a:rPr lang="en-IN" dirty="0" smtClean="0"/>
              <a:t>the application </a:t>
            </a:r>
            <a:r>
              <a:rPr lang="en-US" dirty="0" smtClean="0"/>
              <a:t>issues </a:t>
            </a:r>
            <a:r>
              <a:rPr lang="en-US" dirty="0"/>
              <a:t>a request directly to the database and blocks until the update is processed.</a:t>
            </a:r>
          </a:p>
          <a:p>
            <a:r>
              <a:rPr lang="en-US" dirty="0"/>
              <a:t>For example, if a user registers an email address, you may choose to issue a </a:t>
            </a:r>
            <a:r>
              <a:rPr lang="en-US" dirty="0" smtClean="0"/>
              <a:t>synchronous update </a:t>
            </a:r>
            <a:r>
              <a:rPr lang="en-US" dirty="0"/>
              <a:t>to the database to record the new information</a:t>
            </a:r>
            <a:r>
              <a:rPr lang="en-US" dirty="0" smtClean="0"/>
              <a:t>. It’s faster.</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14</a:t>
            </a:fld>
            <a:endParaRPr lang="en-IN" dirty="0"/>
          </a:p>
        </p:txBody>
      </p:sp>
      <p:pic>
        <p:nvPicPr>
          <p:cNvPr id="6" name="Picture 5"/>
          <p:cNvPicPr>
            <a:picLocks noChangeAspect="1"/>
          </p:cNvPicPr>
          <p:nvPr/>
        </p:nvPicPr>
        <p:blipFill>
          <a:blip r:embed="rId2"/>
          <a:stretch>
            <a:fillRect/>
          </a:stretch>
        </p:blipFill>
        <p:spPr>
          <a:xfrm>
            <a:off x="6617529" y="1556793"/>
            <a:ext cx="5011681" cy="3312368"/>
          </a:xfrm>
          <a:prstGeom prst="rect">
            <a:avLst/>
          </a:prstGeom>
        </p:spPr>
      </p:pic>
    </p:spTree>
    <p:extLst>
      <p:ext uri="{BB962C8B-B14F-4D97-AF65-F5344CB8AC3E}">
        <p14:creationId xmlns:p14="http://schemas.microsoft.com/office/powerpoint/2010/main" val="253439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Asynchronous Updates</a:t>
            </a:r>
            <a:endParaRPr lang="en-IN" dirty="0"/>
          </a:p>
        </p:txBody>
      </p:sp>
      <p:sp>
        <p:nvSpPr>
          <p:cNvPr id="3" name="Content Placeholder 2"/>
          <p:cNvSpPr>
            <a:spLocks noGrp="1"/>
          </p:cNvSpPr>
          <p:nvPr>
            <p:ph idx="1"/>
          </p:nvPr>
        </p:nvSpPr>
        <p:spPr/>
        <p:txBody>
          <a:bodyPr/>
          <a:lstStyle/>
          <a:p>
            <a:r>
              <a:rPr lang="en-US" dirty="0" smtClean="0"/>
              <a:t>Asynchronous </a:t>
            </a:r>
            <a:r>
              <a:rPr lang="en-US" dirty="0"/>
              <a:t>update requests are placed in a queue with the </a:t>
            </a:r>
            <a:r>
              <a:rPr lang="en-US" dirty="0" smtClean="0"/>
              <a:t>updates occurring </a:t>
            </a:r>
            <a:r>
              <a:rPr lang="en-US" dirty="0"/>
              <a:t>at a later time. </a:t>
            </a:r>
            <a:endParaRPr lang="en-US" dirty="0" smtClean="0"/>
          </a:p>
          <a:p>
            <a:r>
              <a:rPr lang="en-US" dirty="0" smtClean="0"/>
              <a:t>In </a:t>
            </a:r>
            <a:r>
              <a:rPr lang="en-US" dirty="0"/>
              <a:t>the speed layer, this delay </a:t>
            </a:r>
            <a:r>
              <a:rPr lang="en-US" dirty="0" smtClean="0"/>
              <a:t>is from </a:t>
            </a:r>
            <a:r>
              <a:rPr lang="en-US" dirty="0"/>
              <a:t>a few </a:t>
            </a:r>
            <a:r>
              <a:rPr lang="en-US" dirty="0" smtClean="0"/>
              <a:t>milliseconds to </a:t>
            </a:r>
            <a:r>
              <a:rPr lang="en-US" dirty="0"/>
              <a:t>a few seconds, but it could take even longer if there’s an excess of </a:t>
            </a:r>
            <a:r>
              <a:rPr lang="en-US" dirty="0" smtClean="0"/>
              <a:t>requests.</a:t>
            </a:r>
          </a:p>
          <a:p>
            <a:endParaRPr lang="en-US" dirty="0" smtClean="0"/>
          </a:p>
          <a:p>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15</a:t>
            </a:fld>
            <a:endParaRPr lang="en-IN" dirty="0"/>
          </a:p>
        </p:txBody>
      </p:sp>
      <p:pic>
        <p:nvPicPr>
          <p:cNvPr id="6" name="Picture 5"/>
          <p:cNvPicPr>
            <a:picLocks noChangeAspect="1"/>
          </p:cNvPicPr>
          <p:nvPr/>
        </p:nvPicPr>
        <p:blipFill>
          <a:blip r:embed="rId2"/>
          <a:stretch>
            <a:fillRect/>
          </a:stretch>
        </p:blipFill>
        <p:spPr>
          <a:xfrm>
            <a:off x="2061035" y="3429000"/>
            <a:ext cx="7417449" cy="2507949"/>
          </a:xfrm>
          <a:prstGeom prst="rect">
            <a:avLst/>
          </a:prstGeom>
        </p:spPr>
      </p:pic>
    </p:spTree>
    <p:extLst>
      <p:ext uri="{BB962C8B-B14F-4D97-AF65-F5344CB8AC3E}">
        <p14:creationId xmlns:p14="http://schemas.microsoft.com/office/powerpoint/2010/main" val="4147710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3" y="152400"/>
            <a:ext cx="9751060" cy="1044352"/>
          </a:xfrm>
        </p:spPr>
        <p:txBody>
          <a:bodyPr>
            <a:normAutofit fontScale="90000"/>
          </a:bodyPr>
          <a:lstStyle/>
          <a:p>
            <a:r>
              <a:rPr lang="en-US" dirty="0"/>
              <a:t>Distributed Messaging Architecture: Apache Kafka</a:t>
            </a:r>
            <a:endParaRPr lang="en-IN" dirty="0"/>
          </a:p>
        </p:txBody>
      </p:sp>
      <p:sp>
        <p:nvSpPr>
          <p:cNvPr id="3" name="Content Placeholder 2"/>
          <p:cNvSpPr>
            <a:spLocks noGrp="1"/>
          </p:cNvSpPr>
          <p:nvPr>
            <p:ph idx="1"/>
          </p:nvPr>
        </p:nvSpPr>
        <p:spPr/>
        <p:txBody>
          <a:bodyPr/>
          <a:lstStyle/>
          <a:p>
            <a:r>
              <a:rPr lang="en-US" dirty="0"/>
              <a:t>Apache </a:t>
            </a:r>
            <a:r>
              <a:rPr lang="en-US" dirty="0" smtClean="0"/>
              <a:t>Kafka - distributed </a:t>
            </a:r>
            <a:r>
              <a:rPr lang="en-US" dirty="0"/>
              <a:t>messaging </a:t>
            </a:r>
            <a:r>
              <a:rPr lang="en-US" dirty="0" smtClean="0"/>
              <a:t>system.</a:t>
            </a:r>
          </a:p>
          <a:p>
            <a:r>
              <a:rPr lang="en-US" dirty="0" smtClean="0"/>
              <a:t>Storm - distributed </a:t>
            </a:r>
            <a:r>
              <a:rPr lang="en-US" dirty="0"/>
              <a:t>stream processing engine</a:t>
            </a:r>
            <a:r>
              <a:rPr lang="en-US" dirty="0" smtClean="0"/>
              <a:t>.</a:t>
            </a:r>
          </a:p>
          <a:p>
            <a:r>
              <a:rPr lang="en-US" dirty="0"/>
              <a:t>Any messaging system has three major components; the message </a:t>
            </a:r>
            <a:r>
              <a:rPr lang="en-US" b="1" dirty="0"/>
              <a:t>producer</a:t>
            </a:r>
            <a:r>
              <a:rPr lang="en-US" dirty="0"/>
              <a:t>, the message </a:t>
            </a:r>
            <a:r>
              <a:rPr lang="en-US" b="1" dirty="0"/>
              <a:t>consumer</a:t>
            </a:r>
            <a:r>
              <a:rPr lang="en-US" dirty="0"/>
              <a:t>, and the message </a:t>
            </a:r>
            <a:r>
              <a:rPr lang="en-US" b="1" dirty="0"/>
              <a:t>broker</a:t>
            </a:r>
            <a:r>
              <a:rPr lang="en-US" dirty="0"/>
              <a:t>. </a:t>
            </a:r>
            <a:endParaRPr lang="en-US" dirty="0" smtClean="0"/>
          </a:p>
          <a:p>
            <a:r>
              <a:rPr lang="en-US" dirty="0" smtClean="0"/>
              <a:t>In </a:t>
            </a:r>
            <a:r>
              <a:rPr lang="en-US" dirty="0"/>
              <a:t>point-to-point paradigm, the producer of the messages sends the messages to a </a:t>
            </a:r>
            <a:r>
              <a:rPr lang="en-US" dirty="0" smtClean="0"/>
              <a:t>queue.</a:t>
            </a:r>
          </a:p>
          <a:p>
            <a:r>
              <a:rPr lang="en-US" dirty="0"/>
              <a:t>The message </a:t>
            </a:r>
            <a:r>
              <a:rPr lang="en-US" b="1" dirty="0"/>
              <a:t>broker</a:t>
            </a:r>
            <a:r>
              <a:rPr lang="en-US" dirty="0"/>
              <a:t> is the heart of the whole messaging system, which bridges the gap between the producer and consumer</a:t>
            </a:r>
            <a:r>
              <a:rPr lang="en-US" dirty="0" smtClean="0"/>
              <a:t>.</a:t>
            </a:r>
          </a:p>
          <a:p>
            <a:r>
              <a:rPr lang="en-US" dirty="0"/>
              <a:t>A “durable message” is a message where the broker will hold on to a message if the subscriber is temporarily unavailable.</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16</a:t>
            </a:fld>
            <a:endParaRPr lang="en-IN" dirty="0"/>
          </a:p>
        </p:txBody>
      </p:sp>
    </p:spTree>
    <p:extLst>
      <p:ext uri="{BB962C8B-B14F-4D97-AF65-F5344CB8AC3E}">
        <p14:creationId xmlns:p14="http://schemas.microsoft.com/office/powerpoint/2010/main" val="2750562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idx="1"/>
          </p:nvPr>
        </p:nvSpPr>
        <p:spPr/>
        <p:txBody>
          <a:bodyPr>
            <a:normAutofit fontScale="92500" lnSpcReduction="20000"/>
          </a:bodyPr>
          <a:lstStyle/>
          <a:p>
            <a:r>
              <a:rPr lang="en-US" dirty="0"/>
              <a:t>Keeping the state of the message (whether message is consumed or not) is a tricky problem. </a:t>
            </a:r>
            <a:endParaRPr lang="en-US" dirty="0" smtClean="0"/>
          </a:p>
          <a:p>
            <a:r>
              <a:rPr lang="en-US" dirty="0" smtClean="0"/>
              <a:t>How </a:t>
            </a:r>
            <a:r>
              <a:rPr lang="en-US" dirty="0"/>
              <a:t>Broker and Consumer conclude that a given message is consumed. </a:t>
            </a:r>
            <a:endParaRPr lang="en-US" dirty="0" smtClean="0"/>
          </a:p>
          <a:p>
            <a:r>
              <a:rPr lang="en-US" dirty="0" smtClean="0"/>
              <a:t>Can </a:t>
            </a:r>
            <a:r>
              <a:rPr lang="en-US" dirty="0"/>
              <a:t>a broker mark a message consumed as and when it put the message in the network for delivery? </a:t>
            </a:r>
            <a:endParaRPr lang="en-US" dirty="0" smtClean="0"/>
          </a:p>
          <a:p>
            <a:r>
              <a:rPr lang="en-US" dirty="0" smtClean="0"/>
              <a:t>What </a:t>
            </a:r>
            <a:r>
              <a:rPr lang="en-US" dirty="0"/>
              <a:t>will happen if the Consumer is down by the time the message reaches the consumer? </a:t>
            </a:r>
            <a:endParaRPr lang="en-US" dirty="0" smtClean="0"/>
          </a:p>
          <a:p>
            <a:r>
              <a:rPr lang="en-US" dirty="0" smtClean="0"/>
              <a:t>To </a:t>
            </a:r>
            <a:r>
              <a:rPr lang="en-US" dirty="0"/>
              <a:t>solve this, most messaging systems keep an acknowledgement system. When a message is delivered by a broker, it is marked as “sent”, and when the consumer consumes the message and sends an acknowledgement, the broker marks it as “consumed”. </a:t>
            </a:r>
            <a:endParaRPr lang="en-US" dirty="0" smtClean="0"/>
          </a:p>
          <a:p>
            <a:r>
              <a:rPr lang="en-US" dirty="0" smtClean="0"/>
              <a:t>But </a:t>
            </a:r>
            <a:r>
              <a:rPr lang="en-US" dirty="0"/>
              <a:t>what will happen if the consumer actually consumed the message, but a network failure occurred before the acknowledgement reached the broker? The broker will still keep the state as “sent” not “consumed”. </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17</a:t>
            </a:fld>
            <a:endParaRPr lang="en-IN" dirty="0"/>
          </a:p>
        </p:txBody>
      </p:sp>
    </p:spTree>
    <p:extLst>
      <p:ext uri="{BB962C8B-B14F-4D97-AF65-F5344CB8AC3E}">
        <p14:creationId xmlns:p14="http://schemas.microsoft.com/office/powerpoint/2010/main" val="2955599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Queuing </a:t>
            </a:r>
            <a:r>
              <a:rPr lang="en-IN" dirty="0" smtClean="0"/>
              <a:t>and Stream </a:t>
            </a:r>
            <a:r>
              <a:rPr lang="en-IN" dirty="0"/>
              <a:t>P</a:t>
            </a:r>
            <a:r>
              <a:rPr lang="en-IN" dirty="0" smtClean="0"/>
              <a:t>rocessing</a:t>
            </a:r>
            <a:endParaRPr lang="en-IN" dirty="0"/>
          </a:p>
        </p:txBody>
      </p:sp>
      <p:sp>
        <p:nvSpPr>
          <p:cNvPr id="3" name="Content Placeholder 2"/>
          <p:cNvSpPr>
            <a:spLocks noGrp="1"/>
          </p:cNvSpPr>
          <p:nvPr>
            <p:ph idx="1"/>
          </p:nvPr>
        </p:nvSpPr>
        <p:spPr/>
        <p:txBody>
          <a:bodyPr>
            <a:normAutofit/>
          </a:bodyPr>
          <a:lstStyle/>
          <a:p>
            <a:r>
              <a:rPr lang="en-IN" sz="2200" b="1" i="1" dirty="0"/>
              <a:t>Multi-consumer </a:t>
            </a:r>
            <a:r>
              <a:rPr lang="en-IN" sz="2200" b="1" i="1" dirty="0" smtClean="0"/>
              <a:t>queues: </a:t>
            </a:r>
            <a:r>
              <a:rPr lang="en-US" sz="2200" dirty="0"/>
              <a:t>If an application keeps track of the consumed events, it can then request </a:t>
            </a:r>
            <a:r>
              <a:rPr lang="en-US" sz="2200" dirty="0" smtClean="0"/>
              <a:t>the event </a:t>
            </a:r>
            <a:r>
              <a:rPr lang="en-US" sz="2200" dirty="0"/>
              <a:t>stream to be replayed from any point in the stream </a:t>
            </a:r>
            <a:r>
              <a:rPr lang="en-US" sz="2200" dirty="0" smtClean="0"/>
              <a:t>history.</a:t>
            </a:r>
          </a:p>
          <a:p>
            <a:r>
              <a:rPr lang="en-US" sz="2200" dirty="0"/>
              <a:t>With a multi-consumer queue, applications request specific items </a:t>
            </a:r>
            <a:r>
              <a:rPr lang="en-US" sz="2200" dirty="0" smtClean="0"/>
              <a:t>from the </a:t>
            </a:r>
            <a:r>
              <a:rPr lang="en-US" sz="2200" dirty="0"/>
              <a:t>queue and are responsible for tracking the successful processing of each </a:t>
            </a:r>
            <a:r>
              <a:rPr lang="en-US" sz="2200" dirty="0" smtClean="0"/>
              <a:t>event, E.g. </a:t>
            </a:r>
            <a:r>
              <a:rPr lang="en-IN" sz="2000" dirty="0"/>
              <a:t>Apache Kafka</a:t>
            </a:r>
            <a:endParaRPr lang="en-IN" sz="2200"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18</a:t>
            </a:fld>
            <a:endParaRPr lang="en-IN" dirty="0"/>
          </a:p>
        </p:txBody>
      </p:sp>
      <p:pic>
        <p:nvPicPr>
          <p:cNvPr id="6" name="Picture 5"/>
          <p:cNvPicPr>
            <a:picLocks noChangeAspect="1"/>
          </p:cNvPicPr>
          <p:nvPr/>
        </p:nvPicPr>
        <p:blipFill>
          <a:blip r:embed="rId2"/>
          <a:stretch>
            <a:fillRect/>
          </a:stretch>
        </p:blipFill>
        <p:spPr>
          <a:xfrm>
            <a:off x="2133972" y="3501008"/>
            <a:ext cx="7560840" cy="2534899"/>
          </a:xfrm>
          <a:prstGeom prst="rect">
            <a:avLst/>
          </a:prstGeom>
        </p:spPr>
      </p:pic>
    </p:spTree>
    <p:extLst>
      <p:ext uri="{BB962C8B-B14F-4D97-AF65-F5344CB8AC3E}">
        <p14:creationId xmlns:p14="http://schemas.microsoft.com/office/powerpoint/2010/main" val="119619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Stream </a:t>
            </a:r>
            <a:r>
              <a:rPr lang="en-IN" dirty="0" smtClean="0"/>
              <a:t>Processing</a:t>
            </a:r>
            <a:endParaRPr lang="en-IN" dirty="0"/>
          </a:p>
        </p:txBody>
      </p:sp>
      <p:sp>
        <p:nvSpPr>
          <p:cNvPr id="3" name="Content Placeholder 2"/>
          <p:cNvSpPr>
            <a:spLocks noGrp="1"/>
          </p:cNvSpPr>
          <p:nvPr>
            <p:ph idx="1"/>
          </p:nvPr>
        </p:nvSpPr>
        <p:spPr/>
        <p:txBody>
          <a:bodyPr/>
          <a:lstStyle/>
          <a:p>
            <a:r>
              <a:rPr lang="en-US" dirty="0"/>
              <a:t>Once you have your incoming events feeding your multi-consumer queues, the </a:t>
            </a:r>
            <a:r>
              <a:rPr lang="en-US" dirty="0" smtClean="0"/>
              <a:t>next step </a:t>
            </a:r>
            <a:r>
              <a:rPr lang="en-US" dirty="0"/>
              <a:t>is to process those events and update your </a:t>
            </a:r>
            <a:r>
              <a:rPr lang="en-US" dirty="0" err="1"/>
              <a:t>realtime</a:t>
            </a:r>
            <a:r>
              <a:rPr lang="en-US" dirty="0"/>
              <a:t> </a:t>
            </a:r>
            <a:r>
              <a:rPr lang="en-US" dirty="0" smtClean="0"/>
              <a:t>views.</a:t>
            </a:r>
          </a:p>
          <a:p>
            <a:endParaRPr lang="en-US" dirty="0"/>
          </a:p>
          <a:p>
            <a:endParaRPr lang="en-US" dirty="0" smtClean="0"/>
          </a:p>
          <a:p>
            <a:endParaRPr lang="en-US" dirty="0"/>
          </a:p>
          <a:p>
            <a:r>
              <a:rPr lang="en-US" dirty="0"/>
              <a:t>Two </a:t>
            </a:r>
            <a:r>
              <a:rPr lang="en-US" dirty="0" smtClean="0"/>
              <a:t>models: </a:t>
            </a:r>
            <a:r>
              <a:rPr lang="en-US" b="1" i="1" dirty="0" smtClean="0"/>
              <a:t>one-at-a-time</a:t>
            </a:r>
            <a:r>
              <a:rPr lang="en-US" i="1" dirty="0" smtClean="0"/>
              <a:t> </a:t>
            </a:r>
            <a:r>
              <a:rPr lang="en-US" dirty="0"/>
              <a:t>and </a:t>
            </a:r>
            <a:r>
              <a:rPr lang="en-US" b="1" i="1" dirty="0" err="1"/>
              <a:t>microbatched</a:t>
            </a:r>
            <a:r>
              <a:rPr lang="en-US" dirty="0"/>
              <a:t>.</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19</a:t>
            </a:fld>
            <a:endParaRPr lang="en-IN" dirty="0"/>
          </a:p>
        </p:txBody>
      </p:sp>
      <p:pic>
        <p:nvPicPr>
          <p:cNvPr id="6" name="Picture 5"/>
          <p:cNvPicPr>
            <a:picLocks noChangeAspect="1"/>
          </p:cNvPicPr>
          <p:nvPr/>
        </p:nvPicPr>
        <p:blipFill>
          <a:blip r:embed="rId2"/>
          <a:stretch>
            <a:fillRect/>
          </a:stretch>
        </p:blipFill>
        <p:spPr>
          <a:xfrm>
            <a:off x="1773932" y="2420888"/>
            <a:ext cx="6840760" cy="1172927"/>
          </a:xfrm>
          <a:prstGeom prst="rect">
            <a:avLst/>
          </a:prstGeom>
        </p:spPr>
      </p:pic>
    </p:spTree>
    <p:extLst>
      <p:ext uri="{BB962C8B-B14F-4D97-AF65-F5344CB8AC3E}">
        <p14:creationId xmlns:p14="http://schemas.microsoft.com/office/powerpoint/2010/main" val="3215857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One-at-a-time </a:t>
            </a:r>
            <a:r>
              <a:rPr lang="en-IN" dirty="0"/>
              <a:t>stream processing</a:t>
            </a:r>
          </a:p>
        </p:txBody>
      </p:sp>
      <p:sp>
        <p:nvSpPr>
          <p:cNvPr id="3" name="Content Placeholder 2"/>
          <p:cNvSpPr>
            <a:spLocks noGrp="1"/>
          </p:cNvSpPr>
          <p:nvPr>
            <p:ph idx="1"/>
          </p:nvPr>
        </p:nvSpPr>
        <p:spPr/>
        <p:txBody>
          <a:bodyPr/>
          <a:lstStyle/>
          <a:p>
            <a:r>
              <a:rPr lang="en-IN" b="1" i="1" dirty="0"/>
              <a:t>Storm </a:t>
            </a:r>
            <a:r>
              <a:rPr lang="en-IN" b="1" i="1" dirty="0" smtClean="0"/>
              <a:t>model: </a:t>
            </a:r>
            <a:r>
              <a:rPr lang="en-US" dirty="0"/>
              <a:t>The Storm model represents the entire stream-processing pipeline as a graph of </a:t>
            </a:r>
            <a:r>
              <a:rPr lang="en-US" dirty="0" smtClean="0"/>
              <a:t>computation </a:t>
            </a:r>
            <a:r>
              <a:rPr lang="en-IN" dirty="0" smtClean="0"/>
              <a:t>called </a:t>
            </a:r>
            <a:r>
              <a:rPr lang="en-IN" dirty="0"/>
              <a:t>a </a:t>
            </a:r>
            <a:r>
              <a:rPr lang="en-IN" b="1" i="1" dirty="0" smtClean="0"/>
              <a:t>topology</a:t>
            </a:r>
            <a:r>
              <a:rPr lang="en-IN" i="1" dirty="0" smtClean="0"/>
              <a:t>.</a:t>
            </a:r>
          </a:p>
          <a:p>
            <a:r>
              <a:rPr lang="en-IN" b="1" dirty="0" smtClean="0"/>
              <a:t>Queues-and-workers schemes: </a:t>
            </a:r>
            <a:r>
              <a:rPr lang="en-US" dirty="0"/>
              <a:t>write separate programs for each node of </a:t>
            </a:r>
            <a:r>
              <a:rPr lang="en-US" dirty="0" smtClean="0"/>
              <a:t>the topology </a:t>
            </a:r>
            <a:r>
              <a:rPr lang="en-US" dirty="0"/>
              <a:t>and connect them </a:t>
            </a:r>
            <a:r>
              <a:rPr lang="en-US" dirty="0" smtClean="0"/>
              <a:t>manually.</a:t>
            </a:r>
          </a:p>
          <a:p>
            <a:r>
              <a:rPr lang="en-US" b="1" dirty="0"/>
              <a:t>Storm </a:t>
            </a:r>
            <a:r>
              <a:rPr lang="en-US" b="1" dirty="0" smtClean="0"/>
              <a:t>model: </a:t>
            </a:r>
            <a:r>
              <a:rPr lang="en-US" dirty="0"/>
              <a:t>involves a single program that’s deployed across a </a:t>
            </a:r>
            <a:r>
              <a:rPr lang="en-US" dirty="0" smtClean="0"/>
              <a:t>cluster.</a:t>
            </a:r>
          </a:p>
          <a:p>
            <a:r>
              <a:rPr lang="en-US" dirty="0" smtClean="0"/>
              <a:t>A </a:t>
            </a:r>
            <a:r>
              <a:rPr lang="en-US" dirty="0"/>
              <a:t>single executable to filter data in one node, compute </a:t>
            </a:r>
            <a:r>
              <a:rPr lang="en-US" dirty="0" smtClean="0"/>
              <a:t>aggregates with </a:t>
            </a:r>
            <a:r>
              <a:rPr lang="en-US" dirty="0"/>
              <a:t>a second node, and update </a:t>
            </a:r>
            <a:r>
              <a:rPr lang="en-US" dirty="0" smtClean="0"/>
              <a:t>real time </a:t>
            </a:r>
            <a:r>
              <a:rPr lang="en-US" dirty="0"/>
              <a:t>view databases with a </a:t>
            </a:r>
            <a:r>
              <a:rPr lang="en-US" dirty="0" smtClean="0"/>
              <a:t>third.</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20</a:t>
            </a:fld>
            <a:endParaRPr lang="en-IN" dirty="0"/>
          </a:p>
        </p:txBody>
      </p:sp>
    </p:spTree>
    <p:extLst>
      <p:ext uri="{BB962C8B-B14F-4D97-AF65-F5344CB8AC3E}">
        <p14:creationId xmlns:p14="http://schemas.microsoft.com/office/powerpoint/2010/main" val="722904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Storm Model</a:t>
            </a:r>
            <a:endParaRPr lang="en-IN" dirty="0"/>
          </a:p>
        </p:txBody>
      </p:sp>
      <p:sp>
        <p:nvSpPr>
          <p:cNvPr id="3" name="Content Placeholder 2"/>
          <p:cNvSpPr>
            <a:spLocks noGrp="1"/>
          </p:cNvSpPr>
          <p:nvPr>
            <p:ph idx="1"/>
          </p:nvPr>
        </p:nvSpPr>
        <p:spPr/>
        <p:txBody>
          <a:bodyPr/>
          <a:lstStyle/>
          <a:p>
            <a:r>
              <a:rPr lang="en-US" sz="2200" dirty="0" smtClean="0"/>
              <a:t>The </a:t>
            </a:r>
            <a:r>
              <a:rPr lang="en-US" sz="2200" dirty="0"/>
              <a:t>core of the Storm </a:t>
            </a:r>
            <a:r>
              <a:rPr lang="en-US" sz="2200" dirty="0" smtClean="0"/>
              <a:t>model are </a:t>
            </a:r>
            <a:r>
              <a:rPr lang="en-US" sz="2200" b="1" i="1" dirty="0"/>
              <a:t>streams</a:t>
            </a:r>
            <a:r>
              <a:rPr lang="en-US" sz="2200" dirty="0"/>
              <a:t>. </a:t>
            </a:r>
            <a:endParaRPr lang="en-US" sz="2200" dirty="0" smtClean="0"/>
          </a:p>
          <a:p>
            <a:r>
              <a:rPr lang="en-US" sz="2200" dirty="0" smtClean="0"/>
              <a:t>A stream </a:t>
            </a:r>
            <a:r>
              <a:rPr lang="en-US" sz="2200" dirty="0"/>
              <a:t>is an infinite sequence of </a:t>
            </a:r>
            <a:r>
              <a:rPr lang="en-US" sz="2200" b="1" i="1" dirty="0" smtClean="0"/>
              <a:t>tuples</a:t>
            </a:r>
            <a:r>
              <a:rPr lang="en-US" sz="2200" i="1" dirty="0" smtClean="0"/>
              <a:t>.</a:t>
            </a:r>
            <a:endParaRPr lang="en-US" sz="2200" dirty="0"/>
          </a:p>
          <a:p>
            <a:r>
              <a:rPr lang="en-US" sz="2200" dirty="0" smtClean="0"/>
              <a:t>A </a:t>
            </a:r>
            <a:r>
              <a:rPr lang="en-US" sz="2200" dirty="0"/>
              <a:t>tuple is simply a named list of values</a:t>
            </a:r>
            <a:r>
              <a:rPr lang="en-US" sz="2200" dirty="0" smtClean="0"/>
              <a:t>.</a:t>
            </a:r>
          </a:p>
          <a:p>
            <a:endParaRPr lang="en-US" dirty="0"/>
          </a:p>
          <a:p>
            <a:endParaRPr lang="en-US" dirty="0" smtClean="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21</a:t>
            </a:fld>
            <a:endParaRPr lang="en-IN" dirty="0"/>
          </a:p>
        </p:txBody>
      </p:sp>
      <p:pic>
        <p:nvPicPr>
          <p:cNvPr id="6" name="Picture 5"/>
          <p:cNvPicPr>
            <a:picLocks noChangeAspect="1"/>
          </p:cNvPicPr>
          <p:nvPr/>
        </p:nvPicPr>
        <p:blipFill>
          <a:blip r:embed="rId2"/>
          <a:stretch>
            <a:fillRect/>
          </a:stretch>
        </p:blipFill>
        <p:spPr>
          <a:xfrm>
            <a:off x="1485900" y="2558563"/>
            <a:ext cx="6408712" cy="1026255"/>
          </a:xfrm>
          <a:prstGeom prst="rect">
            <a:avLst/>
          </a:prstGeom>
        </p:spPr>
      </p:pic>
      <p:pic>
        <p:nvPicPr>
          <p:cNvPr id="7" name="Picture 6"/>
          <p:cNvPicPr>
            <a:picLocks noChangeAspect="1"/>
          </p:cNvPicPr>
          <p:nvPr/>
        </p:nvPicPr>
        <p:blipFill>
          <a:blip r:embed="rId3"/>
          <a:stretch>
            <a:fillRect/>
          </a:stretch>
        </p:blipFill>
        <p:spPr>
          <a:xfrm>
            <a:off x="1773932" y="3717032"/>
            <a:ext cx="4010041" cy="1947491"/>
          </a:xfrm>
          <a:prstGeom prst="rect">
            <a:avLst/>
          </a:prstGeom>
        </p:spPr>
      </p:pic>
      <p:sp>
        <p:nvSpPr>
          <p:cNvPr id="8" name="Rectangle 7"/>
          <p:cNvSpPr/>
          <p:nvPr/>
        </p:nvSpPr>
        <p:spPr>
          <a:xfrm>
            <a:off x="4639803" y="4449399"/>
            <a:ext cx="5935727" cy="461665"/>
          </a:xfrm>
          <a:prstGeom prst="rect">
            <a:avLst/>
          </a:prstGeom>
        </p:spPr>
        <p:txBody>
          <a:bodyPr wrap="none">
            <a:spAutoFit/>
          </a:bodyPr>
          <a:lstStyle/>
          <a:p>
            <a:r>
              <a:rPr lang="en-US" dirty="0">
                <a:solidFill>
                  <a:srgbClr val="4A206A"/>
                </a:solidFill>
              </a:rPr>
              <a:t>A </a:t>
            </a:r>
            <a:r>
              <a:rPr lang="en-US" b="1" i="1" dirty="0">
                <a:solidFill>
                  <a:srgbClr val="4A206A"/>
                </a:solidFill>
              </a:rPr>
              <a:t>spout</a:t>
            </a:r>
            <a:r>
              <a:rPr lang="en-US" dirty="0">
                <a:solidFill>
                  <a:srgbClr val="4A206A"/>
                </a:solidFill>
              </a:rPr>
              <a:t> is a source of streams in </a:t>
            </a:r>
            <a:r>
              <a:rPr lang="en-IN" dirty="0">
                <a:solidFill>
                  <a:srgbClr val="4A206A"/>
                </a:solidFill>
              </a:rPr>
              <a:t>a topology</a:t>
            </a:r>
          </a:p>
        </p:txBody>
      </p:sp>
    </p:spTree>
    <p:extLst>
      <p:ext uri="{BB962C8B-B14F-4D97-AF65-F5344CB8AC3E}">
        <p14:creationId xmlns:p14="http://schemas.microsoft.com/office/powerpoint/2010/main" val="3647580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Bolt Abstraction</a:t>
            </a:r>
            <a:endParaRPr lang="en-IN" dirty="0"/>
          </a:p>
        </p:txBody>
      </p:sp>
      <p:sp>
        <p:nvSpPr>
          <p:cNvPr id="3" name="Content Placeholder 2"/>
          <p:cNvSpPr>
            <a:spLocks noGrp="1"/>
          </p:cNvSpPr>
          <p:nvPr>
            <p:ph idx="1"/>
          </p:nvPr>
        </p:nvSpPr>
        <p:spPr>
          <a:xfrm>
            <a:off x="1218883" y="1059785"/>
            <a:ext cx="4456504" cy="5040560"/>
          </a:xfrm>
        </p:spPr>
        <p:txBody>
          <a:bodyPr>
            <a:noAutofit/>
          </a:bodyPr>
          <a:lstStyle/>
          <a:p>
            <a:r>
              <a:rPr lang="en-IN" dirty="0" smtClean="0"/>
              <a:t>The </a:t>
            </a:r>
            <a:r>
              <a:rPr lang="en-IN" b="1" i="1" dirty="0" smtClean="0"/>
              <a:t>bolt</a:t>
            </a:r>
            <a:r>
              <a:rPr lang="en-IN" i="1" dirty="0" smtClean="0"/>
              <a:t> </a:t>
            </a:r>
            <a:r>
              <a:rPr lang="en-IN" dirty="0" smtClean="0"/>
              <a:t>abstraction performs actions on streams.</a:t>
            </a:r>
          </a:p>
          <a:p>
            <a:r>
              <a:rPr lang="en-IN" dirty="0"/>
              <a:t>A bolt takes </a:t>
            </a:r>
            <a:r>
              <a:rPr lang="en-IN" dirty="0" smtClean="0"/>
              <a:t>any </a:t>
            </a:r>
            <a:r>
              <a:rPr lang="en-US" dirty="0" smtClean="0"/>
              <a:t>number </a:t>
            </a:r>
            <a:r>
              <a:rPr lang="en-US" dirty="0"/>
              <a:t>of streams as input and produces any </a:t>
            </a:r>
            <a:r>
              <a:rPr lang="en-US" dirty="0" smtClean="0"/>
              <a:t>number </a:t>
            </a:r>
            <a:r>
              <a:rPr lang="en-IN" dirty="0" smtClean="0"/>
              <a:t>of </a:t>
            </a:r>
            <a:r>
              <a:rPr lang="en-IN" dirty="0"/>
              <a:t>streams as </a:t>
            </a:r>
            <a:r>
              <a:rPr lang="en-IN" dirty="0" smtClean="0"/>
              <a:t>output.</a:t>
            </a:r>
          </a:p>
          <a:p>
            <a:r>
              <a:rPr lang="en-IN" dirty="0" smtClean="0"/>
              <a:t>A </a:t>
            </a:r>
            <a:r>
              <a:rPr lang="en-IN" b="1" dirty="0"/>
              <a:t>topology</a:t>
            </a:r>
            <a:r>
              <a:rPr lang="en-IN" dirty="0"/>
              <a:t> </a:t>
            </a:r>
            <a:r>
              <a:rPr lang="en-IN" dirty="0" smtClean="0"/>
              <a:t>connects </a:t>
            </a:r>
            <a:r>
              <a:rPr lang="en-US" dirty="0" smtClean="0"/>
              <a:t>spouts </a:t>
            </a:r>
            <a:r>
              <a:rPr lang="en-US" dirty="0"/>
              <a:t>and bolts and defines how </a:t>
            </a:r>
            <a:r>
              <a:rPr lang="en-US" dirty="0" smtClean="0"/>
              <a:t>tuples flow </a:t>
            </a:r>
            <a:r>
              <a:rPr lang="en-US" dirty="0"/>
              <a:t>through a Storm application</a:t>
            </a:r>
            <a:r>
              <a:rPr lang="en-US" dirty="0" smtClean="0"/>
              <a:t>.</a:t>
            </a:r>
          </a:p>
          <a:p>
            <a:r>
              <a:rPr lang="en-US" dirty="0"/>
              <a:t>Each instance of a spout or bolt is called a </a:t>
            </a:r>
            <a:r>
              <a:rPr lang="en-US" b="1" i="1" dirty="0"/>
              <a:t>task</a:t>
            </a:r>
            <a:r>
              <a:rPr lang="en-US" dirty="0"/>
              <a:t>.</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22</a:t>
            </a:fld>
            <a:endParaRPr lang="en-IN" dirty="0"/>
          </a:p>
        </p:txBody>
      </p:sp>
      <p:pic>
        <p:nvPicPr>
          <p:cNvPr id="6" name="Picture 5"/>
          <p:cNvPicPr>
            <a:picLocks noChangeAspect="1"/>
          </p:cNvPicPr>
          <p:nvPr/>
        </p:nvPicPr>
        <p:blipFill>
          <a:blip r:embed="rId2"/>
          <a:stretch>
            <a:fillRect/>
          </a:stretch>
        </p:blipFill>
        <p:spPr>
          <a:xfrm>
            <a:off x="5840394" y="1116713"/>
            <a:ext cx="5213707" cy="2073167"/>
          </a:xfrm>
          <a:prstGeom prst="rect">
            <a:avLst/>
          </a:prstGeom>
        </p:spPr>
      </p:pic>
      <p:pic>
        <p:nvPicPr>
          <p:cNvPr id="7" name="Picture 6"/>
          <p:cNvPicPr>
            <a:picLocks noChangeAspect="1"/>
          </p:cNvPicPr>
          <p:nvPr/>
        </p:nvPicPr>
        <p:blipFill>
          <a:blip r:embed="rId3"/>
          <a:stretch>
            <a:fillRect/>
          </a:stretch>
        </p:blipFill>
        <p:spPr>
          <a:xfrm>
            <a:off x="6958508" y="3322833"/>
            <a:ext cx="3230265" cy="2694635"/>
          </a:xfrm>
          <a:prstGeom prst="rect">
            <a:avLst/>
          </a:prstGeom>
        </p:spPr>
      </p:pic>
    </p:spTree>
    <p:extLst>
      <p:ext uri="{BB962C8B-B14F-4D97-AF65-F5344CB8AC3E}">
        <p14:creationId xmlns:p14="http://schemas.microsoft.com/office/powerpoint/2010/main" val="2841837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Execution</a:t>
            </a:r>
            <a:endParaRPr lang="en-IN" dirty="0"/>
          </a:p>
        </p:txBody>
      </p:sp>
      <p:sp>
        <p:nvSpPr>
          <p:cNvPr id="3" name="Content Placeholder 2"/>
          <p:cNvSpPr>
            <a:spLocks noGrp="1"/>
          </p:cNvSpPr>
          <p:nvPr>
            <p:ph idx="1"/>
          </p:nvPr>
        </p:nvSpPr>
        <p:spPr>
          <a:xfrm>
            <a:off x="1205860" y="1196752"/>
            <a:ext cx="4600520" cy="5040560"/>
          </a:xfrm>
        </p:spPr>
        <p:txBody>
          <a:bodyPr/>
          <a:lstStyle/>
          <a:p>
            <a:r>
              <a:rPr lang="en-US" dirty="0"/>
              <a:t>In a topology, the spouts and bolts have multiple instances running in parallel.</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23</a:t>
            </a:fld>
            <a:endParaRPr lang="en-IN" dirty="0"/>
          </a:p>
        </p:txBody>
      </p:sp>
      <p:pic>
        <p:nvPicPr>
          <p:cNvPr id="6" name="Picture 5"/>
          <p:cNvPicPr>
            <a:picLocks noChangeAspect="1"/>
          </p:cNvPicPr>
          <p:nvPr/>
        </p:nvPicPr>
        <p:blipFill>
          <a:blip r:embed="rId2"/>
          <a:stretch>
            <a:fillRect/>
          </a:stretch>
        </p:blipFill>
        <p:spPr>
          <a:xfrm>
            <a:off x="5590356" y="1229891"/>
            <a:ext cx="5944251" cy="4536778"/>
          </a:xfrm>
          <a:prstGeom prst="rect">
            <a:avLst/>
          </a:prstGeom>
        </p:spPr>
      </p:pic>
    </p:spTree>
    <p:extLst>
      <p:ext uri="{BB962C8B-B14F-4D97-AF65-F5344CB8AC3E}">
        <p14:creationId xmlns:p14="http://schemas.microsoft.com/office/powerpoint/2010/main" val="2451100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b="1" dirty="0" smtClean="0">
                <a:solidFill>
                  <a:srgbClr val="8A6900"/>
                </a:solidFill>
              </a:rPr>
              <a:t>Apache Kafka</a:t>
            </a:r>
            <a:endParaRPr lang="en-IN" b="1" dirty="0">
              <a:solidFill>
                <a:srgbClr val="8A6900"/>
              </a:solidFill>
            </a:endParaRPr>
          </a:p>
        </p:txBody>
      </p:sp>
      <p:sp>
        <p:nvSpPr>
          <p:cNvPr id="9" name="Text Placeholder 8"/>
          <p:cNvSpPr>
            <a:spLocks noGrp="1"/>
          </p:cNvSpPr>
          <p:nvPr>
            <p:ph type="body" idx="1"/>
          </p:nvPr>
        </p:nvSpPr>
        <p:spPr/>
        <p:txBody>
          <a:bodyPr/>
          <a:lstStyle/>
          <a:p>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24</a:t>
            </a:fld>
            <a:endParaRPr lang="en-IN" dirty="0"/>
          </a:p>
        </p:txBody>
      </p:sp>
    </p:spTree>
    <p:extLst>
      <p:ext uri="{BB962C8B-B14F-4D97-AF65-F5344CB8AC3E}">
        <p14:creationId xmlns:p14="http://schemas.microsoft.com/office/powerpoint/2010/main" val="4035609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Kafka?</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25</a:t>
            </a:fld>
            <a:endParaRPr lang="en-IN" dirty="0"/>
          </a:p>
        </p:txBody>
      </p:sp>
      <p:pic>
        <p:nvPicPr>
          <p:cNvPr id="6" name="Picture 5"/>
          <p:cNvPicPr>
            <a:picLocks noChangeAspect="1"/>
          </p:cNvPicPr>
          <p:nvPr/>
        </p:nvPicPr>
        <p:blipFill>
          <a:blip r:embed="rId2"/>
          <a:stretch>
            <a:fillRect/>
          </a:stretch>
        </p:blipFill>
        <p:spPr>
          <a:xfrm>
            <a:off x="1557908" y="1196752"/>
            <a:ext cx="8424936" cy="4721818"/>
          </a:xfrm>
          <a:prstGeom prst="rect">
            <a:avLst/>
          </a:prstGeom>
        </p:spPr>
      </p:pic>
    </p:spTree>
    <p:extLst>
      <p:ext uri="{BB962C8B-B14F-4D97-AF65-F5344CB8AC3E}">
        <p14:creationId xmlns:p14="http://schemas.microsoft.com/office/powerpoint/2010/main" val="2878930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Apache Kafka – an Introduction</a:t>
            </a:r>
            <a:endParaRPr lang="en-IN" dirty="0"/>
          </a:p>
        </p:txBody>
      </p:sp>
      <p:sp>
        <p:nvSpPr>
          <p:cNvPr id="3" name="Content Placeholder 2"/>
          <p:cNvSpPr>
            <a:spLocks noGrp="1"/>
          </p:cNvSpPr>
          <p:nvPr>
            <p:ph idx="1"/>
          </p:nvPr>
        </p:nvSpPr>
        <p:spPr>
          <a:xfrm>
            <a:off x="1205860" y="1196752"/>
            <a:ext cx="8704976" cy="5040560"/>
          </a:xfrm>
        </p:spPr>
        <p:txBody>
          <a:bodyPr/>
          <a:lstStyle/>
          <a:p>
            <a:r>
              <a:rPr lang="en-US" dirty="0"/>
              <a:t>Kafka combines three key </a:t>
            </a:r>
            <a:r>
              <a:rPr lang="en-US" dirty="0" smtClean="0"/>
              <a:t>capabilities:  </a:t>
            </a:r>
            <a:endParaRPr lang="en-US" dirty="0"/>
          </a:p>
          <a:p>
            <a:pPr marL="457200" indent="-457200">
              <a:buFont typeface="+mj-lt"/>
              <a:buAutoNum type="arabicPeriod"/>
            </a:pPr>
            <a:r>
              <a:rPr lang="en-US" dirty="0"/>
              <a:t>To </a:t>
            </a:r>
            <a:r>
              <a:rPr lang="en-US" b="1" dirty="0"/>
              <a:t>publish</a:t>
            </a:r>
            <a:r>
              <a:rPr lang="en-US" dirty="0"/>
              <a:t> (write) and </a:t>
            </a:r>
            <a:r>
              <a:rPr lang="en-US" b="1" dirty="0"/>
              <a:t>subscribe to</a:t>
            </a:r>
            <a:r>
              <a:rPr lang="en-US" dirty="0"/>
              <a:t> (read) streams of events, including continuous import/export of your data from other systems.</a:t>
            </a:r>
          </a:p>
          <a:p>
            <a:pPr marL="457200" indent="-457200">
              <a:buFont typeface="+mj-lt"/>
              <a:buAutoNum type="arabicPeriod"/>
            </a:pPr>
            <a:r>
              <a:rPr lang="en-US" dirty="0"/>
              <a:t>To </a:t>
            </a:r>
            <a:r>
              <a:rPr lang="en-US" b="1" dirty="0"/>
              <a:t>store</a:t>
            </a:r>
            <a:r>
              <a:rPr lang="en-US" dirty="0"/>
              <a:t> streams of events </a:t>
            </a:r>
            <a:r>
              <a:rPr lang="en-US" b="1" dirty="0"/>
              <a:t>durably</a:t>
            </a:r>
            <a:r>
              <a:rPr lang="en-US" dirty="0"/>
              <a:t> and </a:t>
            </a:r>
            <a:r>
              <a:rPr lang="en-US" b="1" dirty="0"/>
              <a:t>reliably</a:t>
            </a:r>
            <a:r>
              <a:rPr lang="en-US" dirty="0"/>
              <a:t> for as long as you want.</a:t>
            </a:r>
          </a:p>
          <a:p>
            <a:pPr marL="457200" indent="-457200">
              <a:buFont typeface="+mj-lt"/>
              <a:buAutoNum type="arabicPeriod"/>
            </a:pPr>
            <a:r>
              <a:rPr lang="en-US" dirty="0"/>
              <a:t>To </a:t>
            </a:r>
            <a:r>
              <a:rPr lang="en-US" b="1" dirty="0"/>
              <a:t>process</a:t>
            </a:r>
            <a:r>
              <a:rPr lang="en-US" dirty="0"/>
              <a:t> streams of events as they occur or retrospectively.</a:t>
            </a:r>
          </a:p>
          <a:p>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26</a:t>
            </a:fld>
            <a:endParaRPr lang="en-IN" dirty="0"/>
          </a:p>
        </p:txBody>
      </p:sp>
    </p:spTree>
    <p:extLst>
      <p:ext uri="{BB962C8B-B14F-4D97-AF65-F5344CB8AC3E}">
        <p14:creationId xmlns:p14="http://schemas.microsoft.com/office/powerpoint/2010/main" val="4218627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Concepts</a:t>
            </a:r>
            <a:endParaRPr lang="en-IN" dirty="0"/>
          </a:p>
        </p:txBody>
      </p:sp>
      <p:sp>
        <p:nvSpPr>
          <p:cNvPr id="3" name="Content Placeholder 2"/>
          <p:cNvSpPr>
            <a:spLocks noGrp="1"/>
          </p:cNvSpPr>
          <p:nvPr>
            <p:ph idx="1"/>
          </p:nvPr>
        </p:nvSpPr>
        <p:spPr/>
        <p:txBody>
          <a:bodyPr/>
          <a:lstStyle/>
          <a:p>
            <a:r>
              <a:rPr lang="en-US" dirty="0"/>
              <a:t>An </a:t>
            </a:r>
            <a:r>
              <a:rPr lang="en-US" b="1" dirty="0"/>
              <a:t>event</a:t>
            </a:r>
            <a:r>
              <a:rPr lang="en-US" dirty="0"/>
              <a:t> records the fact that "something happened" in the world or in your business. It is also called record or message in the documentation. </a:t>
            </a:r>
            <a:endParaRPr lang="en-US" dirty="0" smtClean="0"/>
          </a:p>
          <a:p>
            <a:r>
              <a:rPr lang="en-US" dirty="0" smtClean="0"/>
              <a:t>When </a:t>
            </a:r>
            <a:r>
              <a:rPr lang="en-US" dirty="0"/>
              <a:t>you read or write data to Kafka, you do this in the form of events. </a:t>
            </a:r>
            <a:endParaRPr lang="en-US" dirty="0" smtClean="0"/>
          </a:p>
          <a:p>
            <a:r>
              <a:rPr lang="en-US" dirty="0" smtClean="0"/>
              <a:t>Conceptually</a:t>
            </a:r>
            <a:r>
              <a:rPr lang="en-US" dirty="0"/>
              <a:t>, an event has a key, value, timestamp, and optional metadata headers. Here's an example event:</a:t>
            </a:r>
          </a:p>
          <a:p>
            <a:pPr lvl="1"/>
            <a:r>
              <a:rPr lang="en-US" b="1" i="1" dirty="0">
                <a:latin typeface="Times New Roman" panose="02020603050405020304" pitchFamily="18" charset="0"/>
                <a:cs typeface="Times New Roman" panose="02020603050405020304" pitchFamily="18" charset="0"/>
              </a:rPr>
              <a:t>Event key: "Alice"</a:t>
            </a:r>
          </a:p>
          <a:p>
            <a:pPr lvl="1"/>
            <a:r>
              <a:rPr lang="en-US" b="1" i="1" dirty="0">
                <a:latin typeface="Times New Roman" panose="02020603050405020304" pitchFamily="18" charset="0"/>
                <a:cs typeface="Times New Roman" panose="02020603050405020304" pitchFamily="18" charset="0"/>
              </a:rPr>
              <a:t>Event value: "Made a payment of $200 to Bob"</a:t>
            </a:r>
          </a:p>
          <a:p>
            <a:pPr lvl="1"/>
            <a:r>
              <a:rPr lang="en-US" b="1" i="1" dirty="0">
                <a:latin typeface="Times New Roman" panose="02020603050405020304" pitchFamily="18" charset="0"/>
                <a:cs typeface="Times New Roman" panose="02020603050405020304" pitchFamily="18" charset="0"/>
              </a:rPr>
              <a:t>Event timestamp: </a:t>
            </a:r>
            <a:r>
              <a:rPr lang="en-US" b="1" i="1" dirty="0" smtClean="0">
                <a:latin typeface="Times New Roman" panose="02020603050405020304" pitchFamily="18" charset="0"/>
                <a:cs typeface="Times New Roman" panose="02020603050405020304" pitchFamily="18" charset="0"/>
              </a:rPr>
              <a:t>“Oct, </a:t>
            </a:r>
            <a:r>
              <a:rPr lang="en-US" b="1" i="1" dirty="0">
                <a:latin typeface="Times New Roman" panose="02020603050405020304" pitchFamily="18" charset="0"/>
                <a:cs typeface="Times New Roman" panose="02020603050405020304" pitchFamily="18" charset="0"/>
              </a:rPr>
              <a:t>25, </a:t>
            </a:r>
            <a:r>
              <a:rPr lang="en-US" b="1" i="1" dirty="0" smtClean="0">
                <a:latin typeface="Times New Roman" panose="02020603050405020304" pitchFamily="18" charset="0"/>
                <a:cs typeface="Times New Roman" panose="02020603050405020304" pitchFamily="18" charset="0"/>
              </a:rPr>
              <a:t>2024 </a:t>
            </a:r>
            <a:r>
              <a:rPr lang="en-US" b="1" i="1" dirty="0">
                <a:latin typeface="Times New Roman" panose="02020603050405020304" pitchFamily="18" charset="0"/>
                <a:cs typeface="Times New Roman" panose="02020603050405020304" pitchFamily="18" charset="0"/>
              </a:rPr>
              <a:t>at 2:06 p.m.</a:t>
            </a:r>
          </a:p>
          <a:p>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27</a:t>
            </a:fld>
            <a:endParaRPr lang="en-IN" dirty="0"/>
          </a:p>
        </p:txBody>
      </p:sp>
    </p:spTree>
    <p:extLst>
      <p:ext uri="{BB962C8B-B14F-4D97-AF65-F5344CB8AC3E}">
        <p14:creationId xmlns:p14="http://schemas.microsoft.com/office/powerpoint/2010/main" val="2702105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IN" dirty="0"/>
          </a:p>
        </p:txBody>
      </p:sp>
      <p:sp>
        <p:nvSpPr>
          <p:cNvPr id="3" name="Content Placeholder 2"/>
          <p:cNvSpPr>
            <a:spLocks noGrp="1"/>
          </p:cNvSpPr>
          <p:nvPr>
            <p:ph idx="1"/>
          </p:nvPr>
        </p:nvSpPr>
        <p:spPr/>
        <p:txBody>
          <a:bodyPr/>
          <a:lstStyle/>
          <a:p>
            <a:r>
              <a:rPr lang="en-US" b="1" dirty="0"/>
              <a:t>Producers</a:t>
            </a:r>
            <a:r>
              <a:rPr lang="en-US" dirty="0"/>
              <a:t> are those client applications that publish (write) events to </a:t>
            </a:r>
            <a:r>
              <a:rPr lang="en-US" dirty="0" smtClean="0"/>
              <a:t>Kafka.</a:t>
            </a:r>
          </a:p>
          <a:p>
            <a:r>
              <a:rPr lang="en-US" b="1" dirty="0" smtClean="0"/>
              <a:t>Consumers</a:t>
            </a:r>
            <a:r>
              <a:rPr lang="en-US" dirty="0"/>
              <a:t> are those that subscribe to (read and process) these events. </a:t>
            </a:r>
            <a:endParaRPr lang="en-US" dirty="0" smtClean="0"/>
          </a:p>
          <a:p>
            <a:r>
              <a:rPr lang="en-US" dirty="0" smtClean="0"/>
              <a:t>In </a:t>
            </a:r>
            <a:r>
              <a:rPr lang="en-US" dirty="0"/>
              <a:t>Kafka, producers and consumers are fully </a:t>
            </a:r>
            <a:r>
              <a:rPr lang="en-US" b="1" dirty="0" smtClean="0"/>
              <a:t>decoupled</a:t>
            </a:r>
            <a:r>
              <a:rPr lang="en-US" dirty="0" smtClean="0"/>
              <a:t>.</a:t>
            </a:r>
          </a:p>
          <a:p>
            <a:r>
              <a:rPr lang="en-US" dirty="0" smtClean="0"/>
              <a:t>For </a:t>
            </a:r>
            <a:r>
              <a:rPr lang="en-US" dirty="0"/>
              <a:t>example, producers never need to wait for consumers. </a:t>
            </a:r>
            <a:endParaRPr lang="en-US" dirty="0" smtClean="0"/>
          </a:p>
          <a:p>
            <a:r>
              <a:rPr lang="en-US" dirty="0"/>
              <a:t>Events are organized and durably stored in </a:t>
            </a:r>
            <a:r>
              <a:rPr lang="en-US" b="1" dirty="0"/>
              <a:t>topics</a:t>
            </a:r>
            <a:r>
              <a:rPr lang="en-US" dirty="0"/>
              <a:t>. </a:t>
            </a:r>
            <a:endParaRPr lang="en-US" dirty="0" smtClean="0"/>
          </a:p>
          <a:p>
            <a:r>
              <a:rPr lang="en-US" dirty="0" smtClean="0"/>
              <a:t>Topic </a:t>
            </a:r>
            <a:r>
              <a:rPr lang="en-US" dirty="0"/>
              <a:t>is similar to a </a:t>
            </a:r>
            <a:r>
              <a:rPr lang="en-US" b="1" dirty="0"/>
              <a:t>folder</a:t>
            </a:r>
            <a:r>
              <a:rPr lang="en-US" dirty="0"/>
              <a:t> in a filesystem, and the </a:t>
            </a:r>
            <a:r>
              <a:rPr lang="en-US" b="1" dirty="0"/>
              <a:t>events</a:t>
            </a:r>
            <a:r>
              <a:rPr lang="en-US" dirty="0"/>
              <a:t> are the </a:t>
            </a:r>
            <a:r>
              <a:rPr lang="en-US" b="1" dirty="0"/>
              <a:t>files</a:t>
            </a:r>
            <a:r>
              <a:rPr lang="en-US" dirty="0"/>
              <a:t> in that folder.</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28</a:t>
            </a:fld>
            <a:endParaRPr lang="en-IN" dirty="0"/>
          </a:p>
        </p:txBody>
      </p:sp>
    </p:spTree>
    <p:extLst>
      <p:ext uri="{BB962C8B-B14F-4D97-AF65-F5344CB8AC3E}">
        <p14:creationId xmlns:p14="http://schemas.microsoft.com/office/powerpoint/2010/main" val="814958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a:bodyPr>
          <a:lstStyle/>
          <a:p>
            <a:r>
              <a:rPr lang="en-US" sz="2000" dirty="0"/>
              <a:t>Topics are </a:t>
            </a:r>
            <a:r>
              <a:rPr lang="en-US" sz="2000" b="1" dirty="0"/>
              <a:t>partitioned</a:t>
            </a:r>
            <a:r>
              <a:rPr lang="en-US" sz="2000" dirty="0"/>
              <a:t>, meaning a topic is spread over a number of "buckets" located on different </a:t>
            </a:r>
            <a:r>
              <a:rPr lang="en-US" sz="2000" b="1" dirty="0"/>
              <a:t>Kafka brokers</a:t>
            </a:r>
            <a:r>
              <a:rPr lang="en-US" sz="2000" dirty="0" smtClean="0"/>
              <a:t>.</a:t>
            </a:r>
          </a:p>
          <a:p>
            <a:r>
              <a:rPr lang="en-US" sz="2000" dirty="0"/>
              <a:t>When a new event is published to a topic, it is actually appended to one of the topic's partitions</a:t>
            </a:r>
            <a:r>
              <a:rPr lang="en-US" sz="2000" dirty="0" smtClean="0"/>
              <a:t>.</a:t>
            </a:r>
          </a:p>
          <a:p>
            <a:r>
              <a:rPr lang="en-US" sz="2000" dirty="0"/>
              <a:t>Events with the same event key (e.g., a customer or vehicle ID) are written to the same </a:t>
            </a:r>
            <a:r>
              <a:rPr lang="en-US" sz="2000" dirty="0" smtClean="0"/>
              <a:t>partition.</a:t>
            </a:r>
            <a:endParaRPr lang="en-IN" sz="2000"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29</a:t>
            </a:fld>
            <a:endParaRPr lang="en-IN" dirty="0"/>
          </a:p>
        </p:txBody>
      </p:sp>
      <p:pic>
        <p:nvPicPr>
          <p:cNvPr id="4098" name="Picture 2" descr="https://kafka.apache.org/images/streams-and-tables-p1_p4.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72688" y="3212976"/>
            <a:ext cx="5184576" cy="268487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305516" y="3717032"/>
            <a:ext cx="6328438" cy="1947212"/>
          </a:xfrm>
          <a:prstGeom prst="rect">
            <a:avLst/>
          </a:prstGeom>
        </p:spPr>
      </p:pic>
    </p:spTree>
    <p:extLst>
      <p:ext uri="{BB962C8B-B14F-4D97-AF65-F5344CB8AC3E}">
        <p14:creationId xmlns:p14="http://schemas.microsoft.com/office/powerpoint/2010/main" val="1147302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929897" y="908720"/>
            <a:ext cx="9141619" cy="1050380"/>
          </a:xfrm>
        </p:spPr>
        <p:txBody>
          <a:bodyPr/>
          <a:lstStyle/>
          <a:p>
            <a:r>
              <a:rPr lang="en-US" dirty="0" smtClean="0">
                <a:solidFill>
                  <a:srgbClr val="4A206A"/>
                </a:solidFill>
              </a:rPr>
              <a:t>Dynamic Pricing</a:t>
            </a:r>
            <a:endParaRPr lang="en-IN" dirty="0">
              <a:solidFill>
                <a:srgbClr val="4A206A"/>
              </a:solidFill>
            </a:endParaRPr>
          </a:p>
        </p:txBody>
      </p:sp>
      <p:sp>
        <p:nvSpPr>
          <p:cNvPr id="7" name="Subtitle 6"/>
          <p:cNvSpPr>
            <a:spLocks noGrp="1"/>
          </p:cNvSpPr>
          <p:nvPr>
            <p:ph type="subTitle" idx="1"/>
          </p:nvPr>
        </p:nvSpPr>
        <p:spPr/>
        <p:txBody>
          <a:bodyPr/>
          <a:lstStyle/>
          <a:p>
            <a:r>
              <a:rPr lang="en-IN" dirty="0">
                <a:hlinkClick r:id="rId2"/>
              </a:rPr>
              <a:t>https://youtu.be/gYoTw2LaaKI?si=sG0QDJKoUoTfIhPU</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30</a:t>
            </a:fld>
            <a:endParaRPr lang="en-IN" dirty="0"/>
          </a:p>
        </p:txBody>
      </p:sp>
      <p:pic>
        <p:nvPicPr>
          <p:cNvPr id="8" name="Picture 7"/>
          <p:cNvPicPr>
            <a:picLocks noChangeAspect="1"/>
          </p:cNvPicPr>
          <p:nvPr/>
        </p:nvPicPr>
        <p:blipFill>
          <a:blip r:embed="rId3"/>
          <a:stretch>
            <a:fillRect/>
          </a:stretch>
        </p:blipFill>
        <p:spPr>
          <a:xfrm>
            <a:off x="1406518" y="2979560"/>
            <a:ext cx="9697803" cy="2257740"/>
          </a:xfrm>
          <a:prstGeom prst="rect">
            <a:avLst/>
          </a:prstGeom>
        </p:spPr>
      </p:pic>
    </p:spTree>
    <p:extLst>
      <p:ext uri="{BB962C8B-B14F-4D97-AF65-F5344CB8AC3E}">
        <p14:creationId xmlns:p14="http://schemas.microsoft.com/office/powerpoint/2010/main" val="358970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Uber’s A</a:t>
            </a:r>
            <a:r>
              <a:rPr lang="en-IN" sz="3600" dirty="0" smtClean="0"/>
              <a:t>rchitecture using Kafka</a:t>
            </a:r>
            <a:endParaRPr lang="en-IN" sz="3600" dirty="0"/>
          </a:p>
        </p:txBody>
      </p:sp>
      <p:sp>
        <p:nvSpPr>
          <p:cNvPr id="3" name="Content Placeholder 2"/>
          <p:cNvSpPr>
            <a:spLocks noGrp="1"/>
          </p:cNvSpPr>
          <p:nvPr>
            <p:ph idx="1"/>
          </p:nvPr>
        </p:nvSpPr>
        <p:spPr>
          <a:xfrm>
            <a:off x="1205860" y="1196752"/>
            <a:ext cx="8848992" cy="5040560"/>
          </a:xfrm>
        </p:spPr>
        <p:txBody>
          <a:bodyPr/>
          <a:lstStyle/>
          <a:p>
            <a:r>
              <a:rPr lang="en-US" b="1" dirty="0"/>
              <a:t>Dynamic pricing </a:t>
            </a:r>
            <a:r>
              <a:rPr lang="en-US" dirty="0"/>
              <a:t>is essential for Uber to maintain an equilibrium between ride demand and driver </a:t>
            </a:r>
            <a:r>
              <a:rPr lang="en-US" dirty="0" smtClean="0"/>
              <a:t>supply.</a:t>
            </a:r>
          </a:p>
          <a:p>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31</a:t>
            </a:fld>
            <a:endParaRPr lang="en-IN" dirty="0"/>
          </a:p>
        </p:txBody>
      </p:sp>
      <p:pic>
        <p:nvPicPr>
          <p:cNvPr id="5122" name="Picture 2" descr="How Uber Uses Kaf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2627" y="2112824"/>
            <a:ext cx="6755113" cy="388843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765820" y="2348880"/>
            <a:ext cx="3744416" cy="3139321"/>
          </a:xfrm>
          <a:prstGeom prst="rect">
            <a:avLst/>
          </a:prstGeom>
          <a:solidFill>
            <a:schemeClr val="accent2"/>
          </a:solidFill>
        </p:spPr>
        <p:txBody>
          <a:bodyPr wrap="square">
            <a:spAutoFit/>
          </a:bodyPr>
          <a:lstStyle/>
          <a:p>
            <a:r>
              <a:rPr lang="en-US" sz="2200" b="1" u="sng" dirty="0">
                <a:solidFill>
                  <a:schemeClr val="bg1"/>
                </a:solidFill>
              </a:rPr>
              <a:t>Producers</a:t>
            </a:r>
            <a:r>
              <a:rPr lang="en-US" sz="2200" b="1" dirty="0">
                <a:solidFill>
                  <a:schemeClr val="bg1"/>
                </a:solidFill>
              </a:rPr>
              <a:t>:</a:t>
            </a:r>
          </a:p>
          <a:p>
            <a:r>
              <a:rPr lang="en-US" sz="2200" dirty="0">
                <a:solidFill>
                  <a:schemeClr val="bg1"/>
                </a:solidFill>
              </a:rPr>
              <a:t>Rider app, Driver app, API, DB, other sources (weather, traffic, etc.)</a:t>
            </a:r>
          </a:p>
          <a:p>
            <a:r>
              <a:rPr lang="en-US" sz="2200" b="1" u="sng" dirty="0">
                <a:solidFill>
                  <a:schemeClr val="bg1"/>
                </a:solidFill>
              </a:rPr>
              <a:t>Consumers</a:t>
            </a:r>
            <a:r>
              <a:rPr lang="en-US" sz="2200" b="1" dirty="0">
                <a:solidFill>
                  <a:schemeClr val="bg1"/>
                </a:solidFill>
              </a:rPr>
              <a:t>:</a:t>
            </a:r>
          </a:p>
          <a:p>
            <a:r>
              <a:rPr lang="en-US" sz="2200" dirty="0">
                <a:solidFill>
                  <a:schemeClr val="bg1"/>
                </a:solidFill>
              </a:rPr>
              <a:t>API, Mobile App, Apache </a:t>
            </a:r>
            <a:r>
              <a:rPr lang="en-US" sz="2200" dirty="0" err="1">
                <a:solidFill>
                  <a:schemeClr val="bg1"/>
                </a:solidFill>
              </a:rPr>
              <a:t>Flink</a:t>
            </a:r>
            <a:r>
              <a:rPr lang="en-US" sz="2200" dirty="0">
                <a:solidFill>
                  <a:schemeClr val="bg1"/>
                </a:solidFill>
              </a:rPr>
              <a:t> (real-time data analytics), </a:t>
            </a:r>
            <a:r>
              <a:rPr lang="en-US" sz="2200" dirty="0" err="1">
                <a:solidFill>
                  <a:schemeClr val="bg1"/>
                </a:solidFill>
              </a:rPr>
              <a:t>Elasticsearch</a:t>
            </a:r>
            <a:r>
              <a:rPr lang="en-US" sz="2200" dirty="0">
                <a:solidFill>
                  <a:schemeClr val="bg1"/>
                </a:solidFill>
              </a:rPr>
              <a:t>, Hadoop, etc. </a:t>
            </a:r>
            <a:endParaRPr lang="en-IN" sz="2200" dirty="0">
              <a:solidFill>
                <a:schemeClr val="bg1"/>
              </a:solidFill>
            </a:endParaRPr>
          </a:p>
        </p:txBody>
      </p:sp>
      <p:pic>
        <p:nvPicPr>
          <p:cNvPr id="2050" name="Picture 2" descr="Uber Architecture and System Design | by Kasun Dissanayake | Nerd For Tech  | 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79" y="262276"/>
            <a:ext cx="2810524" cy="1580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0598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616" y="0"/>
            <a:ext cx="9751060" cy="900336"/>
          </a:xfrm>
        </p:spPr>
        <p:txBody>
          <a:bodyPr>
            <a:normAutofit/>
          </a:bodyPr>
          <a:lstStyle/>
          <a:p>
            <a:r>
              <a:rPr lang="en-IN" dirty="0"/>
              <a:t>Real-Time Surge </a:t>
            </a:r>
            <a:r>
              <a:rPr lang="en-IN" dirty="0" smtClean="0"/>
              <a:t>Pricing</a:t>
            </a:r>
            <a:endParaRPr lang="en-IN" dirty="0"/>
          </a:p>
        </p:txBody>
      </p:sp>
      <p:sp>
        <p:nvSpPr>
          <p:cNvPr id="3" name="Content Placeholder 2"/>
          <p:cNvSpPr>
            <a:spLocks noGrp="1"/>
          </p:cNvSpPr>
          <p:nvPr>
            <p:ph idx="1"/>
          </p:nvPr>
        </p:nvSpPr>
        <p:spPr>
          <a:xfrm>
            <a:off x="1197868" y="944752"/>
            <a:ext cx="9751060" cy="5436576"/>
          </a:xfrm>
        </p:spPr>
        <p:txBody>
          <a:bodyPr>
            <a:normAutofit fontScale="77500" lnSpcReduction="20000"/>
          </a:bodyPr>
          <a:lstStyle/>
          <a:p>
            <a:pPr>
              <a:lnSpc>
                <a:spcPct val="120000"/>
              </a:lnSpc>
              <a:spcBef>
                <a:spcPts val="600"/>
              </a:spcBef>
            </a:pPr>
            <a:r>
              <a:rPr lang="en-US" b="1" dirty="0"/>
              <a:t>Data Collection</a:t>
            </a:r>
            <a:r>
              <a:rPr lang="en-US" dirty="0"/>
              <a:t>: As soon as a rider opens the app and requests a ride, data about the request is sent to Kafka. Simultaneously, data from drivers in the area, including their availability and location, is also sent to Kafka.</a:t>
            </a:r>
          </a:p>
          <a:p>
            <a:pPr>
              <a:lnSpc>
                <a:spcPct val="120000"/>
              </a:lnSpc>
              <a:spcBef>
                <a:spcPts val="600"/>
              </a:spcBef>
            </a:pPr>
            <a:r>
              <a:rPr lang="en-US" b="1" dirty="0"/>
              <a:t>Data Ingestion</a:t>
            </a:r>
            <a:r>
              <a:rPr lang="en-US" dirty="0"/>
              <a:t>: Kafka ingests this data in real-time and makes it available to various consumers.</a:t>
            </a:r>
          </a:p>
          <a:p>
            <a:pPr>
              <a:lnSpc>
                <a:spcPct val="120000"/>
              </a:lnSpc>
              <a:spcBef>
                <a:spcPts val="600"/>
              </a:spcBef>
            </a:pPr>
            <a:r>
              <a:rPr lang="en-US" b="1" dirty="0"/>
              <a:t>Processing with </a:t>
            </a:r>
            <a:r>
              <a:rPr lang="en-US" b="1" dirty="0" err="1"/>
              <a:t>Flink</a:t>
            </a:r>
            <a:r>
              <a:rPr lang="en-US" dirty="0"/>
              <a:t>: Apache </a:t>
            </a:r>
            <a:r>
              <a:rPr lang="en-US" dirty="0" err="1"/>
              <a:t>Flink</a:t>
            </a:r>
            <a:r>
              <a:rPr lang="en-US" dirty="0"/>
              <a:t> processes the incoming data streams to identify patterns, such as an unusually high number of ride requests in a specific area.</a:t>
            </a:r>
          </a:p>
          <a:p>
            <a:pPr>
              <a:lnSpc>
                <a:spcPct val="120000"/>
              </a:lnSpc>
              <a:spcBef>
                <a:spcPts val="600"/>
              </a:spcBef>
            </a:pPr>
            <a:r>
              <a:rPr lang="en-US" b="1" dirty="0"/>
              <a:t>Triggering Surge Pricing</a:t>
            </a:r>
            <a:r>
              <a:rPr lang="en-US" dirty="0"/>
              <a:t>: Based on the analysis, if demand significantly exceeds supply, </a:t>
            </a:r>
            <a:r>
              <a:rPr lang="en-US" dirty="0" err="1"/>
              <a:t>Flink</a:t>
            </a:r>
            <a:r>
              <a:rPr lang="en-US" dirty="0"/>
              <a:t> triggers an alert to adjust the pricing. This information is immediately sent back to Kafka.</a:t>
            </a:r>
          </a:p>
          <a:p>
            <a:pPr>
              <a:lnSpc>
                <a:spcPct val="120000"/>
              </a:lnSpc>
              <a:spcBef>
                <a:spcPts val="600"/>
              </a:spcBef>
            </a:pPr>
            <a:r>
              <a:rPr lang="en-US" b="1" dirty="0"/>
              <a:t>Updating Mobile Apps</a:t>
            </a:r>
            <a:r>
              <a:rPr lang="en-US" dirty="0"/>
              <a:t>: The updated pricing is then consumed by the internal services responsible for the rider and driver apps. Riders see the new surge price, and drivers are notified of increased earnings potential in high-demand areas.</a:t>
            </a:r>
          </a:p>
          <a:p>
            <a:pPr>
              <a:lnSpc>
                <a:spcPct val="120000"/>
              </a:lnSpc>
              <a:spcBef>
                <a:spcPts val="600"/>
              </a:spcBef>
            </a:pPr>
            <a:r>
              <a:rPr lang="en-US" b="1" dirty="0"/>
              <a:t>Continuous Monitoring</a:t>
            </a:r>
            <a:r>
              <a:rPr lang="en-US" dirty="0"/>
              <a:t>: The system continuously monitors the data to ensure that prices remain optimal as conditions change. If more drivers enter the high-demand area and balance the supply-demand ratio, the surge pricing is reduced or removed.</a:t>
            </a:r>
          </a:p>
          <a:p>
            <a:pPr>
              <a:lnSpc>
                <a:spcPct val="120000"/>
              </a:lnSpc>
              <a:spcBef>
                <a:spcPts val="600"/>
              </a:spcBef>
            </a:pP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32</a:t>
            </a:fld>
            <a:endParaRPr lang="en-IN" dirty="0"/>
          </a:p>
        </p:txBody>
      </p:sp>
    </p:spTree>
    <p:extLst>
      <p:ext uri="{BB962C8B-B14F-4D97-AF65-F5344CB8AC3E}">
        <p14:creationId xmlns:p14="http://schemas.microsoft.com/office/powerpoint/2010/main" val="1928004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Producers and Consumers</a:t>
            </a:r>
            <a:endParaRPr lang="en-IN" dirty="0"/>
          </a:p>
        </p:txBody>
      </p:sp>
      <p:sp>
        <p:nvSpPr>
          <p:cNvPr id="3" name="Content Placeholder 2"/>
          <p:cNvSpPr>
            <a:spLocks noGrp="1"/>
          </p:cNvSpPr>
          <p:nvPr>
            <p:ph idx="1"/>
          </p:nvPr>
        </p:nvSpPr>
        <p:spPr>
          <a:xfrm>
            <a:off x="1205860" y="1196752"/>
            <a:ext cx="8848992" cy="5040560"/>
          </a:xfrm>
        </p:spPr>
        <p:txBody>
          <a:bodyPr/>
          <a:lstStyle/>
          <a:p>
            <a:r>
              <a:rPr lang="en-US" b="1" dirty="0" smtClean="0">
                <a:solidFill>
                  <a:schemeClr val="accent3">
                    <a:lumMod val="60000"/>
                    <a:lumOff val="40000"/>
                  </a:schemeClr>
                </a:solidFill>
              </a:rPr>
              <a:t>Producers:</a:t>
            </a:r>
          </a:p>
          <a:p>
            <a:r>
              <a:rPr lang="en-US" dirty="0" smtClean="0"/>
              <a:t>Rider app, Driver app, API, DB, other sources (weather, traffic, etc.)</a:t>
            </a:r>
          </a:p>
          <a:p>
            <a:r>
              <a:rPr lang="en-US" b="1" dirty="0" smtClean="0">
                <a:solidFill>
                  <a:schemeClr val="accent3">
                    <a:lumMod val="60000"/>
                    <a:lumOff val="40000"/>
                  </a:schemeClr>
                </a:solidFill>
              </a:rPr>
              <a:t>Consumers:</a:t>
            </a:r>
          </a:p>
          <a:p>
            <a:r>
              <a:rPr lang="en-US" dirty="0" smtClean="0"/>
              <a:t>API, Mobile App, Apache </a:t>
            </a:r>
            <a:r>
              <a:rPr lang="en-US" dirty="0" err="1" smtClean="0"/>
              <a:t>Flink</a:t>
            </a:r>
            <a:r>
              <a:rPr lang="en-US" dirty="0" smtClean="0"/>
              <a:t> (real-time data analytics), </a:t>
            </a:r>
            <a:r>
              <a:rPr lang="en-US" dirty="0" err="1" smtClean="0"/>
              <a:t>Elasticsearch</a:t>
            </a:r>
            <a:r>
              <a:rPr lang="en-US" dirty="0" smtClean="0"/>
              <a:t>, Hadoop, etc. </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33</a:t>
            </a:fld>
            <a:endParaRPr lang="en-IN" dirty="0"/>
          </a:p>
        </p:txBody>
      </p:sp>
    </p:spTree>
    <p:extLst>
      <p:ext uri="{BB962C8B-B14F-4D97-AF65-F5344CB8AC3E}">
        <p14:creationId xmlns:p14="http://schemas.microsoft.com/office/powerpoint/2010/main" val="232174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xfrm>
            <a:off x="2205980" y="362396"/>
            <a:ext cx="8763963" cy="3210620"/>
          </a:xfrm>
        </p:spPr>
        <p:txBody>
          <a:bodyPr/>
          <a:lstStyle/>
          <a:p>
            <a:r>
              <a:rPr lang="en-US" b="1" dirty="0" smtClean="0">
                <a:solidFill>
                  <a:srgbClr val="C00000"/>
                </a:solidFill>
                <a:latin typeface="Algerian" panose="04020705040A02060702" pitchFamily="82" charset="0"/>
              </a:rPr>
              <a:t>Apache Kafka Demo</a:t>
            </a:r>
            <a:endParaRPr lang="en-IN" b="1" dirty="0">
              <a:solidFill>
                <a:srgbClr val="C00000"/>
              </a:solidFill>
              <a:latin typeface="Algerian" panose="04020705040A02060702" pitchFamily="82" charset="0"/>
            </a:endParaRPr>
          </a:p>
        </p:txBody>
      </p:sp>
      <p:sp>
        <p:nvSpPr>
          <p:cNvPr id="9" name="Subtitle 8"/>
          <p:cNvSpPr>
            <a:spLocks noGrp="1"/>
          </p:cNvSpPr>
          <p:nvPr>
            <p:ph type="subTitle" idx="1"/>
          </p:nvPr>
        </p:nvSpPr>
        <p:spPr/>
        <p:txBody>
          <a:bodyPr/>
          <a:lstStyle/>
          <a:p>
            <a:endParaRPr lang="en-IN"/>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34</a:t>
            </a:fld>
            <a:endParaRPr lang="en-IN" dirty="0"/>
          </a:p>
        </p:txBody>
      </p:sp>
    </p:spTree>
    <p:extLst>
      <p:ext uri="{BB962C8B-B14F-4D97-AF65-F5344CB8AC3E}">
        <p14:creationId xmlns:p14="http://schemas.microsoft.com/office/powerpoint/2010/main" val="3303422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Running Kafka</a:t>
            </a:r>
            <a:endParaRPr lang="en-IN" dirty="0"/>
          </a:p>
        </p:txBody>
      </p:sp>
      <p:sp>
        <p:nvSpPr>
          <p:cNvPr id="3" name="Content Placeholder 2"/>
          <p:cNvSpPr>
            <a:spLocks noGrp="1"/>
          </p:cNvSpPr>
          <p:nvPr>
            <p:ph idx="1"/>
          </p:nvPr>
        </p:nvSpPr>
        <p:spPr>
          <a:xfrm>
            <a:off x="1205860" y="1196752"/>
            <a:ext cx="10073128" cy="5184576"/>
          </a:xfrm>
        </p:spPr>
        <p:txBody>
          <a:bodyPr>
            <a:normAutofit fontScale="70000" lnSpcReduction="20000"/>
          </a:bodyPr>
          <a:lstStyle/>
          <a:p>
            <a:pPr marL="0" indent="0">
              <a:lnSpc>
                <a:spcPct val="120000"/>
              </a:lnSpc>
              <a:spcBef>
                <a:spcPts val="600"/>
              </a:spcBef>
              <a:buNone/>
            </a:pPr>
            <a:r>
              <a:rPr lang="en-US" b="1" dirty="0" smtClean="0">
                <a:solidFill>
                  <a:srgbClr val="C00000"/>
                </a:solidFill>
                <a:latin typeface="Consolas" panose="020B0609020204030204" pitchFamily="49" charset="0"/>
              </a:rPr>
              <a:t>1.</a:t>
            </a:r>
            <a:r>
              <a:rPr lang="en-US" dirty="0" smtClean="0">
                <a:solidFill>
                  <a:srgbClr val="C00000"/>
                </a:solidFill>
                <a:latin typeface="Consolas" panose="020B0609020204030204" pitchFamily="49" charset="0"/>
              </a:rPr>
              <a:t> </a:t>
            </a:r>
            <a:r>
              <a:rPr lang="en-US" b="1" dirty="0">
                <a:solidFill>
                  <a:srgbClr val="C00000"/>
                </a:solidFill>
                <a:latin typeface="Consolas" panose="020B0609020204030204" pitchFamily="49" charset="0"/>
              </a:rPr>
              <a:t>Start Zookeeper process from C:\kafka folder</a:t>
            </a:r>
            <a:endParaRPr lang="en-IN" dirty="0">
              <a:solidFill>
                <a:srgbClr val="C00000"/>
              </a:solidFill>
              <a:latin typeface="Consolas" panose="020B0609020204030204" pitchFamily="49" charset="0"/>
            </a:endParaRPr>
          </a:p>
          <a:p>
            <a:pPr marL="0" indent="0">
              <a:lnSpc>
                <a:spcPct val="120000"/>
              </a:lnSpc>
              <a:spcBef>
                <a:spcPts val="600"/>
              </a:spcBef>
              <a:buNone/>
            </a:pPr>
            <a:r>
              <a:rPr lang="en-US" b="1" dirty="0">
                <a:latin typeface="Consolas" panose="020B0609020204030204" pitchFamily="49" charset="0"/>
              </a:rPr>
              <a:t>c:\kafka&gt;</a:t>
            </a:r>
            <a:r>
              <a:rPr lang="en-US" dirty="0">
                <a:latin typeface="Consolas" panose="020B0609020204030204" pitchFamily="49" charset="0"/>
              </a:rPr>
              <a:t>.\bin\windows\zookeeper-server-start.bat .\</a:t>
            </a:r>
            <a:r>
              <a:rPr lang="en-US" dirty="0" err="1">
                <a:latin typeface="Consolas" panose="020B0609020204030204" pitchFamily="49" charset="0"/>
              </a:rPr>
              <a:t>config</a:t>
            </a:r>
            <a:r>
              <a:rPr lang="en-US" dirty="0">
                <a:latin typeface="Consolas" panose="020B0609020204030204" pitchFamily="49" charset="0"/>
              </a:rPr>
              <a:t>\</a:t>
            </a:r>
            <a:r>
              <a:rPr lang="en-US" dirty="0" err="1">
                <a:latin typeface="Consolas" panose="020B0609020204030204" pitchFamily="49" charset="0"/>
              </a:rPr>
              <a:t>zookeeper.properties</a:t>
            </a:r>
            <a:endParaRPr lang="en-IN" dirty="0">
              <a:latin typeface="Consolas" panose="020B0609020204030204" pitchFamily="49" charset="0"/>
            </a:endParaRPr>
          </a:p>
          <a:p>
            <a:pPr marL="0" indent="0">
              <a:lnSpc>
                <a:spcPct val="120000"/>
              </a:lnSpc>
              <a:spcBef>
                <a:spcPts val="600"/>
              </a:spcBef>
              <a:buNone/>
            </a:pPr>
            <a:r>
              <a:rPr lang="en-US" b="1" dirty="0" smtClean="0">
                <a:solidFill>
                  <a:srgbClr val="C00000"/>
                </a:solidFill>
                <a:latin typeface="Consolas" panose="020B0609020204030204" pitchFamily="49" charset="0"/>
              </a:rPr>
              <a:t>2. Start </a:t>
            </a:r>
            <a:r>
              <a:rPr lang="en-US" b="1" dirty="0" err="1">
                <a:solidFill>
                  <a:srgbClr val="C00000"/>
                </a:solidFill>
                <a:latin typeface="Consolas" panose="020B0609020204030204" pitchFamily="49" charset="0"/>
              </a:rPr>
              <a:t>kafka</a:t>
            </a:r>
            <a:r>
              <a:rPr lang="en-US" b="1" dirty="0">
                <a:solidFill>
                  <a:srgbClr val="C00000"/>
                </a:solidFill>
                <a:latin typeface="Consolas" panose="020B0609020204030204" pitchFamily="49" charset="0"/>
              </a:rPr>
              <a:t> </a:t>
            </a:r>
            <a:r>
              <a:rPr lang="en-US" b="1" dirty="0" smtClean="0">
                <a:solidFill>
                  <a:srgbClr val="C00000"/>
                </a:solidFill>
                <a:latin typeface="Consolas" panose="020B0609020204030204" pitchFamily="49" charset="0"/>
              </a:rPr>
              <a:t>Server</a:t>
            </a:r>
            <a:endParaRPr lang="en-IN" dirty="0">
              <a:solidFill>
                <a:srgbClr val="C00000"/>
              </a:solidFill>
              <a:latin typeface="Consolas" panose="020B0609020204030204" pitchFamily="49" charset="0"/>
            </a:endParaRPr>
          </a:p>
          <a:p>
            <a:pPr marL="0" indent="0">
              <a:lnSpc>
                <a:spcPct val="120000"/>
              </a:lnSpc>
              <a:spcBef>
                <a:spcPts val="600"/>
              </a:spcBef>
              <a:buNone/>
            </a:pPr>
            <a:r>
              <a:rPr lang="en-US" b="1" dirty="0" smtClean="0">
                <a:latin typeface="Consolas" panose="020B0609020204030204" pitchFamily="49" charset="0"/>
              </a:rPr>
              <a:t>C</a:t>
            </a:r>
            <a:r>
              <a:rPr lang="en-US" b="1" dirty="0" smtClean="0">
                <a:latin typeface="Consolas" panose="020B0609020204030204" pitchFamily="49" charset="0"/>
              </a:rPr>
              <a:t>:\</a:t>
            </a:r>
            <a:r>
              <a:rPr lang="en-US" b="1" dirty="0">
                <a:latin typeface="Consolas" panose="020B0609020204030204" pitchFamily="49" charset="0"/>
              </a:rPr>
              <a:t>kafka&gt;</a:t>
            </a:r>
            <a:r>
              <a:rPr lang="en-US" dirty="0">
                <a:latin typeface="Consolas" panose="020B0609020204030204" pitchFamily="49" charset="0"/>
              </a:rPr>
              <a:t>.\bin\windows\kafka-server-start.bat .\</a:t>
            </a:r>
            <a:r>
              <a:rPr lang="en-US" dirty="0" err="1">
                <a:latin typeface="Consolas" panose="020B0609020204030204" pitchFamily="49" charset="0"/>
              </a:rPr>
              <a:t>config</a:t>
            </a:r>
            <a:r>
              <a:rPr lang="en-US" dirty="0">
                <a:latin typeface="Consolas" panose="020B0609020204030204" pitchFamily="49" charset="0"/>
              </a:rPr>
              <a:t>\</a:t>
            </a:r>
            <a:r>
              <a:rPr lang="en-US" dirty="0" err="1">
                <a:latin typeface="Consolas" panose="020B0609020204030204" pitchFamily="49" charset="0"/>
              </a:rPr>
              <a:t>server.properties</a:t>
            </a:r>
            <a:endParaRPr lang="en-IN" dirty="0">
              <a:latin typeface="Consolas" panose="020B0609020204030204" pitchFamily="49" charset="0"/>
            </a:endParaRPr>
          </a:p>
          <a:p>
            <a:pPr marL="0" indent="0">
              <a:lnSpc>
                <a:spcPct val="120000"/>
              </a:lnSpc>
              <a:spcBef>
                <a:spcPts val="600"/>
              </a:spcBef>
              <a:buNone/>
            </a:pPr>
            <a:r>
              <a:rPr lang="en-US" b="1" dirty="0" smtClean="0">
                <a:solidFill>
                  <a:srgbClr val="C00000"/>
                </a:solidFill>
                <a:latin typeface="Consolas" panose="020B0609020204030204" pitchFamily="49" charset="0"/>
              </a:rPr>
              <a:t>3. </a:t>
            </a:r>
            <a:r>
              <a:rPr lang="en-US" b="1" dirty="0">
                <a:solidFill>
                  <a:srgbClr val="C00000"/>
                </a:solidFill>
                <a:latin typeface="Consolas" panose="020B0609020204030204" pitchFamily="49" charset="0"/>
              </a:rPr>
              <a:t>Create a topic from C:\kafka\bin\windows</a:t>
            </a:r>
            <a:endParaRPr lang="en-IN" dirty="0">
              <a:solidFill>
                <a:srgbClr val="C00000"/>
              </a:solidFill>
              <a:latin typeface="Consolas" panose="020B0609020204030204" pitchFamily="49" charset="0"/>
            </a:endParaRPr>
          </a:p>
          <a:p>
            <a:pPr marL="0" indent="0">
              <a:lnSpc>
                <a:spcPct val="120000"/>
              </a:lnSpc>
              <a:spcBef>
                <a:spcPts val="600"/>
              </a:spcBef>
              <a:buNone/>
            </a:pPr>
            <a:r>
              <a:rPr lang="en-US" b="1" dirty="0">
                <a:latin typeface="Consolas" panose="020B0609020204030204" pitchFamily="49" charset="0"/>
              </a:rPr>
              <a:t>C:\kafka\bin\windows&gt;</a:t>
            </a:r>
            <a:r>
              <a:rPr lang="en-US" dirty="0">
                <a:latin typeface="Consolas" panose="020B0609020204030204" pitchFamily="49" charset="0"/>
              </a:rPr>
              <a:t>kafka-topics.bat --create --bootstrap-server </a:t>
            </a:r>
            <a:endParaRPr lang="en-IN" dirty="0">
              <a:latin typeface="Consolas" panose="020B0609020204030204" pitchFamily="49" charset="0"/>
            </a:endParaRPr>
          </a:p>
          <a:p>
            <a:pPr marL="0" indent="0">
              <a:lnSpc>
                <a:spcPct val="120000"/>
              </a:lnSpc>
              <a:spcBef>
                <a:spcPts val="600"/>
              </a:spcBef>
              <a:buNone/>
            </a:pPr>
            <a:r>
              <a:rPr lang="en-US" dirty="0">
                <a:latin typeface="Consolas" panose="020B0609020204030204" pitchFamily="49" charset="0"/>
              </a:rPr>
              <a:t>localhost:9092 --topic test</a:t>
            </a:r>
            <a:endParaRPr lang="en-IN" dirty="0">
              <a:latin typeface="Consolas" panose="020B0609020204030204" pitchFamily="49" charset="0"/>
            </a:endParaRPr>
          </a:p>
          <a:p>
            <a:pPr marL="0" indent="0">
              <a:lnSpc>
                <a:spcPct val="120000"/>
              </a:lnSpc>
              <a:spcBef>
                <a:spcPts val="600"/>
              </a:spcBef>
              <a:buNone/>
            </a:pPr>
            <a:r>
              <a:rPr lang="en-US" dirty="0">
                <a:latin typeface="Consolas" panose="020B0609020204030204" pitchFamily="49" charset="0"/>
              </a:rPr>
              <a:t>Created topic test</a:t>
            </a:r>
            <a:r>
              <a:rPr lang="en-US" dirty="0" smtClean="0">
                <a:latin typeface="Consolas" panose="020B0609020204030204" pitchFamily="49" charset="0"/>
              </a:rPr>
              <a:t>.</a:t>
            </a:r>
            <a:endParaRPr lang="en-IN" dirty="0">
              <a:latin typeface="Consolas" panose="020B0609020204030204" pitchFamily="49" charset="0"/>
            </a:endParaRPr>
          </a:p>
          <a:p>
            <a:pPr marL="0" indent="0">
              <a:lnSpc>
                <a:spcPct val="120000"/>
              </a:lnSpc>
              <a:spcBef>
                <a:spcPts val="600"/>
              </a:spcBef>
              <a:buNone/>
            </a:pPr>
            <a:r>
              <a:rPr lang="en-US" b="1" dirty="0" smtClean="0">
                <a:solidFill>
                  <a:srgbClr val="C00000"/>
                </a:solidFill>
                <a:latin typeface="Consolas" panose="020B0609020204030204" pitchFamily="49" charset="0"/>
              </a:rPr>
              <a:t>4. </a:t>
            </a:r>
            <a:r>
              <a:rPr lang="en-US" b="1" dirty="0">
                <a:solidFill>
                  <a:srgbClr val="C00000"/>
                </a:solidFill>
                <a:latin typeface="Consolas" panose="020B0609020204030204" pitchFamily="49" charset="0"/>
              </a:rPr>
              <a:t>Start a Producer</a:t>
            </a:r>
            <a:endParaRPr lang="en-IN" dirty="0">
              <a:solidFill>
                <a:srgbClr val="C00000"/>
              </a:solidFill>
              <a:latin typeface="Consolas" panose="020B0609020204030204" pitchFamily="49" charset="0"/>
            </a:endParaRPr>
          </a:p>
          <a:p>
            <a:pPr marL="0" indent="0">
              <a:lnSpc>
                <a:spcPct val="120000"/>
              </a:lnSpc>
              <a:spcBef>
                <a:spcPts val="600"/>
              </a:spcBef>
              <a:buNone/>
            </a:pPr>
            <a:r>
              <a:rPr lang="en-US" b="1" dirty="0">
                <a:latin typeface="Consolas" panose="020B0609020204030204" pitchFamily="49" charset="0"/>
              </a:rPr>
              <a:t>C:\kafka\bin\windows&gt;</a:t>
            </a:r>
            <a:r>
              <a:rPr lang="en-US" dirty="0">
                <a:latin typeface="Consolas" panose="020B0609020204030204" pitchFamily="49" charset="0"/>
              </a:rPr>
              <a:t>kafka-console-producer.bat --broker-list localhost:9092 --topic test</a:t>
            </a:r>
            <a:endParaRPr lang="en-IN" dirty="0">
              <a:latin typeface="Consolas" panose="020B0609020204030204" pitchFamily="49" charset="0"/>
            </a:endParaRPr>
          </a:p>
          <a:p>
            <a:pPr marL="0" indent="0">
              <a:lnSpc>
                <a:spcPct val="120000"/>
              </a:lnSpc>
              <a:spcBef>
                <a:spcPts val="600"/>
              </a:spcBef>
              <a:buNone/>
            </a:pPr>
            <a:r>
              <a:rPr lang="en-US" b="1" dirty="0" smtClean="0">
                <a:solidFill>
                  <a:srgbClr val="C00000"/>
                </a:solidFill>
                <a:latin typeface="Consolas" panose="020B0609020204030204" pitchFamily="49" charset="0"/>
              </a:rPr>
              <a:t>5. </a:t>
            </a:r>
            <a:r>
              <a:rPr lang="en-US" b="1" dirty="0">
                <a:solidFill>
                  <a:srgbClr val="C00000"/>
                </a:solidFill>
                <a:latin typeface="Consolas" panose="020B0609020204030204" pitchFamily="49" charset="0"/>
              </a:rPr>
              <a:t>Start a Consumer</a:t>
            </a:r>
            <a:endParaRPr lang="en-IN" dirty="0">
              <a:solidFill>
                <a:srgbClr val="C00000"/>
              </a:solidFill>
              <a:latin typeface="Consolas" panose="020B0609020204030204" pitchFamily="49" charset="0"/>
            </a:endParaRPr>
          </a:p>
          <a:p>
            <a:pPr marL="0" indent="0">
              <a:lnSpc>
                <a:spcPct val="120000"/>
              </a:lnSpc>
              <a:spcBef>
                <a:spcPts val="600"/>
              </a:spcBef>
              <a:buNone/>
            </a:pPr>
            <a:r>
              <a:rPr lang="en-US" b="1" dirty="0">
                <a:latin typeface="Consolas" panose="020B0609020204030204" pitchFamily="49" charset="0"/>
              </a:rPr>
              <a:t>C:\kafka\bin\windows&gt;</a:t>
            </a:r>
            <a:r>
              <a:rPr lang="en-US" dirty="0">
                <a:latin typeface="Consolas" panose="020B0609020204030204" pitchFamily="49" charset="0"/>
              </a:rPr>
              <a:t>kafka-console-consumer.bat --topic test --bootstrap-server localhost:9092 -from-beginning</a:t>
            </a:r>
            <a:endParaRPr lang="en-IN" dirty="0">
              <a:latin typeface="Consolas" panose="020B0609020204030204" pitchFamily="49" charset="0"/>
            </a:endParaRPr>
          </a:p>
          <a:p>
            <a:pPr marL="0" indent="0">
              <a:buNone/>
            </a:pPr>
            <a:endParaRPr lang="en-IN" dirty="0">
              <a:latin typeface="Consolas" panose="020B0609020204030204" pitchFamily="49" charset="0"/>
            </a:endParaRPr>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35</a:t>
            </a:fld>
            <a:endParaRPr lang="en-IN" dirty="0"/>
          </a:p>
        </p:txBody>
      </p:sp>
    </p:spTree>
    <p:extLst>
      <p:ext uri="{BB962C8B-B14F-4D97-AF65-F5344CB8AC3E}">
        <p14:creationId xmlns:p14="http://schemas.microsoft.com/office/powerpoint/2010/main" val="3871520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Start Zookeeper Server</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36</a:t>
            </a:fld>
            <a:endParaRPr lang="en-IN" dirty="0"/>
          </a:p>
        </p:txBody>
      </p:sp>
      <p:pic>
        <p:nvPicPr>
          <p:cNvPr id="6" name="Picture 5"/>
          <p:cNvPicPr>
            <a:picLocks noChangeAspect="1"/>
          </p:cNvPicPr>
          <p:nvPr/>
        </p:nvPicPr>
        <p:blipFill>
          <a:blip r:embed="rId2"/>
          <a:stretch>
            <a:fillRect/>
          </a:stretch>
        </p:blipFill>
        <p:spPr>
          <a:xfrm>
            <a:off x="1218883" y="1196752"/>
            <a:ext cx="8665702" cy="5040560"/>
          </a:xfrm>
          <a:prstGeom prst="rect">
            <a:avLst/>
          </a:prstGeom>
        </p:spPr>
      </p:pic>
    </p:spTree>
    <p:extLst>
      <p:ext uri="{BB962C8B-B14F-4D97-AF65-F5344CB8AC3E}">
        <p14:creationId xmlns:p14="http://schemas.microsoft.com/office/powerpoint/2010/main" val="784791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Start Kafka Server</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37</a:t>
            </a:fld>
            <a:endParaRPr lang="en-IN" dirty="0"/>
          </a:p>
        </p:txBody>
      </p:sp>
      <p:pic>
        <p:nvPicPr>
          <p:cNvPr id="6" name="Picture 5"/>
          <p:cNvPicPr>
            <a:picLocks noChangeAspect="1"/>
          </p:cNvPicPr>
          <p:nvPr/>
        </p:nvPicPr>
        <p:blipFill>
          <a:blip r:embed="rId2"/>
          <a:stretch>
            <a:fillRect/>
          </a:stretch>
        </p:blipFill>
        <p:spPr>
          <a:xfrm>
            <a:off x="1247533" y="1039472"/>
            <a:ext cx="9863267" cy="5269848"/>
          </a:xfrm>
          <a:prstGeom prst="rect">
            <a:avLst/>
          </a:prstGeom>
        </p:spPr>
      </p:pic>
    </p:spTree>
    <p:extLst>
      <p:ext uri="{BB962C8B-B14F-4D97-AF65-F5344CB8AC3E}">
        <p14:creationId xmlns:p14="http://schemas.microsoft.com/office/powerpoint/2010/main" val="332341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 Topic – “test”</a:t>
            </a:r>
            <a:endParaRPr lang="en-IN" dirty="0"/>
          </a:p>
        </p:txBody>
      </p:sp>
      <p:pic>
        <p:nvPicPr>
          <p:cNvPr id="6" name="Content Placeholder 5"/>
          <p:cNvPicPr>
            <a:picLocks noGrp="1" noChangeAspect="1"/>
          </p:cNvPicPr>
          <p:nvPr>
            <p:ph idx="1"/>
          </p:nvPr>
        </p:nvPicPr>
        <p:blipFill>
          <a:blip r:embed="rId2"/>
          <a:stretch>
            <a:fillRect/>
          </a:stretch>
        </p:blipFill>
        <p:spPr>
          <a:xfrm>
            <a:off x="693812" y="1988840"/>
            <a:ext cx="11190899" cy="1440160"/>
          </a:xfrm>
          <a:prstGeom prst="rect">
            <a:avLst/>
          </a:prstGeom>
        </p:spPr>
      </p:pic>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38</a:t>
            </a:fld>
            <a:endParaRPr lang="en-IN" dirty="0"/>
          </a:p>
        </p:txBody>
      </p:sp>
    </p:spTree>
    <p:extLst>
      <p:ext uri="{BB962C8B-B14F-4D97-AF65-F5344CB8AC3E}">
        <p14:creationId xmlns:p14="http://schemas.microsoft.com/office/powerpoint/2010/main" val="148661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Producer &amp; Consumer</a:t>
            </a:r>
            <a:endParaRPr lang="en-IN" dirty="0"/>
          </a:p>
        </p:txBody>
      </p:sp>
      <p:pic>
        <p:nvPicPr>
          <p:cNvPr id="7" name="Content Placeholder 6"/>
          <p:cNvPicPr>
            <a:picLocks noGrp="1" noChangeAspect="1"/>
          </p:cNvPicPr>
          <p:nvPr>
            <p:ph idx="1"/>
          </p:nvPr>
        </p:nvPicPr>
        <p:blipFill>
          <a:blip r:embed="rId2"/>
          <a:stretch>
            <a:fillRect/>
          </a:stretch>
        </p:blipFill>
        <p:spPr>
          <a:xfrm>
            <a:off x="1125860" y="1340768"/>
            <a:ext cx="10642519" cy="4680520"/>
          </a:xfrm>
          <a:prstGeom prst="rect">
            <a:avLst/>
          </a:prstGeom>
        </p:spPr>
      </p:pic>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39</a:t>
            </a:fld>
            <a:endParaRPr lang="en-IN" dirty="0"/>
          </a:p>
        </p:txBody>
      </p:sp>
      <p:sp>
        <p:nvSpPr>
          <p:cNvPr id="8" name="Rectangle 7"/>
          <p:cNvSpPr/>
          <p:nvPr/>
        </p:nvSpPr>
        <p:spPr>
          <a:xfrm>
            <a:off x="7822604" y="2852936"/>
            <a:ext cx="2664296" cy="461665"/>
          </a:xfrm>
          <a:prstGeom prst="rect">
            <a:avLst/>
          </a:prstGeom>
        </p:spPr>
        <p:txBody>
          <a:bodyPr wrap="square">
            <a:spAutoFit/>
          </a:bodyPr>
          <a:lstStyle/>
          <a:p>
            <a:r>
              <a:rPr lang="en-US" dirty="0">
                <a:solidFill>
                  <a:srgbClr val="FFFF00"/>
                </a:solidFill>
              </a:rPr>
              <a:t>Producer </a:t>
            </a:r>
            <a:endParaRPr lang="en-IN" dirty="0">
              <a:solidFill>
                <a:srgbClr val="FFFF00"/>
              </a:solidFill>
            </a:endParaRPr>
          </a:p>
        </p:txBody>
      </p:sp>
      <p:sp>
        <p:nvSpPr>
          <p:cNvPr id="9" name="Rectangle 8"/>
          <p:cNvSpPr/>
          <p:nvPr/>
        </p:nvSpPr>
        <p:spPr>
          <a:xfrm>
            <a:off x="7822604" y="5373216"/>
            <a:ext cx="2664296" cy="461665"/>
          </a:xfrm>
          <a:prstGeom prst="rect">
            <a:avLst/>
          </a:prstGeom>
        </p:spPr>
        <p:txBody>
          <a:bodyPr wrap="square">
            <a:spAutoFit/>
          </a:bodyPr>
          <a:lstStyle/>
          <a:p>
            <a:r>
              <a:rPr lang="en-US" dirty="0" smtClean="0">
                <a:solidFill>
                  <a:srgbClr val="FFFF00"/>
                </a:solidFill>
              </a:rPr>
              <a:t>Consumer</a:t>
            </a:r>
            <a:endParaRPr lang="en-IN" dirty="0">
              <a:solidFill>
                <a:srgbClr val="FFFF00"/>
              </a:solidFill>
            </a:endParaRPr>
          </a:p>
        </p:txBody>
      </p:sp>
      <p:sp>
        <p:nvSpPr>
          <p:cNvPr id="10" name="Rectangle 9"/>
          <p:cNvSpPr/>
          <p:nvPr/>
        </p:nvSpPr>
        <p:spPr>
          <a:xfrm>
            <a:off x="837828" y="4162136"/>
            <a:ext cx="10930551" cy="10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p:cNvCxnSpPr/>
          <p:nvPr/>
        </p:nvCxnSpPr>
        <p:spPr>
          <a:xfrm flipV="1">
            <a:off x="4993026" y="2170448"/>
            <a:ext cx="129614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4993026" y="5085184"/>
            <a:ext cx="1296144"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475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Test Producer &amp; </a:t>
            </a:r>
            <a:r>
              <a:rPr lang="en-US" sz="3200" dirty="0" smtClean="0"/>
              <a:t>Consumer - ingesting </a:t>
            </a:r>
            <a:r>
              <a:rPr lang="en-US" sz="3200" dirty="0"/>
              <a:t>data</a:t>
            </a:r>
            <a:r>
              <a:rPr lang="en-US" sz="3200" dirty="0" smtClean="0"/>
              <a:t>:</a:t>
            </a:r>
            <a:endParaRPr lang="en-IN" sz="3200" dirty="0"/>
          </a:p>
        </p:txBody>
      </p:sp>
      <p:sp>
        <p:nvSpPr>
          <p:cNvPr id="3" name="Content Placeholder 2"/>
          <p:cNvSpPr>
            <a:spLocks noGrp="1"/>
          </p:cNvSpPr>
          <p:nvPr>
            <p:ph idx="1"/>
          </p:nvPr>
        </p:nvSpPr>
        <p:spPr/>
        <p:txBody>
          <a:bodyPr>
            <a:normAutofit/>
          </a:bodyPr>
          <a:lstStyle/>
          <a:p>
            <a:pPr marL="0" indent="0">
              <a:buNone/>
            </a:pPr>
            <a:r>
              <a:rPr lang="en-US" b="1" dirty="0">
                <a:solidFill>
                  <a:srgbClr val="C00000"/>
                </a:solidFill>
                <a:latin typeface="Consolas" panose="020B0609020204030204" pitchFamily="49" charset="0"/>
              </a:rPr>
              <a:t>From Producer window push a JSON/any text data:</a:t>
            </a:r>
            <a:endParaRPr lang="en-IN" dirty="0">
              <a:solidFill>
                <a:srgbClr val="C00000"/>
              </a:solidFill>
              <a:latin typeface="Consolas" panose="020B0609020204030204" pitchFamily="49" charset="0"/>
            </a:endParaRPr>
          </a:p>
          <a:p>
            <a:pPr marL="0" indent="0">
              <a:buNone/>
            </a:pPr>
            <a:r>
              <a:rPr lang="en-US" dirty="0">
                <a:latin typeface="Consolas" panose="020B0609020204030204" pitchFamily="49" charset="0"/>
              </a:rPr>
              <a:t>C:\kafka\bin\windows&gt;kafka-console-producer.bat --broker-list localhost:9092 --topic test</a:t>
            </a:r>
            <a:endParaRPr lang="en-IN" dirty="0">
              <a:latin typeface="Consolas" panose="020B0609020204030204" pitchFamily="49" charset="0"/>
            </a:endParaRPr>
          </a:p>
          <a:p>
            <a:pPr marL="0" indent="0">
              <a:buNone/>
            </a:pPr>
            <a:r>
              <a:rPr lang="en-US" dirty="0">
                <a:latin typeface="Consolas" panose="020B0609020204030204" pitchFamily="49" charset="0"/>
              </a:rPr>
              <a:t>&gt;{"Name: "John", "Age":"31", "</a:t>
            </a:r>
            <a:r>
              <a:rPr lang="en-US" dirty="0" err="1">
                <a:latin typeface="Consolas" panose="020B0609020204030204" pitchFamily="49" charset="0"/>
              </a:rPr>
              <a:t>Gender":"Male</a:t>
            </a:r>
            <a:r>
              <a:rPr lang="en-US" dirty="0">
                <a:latin typeface="Consolas" panose="020B0609020204030204" pitchFamily="49" charset="0"/>
              </a:rPr>
              <a:t>"}</a:t>
            </a:r>
            <a:endParaRPr lang="en-IN" dirty="0">
              <a:latin typeface="Consolas" panose="020B0609020204030204" pitchFamily="49" charset="0"/>
            </a:endParaRPr>
          </a:p>
          <a:p>
            <a:pPr marL="0" indent="0">
              <a:buNone/>
            </a:pPr>
            <a:r>
              <a:rPr lang="en-US" dirty="0">
                <a:latin typeface="Consolas" panose="020B0609020204030204" pitchFamily="49" charset="0"/>
              </a:rPr>
              <a:t> </a:t>
            </a:r>
            <a:endParaRPr lang="en-IN" dirty="0">
              <a:latin typeface="Consolas" panose="020B0609020204030204" pitchFamily="49" charset="0"/>
            </a:endParaRPr>
          </a:p>
          <a:p>
            <a:pPr marL="0" indent="0">
              <a:buNone/>
            </a:pPr>
            <a:r>
              <a:rPr lang="en-US" b="1" dirty="0">
                <a:solidFill>
                  <a:srgbClr val="C00000"/>
                </a:solidFill>
                <a:latin typeface="Consolas" panose="020B0609020204030204" pitchFamily="49" charset="0"/>
              </a:rPr>
              <a:t>Check it in Consumer Window:</a:t>
            </a:r>
            <a:endParaRPr lang="en-IN" dirty="0">
              <a:solidFill>
                <a:srgbClr val="C00000"/>
              </a:solidFill>
              <a:latin typeface="Consolas" panose="020B0609020204030204" pitchFamily="49" charset="0"/>
            </a:endParaRPr>
          </a:p>
          <a:p>
            <a:pPr marL="0" indent="0">
              <a:buNone/>
            </a:pPr>
            <a:r>
              <a:rPr lang="en-US" dirty="0">
                <a:latin typeface="Consolas" panose="020B0609020204030204" pitchFamily="49" charset="0"/>
              </a:rPr>
              <a:t>C:\kafka\bin\windows&gt;kafka-console-consumer.bat --topic test --bootstrap-server localhost:9092 -from-beginning</a:t>
            </a:r>
            <a:endParaRPr lang="en-IN" dirty="0">
              <a:latin typeface="Consolas" panose="020B0609020204030204" pitchFamily="49" charset="0"/>
            </a:endParaRPr>
          </a:p>
          <a:p>
            <a:pPr marL="0" indent="0">
              <a:buNone/>
            </a:pPr>
            <a:r>
              <a:rPr lang="en-US" dirty="0">
                <a:latin typeface="Consolas" panose="020B0609020204030204" pitchFamily="49" charset="0"/>
              </a:rPr>
              <a:t>{"Name: "John", "Age":"31", "</a:t>
            </a:r>
            <a:r>
              <a:rPr lang="en-US" dirty="0" err="1">
                <a:latin typeface="Consolas" panose="020B0609020204030204" pitchFamily="49" charset="0"/>
              </a:rPr>
              <a:t>Gender":"Male</a:t>
            </a:r>
            <a:r>
              <a:rPr lang="en-US" dirty="0">
                <a:latin typeface="Consolas" panose="020B0609020204030204" pitchFamily="49" charset="0"/>
              </a:rPr>
              <a:t>"}</a:t>
            </a:r>
            <a:endParaRPr lang="en-IN" dirty="0">
              <a:latin typeface="Consolas" panose="020B0609020204030204" pitchFamily="49" charset="0"/>
            </a:endParaRPr>
          </a:p>
          <a:p>
            <a:pPr marL="0" indent="0">
              <a:buNone/>
            </a:pPr>
            <a:endParaRPr lang="en-IN" dirty="0">
              <a:latin typeface="Consolas" panose="020B0609020204030204" pitchFamily="49" charset="0"/>
            </a:endParaRPr>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40</a:t>
            </a:fld>
            <a:endParaRPr lang="en-IN" dirty="0"/>
          </a:p>
        </p:txBody>
      </p:sp>
    </p:spTree>
    <p:extLst>
      <p:ext uri="{BB962C8B-B14F-4D97-AF65-F5344CB8AC3E}">
        <p14:creationId xmlns:p14="http://schemas.microsoft.com/office/powerpoint/2010/main" val="222566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of Kafka &amp; Spark</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41</a:t>
            </a:fld>
            <a:endParaRPr lang="en-IN" dirty="0"/>
          </a:p>
        </p:txBody>
      </p:sp>
      <p:pic>
        <p:nvPicPr>
          <p:cNvPr id="6" name="Picture 5"/>
          <p:cNvPicPr>
            <a:picLocks noChangeAspect="1"/>
          </p:cNvPicPr>
          <p:nvPr/>
        </p:nvPicPr>
        <p:blipFill>
          <a:blip r:embed="rId2"/>
          <a:stretch>
            <a:fillRect/>
          </a:stretch>
        </p:blipFill>
        <p:spPr>
          <a:xfrm>
            <a:off x="1205860" y="1196685"/>
            <a:ext cx="8921000" cy="5001042"/>
          </a:xfrm>
          <a:prstGeom prst="rect">
            <a:avLst/>
          </a:prstGeom>
        </p:spPr>
      </p:pic>
    </p:spTree>
    <p:extLst>
      <p:ext uri="{BB962C8B-B14F-4D97-AF65-F5344CB8AC3E}">
        <p14:creationId xmlns:p14="http://schemas.microsoft.com/office/powerpoint/2010/main" val="1798818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3" y="152400"/>
            <a:ext cx="9751060" cy="540296"/>
          </a:xfrm>
        </p:spPr>
        <p:txBody>
          <a:bodyPr>
            <a:normAutofit fontScale="90000"/>
          </a:bodyPr>
          <a:lstStyle/>
          <a:p>
            <a:r>
              <a:rPr lang="en-US" dirty="0" smtClean="0"/>
              <a:t>Code</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42</a:t>
            </a:fld>
            <a:endParaRPr lang="en-IN" dirty="0"/>
          </a:p>
        </p:txBody>
      </p:sp>
      <p:sp>
        <p:nvSpPr>
          <p:cNvPr id="6" name="Rectangle 5"/>
          <p:cNvSpPr/>
          <p:nvPr/>
        </p:nvSpPr>
        <p:spPr>
          <a:xfrm>
            <a:off x="1293103" y="645930"/>
            <a:ext cx="10564161" cy="5709768"/>
          </a:xfrm>
          <a:prstGeom prst="rect">
            <a:avLst/>
          </a:prstGeom>
        </p:spPr>
        <p:txBody>
          <a:bodyPr wrap="square">
            <a:spAutoFit/>
          </a:bodyPr>
          <a:lstStyle/>
          <a:p>
            <a:pPr algn="just">
              <a:lnSpc>
                <a:spcPct val="107000"/>
              </a:lnSpc>
              <a:spcAft>
                <a:spcPts val="0"/>
              </a:spcAft>
            </a:pPr>
            <a:r>
              <a:rPr lang="en-US" sz="1800" b="1" dirty="0">
                <a:latin typeface="Bookman Old Style" panose="02050604050505020204" pitchFamily="18" charset="0"/>
                <a:ea typeface="Calibri" panose="020F0502020204030204" pitchFamily="34" charset="0"/>
                <a:cs typeface="Times New Roman" panose="02020603050405020304" pitchFamily="18" charset="0"/>
              </a:rPr>
              <a:t>Cell-1:</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solidFill>
                  <a:srgbClr val="C55A11"/>
                </a:solidFill>
                <a:latin typeface="Consolas" panose="020B0609020204030204" pitchFamily="49" charset="0"/>
                <a:ea typeface="Calibri" panose="020F0502020204030204" pitchFamily="34" charset="0"/>
                <a:cs typeface="Times New Roman" panose="02020603050405020304" pitchFamily="18" charset="0"/>
              </a:rPr>
              <a:t># To produce messages programmatically and send to the Consumer</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from </a:t>
            </a:r>
            <a:r>
              <a:rPr lang="en-US" sz="1800" dirty="0" err="1">
                <a:latin typeface="Consolas" panose="020B0609020204030204" pitchFamily="49" charset="0"/>
                <a:ea typeface="Calibri" panose="020F0502020204030204" pitchFamily="34" charset="0"/>
                <a:cs typeface="Times New Roman" panose="02020603050405020304" pitchFamily="18" charset="0"/>
              </a:rPr>
              <a:t>pyspark.sql.functions</a:t>
            </a:r>
            <a:r>
              <a:rPr lang="en-US" sz="1800" dirty="0">
                <a:latin typeface="Consolas" panose="020B0609020204030204" pitchFamily="49" charset="0"/>
                <a:ea typeface="Calibri" panose="020F0502020204030204" pitchFamily="34" charset="0"/>
                <a:cs typeface="Times New Roman" panose="02020603050405020304" pitchFamily="18" charset="0"/>
              </a:rPr>
              <a:t> import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from </a:t>
            </a:r>
            <a:r>
              <a:rPr lang="en-US" sz="1800" dirty="0" err="1">
                <a:latin typeface="Consolas" panose="020B0609020204030204" pitchFamily="49" charset="0"/>
                <a:ea typeface="Calibri" panose="020F0502020204030204" pitchFamily="34" charset="0"/>
                <a:cs typeface="Times New Roman" panose="02020603050405020304" pitchFamily="18" charset="0"/>
              </a:rPr>
              <a:t>pyspark.sql.types</a:t>
            </a:r>
            <a:r>
              <a:rPr lang="en-US" sz="1800" dirty="0">
                <a:latin typeface="Consolas" panose="020B0609020204030204" pitchFamily="49" charset="0"/>
                <a:ea typeface="Calibri" panose="020F0502020204030204" pitchFamily="34" charset="0"/>
                <a:cs typeface="Times New Roman" panose="02020603050405020304" pitchFamily="18" charset="0"/>
              </a:rPr>
              <a:t> import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from </a:t>
            </a:r>
            <a:r>
              <a:rPr lang="en-US" sz="1800" dirty="0" err="1">
                <a:latin typeface="Consolas" panose="020B0609020204030204" pitchFamily="49" charset="0"/>
                <a:ea typeface="Calibri" panose="020F0502020204030204" pitchFamily="34" charset="0"/>
                <a:cs typeface="Times New Roman" panose="02020603050405020304" pitchFamily="18" charset="0"/>
              </a:rPr>
              <a:t>pyspark.sql</a:t>
            </a:r>
            <a:r>
              <a:rPr lang="en-US" sz="1800" dirty="0">
                <a:latin typeface="Consolas" panose="020B0609020204030204" pitchFamily="49" charset="0"/>
                <a:ea typeface="Calibri" panose="020F0502020204030204" pitchFamily="34" charset="0"/>
                <a:cs typeface="Times New Roman" panose="02020603050405020304" pitchFamily="18" charset="0"/>
              </a:rPr>
              <a:t> import </a:t>
            </a:r>
            <a:r>
              <a:rPr lang="en-US" sz="1800" dirty="0" err="1">
                <a:latin typeface="Consolas" panose="020B0609020204030204" pitchFamily="49" charset="0"/>
                <a:ea typeface="Calibri" panose="020F0502020204030204" pitchFamily="34" charset="0"/>
                <a:cs typeface="Times New Roman" panose="02020603050405020304" pitchFamily="18" charset="0"/>
              </a:rPr>
              <a:t>SparkSession</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from </a:t>
            </a:r>
            <a:r>
              <a:rPr lang="en-US" sz="1800" dirty="0" err="1">
                <a:latin typeface="Consolas" panose="020B0609020204030204" pitchFamily="49" charset="0"/>
                <a:ea typeface="Calibri" panose="020F0502020204030204" pitchFamily="34" charset="0"/>
                <a:cs typeface="Times New Roman" panose="02020603050405020304" pitchFamily="18" charset="0"/>
              </a:rPr>
              <a:t>kafka</a:t>
            </a:r>
            <a:r>
              <a:rPr lang="en-US" sz="1800" dirty="0">
                <a:latin typeface="Consolas" panose="020B0609020204030204" pitchFamily="49" charset="0"/>
                <a:ea typeface="Calibri" panose="020F0502020204030204" pitchFamily="34" charset="0"/>
                <a:cs typeface="Times New Roman" panose="02020603050405020304" pitchFamily="18" charset="0"/>
              </a:rPr>
              <a:t> import </a:t>
            </a:r>
            <a:r>
              <a:rPr lang="en-US" sz="1800" dirty="0" err="1">
                <a:latin typeface="Consolas" panose="020B0609020204030204" pitchFamily="49" charset="0"/>
                <a:ea typeface="Calibri" panose="020F0502020204030204" pitchFamily="34" charset="0"/>
                <a:cs typeface="Times New Roman" panose="02020603050405020304" pitchFamily="18" charset="0"/>
              </a:rPr>
              <a:t>KafkaProducer</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import </a:t>
            </a:r>
            <a:r>
              <a:rPr lang="en-US" sz="1800" dirty="0" err="1">
                <a:latin typeface="Consolas" panose="020B0609020204030204" pitchFamily="49" charset="0"/>
                <a:ea typeface="Calibri" panose="020F0502020204030204" pitchFamily="34" charset="0"/>
                <a:cs typeface="Times New Roman" panose="02020603050405020304" pitchFamily="18" charset="0"/>
              </a:rPr>
              <a:t>json</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solidFill>
                  <a:srgbClr val="C55A11"/>
                </a:solidFill>
                <a:latin typeface="Consolas" panose="020B0609020204030204" pitchFamily="49" charset="0"/>
                <a:ea typeface="Calibri" panose="020F0502020204030204" pitchFamily="34" charset="0"/>
                <a:cs typeface="Times New Roman" panose="02020603050405020304" pitchFamily="18" charset="0"/>
              </a:rPr>
              <a:t># Initialize Spark Session with Kafka dependencies</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spark = </a:t>
            </a:r>
            <a:r>
              <a:rPr lang="en-US" sz="1800" dirty="0" err="1">
                <a:latin typeface="Consolas" panose="020B0609020204030204" pitchFamily="49" charset="0"/>
                <a:ea typeface="Calibri" panose="020F0502020204030204" pitchFamily="34" charset="0"/>
                <a:cs typeface="Times New Roman" panose="02020603050405020304" pitchFamily="18" charset="0"/>
              </a:rPr>
              <a:t>SparkSession.builder</a:t>
            </a:r>
            <a:r>
              <a:rPr lang="en-US" sz="1800" dirty="0">
                <a:latin typeface="Consolas" panose="020B0609020204030204" pitchFamily="49" charset="0"/>
                <a:ea typeface="Calibri" panose="020F0502020204030204" pitchFamily="34" charset="0"/>
                <a:cs typeface="Times New Roman" panose="02020603050405020304" pitchFamily="18" charset="0"/>
              </a:rPr>
              <a:t>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r>
              <a:rPr lang="en-US" sz="1800" dirty="0" err="1">
                <a:latin typeface="Consolas" panose="020B0609020204030204" pitchFamily="49" charset="0"/>
                <a:ea typeface="Calibri" panose="020F0502020204030204" pitchFamily="34" charset="0"/>
                <a:cs typeface="Times New Roman" panose="02020603050405020304" pitchFamily="18" charset="0"/>
              </a:rPr>
              <a:t>appName</a:t>
            </a:r>
            <a:r>
              <a:rPr lang="en-US" sz="1800" dirty="0">
                <a:latin typeface="Consolas" panose="020B0609020204030204" pitchFamily="49" charset="0"/>
                <a:ea typeface="Calibri" panose="020F0502020204030204" pitchFamily="34" charset="0"/>
                <a:cs typeface="Times New Roman" panose="02020603050405020304" pitchFamily="18" charset="0"/>
              </a:rPr>
              <a:t>("</a:t>
            </a:r>
            <a:r>
              <a:rPr lang="en-US" sz="1800" dirty="0" err="1">
                <a:latin typeface="Consolas" panose="020B0609020204030204" pitchFamily="49" charset="0"/>
                <a:ea typeface="Calibri" panose="020F0502020204030204" pitchFamily="34" charset="0"/>
                <a:cs typeface="Times New Roman" panose="02020603050405020304" pitchFamily="18" charset="0"/>
              </a:rPr>
              <a:t>KafkaStructuredStreaming</a:t>
            </a:r>
            <a:r>
              <a:rPr lang="en-US" sz="1800" dirty="0">
                <a:latin typeface="Consolas" panose="020B0609020204030204" pitchFamily="49" charset="0"/>
                <a:ea typeface="Calibri" panose="020F0502020204030204" pitchFamily="34" charset="0"/>
                <a:cs typeface="Times New Roman" panose="02020603050405020304" pitchFamily="18" charset="0"/>
              </a:rPr>
              <a:t>")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.master("local[*]")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r>
              <a:rPr lang="en-US" sz="1800" dirty="0" err="1">
                <a:latin typeface="Consolas" panose="020B0609020204030204" pitchFamily="49" charset="0"/>
                <a:ea typeface="Calibri" panose="020F0502020204030204" pitchFamily="34" charset="0"/>
                <a:cs typeface="Times New Roman" panose="02020603050405020304" pitchFamily="18" charset="0"/>
              </a:rPr>
              <a:t>config</a:t>
            </a:r>
            <a:r>
              <a:rPr lang="en-US" sz="1800" dirty="0">
                <a:latin typeface="Consolas" panose="020B0609020204030204" pitchFamily="49" charset="0"/>
                <a:ea typeface="Calibri" panose="020F0502020204030204" pitchFamily="34" charset="0"/>
                <a:cs typeface="Times New Roman" panose="02020603050405020304" pitchFamily="18" charset="0"/>
              </a:rPr>
              <a:t>("</a:t>
            </a:r>
            <a:r>
              <a:rPr lang="en-US" sz="1800" dirty="0" err="1">
                <a:latin typeface="Consolas" panose="020B0609020204030204" pitchFamily="49" charset="0"/>
                <a:ea typeface="Calibri" panose="020F0502020204030204" pitchFamily="34" charset="0"/>
                <a:cs typeface="Times New Roman" panose="02020603050405020304" pitchFamily="18" charset="0"/>
              </a:rPr>
              <a:t>spark.jars.packages</a:t>
            </a:r>
            <a:r>
              <a:rPr lang="en-US" sz="1800" dirty="0">
                <a:latin typeface="Consolas" panose="020B0609020204030204" pitchFamily="49" charset="0"/>
                <a:ea typeface="Calibri" panose="020F0502020204030204" pitchFamily="34" charset="0"/>
                <a:cs typeface="Times New Roman" panose="02020603050405020304" pitchFamily="18" charset="0"/>
              </a:rPr>
              <a:t>", "org.apache.spark:spark-sql-kafka-0-10_2.12:3.4.0")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r>
              <a:rPr lang="en-US" sz="1800" dirty="0" err="1">
                <a:latin typeface="Consolas" panose="020B0609020204030204" pitchFamily="49" charset="0"/>
                <a:ea typeface="Calibri" panose="020F0502020204030204" pitchFamily="34" charset="0"/>
                <a:cs typeface="Times New Roman" panose="02020603050405020304" pitchFamily="18" charset="0"/>
              </a:rPr>
              <a:t>config</a:t>
            </a:r>
            <a:r>
              <a:rPr lang="en-US" sz="1800" dirty="0">
                <a:latin typeface="Consolas" panose="020B0609020204030204" pitchFamily="49" charset="0"/>
                <a:ea typeface="Calibri" panose="020F0502020204030204" pitchFamily="34" charset="0"/>
                <a:cs typeface="Times New Roman" panose="02020603050405020304" pitchFamily="18" charset="0"/>
              </a:rPr>
              <a:t>("</a:t>
            </a:r>
            <a:r>
              <a:rPr lang="en-US" sz="1800" dirty="0" err="1">
                <a:latin typeface="Consolas" panose="020B0609020204030204" pitchFamily="49" charset="0"/>
                <a:ea typeface="Calibri" panose="020F0502020204030204" pitchFamily="34" charset="0"/>
                <a:cs typeface="Times New Roman" panose="02020603050405020304" pitchFamily="18" charset="0"/>
              </a:rPr>
              <a:t>spark.sql.streaming.checkpointLocation</a:t>
            </a:r>
            <a:r>
              <a:rPr lang="en-US" sz="1800" dirty="0">
                <a:latin typeface="Consolas" panose="020B0609020204030204" pitchFamily="49" charset="0"/>
                <a:ea typeface="Calibri" panose="020F0502020204030204" pitchFamily="34" charset="0"/>
                <a:cs typeface="Times New Roman" panose="02020603050405020304" pitchFamily="18" charset="0"/>
              </a:rPr>
              <a:t>", "file:///C:/tmp/kafka-checkpoint")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r>
              <a:rPr lang="en-US" sz="1800" dirty="0" err="1">
                <a:latin typeface="Consolas" panose="020B0609020204030204" pitchFamily="49" charset="0"/>
                <a:ea typeface="Calibri" panose="020F0502020204030204" pitchFamily="34" charset="0"/>
                <a:cs typeface="Times New Roman" panose="02020603050405020304" pitchFamily="18" charset="0"/>
              </a:rPr>
              <a:t>getOrCreate</a:t>
            </a:r>
            <a:r>
              <a:rPr lang="en-US" sz="1800" dirty="0">
                <a:latin typeface="Consolas" panose="020B0609020204030204" pitchFamily="49" charset="0"/>
                <a:ea typeface="Calibri" panose="020F0502020204030204" pitchFamily="34" charset="0"/>
                <a:cs typeface="Times New Roman" panose="02020603050405020304" pitchFamily="18" charset="0"/>
              </a:rPr>
              <a:t>()</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spark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36548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3" y="152400"/>
            <a:ext cx="9751060" cy="900336"/>
          </a:xfrm>
        </p:spPr>
        <p:txBody>
          <a:bodyPr>
            <a:normAutofit/>
          </a:bodyPr>
          <a:lstStyle/>
          <a:p>
            <a:r>
              <a:rPr lang="en-US" dirty="0" smtClean="0"/>
              <a:t>Code…</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43</a:t>
            </a:fld>
            <a:endParaRPr lang="en-IN" dirty="0"/>
          </a:p>
        </p:txBody>
      </p:sp>
      <p:sp>
        <p:nvSpPr>
          <p:cNvPr id="6" name="Rectangle 5"/>
          <p:cNvSpPr/>
          <p:nvPr/>
        </p:nvSpPr>
        <p:spPr>
          <a:xfrm>
            <a:off x="1218883" y="1340768"/>
            <a:ext cx="10564161" cy="3539430"/>
          </a:xfrm>
          <a:prstGeom prst="rect">
            <a:avLst/>
          </a:prstGeom>
        </p:spPr>
        <p:txBody>
          <a:bodyPr wrap="square">
            <a:spAutoFit/>
          </a:bodyPr>
          <a:lstStyle/>
          <a:p>
            <a:r>
              <a:rPr lang="en-US" sz="3200" dirty="0" smtClean="0"/>
              <a:t>Cell 2:</a:t>
            </a:r>
          </a:p>
          <a:p>
            <a:r>
              <a:rPr lang="en-US" sz="3200" dirty="0" err="1" smtClean="0"/>
              <a:t>kafka_df</a:t>
            </a:r>
            <a:r>
              <a:rPr lang="en-US" sz="3200" dirty="0" smtClean="0"/>
              <a:t> </a:t>
            </a:r>
            <a:r>
              <a:rPr lang="en-US" sz="3200" dirty="0"/>
              <a:t>= </a:t>
            </a:r>
            <a:r>
              <a:rPr lang="en-US" sz="3200" dirty="0" err="1"/>
              <a:t>spark.readStream</a:t>
            </a:r>
            <a:r>
              <a:rPr lang="en-US" sz="3200" dirty="0"/>
              <a:t> \</a:t>
            </a:r>
            <a:endParaRPr lang="en-IN" sz="3200" dirty="0"/>
          </a:p>
          <a:p>
            <a:r>
              <a:rPr lang="en-US" sz="3200" dirty="0"/>
              <a:t>    .format("</a:t>
            </a:r>
            <a:r>
              <a:rPr lang="en-US" sz="3200" dirty="0" err="1"/>
              <a:t>kafka</a:t>
            </a:r>
            <a:r>
              <a:rPr lang="en-US" sz="3200" dirty="0"/>
              <a:t>") \</a:t>
            </a:r>
            <a:endParaRPr lang="en-IN" sz="3200" dirty="0"/>
          </a:p>
          <a:p>
            <a:r>
              <a:rPr lang="en-US" sz="3200" dirty="0"/>
              <a:t>    .option("</a:t>
            </a:r>
            <a:r>
              <a:rPr lang="en-US" sz="3200" dirty="0" err="1"/>
              <a:t>kafka.bootstrap.servers</a:t>
            </a:r>
            <a:r>
              <a:rPr lang="en-US" sz="3200" dirty="0"/>
              <a:t>", "localhost:9092") \</a:t>
            </a:r>
            <a:endParaRPr lang="en-IN" sz="3200" dirty="0"/>
          </a:p>
          <a:p>
            <a:r>
              <a:rPr lang="en-US" sz="3200" dirty="0"/>
              <a:t>    .option("subscribe", "test") \</a:t>
            </a:r>
            <a:endParaRPr lang="en-IN" sz="3200" dirty="0"/>
          </a:p>
          <a:p>
            <a:r>
              <a:rPr lang="en-US" sz="3200" dirty="0"/>
              <a:t>    .option("</a:t>
            </a:r>
            <a:r>
              <a:rPr lang="en-US" sz="3200" dirty="0" err="1"/>
              <a:t>startingOffsets</a:t>
            </a:r>
            <a:r>
              <a:rPr lang="en-US" sz="3200" dirty="0"/>
              <a:t>", "latest") \</a:t>
            </a:r>
            <a:endParaRPr lang="en-IN" sz="3200" dirty="0"/>
          </a:p>
          <a:p>
            <a:r>
              <a:rPr lang="en-US" sz="3200" dirty="0"/>
              <a:t>    .load()</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29641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2403" y="152400"/>
            <a:ext cx="4947539" cy="900336"/>
          </a:xfrm>
        </p:spPr>
        <p:txBody>
          <a:bodyPr/>
          <a:lstStyle/>
          <a:p>
            <a:r>
              <a:rPr lang="en-US" dirty="0" smtClean="0"/>
              <a:t>Code…</a:t>
            </a:r>
            <a:endParaRPr lang="en-IN" dirty="0"/>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44</a:t>
            </a:fld>
            <a:endParaRPr lang="en-IN" dirty="0"/>
          </a:p>
        </p:txBody>
      </p:sp>
      <p:sp>
        <p:nvSpPr>
          <p:cNvPr id="6" name="Rectangle 5"/>
          <p:cNvSpPr/>
          <p:nvPr/>
        </p:nvSpPr>
        <p:spPr>
          <a:xfrm>
            <a:off x="1197868" y="260648"/>
            <a:ext cx="11593288" cy="6019597"/>
          </a:xfrm>
          <a:prstGeom prst="rect">
            <a:avLst/>
          </a:prstGeom>
        </p:spPr>
        <p:txBody>
          <a:bodyPr wrap="square">
            <a:spAutoFit/>
          </a:bodyPr>
          <a:lstStyle/>
          <a:p>
            <a:pPr>
              <a:lnSpc>
                <a:spcPct val="107000"/>
              </a:lnSpc>
            </a:pPr>
            <a:r>
              <a:rPr lang="en-US" sz="1800" b="1" dirty="0">
                <a:latin typeface="Bookman Old Style" panose="02050604050505020204" pitchFamily="18" charset="0"/>
                <a:ea typeface="Calibri" panose="020F0502020204030204" pitchFamily="34" charset="0"/>
                <a:cs typeface="Times New Roman" panose="02020603050405020304" pitchFamily="18" charset="0"/>
              </a:rPr>
              <a:t>Cell-3:</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from </a:t>
            </a:r>
            <a:r>
              <a:rPr lang="en-US" sz="1800" dirty="0" err="1">
                <a:latin typeface="Consolas" panose="020B0609020204030204" pitchFamily="49" charset="0"/>
                <a:ea typeface="Calibri" panose="020F0502020204030204" pitchFamily="34" charset="0"/>
                <a:cs typeface="Times New Roman" panose="02020603050405020304" pitchFamily="18" charset="0"/>
              </a:rPr>
              <a:t>datetime</a:t>
            </a:r>
            <a:r>
              <a:rPr lang="en-US" sz="1800" dirty="0">
                <a:latin typeface="Consolas" panose="020B0609020204030204" pitchFamily="49" charset="0"/>
                <a:ea typeface="Calibri" panose="020F0502020204030204" pitchFamily="34" charset="0"/>
                <a:cs typeface="Times New Roman" panose="02020603050405020304" pitchFamily="18" charset="0"/>
              </a:rPr>
              <a:t> import </a:t>
            </a:r>
            <a:r>
              <a:rPr lang="en-US" sz="1800" dirty="0" err="1">
                <a:latin typeface="Consolas" panose="020B0609020204030204" pitchFamily="49" charset="0"/>
                <a:ea typeface="Calibri" panose="020F0502020204030204" pitchFamily="34" charset="0"/>
                <a:cs typeface="Times New Roman" panose="02020603050405020304" pitchFamily="18" charset="0"/>
              </a:rPr>
              <a:t>datetime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solidFill>
                  <a:srgbClr val="C55A11"/>
                </a:solidFill>
                <a:latin typeface="Consolas" panose="020B0609020204030204" pitchFamily="49" charset="0"/>
                <a:ea typeface="Calibri" panose="020F0502020204030204" pitchFamily="34" charset="0"/>
                <a:cs typeface="Times New Roman" panose="02020603050405020304" pitchFamily="18" charset="0"/>
              </a:rPr>
              <a:t># </a:t>
            </a:r>
            <a:r>
              <a:rPr lang="en-US" sz="1800" dirty="0" err="1">
                <a:solidFill>
                  <a:srgbClr val="C55A11"/>
                </a:solidFill>
                <a:latin typeface="Consolas" panose="020B0609020204030204" pitchFamily="49" charset="0"/>
                <a:ea typeface="Calibri" panose="020F0502020204030204" pitchFamily="34" charset="0"/>
                <a:cs typeface="Times New Roman" panose="02020603050405020304" pitchFamily="18" charset="0"/>
              </a:rPr>
              <a:t>datetime</a:t>
            </a:r>
            <a:r>
              <a:rPr lang="en-US" sz="1800" dirty="0">
                <a:solidFill>
                  <a:srgbClr val="C55A11"/>
                </a:solidFill>
                <a:latin typeface="Consolas" panose="020B0609020204030204" pitchFamily="49" charset="0"/>
                <a:ea typeface="Calibri" panose="020F0502020204030204" pitchFamily="34" charset="0"/>
                <a:cs typeface="Times New Roman" panose="02020603050405020304" pitchFamily="18" charset="0"/>
              </a:rPr>
              <a:t> object containing current date and time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now = </a:t>
            </a:r>
            <a:r>
              <a:rPr lang="en-US" sz="1800" dirty="0" err="1">
                <a:latin typeface="Consolas" panose="020B0609020204030204" pitchFamily="49" charset="0"/>
                <a:ea typeface="Calibri" panose="020F0502020204030204" pitchFamily="34" charset="0"/>
                <a:cs typeface="Times New Roman" panose="02020603050405020304" pitchFamily="18" charset="0"/>
              </a:rPr>
              <a:t>datetime.now</a:t>
            </a:r>
            <a:r>
              <a:rPr lang="en-US" sz="1800" dirty="0">
                <a:latin typeface="Consolas" panose="020B0609020204030204" pitchFamily="49"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solidFill>
                  <a:srgbClr val="C55A11"/>
                </a:solidFill>
                <a:latin typeface="Consolas" panose="020B0609020204030204" pitchFamily="49" charset="0"/>
                <a:ea typeface="Calibri" panose="020F0502020204030204" pitchFamily="34" charset="0"/>
                <a:cs typeface="Times New Roman" panose="02020603050405020304" pitchFamily="18" charset="0"/>
              </a:rPr>
              <a:t># </a:t>
            </a:r>
            <a:r>
              <a:rPr lang="en-US" sz="1800" dirty="0" err="1">
                <a:solidFill>
                  <a:srgbClr val="C55A11"/>
                </a:solidFill>
                <a:latin typeface="Consolas" panose="020B0609020204030204" pitchFamily="49" charset="0"/>
                <a:ea typeface="Calibri" panose="020F0502020204030204" pitchFamily="34" charset="0"/>
                <a:cs typeface="Times New Roman" panose="02020603050405020304" pitchFamily="18" charset="0"/>
              </a:rPr>
              <a:t>dd</a:t>
            </a:r>
            <a:r>
              <a:rPr lang="en-US" sz="1800" dirty="0">
                <a:solidFill>
                  <a:srgbClr val="C55A11"/>
                </a:solidFill>
                <a:latin typeface="Consolas" panose="020B0609020204030204" pitchFamily="49" charset="0"/>
                <a:ea typeface="Calibri" panose="020F0502020204030204" pitchFamily="34" charset="0"/>
                <a:cs typeface="Times New Roman" panose="02020603050405020304" pitchFamily="18" charset="0"/>
              </a:rPr>
              <a:t>/mm/YY H:M:S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err="1">
                <a:latin typeface="Consolas" panose="020B0609020204030204" pitchFamily="49" charset="0"/>
                <a:ea typeface="Calibri" panose="020F0502020204030204" pitchFamily="34" charset="0"/>
                <a:cs typeface="Times New Roman" panose="02020603050405020304" pitchFamily="18" charset="0"/>
              </a:rPr>
              <a:t>dt_string</a:t>
            </a:r>
            <a:r>
              <a:rPr lang="en-US" sz="1800" dirty="0">
                <a:latin typeface="Consolas" panose="020B0609020204030204" pitchFamily="49" charset="0"/>
                <a:ea typeface="Calibri" panose="020F0502020204030204" pitchFamily="34" charset="0"/>
                <a:cs typeface="Times New Roman" panose="02020603050405020304" pitchFamily="18" charset="0"/>
              </a:rPr>
              <a:t> = </a:t>
            </a:r>
            <a:r>
              <a:rPr lang="en-US" sz="1800" dirty="0" err="1">
                <a:latin typeface="Consolas" panose="020B0609020204030204" pitchFamily="49" charset="0"/>
                <a:ea typeface="Calibri" panose="020F0502020204030204" pitchFamily="34" charset="0"/>
                <a:cs typeface="Times New Roman" panose="02020603050405020304" pitchFamily="18" charset="0"/>
              </a:rPr>
              <a:t>now.strftime</a:t>
            </a:r>
            <a:r>
              <a:rPr lang="en-US" sz="1800" dirty="0">
                <a:latin typeface="Consolas" panose="020B0609020204030204" pitchFamily="49" charset="0"/>
                <a:ea typeface="Calibri" panose="020F0502020204030204" pitchFamily="34" charset="0"/>
                <a:cs typeface="Times New Roman" panose="02020603050405020304" pitchFamily="18" charset="0"/>
              </a:rPr>
              <a:t>("%d/%m/%Y %H:%M:%S")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smtClean="0">
                <a:solidFill>
                  <a:srgbClr val="C55A11"/>
                </a:solidFill>
                <a:latin typeface="Consolas" panose="020B0609020204030204" pitchFamily="49" charset="0"/>
                <a:ea typeface="Calibri" panose="020F0502020204030204" pitchFamily="34" charset="0"/>
                <a:cs typeface="Times New Roman" panose="02020603050405020304" pitchFamily="18" charset="0"/>
              </a:rPr>
              <a:t># </a:t>
            </a:r>
            <a:r>
              <a:rPr lang="en-US" sz="1800" dirty="0">
                <a:solidFill>
                  <a:srgbClr val="C55A11"/>
                </a:solidFill>
                <a:latin typeface="Consolas" panose="020B0609020204030204" pitchFamily="49" charset="0"/>
                <a:ea typeface="Calibri" panose="020F0502020204030204" pitchFamily="34" charset="0"/>
                <a:cs typeface="Times New Roman" panose="02020603050405020304" pitchFamily="18" charset="0"/>
              </a:rPr>
              <a:t>Create a Kafka producer and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solidFill>
                  <a:srgbClr val="C55A11"/>
                </a:solidFill>
                <a:latin typeface="Consolas" panose="020B0609020204030204" pitchFamily="49" charset="0"/>
                <a:ea typeface="Calibri" panose="020F0502020204030204" pitchFamily="34" charset="0"/>
                <a:cs typeface="Times New Roman" panose="02020603050405020304" pitchFamily="18" charset="0"/>
              </a:rPr>
              <a:t># Serialize JSON data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producer = </a:t>
            </a:r>
            <a:r>
              <a:rPr lang="en-US" sz="1800" dirty="0" err="1">
                <a:latin typeface="Consolas" panose="020B0609020204030204" pitchFamily="49" charset="0"/>
                <a:ea typeface="Calibri" panose="020F0502020204030204" pitchFamily="34" charset="0"/>
                <a:cs typeface="Times New Roman" panose="02020603050405020304" pitchFamily="18" charset="0"/>
              </a:rPr>
              <a:t>KafkaProducer</a:t>
            </a:r>
            <a:r>
              <a:rPr lang="en-US" sz="1800" dirty="0">
                <a:latin typeface="Consolas" panose="020B0609020204030204" pitchFamily="49"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r>
              <a:rPr lang="en-US" sz="1800" dirty="0" err="1">
                <a:latin typeface="Consolas" panose="020B0609020204030204" pitchFamily="49" charset="0"/>
                <a:ea typeface="Calibri" panose="020F0502020204030204" pitchFamily="34" charset="0"/>
                <a:cs typeface="Times New Roman" panose="02020603050405020304" pitchFamily="18" charset="0"/>
              </a:rPr>
              <a:t>bootstrap_servers</a:t>
            </a:r>
            <a:r>
              <a:rPr lang="en-US" sz="1800" dirty="0">
                <a:latin typeface="Consolas" panose="020B0609020204030204" pitchFamily="49" charset="0"/>
                <a:ea typeface="Calibri" panose="020F0502020204030204" pitchFamily="34" charset="0"/>
                <a:cs typeface="Times New Roman" panose="02020603050405020304" pitchFamily="18" charset="0"/>
              </a:rPr>
              <a:t>='localhost:9092',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r>
              <a:rPr lang="en-US" sz="1800" dirty="0" err="1">
                <a:latin typeface="Consolas" panose="020B0609020204030204" pitchFamily="49" charset="0"/>
                <a:ea typeface="Calibri" panose="020F0502020204030204" pitchFamily="34" charset="0"/>
                <a:cs typeface="Times New Roman" panose="02020603050405020304" pitchFamily="18" charset="0"/>
              </a:rPr>
              <a:t>value_serializer</a:t>
            </a:r>
            <a:r>
              <a:rPr lang="en-US" sz="1800" dirty="0">
                <a:latin typeface="Consolas" panose="020B0609020204030204" pitchFamily="49" charset="0"/>
                <a:ea typeface="Calibri" panose="020F0502020204030204" pitchFamily="34" charset="0"/>
                <a:cs typeface="Times New Roman" panose="02020603050405020304" pitchFamily="18" charset="0"/>
              </a:rPr>
              <a:t>=lambda v: </a:t>
            </a:r>
            <a:r>
              <a:rPr lang="en-US" sz="1800" dirty="0" err="1">
                <a:latin typeface="Consolas" panose="020B0609020204030204" pitchFamily="49" charset="0"/>
                <a:ea typeface="Calibri" panose="020F0502020204030204" pitchFamily="34" charset="0"/>
                <a:cs typeface="Times New Roman" panose="02020603050405020304" pitchFamily="18" charset="0"/>
              </a:rPr>
              <a:t>json.dumps</a:t>
            </a:r>
            <a:r>
              <a:rPr lang="en-US" sz="1800" dirty="0">
                <a:latin typeface="Consolas" panose="020B0609020204030204" pitchFamily="49" charset="0"/>
                <a:ea typeface="Calibri" panose="020F0502020204030204" pitchFamily="34" charset="0"/>
                <a:cs typeface="Times New Roman" panose="02020603050405020304" pitchFamily="18" charset="0"/>
              </a:rPr>
              <a:t>(v).encode('utf-8</a:t>
            </a:r>
            <a:r>
              <a:rPr lang="en-US" sz="1800" dirty="0" smtClean="0">
                <a:latin typeface="Consolas" panose="020B0609020204030204" pitchFamily="49"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solidFill>
                  <a:srgbClr val="C55A11"/>
                </a:solidFill>
                <a:latin typeface="Consolas" panose="020B0609020204030204" pitchFamily="49" charset="0"/>
                <a:ea typeface="Calibri" panose="020F0502020204030204" pitchFamily="34" charset="0"/>
                <a:cs typeface="Times New Roman" panose="02020603050405020304" pitchFamily="18" charset="0"/>
              </a:rPr>
              <a:t># Sample data (10) to send to the Consumer</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id = 1</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for </a:t>
            </a:r>
            <a:r>
              <a:rPr lang="en-US" sz="1800" dirty="0" err="1">
                <a:latin typeface="Consolas" panose="020B0609020204030204" pitchFamily="49" charset="0"/>
                <a:ea typeface="Calibri" panose="020F0502020204030204" pitchFamily="34" charset="0"/>
                <a:cs typeface="Times New Roman" panose="02020603050405020304" pitchFamily="18" charset="0"/>
              </a:rPr>
              <a:t>i</a:t>
            </a:r>
            <a:r>
              <a:rPr lang="en-US" sz="1800" dirty="0">
                <a:latin typeface="Consolas" panose="020B0609020204030204" pitchFamily="49" charset="0"/>
                <a:ea typeface="Calibri" panose="020F0502020204030204" pitchFamily="34" charset="0"/>
                <a:cs typeface="Times New Roman" panose="02020603050405020304" pitchFamily="18" charset="0"/>
              </a:rPr>
              <a:t> in range (10):</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r>
              <a:rPr lang="en-US" sz="1800" dirty="0" err="1">
                <a:latin typeface="Consolas" panose="020B0609020204030204" pitchFamily="49" charset="0"/>
                <a:ea typeface="Calibri" panose="020F0502020204030204" pitchFamily="34" charset="0"/>
                <a:cs typeface="Times New Roman" panose="02020603050405020304" pitchFamily="18" charset="0"/>
              </a:rPr>
              <a:t>msg</a:t>
            </a:r>
            <a:r>
              <a:rPr lang="en-US" sz="1800" dirty="0">
                <a:latin typeface="Consolas" panose="020B0609020204030204" pitchFamily="49" charset="0"/>
                <a:ea typeface="Calibri" panose="020F0502020204030204" pitchFamily="34" charset="0"/>
                <a:cs typeface="Times New Roman" panose="02020603050405020304" pitchFamily="18" charset="0"/>
              </a:rPr>
              <a:t> = </a:t>
            </a:r>
            <a:r>
              <a:rPr lang="en-US" sz="1800" dirty="0" err="1">
                <a:latin typeface="Consolas" panose="020B0609020204030204" pitchFamily="49" charset="0"/>
                <a:ea typeface="Calibri" panose="020F0502020204030204" pitchFamily="34" charset="0"/>
                <a:cs typeface="Times New Roman" panose="02020603050405020304" pitchFamily="18" charset="0"/>
              </a:rPr>
              <a:t>dt_string</a:t>
            </a:r>
            <a:r>
              <a:rPr lang="en-US" sz="1800" dirty="0">
                <a:latin typeface="Consolas" panose="020B0609020204030204" pitchFamily="49" charset="0"/>
                <a:ea typeface="Calibri" panose="020F0502020204030204" pitchFamily="34" charset="0"/>
                <a:cs typeface="Times New Roman" panose="02020603050405020304" pitchFamily="18" charset="0"/>
              </a:rPr>
              <a:t> + " Hello Kafka Message No. " + </a:t>
            </a:r>
            <a:r>
              <a:rPr lang="en-US" sz="1800" dirty="0" err="1">
                <a:latin typeface="Consolas" panose="020B0609020204030204" pitchFamily="49" charset="0"/>
                <a:ea typeface="Calibri" panose="020F0502020204030204" pitchFamily="34" charset="0"/>
                <a:cs typeface="Times New Roman" panose="02020603050405020304" pitchFamily="18" charset="0"/>
              </a:rPr>
              <a:t>str</a:t>
            </a:r>
            <a:r>
              <a:rPr lang="en-US" sz="1800" dirty="0">
                <a:latin typeface="Consolas" panose="020B0609020204030204" pitchFamily="49" charset="0"/>
                <a:ea typeface="Calibri" panose="020F0502020204030204" pitchFamily="34" charset="0"/>
                <a:cs typeface="Times New Roman" panose="02020603050405020304" pitchFamily="18" charset="0"/>
              </a:rPr>
              <a:t>(</a:t>
            </a:r>
            <a:r>
              <a:rPr lang="en-US" sz="1800" dirty="0" err="1">
                <a:latin typeface="Consolas" panose="020B0609020204030204" pitchFamily="49" charset="0"/>
                <a:ea typeface="Calibri" panose="020F0502020204030204" pitchFamily="34" charset="0"/>
                <a:cs typeface="Times New Roman" panose="02020603050405020304" pitchFamily="18" charset="0"/>
              </a:rPr>
              <a:t>i</a:t>
            </a:r>
            <a:r>
              <a:rPr lang="en-US" sz="1800" dirty="0">
                <a:latin typeface="Consolas" panose="020B0609020204030204" pitchFamily="49"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data = {"id": </a:t>
            </a:r>
            <a:r>
              <a:rPr lang="en-US" sz="1800" dirty="0" err="1">
                <a:latin typeface="Consolas" panose="020B0609020204030204" pitchFamily="49" charset="0"/>
                <a:ea typeface="Calibri" panose="020F0502020204030204" pitchFamily="34" charset="0"/>
                <a:cs typeface="Times New Roman" panose="02020603050405020304" pitchFamily="18" charset="0"/>
              </a:rPr>
              <a:t>i</a:t>
            </a:r>
            <a:r>
              <a:rPr lang="en-US" sz="1800" dirty="0">
                <a:latin typeface="Consolas" panose="020B0609020204030204" pitchFamily="49" charset="0"/>
                <a:ea typeface="Calibri" panose="020F0502020204030204" pitchFamily="34" charset="0"/>
                <a:cs typeface="Times New Roman" panose="02020603050405020304" pitchFamily="18" charset="0"/>
              </a:rPr>
              <a:t>, "message": </a:t>
            </a:r>
            <a:r>
              <a:rPr lang="en-US" sz="1800" dirty="0" err="1">
                <a:latin typeface="Consolas" panose="020B0609020204030204" pitchFamily="49" charset="0"/>
                <a:ea typeface="Calibri" panose="020F0502020204030204" pitchFamily="34" charset="0"/>
                <a:cs typeface="Times New Roman" panose="02020603050405020304" pitchFamily="18" charset="0"/>
              </a:rPr>
              <a:t>msg</a:t>
            </a:r>
            <a:r>
              <a:rPr lang="en-US" sz="1800" dirty="0">
                <a:latin typeface="Consolas" panose="020B0609020204030204" pitchFamily="49"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 Send the JSON message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r>
              <a:rPr lang="en-US" sz="1800" dirty="0" err="1">
                <a:latin typeface="Consolas" panose="020B0609020204030204" pitchFamily="49" charset="0"/>
                <a:ea typeface="Calibri" panose="020F0502020204030204" pitchFamily="34" charset="0"/>
                <a:cs typeface="Times New Roman" panose="02020603050405020304" pitchFamily="18" charset="0"/>
              </a:rPr>
              <a:t>producer.send</a:t>
            </a:r>
            <a:r>
              <a:rPr lang="en-US" sz="1800" dirty="0">
                <a:latin typeface="Consolas" panose="020B0609020204030204" pitchFamily="49" charset="0"/>
                <a:ea typeface="Calibri" panose="020F0502020204030204" pitchFamily="34" charset="0"/>
                <a:cs typeface="Times New Roman" panose="02020603050405020304" pitchFamily="18" charset="0"/>
              </a:rPr>
              <a:t>("test", value=data)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    </a:t>
            </a:r>
            <a:r>
              <a:rPr lang="en-US" sz="1800" dirty="0" err="1">
                <a:latin typeface="Consolas" panose="020B0609020204030204" pitchFamily="49" charset="0"/>
                <a:ea typeface="Calibri" panose="020F0502020204030204" pitchFamily="34" charset="0"/>
                <a:cs typeface="Times New Roman" panose="02020603050405020304" pitchFamily="18" charset="0"/>
              </a:rPr>
              <a:t>producer.flush</a:t>
            </a:r>
            <a:r>
              <a:rPr lang="en-US" sz="1800" dirty="0">
                <a:latin typeface="Consolas" panose="020B0609020204030204" pitchFamily="49" charset="0"/>
                <a:ea typeface="Calibri" panose="020F0502020204030204" pitchFamily="34" charset="0"/>
                <a:cs typeface="Times New Roman" panose="02020603050405020304" pitchFamily="18" charset="0"/>
              </a:rPr>
              <a:t>()  # Ensure all messages are </a:t>
            </a:r>
            <a:r>
              <a:rPr lang="en-US" sz="1800" dirty="0" smtClean="0">
                <a:latin typeface="Consolas" panose="020B0609020204030204" pitchFamily="49" charset="0"/>
                <a:ea typeface="Calibri" panose="020F0502020204030204" pitchFamily="34" charset="0"/>
                <a:cs typeface="Times New Roman" panose="02020603050405020304" pitchFamily="18" charset="0"/>
              </a:rPr>
              <a:t>sent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800" dirty="0">
                <a:latin typeface="Consolas" panose="020B0609020204030204" pitchFamily="49" charset="0"/>
                <a:ea typeface="Calibri" panose="020F0502020204030204" pitchFamily="34" charset="0"/>
                <a:cs typeface="Times New Roman" panose="02020603050405020304" pitchFamily="18" charset="0"/>
              </a:rPr>
              <a:t>print("Message sent successfully!")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1278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Consumer Window</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pPr algn="ctr"/>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45</a:t>
            </a:fld>
            <a:endParaRPr lang="en-IN" dirty="0"/>
          </a:p>
        </p:txBody>
      </p:sp>
      <p:pic>
        <p:nvPicPr>
          <p:cNvPr id="6" name="Picture 5"/>
          <p:cNvPicPr/>
          <p:nvPr/>
        </p:nvPicPr>
        <p:blipFill>
          <a:blip r:embed="rId2"/>
          <a:stretch>
            <a:fillRect/>
          </a:stretch>
        </p:blipFill>
        <p:spPr>
          <a:xfrm>
            <a:off x="1629916" y="1340768"/>
            <a:ext cx="8856984" cy="3600400"/>
          </a:xfrm>
          <a:prstGeom prst="rect">
            <a:avLst/>
          </a:prstGeom>
          <a:ln>
            <a:solidFill>
              <a:schemeClr val="tx1"/>
            </a:solidFill>
          </a:ln>
        </p:spPr>
      </p:pic>
    </p:spTree>
    <p:extLst>
      <p:ext uri="{BB962C8B-B14F-4D97-AF65-F5344CB8AC3E}">
        <p14:creationId xmlns:p14="http://schemas.microsoft.com/office/powerpoint/2010/main" val="800808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46</a:t>
            </a:fld>
            <a:endParaRPr lang="en-IN" dirty="0"/>
          </a:p>
        </p:txBody>
      </p:sp>
      <p:sp>
        <p:nvSpPr>
          <p:cNvPr id="6" name="TextBox 5"/>
          <p:cNvSpPr txBox="1"/>
          <p:nvPr/>
        </p:nvSpPr>
        <p:spPr>
          <a:xfrm>
            <a:off x="1989956" y="2204864"/>
            <a:ext cx="7157288" cy="1107996"/>
          </a:xfrm>
          <a:prstGeom prst="rect">
            <a:avLst/>
          </a:prstGeom>
          <a:noFill/>
        </p:spPr>
        <p:txBody>
          <a:bodyPr wrap="square" rtlCol="0">
            <a:spAutoFit/>
          </a:bodyPr>
          <a:lstStyle/>
          <a:p>
            <a:pPr algn="ctr"/>
            <a:r>
              <a:rPr lang="en-US" sz="6600" dirty="0" smtClean="0">
                <a:solidFill>
                  <a:schemeClr val="accent6">
                    <a:lumMod val="50000"/>
                  </a:schemeClr>
                </a:solidFill>
                <a:latin typeface="Tw Cen MT Condensed Extra Bold" panose="020B0803020202020204" pitchFamily="34" charset="0"/>
              </a:rPr>
              <a:t>Thank You</a:t>
            </a:r>
            <a:endParaRPr lang="en-IN" sz="6600" dirty="0">
              <a:solidFill>
                <a:schemeClr val="accent6">
                  <a:lumMod val="50000"/>
                </a:schemeClr>
              </a:solidFill>
              <a:latin typeface="Tw Cen MT Condensed Extra Bold" panose="020B0803020202020204" pitchFamily="34" charset="0"/>
            </a:endParaRPr>
          </a:p>
        </p:txBody>
      </p:sp>
    </p:spTree>
    <p:extLst>
      <p:ext uri="{BB962C8B-B14F-4D97-AF65-F5344CB8AC3E}">
        <p14:creationId xmlns:p14="http://schemas.microsoft.com/office/powerpoint/2010/main" val="2089776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Cooking 16x9">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extLst>
    <a:ext uri="{05A4C25C-085E-4340-85A3-A5531E510DB2}">
      <thm15:themeFamily xmlns:thm15="http://schemas.microsoft.com/office/thememl/2012/main" name="Fresh food presentation (widescreen).potx" id="{63DD3034-9CB5-4B6F-BCA0-530A5E267AB2}" vid="{9783A5E3-1DF2-4F3C-8902-0C2EB8A188D6}"/>
    </a:ext>
  </a:extLst>
</a:theme>
</file>

<file path=ppt/theme/theme2.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ppt/theme/theme3.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14945D-DABB-422F-9B28-D299995C9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E700CCB-20BA-4760-AB9F-AC3B63ED32E0}">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dcmitype/"/>
    <ds:schemaRef ds:uri="40262f94-9f35-4ac3-9a90-690165a166b7"/>
    <ds:schemaRef ds:uri="a4f35948-e619-41b3-aa29-22878b09cfd2"/>
    <ds:schemaRef ds:uri="http://www.w3.org/XML/1998/namespace"/>
  </ds:schemaRefs>
</ds:datastoreItem>
</file>

<file path=customXml/itemProps3.xml><?xml version="1.0" encoding="utf-8"?>
<ds:datastoreItem xmlns:ds="http://schemas.openxmlformats.org/officeDocument/2006/customXml" ds:itemID="{308942AA-0721-4324-BC2C-A3CB43F24E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Fresh food presentation (widescreen)</Template>
  <TotalTime>3562</TotalTime>
  <Words>2164</Words>
  <Application>Microsoft Office PowerPoint</Application>
  <PresentationFormat>Custom</PresentationFormat>
  <Paragraphs>348</Paragraphs>
  <Slides>46</Slides>
  <Notes>1</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46</vt:i4>
      </vt:variant>
    </vt:vector>
  </HeadingPairs>
  <TitlesOfParts>
    <vt:vector size="65" baseType="lpstr">
      <vt:lpstr>Algerian</vt:lpstr>
      <vt:lpstr>Arial</vt:lpstr>
      <vt:lpstr>Arial Black</vt:lpstr>
      <vt:lpstr>Arial Narrow</vt:lpstr>
      <vt:lpstr>Berlin Sans FB</vt:lpstr>
      <vt:lpstr>Berlin Sans FB Demi</vt:lpstr>
      <vt:lpstr>Book Antiqua</vt:lpstr>
      <vt:lpstr>Bookman Old Style</vt:lpstr>
      <vt:lpstr>Calibri</vt:lpstr>
      <vt:lpstr>Consolas</vt:lpstr>
      <vt:lpstr>Constantia</vt:lpstr>
      <vt:lpstr>FranklinGothic-Demi</vt:lpstr>
      <vt:lpstr>Georgia</vt:lpstr>
      <vt:lpstr>Microsoft PhagsPa</vt:lpstr>
      <vt:lpstr>NewBaskerville-Roman</vt:lpstr>
      <vt:lpstr>Roboto</vt:lpstr>
      <vt:lpstr>Times New Roman</vt:lpstr>
      <vt:lpstr>Tw Cen MT Condensed Extra Bold</vt:lpstr>
      <vt:lpstr>Cooking 16x9</vt:lpstr>
      <vt:lpstr>Module  7: Data Streaming - with Apache Kafka &amp; Spark                </vt:lpstr>
      <vt:lpstr>Agenda</vt:lpstr>
      <vt:lpstr>What is Real-time Data Processing?</vt:lpstr>
      <vt:lpstr>Introduction (Contd…)</vt:lpstr>
      <vt:lpstr>An Example</vt:lpstr>
      <vt:lpstr>Another Example</vt:lpstr>
      <vt:lpstr>Why is stream Processing needed?</vt:lpstr>
      <vt:lpstr>Contd…</vt:lpstr>
      <vt:lpstr>Contd…</vt:lpstr>
      <vt:lpstr>Use Cases</vt:lpstr>
      <vt:lpstr>Stream Processing Architectures</vt:lpstr>
      <vt:lpstr>Lambda Architecture</vt:lpstr>
      <vt:lpstr>A simple Solution</vt:lpstr>
      <vt:lpstr>Speed Layer Architecture</vt:lpstr>
      <vt:lpstr>Asynchronous Updates</vt:lpstr>
      <vt:lpstr>Distributed Messaging Architecture: Apache Kafka</vt:lpstr>
      <vt:lpstr>Contd…</vt:lpstr>
      <vt:lpstr>Queuing and Stream Processing</vt:lpstr>
      <vt:lpstr>Stream Processing</vt:lpstr>
      <vt:lpstr>One-at-a-time stream processing</vt:lpstr>
      <vt:lpstr>Storm Model</vt:lpstr>
      <vt:lpstr>Bolt Abstraction</vt:lpstr>
      <vt:lpstr>Task Execution</vt:lpstr>
      <vt:lpstr>Apache Kafka</vt:lpstr>
      <vt:lpstr>What is Kafka?</vt:lpstr>
      <vt:lpstr>Apache Kafka – an Introduction</vt:lpstr>
      <vt:lpstr>Main Concepts</vt:lpstr>
      <vt:lpstr>Contd…</vt:lpstr>
      <vt:lpstr>Example</vt:lpstr>
      <vt:lpstr>Dynamic Pricing</vt:lpstr>
      <vt:lpstr>Uber’s Architecture using Kafka</vt:lpstr>
      <vt:lpstr>Real-Time Surge Pricing</vt:lpstr>
      <vt:lpstr>Producers and Consumers</vt:lpstr>
      <vt:lpstr>Apache Kafka Demo</vt:lpstr>
      <vt:lpstr>Running Kafka</vt:lpstr>
      <vt:lpstr>Start Zookeeper Server</vt:lpstr>
      <vt:lpstr>Start Kafka Server</vt:lpstr>
      <vt:lpstr>Create a Topic – “test”</vt:lpstr>
      <vt:lpstr>Producer &amp; Consumer</vt:lpstr>
      <vt:lpstr>Test Producer &amp; Consumer - ingesting data:</vt:lpstr>
      <vt:lpstr>Integration of Kafka &amp; Spark</vt:lpstr>
      <vt:lpstr>Code</vt:lpstr>
      <vt:lpstr>Code…</vt:lpstr>
      <vt:lpstr>Code…</vt:lpstr>
      <vt:lpstr>Consumer Window</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Microsoft account</dc:creator>
  <cp:lastModifiedBy>Microsoft account</cp:lastModifiedBy>
  <cp:revision>156</cp:revision>
  <dcterms:created xsi:type="dcterms:W3CDTF">2024-08-14T04:47:15Z</dcterms:created>
  <dcterms:modified xsi:type="dcterms:W3CDTF">2025-02-24T07:39:40Z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