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72" r:id="rId5"/>
    <p:sldId id="258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34" r:id="rId3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2D97"/>
    <a:srgbClr val="4A206A"/>
    <a:srgbClr val="8A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527" autoAdjust="0"/>
    <p:restoredTop sz="94492" autoAdjust="0"/>
  </p:normalViewPr>
  <p:slideViewPr>
    <p:cSldViewPr>
      <p:cViewPr varScale="1">
        <p:scale>
          <a:sx n="80" d="100"/>
          <a:sy n="80" d="100"/>
        </p:scale>
        <p:origin x="163" y="5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33E1BF-4392-4206-8DB2-D2080BD3DEB7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6F0B4E2-3C4C-42AC-9D8F-BBAFC72462DD}">
      <dgm:prSet phldrT="[Text]"/>
      <dgm:spPr>
        <a:solidFill>
          <a:srgbClr val="00B0F0"/>
        </a:solidFill>
      </dgm:spPr>
      <dgm:t>
        <a:bodyPr/>
        <a:lstStyle/>
        <a:p>
          <a:r>
            <a:rPr lang="en-US" b="1" dirty="0" smtClean="0">
              <a:latin typeface="+mj-lt"/>
              <a:cs typeface="Arial" panose="020B0604020202020204" pitchFamily="34" charset="0"/>
            </a:rPr>
            <a:t>Introduction</a:t>
          </a:r>
          <a:endParaRPr lang="en-IN" b="1" dirty="0">
            <a:latin typeface="+mj-lt"/>
            <a:cs typeface="Arial" panose="020B0604020202020204" pitchFamily="34" charset="0"/>
          </a:endParaRPr>
        </a:p>
      </dgm:t>
    </dgm:pt>
    <dgm:pt modelId="{1EACE95E-FFD1-44C4-9D97-77DF9B47647E}" type="parTrans" cxnId="{9B83973E-BEAF-4F96-9A9F-FA8BA9F8FDE8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BC7F35-10AF-4961-B2D4-6F2B796D7D85}" type="sibTrans" cxnId="{9B83973E-BEAF-4F96-9A9F-FA8BA9F8FDE8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6EF211-6C75-454D-9B26-EF92DDD50FA7}">
      <dgm:prSet phldrT="[Text]"/>
      <dgm:spPr/>
      <dgm:t>
        <a:bodyPr/>
        <a:lstStyle/>
        <a:p>
          <a:r>
            <a:rPr lang="en-US" b="1" dirty="0" smtClean="0"/>
            <a:t>Introduction to Large-Scale </a:t>
          </a:r>
          <a:r>
            <a:rPr lang="en-US" b="1" dirty="0" err="1" smtClean="0"/>
            <a:t>UnSupervised</a:t>
          </a:r>
          <a:r>
            <a:rPr lang="en-US" b="1" dirty="0" smtClean="0"/>
            <a:t> Machine Learning 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93B6C1-3574-453A-8577-0E1416870B1C}" type="parTrans" cxnId="{3BBBF938-FD17-4565-B6FD-4F1F6D76CAE5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796EA4-CE19-451A-B5A3-5161F060E0B4}" type="sibTrans" cxnId="{3BBBF938-FD17-4565-B6FD-4F1F6D76CAE5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365183-CE32-4168-9B2F-ECDC720E64E4}">
      <dgm:prSet phldrT="[Text]"/>
      <dgm:spPr>
        <a:solidFill>
          <a:srgbClr val="00B0F0"/>
        </a:solidFill>
      </dgm:spPr>
      <dgm:t>
        <a:bodyPr/>
        <a:lstStyle/>
        <a:p>
          <a:r>
            <a:rPr lang="en-US" b="1" dirty="0" smtClean="0"/>
            <a:t>Gaussian Mixture Models</a:t>
          </a:r>
          <a:endParaRPr lang="en-IN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002CAA-F332-41AE-BE5A-A69DA0A9C3D0}" type="parTrans" cxnId="{BD43FC39-34FB-444A-A71D-0F475F73C034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527CE7-52A4-4645-A14E-270C4EF01862}" type="sibTrans" cxnId="{BD43FC39-34FB-444A-A71D-0F475F73C034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58038D-CA55-4818-933D-48FDC20F59AF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Introduction to </a:t>
          </a:r>
          <a:r>
            <a:rPr lang="en-US" b="1" dirty="0" smtClean="0"/>
            <a:t>Gaussian Mixture Models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77EFF9-41FA-4EFC-865F-66C829533A62}" type="parTrans" cxnId="{A8E012C2-A84E-4AA0-B561-3F407D93B4E9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3878D6-18A8-43BE-AEF0-298251B308C7}" type="sibTrans" cxnId="{A8E012C2-A84E-4AA0-B561-3F407D93B4E9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7AF890-5241-4030-8944-F92C8B416345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Examples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CD9225-42AD-45A5-A119-D74616DDFFC4}" type="parTrans" cxnId="{2AF55609-615B-4DD9-A1B3-C375223D1DDC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A90807-237E-4619-8955-0079EEE90AC9}" type="sibTrans" cxnId="{2AF55609-615B-4DD9-A1B3-C375223D1DDC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05E93B-CE00-4C11-AA85-A316D0E0C43F}">
      <dgm:prSet phldrT="[Text]"/>
      <dgm:spPr>
        <a:solidFill>
          <a:srgbClr val="00B0F0"/>
        </a:solidFill>
      </dgm:spPr>
      <dgm:t>
        <a:bodyPr/>
        <a:lstStyle/>
        <a:p>
          <a:r>
            <a:rPr lang="en-US" b="1" dirty="0" smtClean="0"/>
            <a:t>Dimensionality Reduction</a:t>
          </a:r>
          <a:endParaRPr lang="en-IN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4242FA-1D07-4CD0-9227-848A0588F159}" type="parTrans" cxnId="{43BF3CEA-1B5C-453B-A9A4-9336E570E7C7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7E99CE-25B3-4716-9801-53740DCFE628}" type="sibTrans" cxnId="{43BF3CEA-1B5C-453B-A9A4-9336E570E7C7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364796-0495-4ADB-8D4E-6E84FBF21E14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Concept of Support Vector Machines, Advantages &amp; Disadvantages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DC3A8B-6CAC-4179-BA21-0F8DD1DB7933}" type="parTrans" cxnId="{CF136BD9-5A22-4191-89CA-584589C3722B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9C9C17-872F-49B8-9FBF-B33AA712529C}" type="sibTrans" cxnId="{CF136BD9-5A22-4191-89CA-584589C3722B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DD082C-26D4-46D7-8228-73F0396D2806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Examples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876BA5-C028-4FE7-B5C9-DF0521AB8362}" type="parTrans" cxnId="{CCF14341-17D0-430F-B819-B79A92C5AB70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482EFE-52B0-4C80-A8C9-12E19035A5FC}" type="sibTrans" cxnId="{CCF14341-17D0-430F-B819-B79A92C5AB70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E5CA6D-3D3D-42C9-95D6-654F4A4AEA31}">
      <dgm:prSet/>
      <dgm:spPr>
        <a:solidFill>
          <a:srgbClr val="00B0F0"/>
        </a:solidFill>
      </dgm:spPr>
      <dgm:t>
        <a:bodyPr/>
        <a:lstStyle/>
        <a:p>
          <a:r>
            <a:rPr lang="en-US" b="1" dirty="0" smtClean="0">
              <a:latin typeface="+mj-lt"/>
              <a:cs typeface="Arial" panose="020B0604020202020204" pitchFamily="34" charset="0"/>
            </a:rPr>
            <a:t>PySpark, ML Library</a:t>
          </a:r>
          <a:endParaRPr lang="en-IN" b="1" dirty="0">
            <a:latin typeface="+mj-lt"/>
            <a:cs typeface="Arial" panose="020B0604020202020204" pitchFamily="34" charset="0"/>
          </a:endParaRPr>
        </a:p>
      </dgm:t>
    </dgm:pt>
    <dgm:pt modelId="{5B993C77-D664-4803-A745-1A39809E3F0B}" type="parTrans" cxnId="{3313D3C2-34A9-42CE-837D-3AD195E95805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02E080-7F06-4A31-8C27-2AE394252BC1}" type="sibTrans" cxnId="{3313D3C2-34A9-42CE-837D-3AD195E95805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5CE42E-1C59-4439-9304-5FC58261AC64}">
      <dgm:prSet phldrT="[Text]"/>
      <dgm:spPr>
        <a:solidFill>
          <a:srgbClr val="00B0F0"/>
        </a:solidFill>
      </dgm:spPr>
      <dgm:t>
        <a:bodyPr/>
        <a:lstStyle/>
        <a:p>
          <a:r>
            <a:rPr lang="en-US" b="1" dirty="0" smtClean="0">
              <a:latin typeface="+mj-lt"/>
              <a:cs typeface="Arial" panose="020B0604020202020204" pitchFamily="34" charset="0"/>
            </a:rPr>
            <a:t>K-Means</a:t>
          </a:r>
          <a:endParaRPr lang="en-IN" b="1" dirty="0">
            <a:latin typeface="+mj-lt"/>
            <a:cs typeface="Arial" panose="020B0604020202020204" pitchFamily="34" charset="0"/>
          </a:endParaRPr>
        </a:p>
      </dgm:t>
    </dgm:pt>
    <dgm:pt modelId="{32CBA3E8-13FC-4954-B12C-815CE213FEE4}" type="parTrans" cxnId="{FFF83FD4-ED15-47D6-B634-53B3D04BF252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21BAF2-DEEB-4F02-9C5E-AA979AFBE08B}" type="sibTrans" cxnId="{FFF83FD4-ED15-47D6-B634-53B3D04BF252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4D5E57-F90D-47A9-94FC-E87BF9566108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K-Means Clustering Problem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02F0B0-0519-458A-AAB2-67D2CF32B126}" type="parTrans" cxnId="{86C52A1C-C449-4F65-B8B7-E62702353ACF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1C3C4A-8494-42EE-B052-B0464F97AE34}" type="sibTrans" cxnId="{86C52A1C-C449-4F65-B8B7-E62702353ACF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4AC58F-56F2-46D7-9B50-1A514CA1BC4B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Algorithm, Examples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8EAD25-1296-49EE-9DC9-40C120758A9A}" type="parTrans" cxnId="{2E124668-61C4-4D2A-A460-04B8220D19B2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5ED49C-A230-4E82-8261-FB32BBCF032D}" type="sibTrans" cxnId="{2E124668-61C4-4D2A-A460-04B8220D19B2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4BC3AA-5790-4353-B02A-2EDFA0E30BFF}">
      <dgm:prSet phldrT="[Text]"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Examples of DT, NB, SVM, and </a:t>
          </a:r>
          <a:r>
            <a:rPr lang="en-US" dirty="0" err="1" smtClean="0">
              <a:latin typeface="Arial" panose="020B0604020202020204" pitchFamily="34" charset="0"/>
              <a:cs typeface="Arial" panose="020B0604020202020204" pitchFamily="34" charset="0"/>
            </a:rPr>
            <a:t>kNN</a:t>
          </a:r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 using PySpark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E3AC03-BB28-4ADC-821F-D1B7CCF689CF}" type="parTrans" cxnId="{3C3835DB-483D-4774-A474-6ABF054084CF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724D95-57C9-49E1-B2AD-955C789FC608}" type="sibTrans" cxnId="{3C3835DB-483D-4774-A474-6ABF054084CF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BDF746-91D9-42AB-A344-EC3C1A0CD4DC}">
      <dgm:prSet/>
      <dgm:spPr/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Exercises</a:t>
          </a:r>
          <a:endParaRPr lang="en-IN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535848-342D-4B29-9191-D02CE8568A2F}" type="parTrans" cxnId="{815470CC-F24B-4208-A562-5C39ED5453DA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4C6F9F-D5D0-42F5-98E8-1ED11D2E5862}" type="sibTrans" cxnId="{815470CC-F24B-4208-A562-5C39ED5453DA}">
      <dgm:prSet/>
      <dgm:spPr/>
      <dgm:t>
        <a:bodyPr/>
        <a:lstStyle/>
        <a:p>
          <a:endParaRPr lang="en-IN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AABBA8-7AED-49A2-9EA1-B82D59580F49}" type="pres">
      <dgm:prSet presAssocID="{6D33E1BF-4392-4206-8DB2-D2080BD3DEB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B6602A8-123E-4978-A68F-39F96AFA6FA6}" type="pres">
      <dgm:prSet presAssocID="{06F0B4E2-3C4C-42AC-9D8F-BBAFC72462DD}" presName="linNode" presStyleCnt="0"/>
      <dgm:spPr/>
      <dgm:t>
        <a:bodyPr/>
        <a:lstStyle/>
        <a:p>
          <a:endParaRPr lang="en-IN"/>
        </a:p>
      </dgm:t>
    </dgm:pt>
    <dgm:pt modelId="{6615A05E-3C83-44BD-AF92-F7FA42A80B08}" type="pres">
      <dgm:prSet presAssocID="{06F0B4E2-3C4C-42AC-9D8F-BBAFC72462DD}" presName="parentText" presStyleLbl="node1" presStyleIdx="0" presStyleCnt="5" custLinFactNeighborX="-57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F9B535D-896A-4AB0-A2B4-DAE5BFE51901}" type="pres">
      <dgm:prSet presAssocID="{06F0B4E2-3C4C-42AC-9D8F-BBAFC72462DD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964C70B-0AE6-41F0-9859-27E5870AE422}" type="pres">
      <dgm:prSet presAssocID="{9FBC7F35-10AF-4961-B2D4-6F2B796D7D85}" presName="sp" presStyleCnt="0"/>
      <dgm:spPr/>
      <dgm:t>
        <a:bodyPr/>
        <a:lstStyle/>
        <a:p>
          <a:endParaRPr lang="en-IN"/>
        </a:p>
      </dgm:t>
    </dgm:pt>
    <dgm:pt modelId="{9F86AC3C-427A-45B6-970A-AD3DF9AF9E03}" type="pres">
      <dgm:prSet presAssocID="{D85CE42E-1C59-4439-9304-5FC58261AC64}" presName="linNode" presStyleCnt="0"/>
      <dgm:spPr/>
      <dgm:t>
        <a:bodyPr/>
        <a:lstStyle/>
        <a:p>
          <a:endParaRPr lang="en-IN"/>
        </a:p>
      </dgm:t>
    </dgm:pt>
    <dgm:pt modelId="{919F3EB5-11E5-4C15-BDDE-7DDF32465E5D}" type="pres">
      <dgm:prSet presAssocID="{D85CE42E-1C59-4439-9304-5FC58261AC64}" presName="parentText" presStyleLbl="node1" presStyleIdx="1" presStyleCnt="5" custLinFactNeighborX="-57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1269ECD-6F82-430B-BA12-73A815751F2E}" type="pres">
      <dgm:prSet presAssocID="{D85CE42E-1C59-4439-9304-5FC58261AC64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8C22D19-9266-4D7E-8519-CD24A09077C3}" type="pres">
      <dgm:prSet presAssocID="{CE21BAF2-DEEB-4F02-9C5E-AA979AFBE08B}" presName="sp" presStyleCnt="0"/>
      <dgm:spPr/>
      <dgm:t>
        <a:bodyPr/>
        <a:lstStyle/>
        <a:p>
          <a:endParaRPr lang="en-IN"/>
        </a:p>
      </dgm:t>
    </dgm:pt>
    <dgm:pt modelId="{FB6291E5-0660-4B76-9CFC-AE0D64A9D8D3}" type="pres">
      <dgm:prSet presAssocID="{60365183-CE32-4168-9B2F-ECDC720E64E4}" presName="linNode" presStyleCnt="0"/>
      <dgm:spPr/>
      <dgm:t>
        <a:bodyPr/>
        <a:lstStyle/>
        <a:p>
          <a:endParaRPr lang="en-IN"/>
        </a:p>
      </dgm:t>
    </dgm:pt>
    <dgm:pt modelId="{8E42E0B6-F9A6-400C-AB2D-7833AEE4EC07}" type="pres">
      <dgm:prSet presAssocID="{60365183-CE32-4168-9B2F-ECDC720E64E4}" presName="parentText" presStyleLbl="node1" presStyleIdx="2" presStyleCnt="5" custLinFactNeighborX="-57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407C442-ABDB-4873-A710-97604EB421E6}" type="pres">
      <dgm:prSet presAssocID="{60365183-CE32-4168-9B2F-ECDC720E64E4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480248E-8F97-4A83-BC37-5332B9605F34}" type="pres">
      <dgm:prSet presAssocID="{A5527CE7-52A4-4645-A14E-270C4EF01862}" presName="sp" presStyleCnt="0"/>
      <dgm:spPr/>
      <dgm:t>
        <a:bodyPr/>
        <a:lstStyle/>
        <a:p>
          <a:endParaRPr lang="en-IN"/>
        </a:p>
      </dgm:t>
    </dgm:pt>
    <dgm:pt modelId="{3F04792C-10EE-4238-9356-9B83B0ECFB4F}" type="pres">
      <dgm:prSet presAssocID="{D105E93B-CE00-4C11-AA85-A316D0E0C43F}" presName="linNode" presStyleCnt="0"/>
      <dgm:spPr/>
      <dgm:t>
        <a:bodyPr/>
        <a:lstStyle/>
        <a:p>
          <a:endParaRPr lang="en-IN"/>
        </a:p>
      </dgm:t>
    </dgm:pt>
    <dgm:pt modelId="{ECD9573A-89DE-438F-A21C-74065D833030}" type="pres">
      <dgm:prSet presAssocID="{D105E93B-CE00-4C11-AA85-A316D0E0C43F}" presName="parentText" presStyleLbl="node1" presStyleIdx="3" presStyleCnt="5" custLinFactNeighborX="-57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28A7722-D9CA-4DC6-9821-CE5ADF1C6910}" type="pres">
      <dgm:prSet presAssocID="{D105E93B-CE00-4C11-AA85-A316D0E0C43F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6B99197-B6EA-479C-ADB3-E5D1F1D40D42}" type="pres">
      <dgm:prSet presAssocID="{377E99CE-25B3-4716-9801-53740DCFE628}" presName="sp" presStyleCnt="0"/>
      <dgm:spPr/>
      <dgm:t>
        <a:bodyPr/>
        <a:lstStyle/>
        <a:p>
          <a:endParaRPr lang="en-IN"/>
        </a:p>
      </dgm:t>
    </dgm:pt>
    <dgm:pt modelId="{681A9186-921A-45D7-AB0D-E7B87F1CD9B4}" type="pres">
      <dgm:prSet presAssocID="{12E5CA6D-3D3D-42C9-95D6-654F4A4AEA31}" presName="linNode" presStyleCnt="0"/>
      <dgm:spPr/>
      <dgm:t>
        <a:bodyPr/>
        <a:lstStyle/>
        <a:p>
          <a:endParaRPr lang="en-IN"/>
        </a:p>
      </dgm:t>
    </dgm:pt>
    <dgm:pt modelId="{63D83632-AA81-4829-851C-7458A551B573}" type="pres">
      <dgm:prSet presAssocID="{12E5CA6D-3D3D-42C9-95D6-654F4A4AEA31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7344652-D4A5-4A12-9C79-FD33C1425BC8}" type="pres">
      <dgm:prSet presAssocID="{12E5CA6D-3D3D-42C9-95D6-654F4A4AEA31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08943BB-1650-4ADD-8683-CD3B41D81426}" type="presOf" srcId="{5958038D-CA55-4818-933D-48FDC20F59AF}" destId="{C407C442-ABDB-4873-A710-97604EB421E6}" srcOrd="0" destOrd="0" presId="urn:microsoft.com/office/officeart/2005/8/layout/vList5"/>
    <dgm:cxn modelId="{E3B07868-A6F4-4C95-B116-75D5E4F08F27}" type="presOf" srcId="{0CBDF746-91D9-42AB-A344-EC3C1A0CD4DC}" destId="{A7344652-D4A5-4A12-9C79-FD33C1425BC8}" srcOrd="0" destOrd="1" presId="urn:microsoft.com/office/officeart/2005/8/layout/vList5"/>
    <dgm:cxn modelId="{2E124668-61C4-4D2A-A460-04B8220D19B2}" srcId="{D85CE42E-1C59-4439-9304-5FC58261AC64}" destId="{CA4AC58F-56F2-46D7-9B50-1A514CA1BC4B}" srcOrd="1" destOrd="0" parTransId="{258EAD25-1296-49EE-9DC9-40C120758A9A}" sibTransId="{AF5ED49C-A230-4E82-8261-FB32BBCF032D}"/>
    <dgm:cxn modelId="{B13F5BC9-8B32-4680-8FF4-887F34D66086}" type="presOf" srcId="{876EF211-6C75-454D-9B26-EF92DDD50FA7}" destId="{BF9B535D-896A-4AB0-A2B4-DAE5BFE51901}" srcOrd="0" destOrd="0" presId="urn:microsoft.com/office/officeart/2005/8/layout/vList5"/>
    <dgm:cxn modelId="{96E479C8-4D53-464D-9647-94FFD19055BB}" type="presOf" srcId="{6D33E1BF-4392-4206-8DB2-D2080BD3DEB7}" destId="{76AABBA8-7AED-49A2-9EA1-B82D59580F49}" srcOrd="0" destOrd="0" presId="urn:microsoft.com/office/officeart/2005/8/layout/vList5"/>
    <dgm:cxn modelId="{25D20D5E-C57E-44B4-B557-9863C0E729FF}" type="presOf" srcId="{D85CE42E-1C59-4439-9304-5FC58261AC64}" destId="{919F3EB5-11E5-4C15-BDDE-7DDF32465E5D}" srcOrd="0" destOrd="0" presId="urn:microsoft.com/office/officeart/2005/8/layout/vList5"/>
    <dgm:cxn modelId="{CCF14341-17D0-430F-B819-B79A92C5AB70}" srcId="{D105E93B-CE00-4C11-AA85-A316D0E0C43F}" destId="{45DD082C-26D4-46D7-8228-73F0396D2806}" srcOrd="1" destOrd="0" parTransId="{5A876BA5-C028-4FE7-B5C9-DF0521AB8362}" sibTransId="{5F482EFE-52B0-4C80-A8C9-12E19035A5FC}"/>
    <dgm:cxn modelId="{A8E012C2-A84E-4AA0-B561-3F407D93B4E9}" srcId="{60365183-CE32-4168-9B2F-ECDC720E64E4}" destId="{5958038D-CA55-4818-933D-48FDC20F59AF}" srcOrd="0" destOrd="0" parTransId="{1377EFF9-41FA-4EFC-865F-66C829533A62}" sibTransId="{703878D6-18A8-43BE-AEF0-298251B308C7}"/>
    <dgm:cxn modelId="{F66629A0-E7EC-4054-846B-C08EC2813C44}" type="presOf" srcId="{364D5E57-F90D-47A9-94FC-E87BF9566108}" destId="{91269ECD-6F82-430B-BA12-73A815751F2E}" srcOrd="0" destOrd="0" presId="urn:microsoft.com/office/officeart/2005/8/layout/vList5"/>
    <dgm:cxn modelId="{43BF3CEA-1B5C-453B-A9A4-9336E570E7C7}" srcId="{6D33E1BF-4392-4206-8DB2-D2080BD3DEB7}" destId="{D105E93B-CE00-4C11-AA85-A316D0E0C43F}" srcOrd="3" destOrd="0" parTransId="{3D4242FA-1D07-4CD0-9227-848A0588F159}" sibTransId="{377E99CE-25B3-4716-9801-53740DCFE628}"/>
    <dgm:cxn modelId="{8EE7B9BC-0C1D-4B0F-8E3C-6DE520299189}" type="presOf" srcId="{06F0B4E2-3C4C-42AC-9D8F-BBAFC72462DD}" destId="{6615A05E-3C83-44BD-AF92-F7FA42A80B08}" srcOrd="0" destOrd="0" presId="urn:microsoft.com/office/officeart/2005/8/layout/vList5"/>
    <dgm:cxn modelId="{9B83973E-BEAF-4F96-9A9F-FA8BA9F8FDE8}" srcId="{6D33E1BF-4392-4206-8DB2-D2080BD3DEB7}" destId="{06F0B4E2-3C4C-42AC-9D8F-BBAFC72462DD}" srcOrd="0" destOrd="0" parTransId="{1EACE95E-FFD1-44C4-9D97-77DF9B47647E}" sibTransId="{9FBC7F35-10AF-4961-B2D4-6F2B796D7D85}"/>
    <dgm:cxn modelId="{D6BD50E6-1579-4A5A-BBD3-B43E2C026F00}" type="presOf" srcId="{AF7AF890-5241-4030-8944-F92C8B416345}" destId="{C407C442-ABDB-4873-A710-97604EB421E6}" srcOrd="0" destOrd="1" presId="urn:microsoft.com/office/officeart/2005/8/layout/vList5"/>
    <dgm:cxn modelId="{88E38EC8-B4C6-4DF1-93FA-2BDD7E18A953}" type="presOf" srcId="{7D364796-0495-4ADB-8D4E-6E84FBF21E14}" destId="{428A7722-D9CA-4DC6-9821-CE5ADF1C6910}" srcOrd="0" destOrd="0" presId="urn:microsoft.com/office/officeart/2005/8/layout/vList5"/>
    <dgm:cxn modelId="{3C3835DB-483D-4774-A474-6ABF054084CF}" srcId="{12E5CA6D-3D3D-42C9-95D6-654F4A4AEA31}" destId="{534BC3AA-5790-4353-B02A-2EDFA0E30BFF}" srcOrd="0" destOrd="0" parTransId="{C8E3AC03-BB28-4ADC-821F-D1B7CCF689CF}" sibTransId="{F9724D95-57C9-49E1-B2AD-955C789FC608}"/>
    <dgm:cxn modelId="{86C52A1C-C449-4F65-B8B7-E62702353ACF}" srcId="{D85CE42E-1C59-4439-9304-5FC58261AC64}" destId="{364D5E57-F90D-47A9-94FC-E87BF9566108}" srcOrd="0" destOrd="0" parTransId="{C402F0B0-0519-458A-AAB2-67D2CF32B126}" sibTransId="{DC1C3C4A-8494-42EE-B052-B0464F97AE34}"/>
    <dgm:cxn modelId="{D0C6EF71-F26A-4B9E-A058-FF6670063A44}" type="presOf" srcId="{60365183-CE32-4168-9B2F-ECDC720E64E4}" destId="{8E42E0B6-F9A6-400C-AB2D-7833AEE4EC07}" srcOrd="0" destOrd="0" presId="urn:microsoft.com/office/officeart/2005/8/layout/vList5"/>
    <dgm:cxn modelId="{815470CC-F24B-4208-A562-5C39ED5453DA}" srcId="{12E5CA6D-3D3D-42C9-95D6-654F4A4AEA31}" destId="{0CBDF746-91D9-42AB-A344-EC3C1A0CD4DC}" srcOrd="1" destOrd="0" parTransId="{56535848-342D-4B29-9191-D02CE8568A2F}" sibTransId="{194C6F9F-D5D0-42F5-98E8-1ED11D2E5862}"/>
    <dgm:cxn modelId="{BD43FC39-34FB-444A-A71D-0F475F73C034}" srcId="{6D33E1BF-4392-4206-8DB2-D2080BD3DEB7}" destId="{60365183-CE32-4168-9B2F-ECDC720E64E4}" srcOrd="2" destOrd="0" parTransId="{CA002CAA-F332-41AE-BE5A-A69DA0A9C3D0}" sibTransId="{A5527CE7-52A4-4645-A14E-270C4EF01862}"/>
    <dgm:cxn modelId="{4A793357-E405-4E3C-9411-0FFC7EC818C4}" type="presOf" srcId="{12E5CA6D-3D3D-42C9-95D6-654F4A4AEA31}" destId="{63D83632-AA81-4829-851C-7458A551B573}" srcOrd="0" destOrd="0" presId="urn:microsoft.com/office/officeart/2005/8/layout/vList5"/>
    <dgm:cxn modelId="{3BBBF938-FD17-4565-B6FD-4F1F6D76CAE5}" srcId="{06F0B4E2-3C4C-42AC-9D8F-BBAFC72462DD}" destId="{876EF211-6C75-454D-9B26-EF92DDD50FA7}" srcOrd="0" destOrd="0" parTransId="{A993B6C1-3574-453A-8577-0E1416870B1C}" sibTransId="{42796EA4-CE19-451A-B5A3-5161F060E0B4}"/>
    <dgm:cxn modelId="{CF136BD9-5A22-4191-89CA-584589C3722B}" srcId="{D105E93B-CE00-4C11-AA85-A316D0E0C43F}" destId="{7D364796-0495-4ADB-8D4E-6E84FBF21E14}" srcOrd="0" destOrd="0" parTransId="{99DC3A8B-6CAC-4179-BA21-0F8DD1DB7933}" sibTransId="{D09C9C17-872F-49B8-9FBF-B33AA712529C}"/>
    <dgm:cxn modelId="{D2B192F1-ECCA-4960-A7AB-9FB0B74F794C}" type="presOf" srcId="{D105E93B-CE00-4C11-AA85-A316D0E0C43F}" destId="{ECD9573A-89DE-438F-A21C-74065D833030}" srcOrd="0" destOrd="0" presId="urn:microsoft.com/office/officeart/2005/8/layout/vList5"/>
    <dgm:cxn modelId="{3B697F5D-A90C-4C59-8923-5B35FE95D919}" type="presOf" srcId="{534BC3AA-5790-4353-B02A-2EDFA0E30BFF}" destId="{A7344652-D4A5-4A12-9C79-FD33C1425BC8}" srcOrd="0" destOrd="0" presId="urn:microsoft.com/office/officeart/2005/8/layout/vList5"/>
    <dgm:cxn modelId="{2AF55609-615B-4DD9-A1B3-C375223D1DDC}" srcId="{60365183-CE32-4168-9B2F-ECDC720E64E4}" destId="{AF7AF890-5241-4030-8944-F92C8B416345}" srcOrd="1" destOrd="0" parTransId="{4DCD9225-42AD-45A5-A119-D74616DDFFC4}" sibTransId="{29A90807-237E-4619-8955-0079EEE90AC9}"/>
    <dgm:cxn modelId="{0B174A09-C62E-4818-9C3F-FC414115EE24}" type="presOf" srcId="{CA4AC58F-56F2-46D7-9B50-1A514CA1BC4B}" destId="{91269ECD-6F82-430B-BA12-73A815751F2E}" srcOrd="0" destOrd="1" presId="urn:microsoft.com/office/officeart/2005/8/layout/vList5"/>
    <dgm:cxn modelId="{110EDE47-12C3-46E6-903F-20A6347A7650}" type="presOf" srcId="{45DD082C-26D4-46D7-8228-73F0396D2806}" destId="{428A7722-D9CA-4DC6-9821-CE5ADF1C6910}" srcOrd="0" destOrd="1" presId="urn:microsoft.com/office/officeart/2005/8/layout/vList5"/>
    <dgm:cxn modelId="{FFF83FD4-ED15-47D6-B634-53B3D04BF252}" srcId="{6D33E1BF-4392-4206-8DB2-D2080BD3DEB7}" destId="{D85CE42E-1C59-4439-9304-5FC58261AC64}" srcOrd="1" destOrd="0" parTransId="{32CBA3E8-13FC-4954-B12C-815CE213FEE4}" sibTransId="{CE21BAF2-DEEB-4F02-9C5E-AA979AFBE08B}"/>
    <dgm:cxn modelId="{3313D3C2-34A9-42CE-837D-3AD195E95805}" srcId="{6D33E1BF-4392-4206-8DB2-D2080BD3DEB7}" destId="{12E5CA6D-3D3D-42C9-95D6-654F4A4AEA31}" srcOrd="4" destOrd="0" parTransId="{5B993C77-D664-4803-A745-1A39809E3F0B}" sibTransId="{5702E080-7F06-4A31-8C27-2AE394252BC1}"/>
    <dgm:cxn modelId="{29127C87-3342-4392-B942-DA2BE3ED16B4}" type="presParOf" srcId="{76AABBA8-7AED-49A2-9EA1-B82D59580F49}" destId="{1B6602A8-123E-4978-A68F-39F96AFA6FA6}" srcOrd="0" destOrd="0" presId="urn:microsoft.com/office/officeart/2005/8/layout/vList5"/>
    <dgm:cxn modelId="{25C7493A-9F3C-4BDE-A665-40B2C7C4D17C}" type="presParOf" srcId="{1B6602A8-123E-4978-A68F-39F96AFA6FA6}" destId="{6615A05E-3C83-44BD-AF92-F7FA42A80B08}" srcOrd="0" destOrd="0" presId="urn:microsoft.com/office/officeart/2005/8/layout/vList5"/>
    <dgm:cxn modelId="{0D039238-8109-47FA-989F-9AE6C73F1786}" type="presParOf" srcId="{1B6602A8-123E-4978-A68F-39F96AFA6FA6}" destId="{BF9B535D-896A-4AB0-A2B4-DAE5BFE51901}" srcOrd="1" destOrd="0" presId="urn:microsoft.com/office/officeart/2005/8/layout/vList5"/>
    <dgm:cxn modelId="{2E1BCF06-770B-482C-8EAB-8D4F43F7689C}" type="presParOf" srcId="{76AABBA8-7AED-49A2-9EA1-B82D59580F49}" destId="{4964C70B-0AE6-41F0-9859-27E5870AE422}" srcOrd="1" destOrd="0" presId="urn:microsoft.com/office/officeart/2005/8/layout/vList5"/>
    <dgm:cxn modelId="{D0AB8AC8-119F-4E3D-A95B-3B54113DD6F1}" type="presParOf" srcId="{76AABBA8-7AED-49A2-9EA1-B82D59580F49}" destId="{9F86AC3C-427A-45B6-970A-AD3DF9AF9E03}" srcOrd="2" destOrd="0" presId="urn:microsoft.com/office/officeart/2005/8/layout/vList5"/>
    <dgm:cxn modelId="{4837EFA3-43B4-4432-A841-5915690678D5}" type="presParOf" srcId="{9F86AC3C-427A-45B6-970A-AD3DF9AF9E03}" destId="{919F3EB5-11E5-4C15-BDDE-7DDF32465E5D}" srcOrd="0" destOrd="0" presId="urn:microsoft.com/office/officeart/2005/8/layout/vList5"/>
    <dgm:cxn modelId="{AE76E2B5-CEC3-4476-9258-A2FDF36D7263}" type="presParOf" srcId="{9F86AC3C-427A-45B6-970A-AD3DF9AF9E03}" destId="{91269ECD-6F82-430B-BA12-73A815751F2E}" srcOrd="1" destOrd="0" presId="urn:microsoft.com/office/officeart/2005/8/layout/vList5"/>
    <dgm:cxn modelId="{EC25FA89-6D1F-417D-8A82-673EE1D30448}" type="presParOf" srcId="{76AABBA8-7AED-49A2-9EA1-B82D59580F49}" destId="{88C22D19-9266-4D7E-8519-CD24A09077C3}" srcOrd="3" destOrd="0" presId="urn:microsoft.com/office/officeart/2005/8/layout/vList5"/>
    <dgm:cxn modelId="{0CD81C22-53C5-40B4-B030-10AC8D9D4BB3}" type="presParOf" srcId="{76AABBA8-7AED-49A2-9EA1-B82D59580F49}" destId="{FB6291E5-0660-4B76-9CFC-AE0D64A9D8D3}" srcOrd="4" destOrd="0" presId="urn:microsoft.com/office/officeart/2005/8/layout/vList5"/>
    <dgm:cxn modelId="{B2808A4F-76A6-4551-A9B0-FA9265B0E87E}" type="presParOf" srcId="{FB6291E5-0660-4B76-9CFC-AE0D64A9D8D3}" destId="{8E42E0B6-F9A6-400C-AB2D-7833AEE4EC07}" srcOrd="0" destOrd="0" presId="urn:microsoft.com/office/officeart/2005/8/layout/vList5"/>
    <dgm:cxn modelId="{71A6C090-EA1B-4EE2-B6FE-3784D6FF4117}" type="presParOf" srcId="{FB6291E5-0660-4B76-9CFC-AE0D64A9D8D3}" destId="{C407C442-ABDB-4873-A710-97604EB421E6}" srcOrd="1" destOrd="0" presId="urn:microsoft.com/office/officeart/2005/8/layout/vList5"/>
    <dgm:cxn modelId="{771886A5-5FED-4B12-8296-AB626F7A0AEF}" type="presParOf" srcId="{76AABBA8-7AED-49A2-9EA1-B82D59580F49}" destId="{0480248E-8F97-4A83-BC37-5332B9605F34}" srcOrd="5" destOrd="0" presId="urn:microsoft.com/office/officeart/2005/8/layout/vList5"/>
    <dgm:cxn modelId="{4B9F73A8-2F58-4D70-A16A-B8F9DB0969A9}" type="presParOf" srcId="{76AABBA8-7AED-49A2-9EA1-B82D59580F49}" destId="{3F04792C-10EE-4238-9356-9B83B0ECFB4F}" srcOrd="6" destOrd="0" presId="urn:microsoft.com/office/officeart/2005/8/layout/vList5"/>
    <dgm:cxn modelId="{D2814E88-046C-467B-8F42-6355BBEC8535}" type="presParOf" srcId="{3F04792C-10EE-4238-9356-9B83B0ECFB4F}" destId="{ECD9573A-89DE-438F-A21C-74065D833030}" srcOrd="0" destOrd="0" presId="urn:microsoft.com/office/officeart/2005/8/layout/vList5"/>
    <dgm:cxn modelId="{E4F9E4FE-BF4C-4014-921C-A02F969F21B5}" type="presParOf" srcId="{3F04792C-10EE-4238-9356-9B83B0ECFB4F}" destId="{428A7722-D9CA-4DC6-9821-CE5ADF1C6910}" srcOrd="1" destOrd="0" presId="urn:microsoft.com/office/officeart/2005/8/layout/vList5"/>
    <dgm:cxn modelId="{A6CA51CF-3FFC-4BB8-989D-2492EF475EC8}" type="presParOf" srcId="{76AABBA8-7AED-49A2-9EA1-B82D59580F49}" destId="{56B99197-B6EA-479C-ADB3-E5D1F1D40D42}" srcOrd="7" destOrd="0" presId="urn:microsoft.com/office/officeart/2005/8/layout/vList5"/>
    <dgm:cxn modelId="{BD0CEB92-D458-40E2-B24A-7916FEDCDFFE}" type="presParOf" srcId="{76AABBA8-7AED-49A2-9EA1-B82D59580F49}" destId="{681A9186-921A-45D7-AB0D-E7B87F1CD9B4}" srcOrd="8" destOrd="0" presId="urn:microsoft.com/office/officeart/2005/8/layout/vList5"/>
    <dgm:cxn modelId="{AEAF5CD2-3C95-4CB8-8ACA-3FC32AAE9C52}" type="presParOf" srcId="{681A9186-921A-45D7-AB0D-E7B87F1CD9B4}" destId="{63D83632-AA81-4829-851C-7458A551B573}" srcOrd="0" destOrd="0" presId="urn:microsoft.com/office/officeart/2005/8/layout/vList5"/>
    <dgm:cxn modelId="{A341F2C5-FAFC-4455-BC89-4B8968464619}" type="presParOf" srcId="{681A9186-921A-45D7-AB0D-E7B87F1CD9B4}" destId="{A7344652-D4A5-4A12-9C79-FD33C1425BC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B535D-896A-4AB0-A2B4-DAE5BFE51901}">
      <dsp:nvSpPr>
        <dsp:cNvPr id="0" name=""/>
        <dsp:cNvSpPr/>
      </dsp:nvSpPr>
      <dsp:spPr>
        <a:xfrm rot="5400000">
          <a:off x="5870055" y="-2492984"/>
          <a:ext cx="686241" cy="584769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/>
            <a:t>Introduction to Large-Scale </a:t>
          </a:r>
          <a:r>
            <a:rPr lang="en-US" sz="1400" b="1" kern="1200" dirty="0" err="1" smtClean="0"/>
            <a:t>UnSupervised</a:t>
          </a:r>
          <a:r>
            <a:rPr lang="en-US" sz="1400" b="1" kern="1200" dirty="0" smtClean="0"/>
            <a:t> Machine Learning 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289328" y="121243"/>
        <a:ext cx="5814195" cy="619241"/>
      </dsp:txXfrm>
    </dsp:sp>
    <dsp:sp modelId="{6615A05E-3C83-44BD-AF92-F7FA42A80B08}">
      <dsp:nvSpPr>
        <dsp:cNvPr id="0" name=""/>
        <dsp:cNvSpPr/>
      </dsp:nvSpPr>
      <dsp:spPr>
        <a:xfrm>
          <a:off x="0" y="1961"/>
          <a:ext cx="3289328" cy="857802"/>
        </a:xfrm>
        <a:prstGeom prst="roundRect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latin typeface="+mj-lt"/>
              <a:cs typeface="Arial" panose="020B0604020202020204" pitchFamily="34" charset="0"/>
            </a:rPr>
            <a:t>Introduction</a:t>
          </a:r>
          <a:endParaRPr lang="en-IN" sz="2400" b="1" kern="1200" dirty="0">
            <a:latin typeface="+mj-lt"/>
            <a:cs typeface="Arial" panose="020B0604020202020204" pitchFamily="34" charset="0"/>
          </a:endParaRPr>
        </a:p>
      </dsp:txBody>
      <dsp:txXfrm>
        <a:off x="41874" y="43835"/>
        <a:ext cx="3205580" cy="774054"/>
      </dsp:txXfrm>
    </dsp:sp>
    <dsp:sp modelId="{91269ECD-6F82-430B-BA12-73A815751F2E}">
      <dsp:nvSpPr>
        <dsp:cNvPr id="0" name=""/>
        <dsp:cNvSpPr/>
      </dsp:nvSpPr>
      <dsp:spPr>
        <a:xfrm rot="5400000">
          <a:off x="5870055" y="-1592292"/>
          <a:ext cx="686241" cy="584769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K-Means Clustering Problem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Algorithm, Examples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289328" y="1021935"/>
        <a:ext cx="5814195" cy="619241"/>
      </dsp:txXfrm>
    </dsp:sp>
    <dsp:sp modelId="{919F3EB5-11E5-4C15-BDDE-7DDF32465E5D}">
      <dsp:nvSpPr>
        <dsp:cNvPr id="0" name=""/>
        <dsp:cNvSpPr/>
      </dsp:nvSpPr>
      <dsp:spPr>
        <a:xfrm>
          <a:off x="0" y="902654"/>
          <a:ext cx="3289328" cy="857802"/>
        </a:xfrm>
        <a:prstGeom prst="roundRect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latin typeface="+mj-lt"/>
              <a:cs typeface="Arial" panose="020B0604020202020204" pitchFamily="34" charset="0"/>
            </a:rPr>
            <a:t>K-Means</a:t>
          </a:r>
          <a:endParaRPr lang="en-IN" sz="2400" b="1" kern="1200" dirty="0">
            <a:latin typeface="+mj-lt"/>
            <a:cs typeface="Arial" panose="020B0604020202020204" pitchFamily="34" charset="0"/>
          </a:endParaRPr>
        </a:p>
      </dsp:txBody>
      <dsp:txXfrm>
        <a:off x="41874" y="944528"/>
        <a:ext cx="3205580" cy="774054"/>
      </dsp:txXfrm>
    </dsp:sp>
    <dsp:sp modelId="{C407C442-ABDB-4873-A710-97604EB421E6}">
      <dsp:nvSpPr>
        <dsp:cNvPr id="0" name=""/>
        <dsp:cNvSpPr/>
      </dsp:nvSpPr>
      <dsp:spPr>
        <a:xfrm rot="5400000">
          <a:off x="5870055" y="-691599"/>
          <a:ext cx="686241" cy="584769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Introduction to </a:t>
          </a:r>
          <a:r>
            <a:rPr lang="en-US" sz="1400" b="1" kern="1200" dirty="0" smtClean="0"/>
            <a:t>Gaussian Mixture Models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Examples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289328" y="1922628"/>
        <a:ext cx="5814195" cy="619241"/>
      </dsp:txXfrm>
    </dsp:sp>
    <dsp:sp modelId="{8E42E0B6-F9A6-400C-AB2D-7833AEE4EC07}">
      <dsp:nvSpPr>
        <dsp:cNvPr id="0" name=""/>
        <dsp:cNvSpPr/>
      </dsp:nvSpPr>
      <dsp:spPr>
        <a:xfrm>
          <a:off x="0" y="1803346"/>
          <a:ext cx="3289328" cy="857802"/>
        </a:xfrm>
        <a:prstGeom prst="roundRect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Gaussian Mixture Models</a:t>
          </a:r>
          <a:endParaRPr lang="en-IN" sz="2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874" y="1845220"/>
        <a:ext cx="3205580" cy="774054"/>
      </dsp:txXfrm>
    </dsp:sp>
    <dsp:sp modelId="{428A7722-D9CA-4DC6-9821-CE5ADF1C6910}">
      <dsp:nvSpPr>
        <dsp:cNvPr id="0" name=""/>
        <dsp:cNvSpPr/>
      </dsp:nvSpPr>
      <dsp:spPr>
        <a:xfrm rot="5400000">
          <a:off x="5870055" y="209092"/>
          <a:ext cx="686241" cy="584769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Concept of Support Vector Machines, Advantages &amp; Disadvantages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Examples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289328" y="2823319"/>
        <a:ext cx="5814195" cy="619241"/>
      </dsp:txXfrm>
    </dsp:sp>
    <dsp:sp modelId="{ECD9573A-89DE-438F-A21C-74065D833030}">
      <dsp:nvSpPr>
        <dsp:cNvPr id="0" name=""/>
        <dsp:cNvSpPr/>
      </dsp:nvSpPr>
      <dsp:spPr>
        <a:xfrm>
          <a:off x="0" y="2704039"/>
          <a:ext cx="3289328" cy="857802"/>
        </a:xfrm>
        <a:prstGeom prst="roundRect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Dimensionality Reduction</a:t>
          </a:r>
          <a:endParaRPr lang="en-IN" sz="2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874" y="2745913"/>
        <a:ext cx="3205580" cy="774054"/>
      </dsp:txXfrm>
    </dsp:sp>
    <dsp:sp modelId="{A7344652-D4A5-4A12-9C79-FD33C1425BC8}">
      <dsp:nvSpPr>
        <dsp:cNvPr id="0" name=""/>
        <dsp:cNvSpPr/>
      </dsp:nvSpPr>
      <dsp:spPr>
        <a:xfrm rot="5400000">
          <a:off x="5870055" y="1109785"/>
          <a:ext cx="686241" cy="584769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Examples of DT, NB, SVM, and </a:t>
          </a:r>
          <a:r>
            <a:rPr lang="en-US" sz="1400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kNN</a:t>
          </a: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 using PySpark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 panose="020B0604020202020204" pitchFamily="34" charset="0"/>
              <a:cs typeface="Arial" panose="020B0604020202020204" pitchFamily="34" charset="0"/>
            </a:rPr>
            <a:t>Exercises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289328" y="3724012"/>
        <a:ext cx="5814195" cy="619241"/>
      </dsp:txXfrm>
    </dsp:sp>
    <dsp:sp modelId="{63D83632-AA81-4829-851C-7458A551B573}">
      <dsp:nvSpPr>
        <dsp:cNvPr id="0" name=""/>
        <dsp:cNvSpPr/>
      </dsp:nvSpPr>
      <dsp:spPr>
        <a:xfrm>
          <a:off x="0" y="3604731"/>
          <a:ext cx="3289328" cy="857802"/>
        </a:xfrm>
        <a:prstGeom prst="roundRect">
          <a:avLst/>
        </a:prstGeom>
        <a:solidFill>
          <a:srgbClr val="00B0F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latin typeface="+mj-lt"/>
              <a:cs typeface="Arial" panose="020B0604020202020204" pitchFamily="34" charset="0"/>
            </a:rPr>
            <a:t>PySpark, ML Library</a:t>
          </a:r>
          <a:endParaRPr lang="en-IN" sz="2400" b="1" kern="1200" dirty="0">
            <a:latin typeface="+mj-lt"/>
            <a:cs typeface="Arial" panose="020B0604020202020204" pitchFamily="34" charset="0"/>
          </a:endParaRPr>
        </a:p>
      </dsp:txBody>
      <dsp:txXfrm>
        <a:off x="41874" y="3646605"/>
        <a:ext cx="3205580" cy="7740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2/4/2025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2/4/2025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344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85F565B-99A1-4DE8-837E-46264A957242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861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651913B-7BDE-4206-A15D-45086BAD634F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4719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1E9891C-5548-4F0E-8E53-27994EC87E15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562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10BB23-2FA1-4976-A0B9-8BC21CD2E22B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4881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377F9A5-9071-4E9C-99F0-627DAD5F2A8A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9336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835EFB-DFCA-43C9-9099-8ECF418A734B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915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485AD73-127B-4D14-B4BA-06A13ADFBBB6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0121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FEB59F3-63EB-436F-BCC0-F42AAD37B8B7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983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05038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47BD-9948-421B-9116-D417122D7311}" type="datetime1">
              <a:rPr lang="en-US" smtClean="0"/>
              <a:t>2/4/2025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900336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C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5860" y="1196752"/>
            <a:ext cx="9751060" cy="5040560"/>
          </a:xfr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 sz="2400">
                <a:latin typeface="Georgia" panose="02040502050405020303" pitchFamily="18" charset="0"/>
              </a:defRPr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2043" y="6381328"/>
            <a:ext cx="8288401" cy="180976"/>
          </a:xfrm>
        </p:spPr>
        <p:txBody>
          <a:bodyPr/>
          <a:lstStyle>
            <a:lvl1pPr>
              <a:defRPr>
                <a:solidFill>
                  <a:srgbClr val="4A206A"/>
                </a:solidFill>
                <a:latin typeface="Bodoni MT" panose="02070603080606020203" pitchFamily="18" charset="0"/>
              </a:defRPr>
            </a:lvl1pPr>
          </a:lstStyle>
          <a:p>
            <a:r>
              <a:rPr lang="en-US" dirty="0" smtClean="0"/>
              <a:t>Dr. S. Nandagopalan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21073" y="6381328"/>
            <a:ext cx="1422030" cy="180976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fld id="{D4DB32AB-9286-4034-B781-7386C239E4E0}" type="datetime1">
              <a:rPr lang="en-US" smtClean="0"/>
              <a:t>2/4/2025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44676" y="6381328"/>
            <a:ext cx="812588" cy="180976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34C99D79-8A4B-4031-B1E0-AF26F8EDF2B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reeform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C5CD4-0E99-47CF-8C77-D9AE71BED8C6}" type="datetime1">
              <a:rPr lang="en-US" smtClean="0"/>
              <a:t>2/4/2025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16CE-667A-4AA9-95E1-00F8941C550E}" type="datetime1">
              <a:rPr lang="en-US" smtClean="0"/>
              <a:t>2/4/2025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1B1DB-2C6A-40BF-93BD-9F2562149E85}" type="datetime1">
              <a:rPr lang="en-US" smtClean="0"/>
              <a:t>2/4/2025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3FA5-6712-4E0B-BC48-C911B0D65225}" type="datetime1">
              <a:rPr lang="en-US" smtClean="0"/>
              <a:t>2/4/2025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reeform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3D67C-FCF4-407A-864F-714EE09FCE11}" type="datetime1">
              <a:rPr lang="en-US" smtClean="0"/>
              <a:t>2/4/2025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22669-C4C0-411C-8C98-435E7354270E}" type="datetime1">
              <a:rPr lang="en-US" smtClean="0"/>
              <a:t>2/4/2025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6644C-6B4B-4175-B188-D89A07CDDB14}" type="datetime1">
              <a:rPr lang="en-US" smtClean="0"/>
              <a:t>2/4/2025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43085-5433-414E-96AE-344C80005A18}" type="datetime1">
              <a:rPr lang="en-US" smtClean="0"/>
              <a:t>2/4/2025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58D7-F0E7-46DF-9788-A2D7483F7913}" type="datetime1">
              <a:rPr lang="en-US" smtClean="0"/>
              <a:t>2/4/2025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381000"/>
            <a:ext cx="10388011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7868" y="1371600"/>
            <a:ext cx="5484971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371600"/>
            <a:ext cx="5484971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6294" y="6477000"/>
            <a:ext cx="2539339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53263-1E50-4C13-8903-CB24922D893C}" type="datetime4">
              <a:rPr lang="en-US"/>
              <a:pPr>
                <a:defRPr/>
              </a:pPr>
              <a:t>February 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69236" y="6477000"/>
            <a:ext cx="3859795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S. Nandagopalan, BIT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49486" y="6477000"/>
            <a:ext cx="2539339" cy="381000"/>
          </a:xfrm>
        </p:spPr>
        <p:txBody>
          <a:bodyPr/>
          <a:lstStyle>
            <a:lvl1pPr>
              <a:defRPr/>
            </a:lvl1pPr>
          </a:lstStyle>
          <a:p>
            <a:fld id="{F140A061-1A7E-4F7E-A6AF-698544F6DC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4582537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reeform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grpSp>
        <p:nvGrpSpPr>
          <p:cNvPr id="7" name="square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2680049-6EC0-435C-96A9-594A7F91ABE3}" type="datetime1">
              <a:rPr lang="en-US" smtClean="0"/>
              <a:t>2/4/2025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4C99D79-8A4B-4031-B1E0-AF26F8EDF2B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0C7600-5BA8-4A54-887F-74AF8775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916" y="980728"/>
            <a:ext cx="9937104" cy="4032448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00B050"/>
                </a:solidFill>
                <a:latin typeface="Book Antiqua" panose="02040602050305030304" pitchFamily="18" charset="0"/>
              </a:rPr>
              <a:t>Module  5:</a:t>
            </a:r>
            <a:r>
              <a:rPr lang="en-US" b="1" dirty="0" smtClean="0">
                <a:solidFill>
                  <a:srgbClr val="FFFF00"/>
                </a:solidFill>
                <a:latin typeface="Book Antiqua" panose="02040602050305030304" pitchFamily="18" charset="0"/>
              </a:rPr>
              <a:t/>
            </a:r>
            <a:br>
              <a:rPr lang="en-US" b="1" dirty="0" smtClean="0">
                <a:solidFill>
                  <a:srgbClr val="FFFF00"/>
                </a:solidFill>
                <a:latin typeface="Book Antiqua" panose="02040602050305030304" pitchFamily="18" charset="0"/>
              </a:rPr>
            </a:br>
            <a:r>
              <a:rPr lang="en-US" sz="4400" b="1" dirty="0">
                <a:latin typeface="Arial Black" panose="020B0A04020102020204" pitchFamily="34" charset="0"/>
              </a:rPr>
              <a:t>Large-Scale Machine Learning </a:t>
            </a:r>
            <a:r>
              <a:rPr lang="en-US" sz="4400" b="1" dirty="0" smtClean="0">
                <a:latin typeface="Arial Black" panose="020B0A04020102020204" pitchFamily="34" charset="0"/>
              </a:rPr>
              <a:t>(</a:t>
            </a:r>
            <a:r>
              <a:rPr lang="en-US" sz="4400" b="1" dirty="0" err="1" smtClean="0">
                <a:latin typeface="Arial Black" panose="020B0A04020102020204" pitchFamily="34" charset="0"/>
              </a:rPr>
              <a:t>UnSupervised</a:t>
            </a:r>
            <a:r>
              <a:rPr lang="en-US" sz="4400" b="1" dirty="0" smtClean="0">
                <a:latin typeface="Arial Black" panose="020B0A04020102020204" pitchFamily="34" charset="0"/>
              </a:rPr>
              <a:t>)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4262"/>
              </p:ext>
            </p:extLst>
          </p:nvPr>
        </p:nvGraphicFramePr>
        <p:xfrm>
          <a:off x="1192043" y="1484784"/>
          <a:ext cx="9137024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What is Cluster Analysis?</a:t>
            </a:r>
            <a:endParaRPr lang="en-IN" b="1" dirty="0"/>
          </a:p>
          <a:p>
            <a:pPr>
              <a:lnSpc>
                <a:spcPct val="110000"/>
              </a:lnSpc>
            </a:pPr>
            <a:r>
              <a:rPr lang="en-US" altLang="en-US" dirty="0"/>
              <a:t>Cluster: a collection of data objects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Similar to one another within the same cluster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Dissimilar to the objects in other clusters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Cluster analysis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Finding similarities between data according to the characteristics found in the data and grouping similar data objects into clusters</a:t>
            </a:r>
          </a:p>
          <a:p>
            <a:pPr>
              <a:lnSpc>
                <a:spcPct val="110000"/>
              </a:lnSpc>
            </a:pPr>
            <a:r>
              <a:rPr lang="en-US" altLang="en-US" dirty="0">
                <a:solidFill>
                  <a:srgbClr val="C00000"/>
                </a:solidFill>
              </a:rPr>
              <a:t>Unsupervised learning</a:t>
            </a:r>
            <a:r>
              <a:rPr lang="en-US" altLang="en-US" dirty="0"/>
              <a:t>: no predefined classes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Typical applications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As a </a:t>
            </a:r>
            <a:r>
              <a:rPr lang="en-US" altLang="en-US" dirty="0">
                <a:solidFill>
                  <a:srgbClr val="C00000"/>
                </a:solidFill>
              </a:rPr>
              <a:t>stand-alone tool </a:t>
            </a:r>
            <a:r>
              <a:rPr lang="en-US" altLang="en-US" dirty="0"/>
              <a:t>to get insight into data distribution 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As a </a:t>
            </a:r>
            <a:r>
              <a:rPr lang="en-US" altLang="en-US" dirty="0">
                <a:solidFill>
                  <a:srgbClr val="C00000"/>
                </a:solidFill>
              </a:rPr>
              <a:t>preprocessing step</a:t>
            </a:r>
            <a:r>
              <a:rPr lang="en-US" altLang="en-US" dirty="0"/>
              <a:t> for other algorithms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38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Image Segmentation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810444" y="1451248"/>
            <a:ext cx="8229600" cy="4525963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755772" indent="-304747" algn="l" defTabSz="1218987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6797" indent="-304747" algn="l" defTabSz="1218987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822" indent="-304747" algn="l" defTabSz="1218987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8847" indent="-304747" algn="l" defTabSz="1218987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5987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1089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61922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2947" indent="-30474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en-US" smtClean="0"/>
              <a:t>         Original			      </a:t>
            </a:r>
            <a:r>
              <a:rPr lang="en-US" altLang="en-US" i="1" smtClean="0"/>
              <a:t>k</a:t>
            </a:r>
            <a:r>
              <a:rPr lang="en-US" altLang="en-US" smtClean="0"/>
              <a:t> = 2</a:t>
            </a:r>
          </a:p>
          <a:p>
            <a:pPr>
              <a:buFont typeface="Arial" pitchFamily="34" charset="0"/>
              <a:buNone/>
            </a:pPr>
            <a:endParaRPr lang="en-US" altLang="en-US" smtClean="0"/>
          </a:p>
          <a:p>
            <a:pPr>
              <a:buFont typeface="Arial" pitchFamily="34" charset="0"/>
              <a:buNone/>
            </a:pPr>
            <a:endParaRPr lang="en-US" altLang="en-US" smtClean="0"/>
          </a:p>
          <a:p>
            <a:pPr>
              <a:buFont typeface="Arial" pitchFamily="34" charset="0"/>
              <a:buNone/>
            </a:pPr>
            <a:endParaRPr lang="en-US" altLang="en-US" smtClean="0"/>
          </a:p>
          <a:p>
            <a:pPr>
              <a:buFont typeface="Arial" pitchFamily="34" charset="0"/>
              <a:buNone/>
            </a:pPr>
            <a:r>
              <a:rPr lang="en-US" altLang="en-US" smtClean="0"/>
              <a:t>						   </a:t>
            </a:r>
            <a:r>
              <a:rPr lang="en-US" altLang="en-US" i="1" smtClean="0"/>
              <a:t>k</a:t>
            </a:r>
            <a:r>
              <a:rPr lang="en-US" altLang="en-US" smtClean="0"/>
              <a:t> = 2            </a:t>
            </a:r>
            <a:r>
              <a:rPr lang="en-US" altLang="en-US" i="1" smtClean="0"/>
              <a:t>k</a:t>
            </a:r>
            <a:r>
              <a:rPr lang="en-US" altLang="en-US" smtClean="0"/>
              <a:t> = 3</a:t>
            </a:r>
          </a:p>
        </p:txBody>
      </p:sp>
      <p:pic>
        <p:nvPicPr>
          <p:cNvPr id="9" name="Picture 2" descr="C:\Documents and Settings\S N G\My Documents\My Pictures\segment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444" y="2060848"/>
            <a:ext cx="24384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 descr="C:\Documents and Settings\S N G\My Documents\My Pictures\2008-ff75bd2f15c768a4dd187e8fdb64b3d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844" y="1984648"/>
            <a:ext cx="26670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G:\Ph D Comprehensive\C# Programs\CBIR Demo RGB Color model\Test Images\Dyn3-128x12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144" y="4194448"/>
            <a:ext cx="1905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ight Arrow 11"/>
          <p:cNvSpPr/>
          <p:nvPr/>
        </p:nvSpPr>
        <p:spPr>
          <a:xfrm>
            <a:off x="5315644" y="2684735"/>
            <a:ext cx="762000" cy="38100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5372794" y="4918348"/>
            <a:ext cx="762000" cy="38100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444" y="4224611"/>
            <a:ext cx="2438400" cy="196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311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05860" y="296416"/>
            <a:ext cx="9751060" cy="9003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Clustering: Rich Applications and Multidisciplinary Efforts 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Pattern Recognition</a:t>
            </a:r>
          </a:p>
          <a:p>
            <a:r>
              <a:rPr lang="en-US" altLang="en-US" smtClean="0"/>
              <a:t>Spatial Data Analysis </a:t>
            </a:r>
          </a:p>
          <a:p>
            <a:pPr lvl="1"/>
            <a:r>
              <a:rPr lang="en-US" altLang="en-US" smtClean="0"/>
              <a:t>Create thematic maps in GIS by clustering feature spaces</a:t>
            </a:r>
          </a:p>
          <a:p>
            <a:pPr lvl="1"/>
            <a:r>
              <a:rPr lang="en-US" altLang="en-US" smtClean="0"/>
              <a:t>Detect spatial clusters or for other spatial mining tasks</a:t>
            </a:r>
          </a:p>
          <a:p>
            <a:r>
              <a:rPr lang="en-US" altLang="en-US" smtClean="0"/>
              <a:t>Digital Image Processing</a:t>
            </a:r>
          </a:p>
          <a:p>
            <a:r>
              <a:rPr lang="en-US" altLang="en-US" smtClean="0"/>
              <a:t>Economic Science (especially market research)</a:t>
            </a:r>
          </a:p>
          <a:p>
            <a:r>
              <a:rPr lang="en-US" altLang="en-US" smtClean="0"/>
              <a:t>WWW</a:t>
            </a:r>
          </a:p>
          <a:p>
            <a:pPr lvl="1"/>
            <a:r>
              <a:rPr lang="en-US" altLang="en-US" smtClean="0"/>
              <a:t>Document classification</a:t>
            </a:r>
          </a:p>
          <a:p>
            <a:pPr lvl="1"/>
            <a:r>
              <a:rPr lang="en-US" altLang="en-US" smtClean="0"/>
              <a:t>Cluster Weblog data to discover groups of similar access patterns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C382E278-6781-4F6C-A7DE-F52E540615C8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92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10D9A80-ABAA-4897-BC88-959B3DFBA83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993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Examples of Clustering Applications</a:t>
            </a:r>
            <a:endParaRPr lang="en-US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Marketing: Help marketers discover distinct groups in their customer bases, and then use this knowledge to develop targeted marketing programs</a:t>
            </a:r>
          </a:p>
          <a:p>
            <a:r>
              <a:rPr lang="en-US" altLang="en-US" smtClean="0"/>
              <a:t>Land use: Identification of areas of similar land use in an earth observation database</a:t>
            </a:r>
          </a:p>
          <a:p>
            <a:r>
              <a:rPr lang="en-US" altLang="en-US" smtClean="0"/>
              <a:t>Insurance: Identifying groups of motor insurance policy holders with a high average claim cost</a:t>
            </a:r>
          </a:p>
          <a:p>
            <a:r>
              <a:rPr lang="en-US" altLang="en-US" smtClean="0"/>
              <a:t>City-planning: Identifying groups of houses according to their house type, value, and geographical location</a:t>
            </a:r>
          </a:p>
          <a:p>
            <a:r>
              <a:rPr lang="en-US" altLang="en-US" smtClean="0"/>
              <a:t>Earth-quake studies: Observed earth quake epicenters should be clustered along continent faults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24BE3346-9BC5-4F1A-B1CA-542CEC0807C9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102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71BCC87-F3EF-45FC-9965-1704FA155A10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95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Quality: What Is Good Clustering?</a:t>
            </a:r>
            <a:endParaRPr 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good clustering method will produce high quality clusters with</a:t>
            </a:r>
          </a:p>
          <a:p>
            <a:pPr lvl="1"/>
            <a:r>
              <a:rPr lang="en-US" altLang="en-US" smtClean="0"/>
              <a:t>high intra-class similarity</a:t>
            </a:r>
          </a:p>
          <a:p>
            <a:pPr lvl="1"/>
            <a:r>
              <a:rPr lang="en-US" altLang="en-US" smtClean="0"/>
              <a:t>low inter-class similarity </a:t>
            </a:r>
          </a:p>
          <a:p>
            <a:r>
              <a:rPr lang="en-US" altLang="en-US" smtClean="0"/>
              <a:t>The quality of a clustering result depends on both the similarity measure used by the method and its implementation</a:t>
            </a:r>
          </a:p>
          <a:p>
            <a:r>
              <a:rPr lang="en-US" altLang="en-US" smtClean="0"/>
              <a:t>The quality of a clustering method is also measured by its ability to discover some or all of the hidden patterns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84CF641B-E9E1-4D2A-8E5F-FD101886F6A1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112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829C59B-9C85-4EF6-8980-E476FBCD7BBB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19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Measure the Quality of Clustering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Dissimilarity/Similarity metric: Similarity is expressed in terms of a distance function, typically metric: d(i, j)</a:t>
            </a:r>
          </a:p>
          <a:p>
            <a:r>
              <a:rPr lang="en-US" altLang="en-US" smtClean="0"/>
              <a:t>There is a separate “quality” function that measures the “goodness” of a cluster.</a:t>
            </a:r>
          </a:p>
          <a:p>
            <a:r>
              <a:rPr lang="en-US" altLang="en-US" smtClean="0"/>
              <a:t>The definitions of distance functions are usually very different for interval-scaled, boolean, categorical, ordinal ratio, and vector variables.</a:t>
            </a:r>
          </a:p>
          <a:p>
            <a:r>
              <a:rPr lang="en-US" altLang="en-US" smtClean="0"/>
              <a:t>Weights should be associated with different variables based on applications and data semantics.</a:t>
            </a:r>
            <a:endParaRPr lang="en-US" altLang="en-US" smtClean="0">
              <a:sym typeface="Symbol" panose="05050102010706020507" pitchFamily="18" charset="2"/>
            </a:endParaRPr>
          </a:p>
          <a:p>
            <a:r>
              <a:rPr lang="en-US" altLang="en-US" smtClean="0">
                <a:sym typeface="Symbol" panose="05050102010706020507" pitchFamily="18" charset="2"/>
              </a:rPr>
              <a:t>It is hard to define “similar enough” or “good enough” </a:t>
            </a:r>
          </a:p>
          <a:p>
            <a:pPr lvl="1"/>
            <a:r>
              <a:rPr lang="en-US" altLang="en-US" smtClean="0">
                <a:sym typeface="Symbol" panose="05050102010706020507" pitchFamily="18" charset="2"/>
              </a:rPr>
              <a:t> the answer is typically highly subjective.</a:t>
            </a: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3950D7B6-6516-4407-872A-6B13E03A348C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122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3D5510A-9084-44DD-9082-18DA4B4C234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634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Requirements of Clustering </a:t>
            </a:r>
            <a:endParaRPr lang="en-US" dirty="0"/>
          </a:p>
        </p:txBody>
      </p:sp>
      <p:sp>
        <p:nvSpPr>
          <p:cNvPr id="1432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Scalability</a:t>
            </a:r>
          </a:p>
          <a:p>
            <a:r>
              <a:rPr lang="en-US" smtClean="0"/>
              <a:t>Ability to deal with different types of attributes</a:t>
            </a:r>
          </a:p>
          <a:p>
            <a:r>
              <a:rPr lang="en-US" smtClean="0"/>
              <a:t>Ability to handle dynamic data </a:t>
            </a:r>
          </a:p>
          <a:p>
            <a:r>
              <a:rPr lang="en-US" smtClean="0"/>
              <a:t>Discovery of clusters with arbitrary shape</a:t>
            </a:r>
          </a:p>
          <a:p>
            <a:r>
              <a:rPr lang="en-US" smtClean="0"/>
              <a:t>Minimal requirements for domain knowledge to determine input parameters</a:t>
            </a:r>
          </a:p>
          <a:p>
            <a:r>
              <a:rPr lang="en-US" smtClean="0"/>
              <a:t>Able to deal with noise and outliers</a:t>
            </a:r>
          </a:p>
          <a:p>
            <a:r>
              <a:rPr lang="en-US" smtClean="0"/>
              <a:t>Insensitive to order of input records</a:t>
            </a:r>
          </a:p>
          <a:p>
            <a:r>
              <a:rPr lang="en-US" smtClean="0"/>
              <a:t>High dimensionality</a:t>
            </a:r>
          </a:p>
          <a:p>
            <a:r>
              <a:rPr lang="en-US" smtClean="0"/>
              <a:t>Incorporation of user-specified constraints</a:t>
            </a:r>
          </a:p>
          <a:p>
            <a:r>
              <a:rPr lang="en-US" smtClean="0"/>
              <a:t>Interpretability and usability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2FB68187-ECD6-4BA4-AA04-3FEF10FB74B1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133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73948EC-049A-4BC7-B8AD-B1BEC16CF1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66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Clustering Approaches</a:t>
            </a:r>
          </a:p>
        </p:txBody>
      </p:sp>
      <p:sp>
        <p:nvSpPr>
          <p:cNvPr id="1456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Partitioning approach</a:t>
            </a:r>
          </a:p>
          <a:p>
            <a:pPr lvl="1"/>
            <a:r>
              <a:rPr lang="en-US" smtClean="0"/>
              <a:t>Construct various partitions and then evaluate them by some criterion, e.g., minimizing the sum of square errors</a:t>
            </a:r>
          </a:p>
          <a:p>
            <a:pPr lvl="1"/>
            <a:r>
              <a:rPr lang="en-US" smtClean="0"/>
              <a:t>Typical methods: k-means, k-medoids, CLARANS</a:t>
            </a:r>
          </a:p>
          <a:p>
            <a:r>
              <a:rPr lang="en-US" smtClean="0"/>
              <a:t>Hierarchical approach</a:t>
            </a:r>
          </a:p>
          <a:p>
            <a:pPr lvl="1"/>
            <a:r>
              <a:rPr lang="en-US" smtClean="0"/>
              <a:t>Create a hierarchical decomposition of the set of data (or objects) using some criterion. Uses bottom-up approach. i.e. each object is a group and merge similar groups.</a:t>
            </a:r>
          </a:p>
          <a:p>
            <a:pPr lvl="1"/>
            <a:r>
              <a:rPr lang="en-US" smtClean="0"/>
              <a:t>Typical methods: Diana, Agnes, BIRCH, ROCK, CAMELEON</a:t>
            </a:r>
          </a:p>
          <a:p>
            <a:r>
              <a:rPr lang="en-US" smtClean="0"/>
              <a:t>Density-based approach</a:t>
            </a:r>
          </a:p>
          <a:p>
            <a:pPr lvl="1"/>
            <a:r>
              <a:rPr lang="en-US" smtClean="0"/>
              <a:t>Based on connectivity and density functions</a:t>
            </a:r>
          </a:p>
          <a:p>
            <a:pPr lvl="1"/>
            <a:r>
              <a:rPr lang="en-US" smtClean="0"/>
              <a:t>Cluster based on distance between objects</a:t>
            </a:r>
          </a:p>
          <a:p>
            <a:pPr lvl="1"/>
            <a:r>
              <a:rPr lang="en-US" smtClean="0"/>
              <a:t>Typical methods: DBSACN, OPTICS, DenClue</a:t>
            </a:r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79853FF5-6325-4A13-BED5-E4F2038B4275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163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C985A7F-A545-4EA0-BD75-68071988674B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09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Major Clustering Approaches…</a:t>
            </a:r>
            <a:endParaRPr lang="en-US" dirty="0"/>
          </a:p>
        </p:txBody>
      </p:sp>
      <p:sp>
        <p:nvSpPr>
          <p:cNvPr id="1683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Grid-based approach</a:t>
            </a:r>
          </a:p>
          <a:p>
            <a:pPr lvl="1"/>
            <a:r>
              <a:rPr lang="en-US" smtClean="0"/>
              <a:t>Quantize the object space into finite number of cells - grid</a:t>
            </a:r>
          </a:p>
          <a:p>
            <a:pPr lvl="1"/>
            <a:r>
              <a:rPr lang="en-US" smtClean="0"/>
              <a:t>Typical methods: STING, WaveCluster, CLIQUE</a:t>
            </a:r>
          </a:p>
          <a:p>
            <a:r>
              <a:rPr lang="en-US" smtClean="0"/>
              <a:t>Model-based</a:t>
            </a:r>
          </a:p>
          <a:p>
            <a:pPr lvl="1"/>
            <a:r>
              <a:rPr lang="en-US" smtClean="0"/>
              <a:t>A model is hypothesized for each of the clusters and tries to find the best fit of that model to each other</a:t>
            </a:r>
          </a:p>
          <a:p>
            <a:pPr lvl="1"/>
            <a:r>
              <a:rPr lang="en-US" smtClean="0"/>
              <a:t>Typical methods: EM, SOM, COBWEB</a:t>
            </a:r>
          </a:p>
          <a:p>
            <a:r>
              <a:rPr lang="en-US" smtClean="0"/>
              <a:t>Frequent pattern-based</a:t>
            </a:r>
          </a:p>
          <a:p>
            <a:pPr lvl="1"/>
            <a:r>
              <a:rPr lang="en-US" smtClean="0"/>
              <a:t>High dimensional clustering – documents may contain thousands of features</a:t>
            </a:r>
          </a:p>
          <a:p>
            <a:pPr lvl="1"/>
            <a:r>
              <a:rPr lang="en-US" smtClean="0"/>
              <a:t>Based on the analysis of frequent patterns</a:t>
            </a:r>
          </a:p>
          <a:p>
            <a:pPr lvl="1"/>
            <a:r>
              <a:rPr lang="en-US" smtClean="0"/>
              <a:t>Typical methods: pCluster</a:t>
            </a:r>
          </a:p>
          <a:p>
            <a:r>
              <a:rPr lang="en-US" smtClean="0"/>
              <a:t>User-guided or constraint-based</a:t>
            </a:r>
          </a:p>
          <a:p>
            <a:pPr lvl="1"/>
            <a:r>
              <a:rPr lang="en-US" smtClean="0"/>
              <a:t>Clustering by considering user-specified or application-specific constraints</a:t>
            </a:r>
          </a:p>
          <a:p>
            <a:pPr lvl="1"/>
            <a:r>
              <a:rPr lang="en-US" smtClean="0"/>
              <a:t>Typical methods: COD (obstacles), constrained clustering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CB05B01B-B79B-44D8-A07E-56D223EC0057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174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D59C2D8-7CD0-4CD5-AA01-D22BFD7E65F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181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Structures</a:t>
            </a:r>
            <a:endParaRPr lang="en-US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 smtClean="0"/>
              <a:t>Data for clustering may contain n objects, which represent persons, houses, documents, countries, and so on..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Data matrix</a:t>
            </a:r>
          </a:p>
          <a:p>
            <a:pPr lvl="1"/>
            <a:r>
              <a:rPr lang="en-US" altLang="en-US" dirty="0" smtClean="0"/>
              <a:t>(two modes, n x p)</a:t>
            </a:r>
          </a:p>
          <a:p>
            <a:pPr lvl="1"/>
            <a:r>
              <a:rPr lang="en-US" altLang="en-US" dirty="0" smtClean="0"/>
              <a:t>i.e. n objects and p variables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r>
              <a:rPr lang="en-US" altLang="en-US" dirty="0" smtClean="0"/>
              <a:t>Dissimilarity matrix</a:t>
            </a:r>
          </a:p>
          <a:p>
            <a:pPr lvl="1"/>
            <a:r>
              <a:rPr lang="en-US" altLang="en-US" dirty="0" smtClean="0"/>
              <a:t>(one mode)</a:t>
            </a:r>
          </a:p>
          <a:p>
            <a:pPr lvl="1"/>
            <a:r>
              <a:rPr lang="en-US" altLang="en-US" dirty="0" smtClean="0"/>
              <a:t>object by object, n x n</a:t>
            </a:r>
          </a:p>
          <a:p>
            <a:pPr lvl="1"/>
            <a:r>
              <a:rPr lang="en-US" altLang="en-US" dirty="0" smtClean="0"/>
              <a:t>D(</a:t>
            </a:r>
            <a:r>
              <a:rPr lang="en-US" altLang="en-US" dirty="0" err="1" smtClean="0"/>
              <a:t>i</a:t>
            </a:r>
            <a:r>
              <a:rPr lang="en-US" altLang="en-US" dirty="0" smtClean="0"/>
              <a:t>, j) – measured dissimilarity</a:t>
            </a:r>
            <a:endParaRPr lang="en-US" alt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70901F1C-8B91-4F4E-8539-C78C04B1DA84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184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D94BAD2-A995-4822-8BFF-0362BD613F65}" type="slidenum">
              <a:rPr lang="en-US" altLang="en-US" smtClean="0"/>
              <a:pPr/>
              <a:t>12</a:t>
            </a:fld>
            <a:endParaRPr lang="en-US" altLang="en-US"/>
          </a:p>
        </p:txBody>
      </p:sp>
      <p:graphicFrame>
        <p:nvGraphicFramePr>
          <p:cNvPr id="18439" name="Object 4"/>
          <p:cNvGraphicFramePr>
            <a:graphicFrameLocks noChangeAspect="1"/>
          </p:cNvGraphicFramePr>
          <p:nvPr/>
        </p:nvGraphicFramePr>
        <p:xfrm>
          <a:off x="6399212" y="1981201"/>
          <a:ext cx="2667000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Equation" r:id="rId3" imgW="1778000" imgH="1244600" progId="Equation.3">
                  <p:embed/>
                </p:oleObj>
              </mc:Choice>
              <mc:Fallback>
                <p:oleObj name="Equation" r:id="rId3" imgW="1778000" imgH="1244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9212" y="1981201"/>
                        <a:ext cx="2667000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5"/>
          <p:cNvGraphicFramePr>
            <a:graphicFrameLocks noChangeAspect="1"/>
          </p:cNvGraphicFramePr>
          <p:nvPr/>
        </p:nvGraphicFramePr>
        <p:xfrm>
          <a:off x="6399212" y="4191000"/>
          <a:ext cx="281940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Equation" r:id="rId5" imgW="1828800" imgH="1143000" progId="Equation.3">
                  <p:embed/>
                </p:oleObj>
              </mc:Choice>
              <mc:Fallback>
                <p:oleObj name="Equation" r:id="rId5" imgW="18288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9212" y="4191000"/>
                        <a:ext cx="2819400" cy="161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545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Dissimilarity Matrix</a:t>
            </a:r>
            <a:endParaRPr 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 smtClean="0"/>
              <a:t>Binary variables: We often face variables that only binary value such as Yes and No, or Agree and Disagree, True and False, Success and Failure, 0 and 1, Absence or Present, Positive and Negative, etc. </a:t>
            </a:r>
          </a:p>
          <a:p>
            <a:r>
              <a:rPr lang="en-US" altLang="en-US" dirty="0" smtClean="0"/>
              <a:t>For such binary variables, there are only two possible values, which can be represented as positive and negative. </a:t>
            </a:r>
          </a:p>
          <a:p>
            <a:r>
              <a:rPr lang="en-US" altLang="en-US" dirty="0" smtClean="0"/>
              <a:t>Similarity of dissimilarity (distance) of two objects that represented by binary variables can be measured in term of number of occurrence (frequency) of positive and negative in each object. </a:t>
            </a:r>
          </a:p>
          <a:p>
            <a:pPr marL="0" indent="0">
              <a:buNone/>
            </a:pPr>
            <a:r>
              <a:rPr lang="en-US" altLang="en-US" dirty="0" smtClean="0"/>
              <a:t>	</a:t>
            </a:r>
            <a:r>
              <a:rPr lang="en-US" altLang="en-US" u="sng" dirty="0" smtClean="0"/>
              <a:t>Fruit  		Sweet	Sour 	Crunchy</a:t>
            </a:r>
          </a:p>
          <a:p>
            <a:pPr marL="0" indent="0">
              <a:buNone/>
            </a:pPr>
            <a:r>
              <a:rPr lang="en-US" altLang="en-US" dirty="0" smtClean="0"/>
              <a:t>	Object </a:t>
            </a:r>
            <a:r>
              <a:rPr lang="en-US" altLang="en-US" dirty="0" err="1" smtClean="0"/>
              <a:t>i</a:t>
            </a:r>
            <a:r>
              <a:rPr lang="en-US" altLang="en-US" dirty="0" smtClean="0"/>
              <a:t> =Apple 	Yes	Yes 	Yes  </a:t>
            </a:r>
          </a:p>
          <a:p>
            <a:pPr marL="0" indent="0">
              <a:buNone/>
            </a:pPr>
            <a:r>
              <a:rPr lang="en-US" altLang="en-US" dirty="0" smtClean="0"/>
              <a:t>	Object j =Banana 	Yes	No	No </a:t>
            </a:r>
          </a:p>
          <a:p>
            <a:r>
              <a:rPr lang="en-US" altLang="en-US" dirty="0" smtClean="0"/>
              <a:t>3D Vector for Apple(1,1,1) and for Banana(1,0,0)</a:t>
            </a:r>
          </a:p>
          <a:p>
            <a:endParaRPr lang="en-US" altLang="en-US" dirty="0" smtClean="0"/>
          </a:p>
          <a:p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D4B54858-7A32-430E-AC8E-49E32457DA3E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194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23516FB-6324-4344-9889-DDA921026872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132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  <a:endParaRPr 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205860" y="1196752"/>
            <a:ext cx="10145136" cy="504056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en-US" sz="2000" dirty="0" smtClean="0"/>
              <a:t>p = number of variables that positive for both objects </a:t>
            </a:r>
          </a:p>
          <a:p>
            <a:pPr>
              <a:spcBef>
                <a:spcPts val="0"/>
              </a:spcBef>
            </a:pPr>
            <a:r>
              <a:rPr lang="en-US" altLang="en-US" sz="2000" dirty="0" smtClean="0"/>
              <a:t>q = number of variables that positive for the </a:t>
            </a:r>
            <a:r>
              <a:rPr lang="en-US" altLang="en-US" sz="2000" dirty="0" err="1" smtClean="0"/>
              <a:t>ith</a:t>
            </a:r>
            <a:r>
              <a:rPr lang="en-US" altLang="en-US" sz="2000" dirty="0" smtClean="0"/>
              <a:t> objects and negative for the </a:t>
            </a:r>
            <a:r>
              <a:rPr lang="en-US" altLang="en-US" sz="2000" dirty="0" err="1" smtClean="0"/>
              <a:t>jth</a:t>
            </a:r>
            <a:r>
              <a:rPr lang="en-US" altLang="en-US" sz="2000" dirty="0" smtClean="0"/>
              <a:t> object </a:t>
            </a:r>
          </a:p>
          <a:p>
            <a:pPr>
              <a:spcBef>
                <a:spcPts val="0"/>
              </a:spcBef>
            </a:pPr>
            <a:r>
              <a:rPr lang="en-US" altLang="en-US" sz="2000" dirty="0" smtClean="0"/>
              <a:t>r = number of variables that negative for the </a:t>
            </a:r>
            <a:r>
              <a:rPr lang="en-US" altLang="en-US" sz="2000" dirty="0" err="1" smtClean="0"/>
              <a:t>ith</a:t>
            </a:r>
            <a:r>
              <a:rPr lang="en-US" altLang="en-US" sz="2000" dirty="0" smtClean="0"/>
              <a:t> objects and positive for the </a:t>
            </a:r>
            <a:r>
              <a:rPr lang="en-US" altLang="en-US" sz="2000" dirty="0" err="1" smtClean="0"/>
              <a:t>jth</a:t>
            </a:r>
            <a:r>
              <a:rPr lang="en-US" altLang="en-US" sz="2000" dirty="0" smtClean="0"/>
              <a:t> object </a:t>
            </a:r>
          </a:p>
          <a:p>
            <a:pPr>
              <a:spcBef>
                <a:spcPts val="0"/>
              </a:spcBef>
            </a:pPr>
            <a:r>
              <a:rPr lang="en-US" altLang="en-US" sz="2000" dirty="0" smtClean="0"/>
              <a:t>s = number of variables that negative for both objects </a:t>
            </a:r>
          </a:p>
          <a:p>
            <a:pPr>
              <a:spcBef>
                <a:spcPts val="0"/>
              </a:spcBef>
            </a:pPr>
            <a:r>
              <a:rPr lang="en-US" altLang="en-US" sz="2000" dirty="0" smtClean="0"/>
              <a:t>t = total number of variables </a:t>
            </a:r>
          </a:p>
          <a:p>
            <a:pPr>
              <a:spcBef>
                <a:spcPts val="0"/>
              </a:spcBef>
            </a:pPr>
            <a:r>
              <a:rPr lang="en-US" altLang="en-US" sz="2000" dirty="0" err="1" smtClean="0"/>
              <a:t>Jaccard’s</a:t>
            </a:r>
            <a:r>
              <a:rPr lang="en-US" altLang="en-US" sz="2000" dirty="0" smtClean="0"/>
              <a:t> distance = (q + r)/(</a:t>
            </a:r>
            <a:r>
              <a:rPr lang="en-US" altLang="en-US" sz="2000" dirty="0" err="1" smtClean="0"/>
              <a:t>p+q+r</a:t>
            </a:r>
            <a:r>
              <a:rPr lang="en-US" altLang="en-US" sz="2000" dirty="0" smtClean="0"/>
              <a:t>)</a:t>
            </a:r>
          </a:p>
          <a:p>
            <a:pPr>
              <a:spcBef>
                <a:spcPts val="0"/>
              </a:spcBef>
            </a:pPr>
            <a:r>
              <a:rPr lang="en-US" altLang="en-US" sz="2000" dirty="0" smtClean="0"/>
              <a:t>d(Jack, Mary) = (0+1) / (2+0+1) = 0.33</a:t>
            </a:r>
          </a:p>
          <a:p>
            <a:pPr>
              <a:spcBef>
                <a:spcPts val="0"/>
              </a:spcBef>
            </a:pPr>
            <a:r>
              <a:rPr lang="en-US" altLang="en-US" sz="2000" dirty="0" smtClean="0"/>
              <a:t>d(Jack, Jim) = (1+1) / (1+1+1) = 0.67</a:t>
            </a:r>
          </a:p>
          <a:p>
            <a:pPr>
              <a:spcBef>
                <a:spcPts val="0"/>
              </a:spcBef>
            </a:pPr>
            <a:r>
              <a:rPr lang="en-US" altLang="en-US" sz="2000" dirty="0" smtClean="0"/>
              <a:t>d(Mary, Jim) = (1+2) / (1+1+2) = 0.75</a:t>
            </a:r>
          </a:p>
          <a:p>
            <a:pPr>
              <a:spcBef>
                <a:spcPts val="0"/>
              </a:spcBef>
            </a:pPr>
            <a:r>
              <a:rPr lang="en-US" altLang="en-US" sz="2000" dirty="0" smtClean="0"/>
              <a:t>Mary and Jim are unlikely to have same disease – 0.75</a:t>
            </a:r>
          </a:p>
          <a:p>
            <a:pPr>
              <a:spcBef>
                <a:spcPts val="0"/>
              </a:spcBef>
            </a:pPr>
            <a:r>
              <a:rPr lang="en-US" altLang="en-US" sz="2000" dirty="0" smtClean="0"/>
              <a:t>Jack and Mary are most likely to have the same disease – 0.33</a:t>
            </a:r>
          </a:p>
          <a:p>
            <a:pPr>
              <a:spcBef>
                <a:spcPts val="0"/>
              </a:spcBef>
            </a:pPr>
            <a:endParaRPr lang="en-US" altLang="en-US" sz="2100" dirty="0" smtClean="0"/>
          </a:p>
          <a:p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D4B54858-7A32-430E-AC8E-49E32457DA3E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204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BF8DF2D-DC93-4465-8BB3-51BF2E2C872E}" type="slidenum">
              <a:rPr lang="en-US" altLang="en-US" smtClean="0"/>
              <a:pPr/>
              <a:t>14</a:t>
            </a:fld>
            <a:endParaRPr lang="en-US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692214"/>
              </p:ext>
            </p:extLst>
          </p:nvPr>
        </p:nvGraphicFramePr>
        <p:xfrm>
          <a:off x="7879976" y="2488382"/>
          <a:ext cx="35052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/>
                <a:gridCol w="945502"/>
                <a:gridCol w="858416"/>
                <a:gridCol w="786882"/>
              </a:tblGrid>
              <a:tr h="370681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00" marB="45700" anchor="ctr"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00" marB="4570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Object </a:t>
                      </a:r>
                      <a:r>
                        <a:rPr lang="en-US" sz="1800" i="1" dirty="0" smtClean="0"/>
                        <a:t>j</a:t>
                      </a:r>
                      <a:endParaRPr lang="en-US" sz="1800" i="1" dirty="0"/>
                    </a:p>
                  </a:txBody>
                  <a:tcPr marT="45700" marB="45700" anchor="ctr">
                    <a:lnL w="12700" cmpd="sng">
                      <a:noFill/>
                    </a:lnL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681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00" marB="45700" anchor="ctr"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T="45700" marB="457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Yes</a:t>
                      </a:r>
                      <a:endParaRPr lang="en-US" sz="1800" b="1" dirty="0"/>
                    </a:p>
                  </a:txBody>
                  <a:tcPr marT="45700" marB="457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No</a:t>
                      </a:r>
                      <a:endParaRPr lang="en-US" sz="1800" b="1" dirty="0"/>
                    </a:p>
                  </a:txBody>
                  <a:tcPr marT="45700" marB="45700"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</a:tr>
              <a:tr h="370681"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Object </a:t>
                      </a:r>
                      <a:r>
                        <a:rPr lang="en-US" sz="1800" i="1" dirty="0" smtClean="0"/>
                        <a:t>i</a:t>
                      </a:r>
                      <a:endParaRPr lang="en-US" sz="1800" i="1" dirty="0"/>
                    </a:p>
                  </a:txBody>
                  <a:tcPr marT="45700" marB="45700" anchor="ctr"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Yes</a:t>
                      </a:r>
                      <a:endParaRPr lang="en-US" sz="1800" b="1" dirty="0"/>
                    </a:p>
                  </a:txBody>
                  <a:tcPr marT="45700" marB="4570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T="45700" marB="4570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q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T="45700" marB="45700" anchor="ctr">
                    <a:solidFill>
                      <a:srgbClr val="00B050"/>
                    </a:solidFill>
                  </a:tcPr>
                </a:tc>
              </a:tr>
              <a:tr h="37068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/>
                        <a:t>No</a:t>
                      </a:r>
                      <a:endParaRPr lang="en-US" sz="1800" b="1" dirty="0"/>
                    </a:p>
                  </a:txBody>
                  <a:tcPr marT="45700" marB="45700"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r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T="45700" marB="4570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s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T="45700" marB="45700" anchor="ctr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2" y="4797152"/>
            <a:ext cx="728263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8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9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Partitioning Algorithms: Basic Concept</a:t>
            </a:r>
            <a:endParaRPr 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Partitioning method</a:t>
            </a:r>
          </a:p>
          <a:p>
            <a:pPr lvl="1"/>
            <a:r>
              <a:rPr lang="en-US" altLang="en-US" dirty="0" smtClean="0"/>
              <a:t>Construct a partition of a database D of n objects into a set of k clusters, where k ≤ n where each partition represents a cluster </a:t>
            </a:r>
          </a:p>
          <a:p>
            <a:r>
              <a:rPr lang="en-US" altLang="en-US" dirty="0" smtClean="0"/>
              <a:t>Given a k, find a partition of k clusters that optimizes the chosen partitioning criterion</a:t>
            </a:r>
          </a:p>
          <a:p>
            <a:pPr lvl="1"/>
            <a:r>
              <a:rPr lang="en-US" altLang="en-US" dirty="0" smtClean="0"/>
              <a:t>Global optimal: exhaustively enumerate all partitions</a:t>
            </a:r>
          </a:p>
          <a:p>
            <a:pPr lvl="1"/>
            <a:r>
              <a:rPr lang="en-US" altLang="en-US" dirty="0" smtClean="0"/>
              <a:t>Heuristic methods: k-means and k-</a:t>
            </a:r>
            <a:r>
              <a:rPr lang="en-US" altLang="en-US" dirty="0" err="1" smtClean="0"/>
              <a:t>medoids</a:t>
            </a:r>
            <a:r>
              <a:rPr lang="en-US" altLang="en-US" dirty="0" smtClean="0"/>
              <a:t> algorithms</a:t>
            </a:r>
          </a:p>
          <a:p>
            <a:pPr lvl="1"/>
            <a:r>
              <a:rPr lang="en-US" altLang="en-US" dirty="0" smtClean="0"/>
              <a:t>k-means : Each cluster is represented by the center of the cluster</a:t>
            </a:r>
          </a:p>
          <a:p>
            <a:pPr lvl="1"/>
            <a:r>
              <a:rPr lang="en-US" altLang="en-US" dirty="0" smtClean="0"/>
              <a:t>k-</a:t>
            </a:r>
            <a:r>
              <a:rPr lang="en-US" altLang="en-US" dirty="0" err="1" smtClean="0"/>
              <a:t>medoids</a:t>
            </a:r>
            <a:r>
              <a:rPr lang="en-US" altLang="en-US" dirty="0" smtClean="0"/>
              <a:t>: Each cluster is represented by one of the objects in the cluster  </a:t>
            </a: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030B-B5B2-4D8B-85AB-5C4855F42DE3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225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87D7F70-C29E-4DF2-A78C-53AEBDB1ED21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061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k-Means Clustering Method </a:t>
            </a:r>
            <a:endParaRPr lang="en-US" dirty="0"/>
          </a:p>
        </p:txBody>
      </p:sp>
      <p:sp>
        <p:nvSpPr>
          <p:cNvPr id="1462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Given k, the k-means algorithm is implemented in the following way: </a:t>
            </a:r>
          </a:p>
          <a:p>
            <a:pPr lvl="1"/>
            <a:r>
              <a:rPr lang="en-US" dirty="0" smtClean="0"/>
              <a:t>Algorithm k-means</a:t>
            </a:r>
          </a:p>
          <a:p>
            <a:pPr lvl="1"/>
            <a:r>
              <a:rPr lang="en-US" dirty="0" smtClean="0"/>
              <a:t>// k - no. of clusters </a:t>
            </a:r>
          </a:p>
          <a:p>
            <a:pPr lvl="1"/>
            <a:r>
              <a:rPr lang="en-US" dirty="0" smtClean="0"/>
              <a:t>// D – data set containing n objects</a:t>
            </a:r>
          </a:p>
          <a:p>
            <a:pPr lvl="1"/>
            <a:r>
              <a:rPr lang="en-US" dirty="0" smtClean="0"/>
              <a:t>Arbitrarily choose k objects from D as the initial clusters</a:t>
            </a:r>
          </a:p>
          <a:p>
            <a:pPr lvl="1"/>
            <a:r>
              <a:rPr lang="en-US" dirty="0" smtClean="0"/>
              <a:t>Repeat </a:t>
            </a:r>
          </a:p>
          <a:p>
            <a:pPr lvl="2"/>
            <a:r>
              <a:rPr lang="en-US" dirty="0" smtClean="0"/>
              <a:t>(re)assign each object to the cluster to which the object is the most similar, based on the mean value of the objects in the cluster</a:t>
            </a:r>
          </a:p>
          <a:p>
            <a:pPr lvl="2"/>
            <a:r>
              <a:rPr lang="en-US" dirty="0" smtClean="0"/>
              <a:t>Update the cluster means. i.e. calculate the mean value of the objects for each cluster</a:t>
            </a:r>
          </a:p>
          <a:p>
            <a:pPr lvl="1"/>
            <a:r>
              <a:rPr lang="en-US" dirty="0" smtClean="0"/>
              <a:t>Until no change</a:t>
            </a:r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83CA4DD5-E35E-465C-B6B1-02DA8A4635E6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235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FFCA19E-7B6B-4BB4-9ED4-1A9568D1FE30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669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The K-Means Clustering Method </a:t>
            </a:r>
            <a:endParaRPr lang="en-US" altLang="ko-KR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Example</a:t>
            </a:r>
          </a:p>
        </p:txBody>
      </p:sp>
      <p:sp>
        <p:nvSpPr>
          <p:cNvPr id="1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19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CFF7A450-CA47-494F-A3D0-EA1DA2A8B1CC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245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876861C-2E08-4DB7-A25D-39F10F0DDD57}" type="slidenum">
              <a:rPr lang="en-US" altLang="en-US" smtClean="0"/>
              <a:pPr/>
              <a:t>17</a:t>
            </a:fld>
            <a:endParaRPr lang="en-US" altLang="en-US"/>
          </a:p>
        </p:txBody>
      </p:sp>
      <p:grpSp>
        <p:nvGrpSpPr>
          <p:cNvPr id="24583" name="Group 4"/>
          <p:cNvGrpSpPr>
            <a:grpSpLocks/>
          </p:cNvGrpSpPr>
          <p:nvPr/>
        </p:nvGrpSpPr>
        <p:grpSpPr bwMode="auto">
          <a:xfrm>
            <a:off x="4722812" y="1981200"/>
            <a:ext cx="2286000" cy="2057400"/>
            <a:chOff x="528" y="240"/>
            <a:chExt cx="2142" cy="1872"/>
          </a:xfrm>
        </p:grpSpPr>
        <p:graphicFrame>
          <p:nvGraphicFramePr>
            <p:cNvPr id="24770" name="Object 2"/>
            <p:cNvGraphicFramePr>
              <a:graphicFrameLocks noChangeAspect="1"/>
            </p:cNvGraphicFramePr>
            <p:nvPr/>
          </p:nvGraphicFramePr>
          <p:xfrm>
            <a:off x="528" y="240"/>
            <a:ext cx="2142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2" name="Worksheet" r:id="rId3" imgW="3400654" imgH="2915107" progId="Excel.Sheet.8">
                    <p:embed/>
                  </p:oleObj>
                </mc:Choice>
                <mc:Fallback>
                  <p:oleObj name="Worksheet" r:id="rId3" imgW="3400654" imgH="2915107" progId="Excel.Shee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40"/>
                          <a:ext cx="2142" cy="1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">
                              <a:solidFill>
                                <a:srgbClr val="FF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771" name="Freeform 6"/>
            <p:cNvSpPr>
              <a:spLocks/>
            </p:cNvSpPr>
            <p:nvPr/>
          </p:nvSpPr>
          <p:spPr bwMode="auto">
            <a:xfrm>
              <a:off x="1008" y="977"/>
              <a:ext cx="173" cy="420"/>
            </a:xfrm>
            <a:custGeom>
              <a:avLst/>
              <a:gdLst>
                <a:gd name="T0" fmla="*/ 518 w 852"/>
                <a:gd name="T1" fmla="*/ 280 h 1260"/>
                <a:gd name="T2" fmla="*/ 392 w 852"/>
                <a:gd name="T3" fmla="*/ 36 h 1260"/>
                <a:gd name="T4" fmla="*/ 237 w 852"/>
                <a:gd name="T5" fmla="*/ 21 h 1260"/>
                <a:gd name="T6" fmla="*/ 133 w 852"/>
                <a:gd name="T7" fmla="*/ 73 h 1260"/>
                <a:gd name="T8" fmla="*/ 0 w 852"/>
                <a:gd name="T9" fmla="*/ 369 h 1260"/>
                <a:gd name="T10" fmla="*/ 44 w 852"/>
                <a:gd name="T11" fmla="*/ 688 h 1260"/>
                <a:gd name="T12" fmla="*/ 362 w 852"/>
                <a:gd name="T13" fmla="*/ 1117 h 1260"/>
                <a:gd name="T14" fmla="*/ 429 w 852"/>
                <a:gd name="T15" fmla="*/ 1139 h 1260"/>
                <a:gd name="T16" fmla="*/ 451 w 852"/>
                <a:gd name="T17" fmla="*/ 1154 h 1260"/>
                <a:gd name="T18" fmla="*/ 525 w 852"/>
                <a:gd name="T19" fmla="*/ 1176 h 1260"/>
                <a:gd name="T20" fmla="*/ 622 w 852"/>
                <a:gd name="T21" fmla="*/ 1228 h 1260"/>
                <a:gd name="T22" fmla="*/ 792 w 852"/>
                <a:gd name="T23" fmla="*/ 1243 h 1260"/>
                <a:gd name="T24" fmla="*/ 785 w 852"/>
                <a:gd name="T25" fmla="*/ 1021 h 1260"/>
                <a:gd name="T26" fmla="*/ 748 w 852"/>
                <a:gd name="T27" fmla="*/ 954 h 1260"/>
                <a:gd name="T28" fmla="*/ 688 w 852"/>
                <a:gd name="T29" fmla="*/ 858 h 1260"/>
                <a:gd name="T30" fmla="*/ 622 w 852"/>
                <a:gd name="T31" fmla="*/ 762 h 1260"/>
                <a:gd name="T32" fmla="*/ 607 w 852"/>
                <a:gd name="T33" fmla="*/ 732 h 1260"/>
                <a:gd name="T34" fmla="*/ 592 w 852"/>
                <a:gd name="T35" fmla="*/ 710 h 1260"/>
                <a:gd name="T36" fmla="*/ 555 w 852"/>
                <a:gd name="T37" fmla="*/ 643 h 1260"/>
                <a:gd name="T38" fmla="*/ 540 w 852"/>
                <a:gd name="T39" fmla="*/ 621 h 1260"/>
                <a:gd name="T40" fmla="*/ 518 w 852"/>
                <a:gd name="T41" fmla="*/ 280 h 126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52"/>
                <a:gd name="T64" fmla="*/ 0 h 1260"/>
                <a:gd name="T65" fmla="*/ 852 w 852"/>
                <a:gd name="T66" fmla="*/ 1260 h 126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4772" name="Freeform 7"/>
            <p:cNvSpPr>
              <a:spLocks/>
            </p:cNvSpPr>
            <p:nvPr/>
          </p:nvSpPr>
          <p:spPr bwMode="auto">
            <a:xfrm>
              <a:off x="1587" y="994"/>
              <a:ext cx="173" cy="420"/>
            </a:xfrm>
            <a:custGeom>
              <a:avLst/>
              <a:gdLst>
                <a:gd name="T0" fmla="*/ 183 w 768"/>
                <a:gd name="T1" fmla="*/ 67 h 630"/>
                <a:gd name="T2" fmla="*/ 72 w 768"/>
                <a:gd name="T3" fmla="*/ 74 h 630"/>
                <a:gd name="T4" fmla="*/ 5 w 768"/>
                <a:gd name="T5" fmla="*/ 170 h 630"/>
                <a:gd name="T6" fmla="*/ 13 w 768"/>
                <a:gd name="T7" fmla="*/ 311 h 630"/>
                <a:gd name="T8" fmla="*/ 57 w 768"/>
                <a:gd name="T9" fmla="*/ 356 h 630"/>
                <a:gd name="T10" fmla="*/ 109 w 768"/>
                <a:gd name="T11" fmla="*/ 415 h 630"/>
                <a:gd name="T12" fmla="*/ 235 w 768"/>
                <a:gd name="T13" fmla="*/ 548 h 630"/>
                <a:gd name="T14" fmla="*/ 257 w 768"/>
                <a:gd name="T15" fmla="*/ 570 h 630"/>
                <a:gd name="T16" fmla="*/ 331 w 768"/>
                <a:gd name="T17" fmla="*/ 593 h 630"/>
                <a:gd name="T18" fmla="*/ 450 w 768"/>
                <a:gd name="T19" fmla="*/ 630 h 630"/>
                <a:gd name="T20" fmla="*/ 598 w 768"/>
                <a:gd name="T21" fmla="*/ 607 h 630"/>
                <a:gd name="T22" fmla="*/ 657 w 768"/>
                <a:gd name="T23" fmla="*/ 585 h 630"/>
                <a:gd name="T24" fmla="*/ 687 w 768"/>
                <a:gd name="T25" fmla="*/ 533 h 630"/>
                <a:gd name="T26" fmla="*/ 717 w 768"/>
                <a:gd name="T27" fmla="*/ 474 h 630"/>
                <a:gd name="T28" fmla="*/ 724 w 768"/>
                <a:gd name="T29" fmla="*/ 437 h 630"/>
                <a:gd name="T30" fmla="*/ 739 w 768"/>
                <a:gd name="T31" fmla="*/ 415 h 630"/>
                <a:gd name="T32" fmla="*/ 768 w 768"/>
                <a:gd name="T33" fmla="*/ 296 h 630"/>
                <a:gd name="T34" fmla="*/ 761 w 768"/>
                <a:gd name="T35" fmla="*/ 178 h 630"/>
                <a:gd name="T36" fmla="*/ 724 w 768"/>
                <a:gd name="T37" fmla="*/ 111 h 630"/>
                <a:gd name="T38" fmla="*/ 465 w 768"/>
                <a:gd name="T39" fmla="*/ 0 h 630"/>
                <a:gd name="T40" fmla="*/ 205 w 768"/>
                <a:gd name="T41" fmla="*/ 30 h 630"/>
                <a:gd name="T42" fmla="*/ 183 w 768"/>
                <a:gd name="T43" fmla="*/ 67 h 63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68"/>
                <a:gd name="T67" fmla="*/ 0 h 630"/>
                <a:gd name="T68" fmla="*/ 768 w 768"/>
                <a:gd name="T69" fmla="*/ 630 h 63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24584" name="Group 8"/>
          <p:cNvGrpSpPr>
            <a:grpSpLocks/>
          </p:cNvGrpSpPr>
          <p:nvPr/>
        </p:nvGrpSpPr>
        <p:grpSpPr bwMode="auto">
          <a:xfrm>
            <a:off x="8101012" y="2008189"/>
            <a:ext cx="2222500" cy="1990725"/>
            <a:chOff x="4144" y="1265"/>
            <a:chExt cx="1400" cy="1254"/>
          </a:xfrm>
        </p:grpSpPr>
        <p:sp>
          <p:nvSpPr>
            <p:cNvPr id="24686" name="Rectangle 9"/>
            <p:cNvSpPr>
              <a:spLocks noChangeArrowheads="1"/>
            </p:cNvSpPr>
            <p:nvPr/>
          </p:nvSpPr>
          <p:spPr bwMode="auto">
            <a:xfrm>
              <a:off x="4144" y="1265"/>
              <a:ext cx="1400" cy="1254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87" name="Rectangle 10"/>
            <p:cNvSpPr>
              <a:spLocks noChangeArrowheads="1"/>
            </p:cNvSpPr>
            <p:nvPr/>
          </p:nvSpPr>
          <p:spPr bwMode="auto">
            <a:xfrm>
              <a:off x="4278" y="1354"/>
              <a:ext cx="1201" cy="10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688" name="Line 11"/>
            <p:cNvSpPr>
              <a:spLocks noChangeShapeType="1"/>
            </p:cNvSpPr>
            <p:nvPr/>
          </p:nvSpPr>
          <p:spPr bwMode="auto">
            <a:xfrm>
              <a:off x="4278" y="2264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89" name="Line 12"/>
            <p:cNvSpPr>
              <a:spLocks noChangeShapeType="1"/>
            </p:cNvSpPr>
            <p:nvPr/>
          </p:nvSpPr>
          <p:spPr bwMode="auto">
            <a:xfrm>
              <a:off x="4278" y="2163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0" name="Line 13"/>
            <p:cNvSpPr>
              <a:spLocks noChangeShapeType="1"/>
            </p:cNvSpPr>
            <p:nvPr/>
          </p:nvSpPr>
          <p:spPr bwMode="auto">
            <a:xfrm>
              <a:off x="4278" y="2061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1" name="Line 14"/>
            <p:cNvSpPr>
              <a:spLocks noChangeShapeType="1"/>
            </p:cNvSpPr>
            <p:nvPr/>
          </p:nvSpPr>
          <p:spPr bwMode="auto">
            <a:xfrm>
              <a:off x="4278" y="1960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2" name="Line 15"/>
            <p:cNvSpPr>
              <a:spLocks noChangeShapeType="1"/>
            </p:cNvSpPr>
            <p:nvPr/>
          </p:nvSpPr>
          <p:spPr bwMode="auto">
            <a:xfrm>
              <a:off x="4278" y="1858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3" name="Line 16"/>
            <p:cNvSpPr>
              <a:spLocks noChangeShapeType="1"/>
            </p:cNvSpPr>
            <p:nvPr/>
          </p:nvSpPr>
          <p:spPr bwMode="auto">
            <a:xfrm>
              <a:off x="4278" y="1760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4" name="Line 17"/>
            <p:cNvSpPr>
              <a:spLocks noChangeShapeType="1"/>
            </p:cNvSpPr>
            <p:nvPr/>
          </p:nvSpPr>
          <p:spPr bwMode="auto">
            <a:xfrm>
              <a:off x="4278" y="1659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5" name="Line 18"/>
            <p:cNvSpPr>
              <a:spLocks noChangeShapeType="1"/>
            </p:cNvSpPr>
            <p:nvPr/>
          </p:nvSpPr>
          <p:spPr bwMode="auto">
            <a:xfrm>
              <a:off x="4278" y="1557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6" name="Line 19"/>
            <p:cNvSpPr>
              <a:spLocks noChangeShapeType="1"/>
            </p:cNvSpPr>
            <p:nvPr/>
          </p:nvSpPr>
          <p:spPr bwMode="auto">
            <a:xfrm>
              <a:off x="4278" y="1456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7" name="Line 20"/>
            <p:cNvSpPr>
              <a:spLocks noChangeShapeType="1"/>
            </p:cNvSpPr>
            <p:nvPr/>
          </p:nvSpPr>
          <p:spPr bwMode="auto">
            <a:xfrm>
              <a:off x="4278" y="1354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8" name="Line 21"/>
            <p:cNvSpPr>
              <a:spLocks noChangeShapeType="1"/>
            </p:cNvSpPr>
            <p:nvPr/>
          </p:nvSpPr>
          <p:spPr bwMode="auto">
            <a:xfrm>
              <a:off x="439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699" name="Line 22"/>
            <p:cNvSpPr>
              <a:spLocks noChangeShapeType="1"/>
            </p:cNvSpPr>
            <p:nvPr/>
          </p:nvSpPr>
          <p:spPr bwMode="auto">
            <a:xfrm>
              <a:off x="4516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00" name="Line 23"/>
            <p:cNvSpPr>
              <a:spLocks noChangeShapeType="1"/>
            </p:cNvSpPr>
            <p:nvPr/>
          </p:nvSpPr>
          <p:spPr bwMode="auto">
            <a:xfrm>
              <a:off x="463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01" name="Line 24"/>
            <p:cNvSpPr>
              <a:spLocks noChangeShapeType="1"/>
            </p:cNvSpPr>
            <p:nvPr/>
          </p:nvSpPr>
          <p:spPr bwMode="auto">
            <a:xfrm>
              <a:off x="475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02" name="Line 25"/>
            <p:cNvSpPr>
              <a:spLocks noChangeShapeType="1"/>
            </p:cNvSpPr>
            <p:nvPr/>
          </p:nvSpPr>
          <p:spPr bwMode="auto">
            <a:xfrm>
              <a:off x="4880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03" name="Line 26"/>
            <p:cNvSpPr>
              <a:spLocks noChangeShapeType="1"/>
            </p:cNvSpPr>
            <p:nvPr/>
          </p:nvSpPr>
          <p:spPr bwMode="auto">
            <a:xfrm>
              <a:off x="499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04" name="Line 27"/>
            <p:cNvSpPr>
              <a:spLocks noChangeShapeType="1"/>
            </p:cNvSpPr>
            <p:nvPr/>
          </p:nvSpPr>
          <p:spPr bwMode="auto">
            <a:xfrm>
              <a:off x="511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05" name="Line 28"/>
            <p:cNvSpPr>
              <a:spLocks noChangeShapeType="1"/>
            </p:cNvSpPr>
            <p:nvPr/>
          </p:nvSpPr>
          <p:spPr bwMode="auto">
            <a:xfrm>
              <a:off x="5240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06" name="Line 29"/>
            <p:cNvSpPr>
              <a:spLocks noChangeShapeType="1"/>
            </p:cNvSpPr>
            <p:nvPr/>
          </p:nvSpPr>
          <p:spPr bwMode="auto">
            <a:xfrm>
              <a:off x="535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07" name="Line 30"/>
            <p:cNvSpPr>
              <a:spLocks noChangeShapeType="1"/>
            </p:cNvSpPr>
            <p:nvPr/>
          </p:nvSpPr>
          <p:spPr bwMode="auto">
            <a:xfrm>
              <a:off x="547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08" name="Rectangle 31"/>
            <p:cNvSpPr>
              <a:spLocks noChangeArrowheads="1"/>
            </p:cNvSpPr>
            <p:nvPr/>
          </p:nvSpPr>
          <p:spPr bwMode="auto">
            <a:xfrm>
              <a:off x="4278" y="1354"/>
              <a:ext cx="1201" cy="101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709" name="Line 32"/>
            <p:cNvSpPr>
              <a:spLocks noChangeShapeType="1"/>
            </p:cNvSpPr>
            <p:nvPr/>
          </p:nvSpPr>
          <p:spPr bwMode="auto">
            <a:xfrm>
              <a:off x="427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0" name="Line 33"/>
            <p:cNvSpPr>
              <a:spLocks noChangeShapeType="1"/>
            </p:cNvSpPr>
            <p:nvPr/>
          </p:nvSpPr>
          <p:spPr bwMode="auto">
            <a:xfrm>
              <a:off x="4266" y="236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1" name="Line 34"/>
            <p:cNvSpPr>
              <a:spLocks noChangeShapeType="1"/>
            </p:cNvSpPr>
            <p:nvPr/>
          </p:nvSpPr>
          <p:spPr bwMode="auto">
            <a:xfrm>
              <a:off x="4266" y="226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2" name="Line 35"/>
            <p:cNvSpPr>
              <a:spLocks noChangeShapeType="1"/>
            </p:cNvSpPr>
            <p:nvPr/>
          </p:nvSpPr>
          <p:spPr bwMode="auto">
            <a:xfrm>
              <a:off x="4266" y="216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3" name="Line 36"/>
            <p:cNvSpPr>
              <a:spLocks noChangeShapeType="1"/>
            </p:cNvSpPr>
            <p:nvPr/>
          </p:nvSpPr>
          <p:spPr bwMode="auto">
            <a:xfrm>
              <a:off x="4266" y="206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4" name="Line 37"/>
            <p:cNvSpPr>
              <a:spLocks noChangeShapeType="1"/>
            </p:cNvSpPr>
            <p:nvPr/>
          </p:nvSpPr>
          <p:spPr bwMode="auto">
            <a:xfrm>
              <a:off x="4266" y="196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5" name="Line 38"/>
            <p:cNvSpPr>
              <a:spLocks noChangeShapeType="1"/>
            </p:cNvSpPr>
            <p:nvPr/>
          </p:nvSpPr>
          <p:spPr bwMode="auto">
            <a:xfrm>
              <a:off x="4266" y="185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6" name="Line 39"/>
            <p:cNvSpPr>
              <a:spLocks noChangeShapeType="1"/>
            </p:cNvSpPr>
            <p:nvPr/>
          </p:nvSpPr>
          <p:spPr bwMode="auto">
            <a:xfrm>
              <a:off x="4266" y="176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7" name="Line 40"/>
            <p:cNvSpPr>
              <a:spLocks noChangeShapeType="1"/>
            </p:cNvSpPr>
            <p:nvPr/>
          </p:nvSpPr>
          <p:spPr bwMode="auto">
            <a:xfrm>
              <a:off x="4266" y="165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8" name="Line 41"/>
            <p:cNvSpPr>
              <a:spLocks noChangeShapeType="1"/>
            </p:cNvSpPr>
            <p:nvPr/>
          </p:nvSpPr>
          <p:spPr bwMode="auto">
            <a:xfrm>
              <a:off x="4266" y="155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19" name="Line 42"/>
            <p:cNvSpPr>
              <a:spLocks noChangeShapeType="1"/>
            </p:cNvSpPr>
            <p:nvPr/>
          </p:nvSpPr>
          <p:spPr bwMode="auto">
            <a:xfrm>
              <a:off x="4266" y="145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0" name="Line 43"/>
            <p:cNvSpPr>
              <a:spLocks noChangeShapeType="1"/>
            </p:cNvSpPr>
            <p:nvPr/>
          </p:nvSpPr>
          <p:spPr bwMode="auto">
            <a:xfrm>
              <a:off x="4266" y="135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1" name="Line 44"/>
            <p:cNvSpPr>
              <a:spLocks noChangeShapeType="1"/>
            </p:cNvSpPr>
            <p:nvPr/>
          </p:nvSpPr>
          <p:spPr bwMode="auto">
            <a:xfrm>
              <a:off x="4278" y="2366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2" name="Line 45"/>
            <p:cNvSpPr>
              <a:spLocks noChangeShapeType="1"/>
            </p:cNvSpPr>
            <p:nvPr/>
          </p:nvSpPr>
          <p:spPr bwMode="auto">
            <a:xfrm flipV="1">
              <a:off x="427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3" name="Line 46"/>
            <p:cNvSpPr>
              <a:spLocks noChangeShapeType="1"/>
            </p:cNvSpPr>
            <p:nvPr/>
          </p:nvSpPr>
          <p:spPr bwMode="auto">
            <a:xfrm flipV="1">
              <a:off x="439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4" name="Line 47"/>
            <p:cNvSpPr>
              <a:spLocks noChangeShapeType="1"/>
            </p:cNvSpPr>
            <p:nvPr/>
          </p:nvSpPr>
          <p:spPr bwMode="auto">
            <a:xfrm flipV="1">
              <a:off x="4516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5" name="Line 48"/>
            <p:cNvSpPr>
              <a:spLocks noChangeShapeType="1"/>
            </p:cNvSpPr>
            <p:nvPr/>
          </p:nvSpPr>
          <p:spPr bwMode="auto">
            <a:xfrm flipV="1">
              <a:off x="463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6" name="Line 49"/>
            <p:cNvSpPr>
              <a:spLocks noChangeShapeType="1"/>
            </p:cNvSpPr>
            <p:nvPr/>
          </p:nvSpPr>
          <p:spPr bwMode="auto">
            <a:xfrm flipV="1">
              <a:off x="475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7" name="Line 50"/>
            <p:cNvSpPr>
              <a:spLocks noChangeShapeType="1"/>
            </p:cNvSpPr>
            <p:nvPr/>
          </p:nvSpPr>
          <p:spPr bwMode="auto">
            <a:xfrm flipV="1">
              <a:off x="4880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8" name="Line 51"/>
            <p:cNvSpPr>
              <a:spLocks noChangeShapeType="1"/>
            </p:cNvSpPr>
            <p:nvPr/>
          </p:nvSpPr>
          <p:spPr bwMode="auto">
            <a:xfrm flipV="1">
              <a:off x="499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29" name="Line 52"/>
            <p:cNvSpPr>
              <a:spLocks noChangeShapeType="1"/>
            </p:cNvSpPr>
            <p:nvPr/>
          </p:nvSpPr>
          <p:spPr bwMode="auto">
            <a:xfrm flipV="1">
              <a:off x="511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30" name="Line 53"/>
            <p:cNvSpPr>
              <a:spLocks noChangeShapeType="1"/>
            </p:cNvSpPr>
            <p:nvPr/>
          </p:nvSpPr>
          <p:spPr bwMode="auto">
            <a:xfrm flipV="1">
              <a:off x="5240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31" name="Line 54"/>
            <p:cNvSpPr>
              <a:spLocks noChangeShapeType="1"/>
            </p:cNvSpPr>
            <p:nvPr/>
          </p:nvSpPr>
          <p:spPr bwMode="auto">
            <a:xfrm flipV="1">
              <a:off x="535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32" name="Line 55"/>
            <p:cNvSpPr>
              <a:spLocks noChangeShapeType="1"/>
            </p:cNvSpPr>
            <p:nvPr/>
          </p:nvSpPr>
          <p:spPr bwMode="auto">
            <a:xfrm flipV="1">
              <a:off x="547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733" name="Freeform 56"/>
            <p:cNvSpPr>
              <a:spLocks/>
            </p:cNvSpPr>
            <p:nvPr/>
          </p:nvSpPr>
          <p:spPr bwMode="auto">
            <a:xfrm>
              <a:off x="4609" y="1930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30 h 59"/>
                <a:gd name="T4" fmla="*/ 29 w 57"/>
                <a:gd name="T5" fmla="*/ 59 h 59"/>
                <a:gd name="T6" fmla="*/ 0 w 57"/>
                <a:gd name="T7" fmla="*/ 30 h 59"/>
                <a:gd name="T8" fmla="*/ 29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59"/>
                <a:gd name="T17" fmla="*/ 57 w 57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59">
                  <a:moveTo>
                    <a:pt x="29" y="0"/>
                  </a:moveTo>
                  <a:lnTo>
                    <a:pt x="57" y="30"/>
                  </a:lnTo>
                  <a:lnTo>
                    <a:pt x="29" y="59"/>
                  </a:lnTo>
                  <a:lnTo>
                    <a:pt x="0" y="3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34" name="Freeform 57"/>
            <p:cNvSpPr>
              <a:spLocks/>
            </p:cNvSpPr>
            <p:nvPr/>
          </p:nvSpPr>
          <p:spPr bwMode="auto">
            <a:xfrm>
              <a:off x="4609" y="1731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29 h 59"/>
                <a:gd name="T4" fmla="*/ 29 w 57"/>
                <a:gd name="T5" fmla="*/ 59 h 59"/>
                <a:gd name="T6" fmla="*/ 0 w 57"/>
                <a:gd name="T7" fmla="*/ 29 h 59"/>
                <a:gd name="T8" fmla="*/ 29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59"/>
                <a:gd name="T17" fmla="*/ 57 w 57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35" name="Freeform 58"/>
            <p:cNvSpPr>
              <a:spLocks/>
            </p:cNvSpPr>
            <p:nvPr/>
          </p:nvSpPr>
          <p:spPr bwMode="auto">
            <a:xfrm>
              <a:off x="5091" y="2032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29 h 59"/>
                <a:gd name="T4" fmla="*/ 28 w 56"/>
                <a:gd name="T5" fmla="*/ 59 h 59"/>
                <a:gd name="T6" fmla="*/ 0 w 56"/>
                <a:gd name="T7" fmla="*/ 29 h 59"/>
                <a:gd name="T8" fmla="*/ 28 w 5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9"/>
                <a:gd name="T17" fmla="*/ 56 w 56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9">
                  <a:moveTo>
                    <a:pt x="28" y="0"/>
                  </a:moveTo>
                  <a:lnTo>
                    <a:pt x="56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36" name="Freeform 59"/>
            <p:cNvSpPr>
              <a:spLocks/>
            </p:cNvSpPr>
            <p:nvPr/>
          </p:nvSpPr>
          <p:spPr bwMode="auto">
            <a:xfrm>
              <a:off x="4731" y="1629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30 h 59"/>
                <a:gd name="T4" fmla="*/ 28 w 56"/>
                <a:gd name="T5" fmla="*/ 59 h 59"/>
                <a:gd name="T6" fmla="*/ 0 w 56"/>
                <a:gd name="T7" fmla="*/ 30 h 59"/>
                <a:gd name="T8" fmla="*/ 28 w 5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9"/>
                <a:gd name="T17" fmla="*/ 56 w 56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37" name="Freeform 60"/>
            <p:cNvSpPr>
              <a:spLocks/>
            </p:cNvSpPr>
            <p:nvPr/>
          </p:nvSpPr>
          <p:spPr bwMode="auto">
            <a:xfrm>
              <a:off x="4609" y="1528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29 h 59"/>
                <a:gd name="T4" fmla="*/ 29 w 57"/>
                <a:gd name="T5" fmla="*/ 59 h 59"/>
                <a:gd name="T6" fmla="*/ 0 w 57"/>
                <a:gd name="T7" fmla="*/ 29 h 59"/>
                <a:gd name="T8" fmla="*/ 29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59"/>
                <a:gd name="T17" fmla="*/ 57 w 57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38" name="Freeform 61"/>
            <p:cNvSpPr>
              <a:spLocks/>
            </p:cNvSpPr>
            <p:nvPr/>
          </p:nvSpPr>
          <p:spPr bwMode="auto">
            <a:xfrm>
              <a:off x="5212" y="1832"/>
              <a:ext cx="57" cy="60"/>
            </a:xfrm>
            <a:custGeom>
              <a:avLst/>
              <a:gdLst>
                <a:gd name="T0" fmla="*/ 28 w 57"/>
                <a:gd name="T1" fmla="*/ 0 h 60"/>
                <a:gd name="T2" fmla="*/ 57 w 57"/>
                <a:gd name="T3" fmla="*/ 30 h 60"/>
                <a:gd name="T4" fmla="*/ 28 w 57"/>
                <a:gd name="T5" fmla="*/ 60 h 60"/>
                <a:gd name="T6" fmla="*/ 0 w 57"/>
                <a:gd name="T7" fmla="*/ 30 h 60"/>
                <a:gd name="T8" fmla="*/ 28 w 5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60"/>
                <a:gd name="T17" fmla="*/ 57 w 57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39" name="Freeform 62"/>
            <p:cNvSpPr>
              <a:spLocks/>
            </p:cNvSpPr>
            <p:nvPr/>
          </p:nvSpPr>
          <p:spPr bwMode="auto">
            <a:xfrm>
              <a:off x="4731" y="1832"/>
              <a:ext cx="56" cy="60"/>
            </a:xfrm>
            <a:custGeom>
              <a:avLst/>
              <a:gdLst>
                <a:gd name="T0" fmla="*/ 28 w 56"/>
                <a:gd name="T1" fmla="*/ 0 h 60"/>
                <a:gd name="T2" fmla="*/ 56 w 56"/>
                <a:gd name="T3" fmla="*/ 30 h 60"/>
                <a:gd name="T4" fmla="*/ 28 w 56"/>
                <a:gd name="T5" fmla="*/ 60 h 60"/>
                <a:gd name="T6" fmla="*/ 0 w 56"/>
                <a:gd name="T7" fmla="*/ 30 h 60"/>
                <a:gd name="T8" fmla="*/ 28 w 56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60"/>
                <a:gd name="T17" fmla="*/ 56 w 56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60">
                  <a:moveTo>
                    <a:pt x="28" y="0"/>
                  </a:moveTo>
                  <a:lnTo>
                    <a:pt x="56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40" name="Freeform 63"/>
            <p:cNvSpPr>
              <a:spLocks/>
            </p:cNvSpPr>
            <p:nvPr/>
          </p:nvSpPr>
          <p:spPr bwMode="auto">
            <a:xfrm>
              <a:off x="4852" y="2235"/>
              <a:ext cx="57" cy="59"/>
            </a:xfrm>
            <a:custGeom>
              <a:avLst/>
              <a:gdLst>
                <a:gd name="T0" fmla="*/ 28 w 57"/>
                <a:gd name="T1" fmla="*/ 0 h 59"/>
                <a:gd name="T2" fmla="*/ 57 w 57"/>
                <a:gd name="T3" fmla="*/ 29 h 59"/>
                <a:gd name="T4" fmla="*/ 28 w 57"/>
                <a:gd name="T5" fmla="*/ 59 h 59"/>
                <a:gd name="T6" fmla="*/ 0 w 57"/>
                <a:gd name="T7" fmla="*/ 29 h 59"/>
                <a:gd name="T8" fmla="*/ 28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59"/>
                <a:gd name="T17" fmla="*/ 57 w 57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59">
                  <a:moveTo>
                    <a:pt x="28" y="0"/>
                  </a:moveTo>
                  <a:lnTo>
                    <a:pt x="57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41" name="Freeform 64"/>
            <p:cNvSpPr>
              <a:spLocks/>
            </p:cNvSpPr>
            <p:nvPr/>
          </p:nvSpPr>
          <p:spPr bwMode="auto">
            <a:xfrm>
              <a:off x="5091" y="1930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30 h 59"/>
                <a:gd name="T4" fmla="*/ 28 w 56"/>
                <a:gd name="T5" fmla="*/ 59 h 59"/>
                <a:gd name="T6" fmla="*/ 0 w 56"/>
                <a:gd name="T7" fmla="*/ 30 h 59"/>
                <a:gd name="T8" fmla="*/ 28 w 5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9"/>
                <a:gd name="T17" fmla="*/ 56 w 56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42" name="Freeform 65"/>
            <p:cNvSpPr>
              <a:spLocks/>
            </p:cNvSpPr>
            <p:nvPr/>
          </p:nvSpPr>
          <p:spPr bwMode="auto">
            <a:xfrm>
              <a:off x="4852" y="1832"/>
              <a:ext cx="57" cy="60"/>
            </a:xfrm>
            <a:custGeom>
              <a:avLst/>
              <a:gdLst>
                <a:gd name="T0" fmla="*/ 28 w 57"/>
                <a:gd name="T1" fmla="*/ 0 h 60"/>
                <a:gd name="T2" fmla="*/ 57 w 57"/>
                <a:gd name="T3" fmla="*/ 30 h 60"/>
                <a:gd name="T4" fmla="*/ 28 w 57"/>
                <a:gd name="T5" fmla="*/ 60 h 60"/>
                <a:gd name="T6" fmla="*/ 0 w 57"/>
                <a:gd name="T7" fmla="*/ 30 h 60"/>
                <a:gd name="T8" fmla="*/ 28 w 5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60"/>
                <a:gd name="T17" fmla="*/ 57 w 57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743" name="Oval 66"/>
            <p:cNvSpPr>
              <a:spLocks noChangeArrowheads="1"/>
            </p:cNvSpPr>
            <p:nvPr/>
          </p:nvSpPr>
          <p:spPr bwMode="auto">
            <a:xfrm>
              <a:off x="4686" y="1811"/>
              <a:ext cx="53" cy="5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744" name="Oval 67"/>
            <p:cNvSpPr>
              <a:spLocks noChangeArrowheads="1"/>
            </p:cNvSpPr>
            <p:nvPr/>
          </p:nvSpPr>
          <p:spPr bwMode="auto">
            <a:xfrm>
              <a:off x="5054" y="1900"/>
              <a:ext cx="53" cy="5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745" name="Rectangle 68"/>
            <p:cNvSpPr>
              <a:spLocks noChangeArrowheads="1"/>
            </p:cNvSpPr>
            <p:nvPr/>
          </p:nvSpPr>
          <p:spPr bwMode="auto">
            <a:xfrm>
              <a:off x="4221" y="2336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0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46" name="Rectangle 69"/>
            <p:cNvSpPr>
              <a:spLocks noChangeArrowheads="1"/>
            </p:cNvSpPr>
            <p:nvPr/>
          </p:nvSpPr>
          <p:spPr bwMode="auto">
            <a:xfrm>
              <a:off x="4221" y="2235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1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47" name="Rectangle 70"/>
            <p:cNvSpPr>
              <a:spLocks noChangeArrowheads="1"/>
            </p:cNvSpPr>
            <p:nvPr/>
          </p:nvSpPr>
          <p:spPr bwMode="auto">
            <a:xfrm>
              <a:off x="4221" y="2133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2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48" name="Rectangle 71"/>
            <p:cNvSpPr>
              <a:spLocks noChangeArrowheads="1"/>
            </p:cNvSpPr>
            <p:nvPr/>
          </p:nvSpPr>
          <p:spPr bwMode="auto">
            <a:xfrm>
              <a:off x="4221" y="2032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3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49" name="Rectangle 72"/>
            <p:cNvSpPr>
              <a:spLocks noChangeArrowheads="1"/>
            </p:cNvSpPr>
            <p:nvPr/>
          </p:nvSpPr>
          <p:spPr bwMode="auto">
            <a:xfrm>
              <a:off x="4221" y="1930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4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0" name="Rectangle 73"/>
            <p:cNvSpPr>
              <a:spLocks noChangeArrowheads="1"/>
            </p:cNvSpPr>
            <p:nvPr/>
          </p:nvSpPr>
          <p:spPr bwMode="auto">
            <a:xfrm>
              <a:off x="4221" y="1828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5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1" name="Rectangle 74"/>
            <p:cNvSpPr>
              <a:spLocks noChangeArrowheads="1"/>
            </p:cNvSpPr>
            <p:nvPr/>
          </p:nvSpPr>
          <p:spPr bwMode="auto">
            <a:xfrm>
              <a:off x="4221" y="1731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6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2" name="Rectangle 75"/>
            <p:cNvSpPr>
              <a:spLocks noChangeArrowheads="1"/>
            </p:cNvSpPr>
            <p:nvPr/>
          </p:nvSpPr>
          <p:spPr bwMode="auto">
            <a:xfrm>
              <a:off x="4221" y="1629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7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3" name="Rectangle 76"/>
            <p:cNvSpPr>
              <a:spLocks noChangeArrowheads="1"/>
            </p:cNvSpPr>
            <p:nvPr/>
          </p:nvSpPr>
          <p:spPr bwMode="auto">
            <a:xfrm>
              <a:off x="4221" y="1528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8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4" name="Rectangle 77"/>
            <p:cNvSpPr>
              <a:spLocks noChangeArrowheads="1"/>
            </p:cNvSpPr>
            <p:nvPr/>
          </p:nvSpPr>
          <p:spPr bwMode="auto">
            <a:xfrm>
              <a:off x="4221" y="1426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9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5" name="Rectangle 78"/>
            <p:cNvSpPr>
              <a:spLocks noChangeArrowheads="1"/>
            </p:cNvSpPr>
            <p:nvPr/>
          </p:nvSpPr>
          <p:spPr bwMode="auto">
            <a:xfrm>
              <a:off x="4197" y="1324"/>
              <a:ext cx="55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10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6" name="Rectangle 79"/>
            <p:cNvSpPr>
              <a:spLocks noChangeArrowheads="1"/>
            </p:cNvSpPr>
            <p:nvPr/>
          </p:nvSpPr>
          <p:spPr bwMode="auto">
            <a:xfrm>
              <a:off x="4266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0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7" name="Rectangle 80"/>
            <p:cNvSpPr>
              <a:spLocks noChangeArrowheads="1"/>
            </p:cNvSpPr>
            <p:nvPr/>
          </p:nvSpPr>
          <p:spPr bwMode="auto">
            <a:xfrm>
              <a:off x="4387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1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8" name="Rectangle 81"/>
            <p:cNvSpPr>
              <a:spLocks noChangeArrowheads="1"/>
            </p:cNvSpPr>
            <p:nvPr/>
          </p:nvSpPr>
          <p:spPr bwMode="auto">
            <a:xfrm>
              <a:off x="4504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2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59" name="Rectangle 82"/>
            <p:cNvSpPr>
              <a:spLocks noChangeArrowheads="1"/>
            </p:cNvSpPr>
            <p:nvPr/>
          </p:nvSpPr>
          <p:spPr bwMode="auto">
            <a:xfrm>
              <a:off x="4626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3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60" name="Rectangle 83"/>
            <p:cNvSpPr>
              <a:spLocks noChangeArrowheads="1"/>
            </p:cNvSpPr>
            <p:nvPr/>
          </p:nvSpPr>
          <p:spPr bwMode="auto">
            <a:xfrm>
              <a:off x="4747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4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61" name="Rectangle 84"/>
            <p:cNvSpPr>
              <a:spLocks noChangeArrowheads="1"/>
            </p:cNvSpPr>
            <p:nvPr/>
          </p:nvSpPr>
          <p:spPr bwMode="auto">
            <a:xfrm>
              <a:off x="4868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5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62" name="Rectangle 85"/>
            <p:cNvSpPr>
              <a:spLocks noChangeArrowheads="1"/>
            </p:cNvSpPr>
            <p:nvPr/>
          </p:nvSpPr>
          <p:spPr bwMode="auto">
            <a:xfrm>
              <a:off x="4986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6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63" name="Rectangle 86"/>
            <p:cNvSpPr>
              <a:spLocks noChangeArrowheads="1"/>
            </p:cNvSpPr>
            <p:nvPr/>
          </p:nvSpPr>
          <p:spPr bwMode="auto">
            <a:xfrm>
              <a:off x="5107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7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64" name="Rectangle 87"/>
            <p:cNvSpPr>
              <a:spLocks noChangeArrowheads="1"/>
            </p:cNvSpPr>
            <p:nvPr/>
          </p:nvSpPr>
          <p:spPr bwMode="auto">
            <a:xfrm>
              <a:off x="5228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8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65" name="Rectangle 88"/>
            <p:cNvSpPr>
              <a:spLocks noChangeArrowheads="1"/>
            </p:cNvSpPr>
            <p:nvPr/>
          </p:nvSpPr>
          <p:spPr bwMode="auto">
            <a:xfrm>
              <a:off x="5346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9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66" name="Rectangle 89"/>
            <p:cNvSpPr>
              <a:spLocks noChangeArrowheads="1"/>
            </p:cNvSpPr>
            <p:nvPr/>
          </p:nvSpPr>
          <p:spPr bwMode="auto">
            <a:xfrm>
              <a:off x="5455" y="2404"/>
              <a:ext cx="55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600">
                  <a:solidFill>
                    <a:srgbClr val="000000"/>
                  </a:solidFill>
                  <a:latin typeface="Arial" panose="020B0604020202020204" pitchFamily="34" charset="0"/>
                  <a:ea typeface="굴림" pitchFamily="50" charset="-127"/>
                </a:rPr>
                <a:t>10</a:t>
              </a:r>
              <a:endParaRPr lang="ko-KR" altLang="en-US" sz="2400">
                <a:latin typeface="Tahoma" panose="020B0604030504040204" pitchFamily="34" charset="0"/>
                <a:ea typeface="굴림" pitchFamily="50" charset="-127"/>
              </a:endParaRPr>
            </a:p>
          </p:txBody>
        </p:sp>
        <p:sp>
          <p:nvSpPr>
            <p:cNvPr id="24767" name="Rectangle 90"/>
            <p:cNvSpPr>
              <a:spLocks noChangeArrowheads="1"/>
            </p:cNvSpPr>
            <p:nvPr/>
          </p:nvSpPr>
          <p:spPr bwMode="auto">
            <a:xfrm>
              <a:off x="4144" y="1265"/>
              <a:ext cx="1400" cy="1254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4768" name="Freeform 91"/>
            <p:cNvSpPr>
              <a:spLocks/>
            </p:cNvSpPr>
            <p:nvPr/>
          </p:nvSpPr>
          <p:spPr bwMode="auto">
            <a:xfrm>
              <a:off x="4426" y="1738"/>
              <a:ext cx="116" cy="291"/>
            </a:xfrm>
            <a:custGeom>
              <a:avLst/>
              <a:gdLst>
                <a:gd name="T0" fmla="*/ 1 w 852"/>
                <a:gd name="T1" fmla="*/ 1 h 1260"/>
                <a:gd name="T2" fmla="*/ 1 w 852"/>
                <a:gd name="T3" fmla="*/ 1 h 1260"/>
                <a:gd name="T4" fmla="*/ 1 w 852"/>
                <a:gd name="T5" fmla="*/ 1 h 1260"/>
                <a:gd name="T6" fmla="*/ 1 w 852"/>
                <a:gd name="T7" fmla="*/ 1 h 1260"/>
                <a:gd name="T8" fmla="*/ 0 w 852"/>
                <a:gd name="T9" fmla="*/ 1 h 1260"/>
                <a:gd name="T10" fmla="*/ 1 w 852"/>
                <a:gd name="T11" fmla="*/ 1 h 1260"/>
                <a:gd name="T12" fmla="*/ 1 w 852"/>
                <a:gd name="T13" fmla="*/ 2 h 1260"/>
                <a:gd name="T14" fmla="*/ 1 w 852"/>
                <a:gd name="T15" fmla="*/ 2 h 1260"/>
                <a:gd name="T16" fmla="*/ 1 w 852"/>
                <a:gd name="T17" fmla="*/ 2 h 1260"/>
                <a:gd name="T18" fmla="*/ 1 w 852"/>
                <a:gd name="T19" fmla="*/ 2 h 1260"/>
                <a:gd name="T20" fmla="*/ 1 w 852"/>
                <a:gd name="T21" fmla="*/ 2 h 1260"/>
                <a:gd name="T22" fmla="*/ 1 w 852"/>
                <a:gd name="T23" fmla="*/ 2 h 1260"/>
                <a:gd name="T24" fmla="*/ 1 w 852"/>
                <a:gd name="T25" fmla="*/ 2 h 1260"/>
                <a:gd name="T26" fmla="*/ 1 w 852"/>
                <a:gd name="T27" fmla="*/ 2 h 1260"/>
                <a:gd name="T28" fmla="*/ 1 w 852"/>
                <a:gd name="T29" fmla="*/ 1 h 1260"/>
                <a:gd name="T30" fmla="*/ 1 w 852"/>
                <a:gd name="T31" fmla="*/ 1 h 1260"/>
                <a:gd name="T32" fmla="*/ 1 w 852"/>
                <a:gd name="T33" fmla="*/ 1 h 1260"/>
                <a:gd name="T34" fmla="*/ 1 w 852"/>
                <a:gd name="T35" fmla="*/ 1 h 1260"/>
                <a:gd name="T36" fmla="*/ 1 w 852"/>
                <a:gd name="T37" fmla="*/ 1 h 1260"/>
                <a:gd name="T38" fmla="*/ 1 w 852"/>
                <a:gd name="T39" fmla="*/ 1 h 1260"/>
                <a:gd name="T40" fmla="*/ 1 w 852"/>
                <a:gd name="T41" fmla="*/ 1 h 126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52"/>
                <a:gd name="T64" fmla="*/ 0 h 1260"/>
                <a:gd name="T65" fmla="*/ 852 w 852"/>
                <a:gd name="T66" fmla="*/ 1260 h 126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24769" name="Freeform 92"/>
            <p:cNvSpPr>
              <a:spLocks/>
            </p:cNvSpPr>
            <p:nvPr/>
          </p:nvSpPr>
          <p:spPr bwMode="auto">
            <a:xfrm>
              <a:off x="4846" y="1786"/>
              <a:ext cx="116" cy="291"/>
            </a:xfrm>
            <a:custGeom>
              <a:avLst/>
              <a:gdLst>
                <a:gd name="T0" fmla="*/ 1 w 768"/>
                <a:gd name="T1" fmla="*/ 1 h 630"/>
                <a:gd name="T2" fmla="*/ 1 w 768"/>
                <a:gd name="T3" fmla="*/ 1 h 630"/>
                <a:gd name="T4" fmla="*/ 1 w 768"/>
                <a:gd name="T5" fmla="*/ 1 h 630"/>
                <a:gd name="T6" fmla="*/ 1 w 768"/>
                <a:gd name="T7" fmla="*/ 1 h 630"/>
                <a:gd name="T8" fmla="*/ 1 w 768"/>
                <a:gd name="T9" fmla="*/ 1 h 630"/>
                <a:gd name="T10" fmla="*/ 1 w 768"/>
                <a:gd name="T11" fmla="*/ 1 h 630"/>
                <a:gd name="T12" fmla="*/ 1 w 768"/>
                <a:gd name="T13" fmla="*/ 1 h 630"/>
                <a:gd name="T14" fmla="*/ 1 w 768"/>
                <a:gd name="T15" fmla="*/ 1 h 630"/>
                <a:gd name="T16" fmla="*/ 1 w 768"/>
                <a:gd name="T17" fmla="*/ 1 h 630"/>
                <a:gd name="T18" fmla="*/ 1 w 768"/>
                <a:gd name="T19" fmla="*/ 1 h 630"/>
                <a:gd name="T20" fmla="*/ 1 w 768"/>
                <a:gd name="T21" fmla="*/ 1 h 630"/>
                <a:gd name="T22" fmla="*/ 1 w 768"/>
                <a:gd name="T23" fmla="*/ 1 h 630"/>
                <a:gd name="T24" fmla="*/ 1 w 768"/>
                <a:gd name="T25" fmla="*/ 1 h 630"/>
                <a:gd name="T26" fmla="*/ 1 w 768"/>
                <a:gd name="T27" fmla="*/ 1 h 630"/>
                <a:gd name="T28" fmla="*/ 1 w 768"/>
                <a:gd name="T29" fmla="*/ 1 h 630"/>
                <a:gd name="T30" fmla="*/ 1 w 768"/>
                <a:gd name="T31" fmla="*/ 1 h 630"/>
                <a:gd name="T32" fmla="*/ 1 w 768"/>
                <a:gd name="T33" fmla="*/ 1 h 630"/>
                <a:gd name="T34" fmla="*/ 1 w 768"/>
                <a:gd name="T35" fmla="*/ 1 h 630"/>
                <a:gd name="T36" fmla="*/ 1 w 768"/>
                <a:gd name="T37" fmla="*/ 1 h 630"/>
                <a:gd name="T38" fmla="*/ 1 w 768"/>
                <a:gd name="T39" fmla="*/ 0 h 630"/>
                <a:gd name="T40" fmla="*/ 1 w 768"/>
                <a:gd name="T41" fmla="*/ 1 h 630"/>
                <a:gd name="T42" fmla="*/ 1 w 768"/>
                <a:gd name="T43" fmla="*/ 1 h 63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68"/>
                <a:gd name="T67" fmla="*/ 0 h 630"/>
                <a:gd name="T68" fmla="*/ 768 w 768"/>
                <a:gd name="T69" fmla="*/ 630 h 63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sp>
        <p:nvSpPr>
          <p:cNvPr id="24585" name="Line 93"/>
          <p:cNvSpPr>
            <a:spLocks noChangeShapeType="1"/>
          </p:cNvSpPr>
          <p:nvPr/>
        </p:nvSpPr>
        <p:spPr bwMode="auto">
          <a:xfrm>
            <a:off x="7161212" y="2971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24586" name="Group 94"/>
          <p:cNvGrpSpPr>
            <a:grpSpLocks/>
          </p:cNvGrpSpPr>
          <p:nvPr/>
        </p:nvGrpSpPr>
        <p:grpSpPr bwMode="auto">
          <a:xfrm>
            <a:off x="8151812" y="4114800"/>
            <a:ext cx="2286000" cy="2286000"/>
            <a:chOff x="3312" y="2640"/>
            <a:chExt cx="1440" cy="1440"/>
          </a:xfrm>
        </p:grpSpPr>
        <p:graphicFrame>
          <p:nvGraphicFramePr>
            <p:cNvPr id="24684" name="Object 1"/>
            <p:cNvGraphicFramePr>
              <a:graphicFrameLocks noChangeAspect="1"/>
            </p:cNvGraphicFramePr>
            <p:nvPr/>
          </p:nvGraphicFramePr>
          <p:xfrm>
            <a:off x="3312" y="2832"/>
            <a:ext cx="1440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3" name="Worksheet" r:id="rId5" imgW="3419856" imgH="2934005" progId="Excel.Sheet.8">
                    <p:embed/>
                  </p:oleObj>
                </mc:Choice>
                <mc:Fallback>
                  <p:oleObj name="Worksheet" r:id="rId5" imgW="3419856" imgH="2934005" progId="Excel.Shee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832"/>
                          <a:ext cx="1440" cy="1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85" name="Line 96"/>
            <p:cNvSpPr>
              <a:spLocks noChangeShapeType="1"/>
            </p:cNvSpPr>
            <p:nvPr/>
          </p:nvSpPr>
          <p:spPr bwMode="auto">
            <a:xfrm>
              <a:off x="3984" y="26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4587" name="Group 97"/>
          <p:cNvGrpSpPr>
            <a:grpSpLocks/>
          </p:cNvGrpSpPr>
          <p:nvPr/>
        </p:nvGrpSpPr>
        <p:grpSpPr bwMode="auto">
          <a:xfrm>
            <a:off x="4799012" y="4419600"/>
            <a:ext cx="3200400" cy="1981200"/>
            <a:chOff x="1200" y="2832"/>
            <a:chExt cx="2016" cy="1248"/>
          </a:xfrm>
        </p:grpSpPr>
        <p:grpSp>
          <p:nvGrpSpPr>
            <p:cNvPr id="24679" name="Group 98"/>
            <p:cNvGrpSpPr>
              <a:grpSpLocks/>
            </p:cNvGrpSpPr>
            <p:nvPr/>
          </p:nvGrpSpPr>
          <p:grpSpPr bwMode="auto">
            <a:xfrm>
              <a:off x="1200" y="2832"/>
              <a:ext cx="1440" cy="1248"/>
              <a:chOff x="3108" y="2256"/>
              <a:chExt cx="2148" cy="1872"/>
            </a:xfrm>
          </p:grpSpPr>
          <p:graphicFrame>
            <p:nvGraphicFramePr>
              <p:cNvPr id="24681" name="Object 0"/>
              <p:cNvGraphicFramePr>
                <a:graphicFrameLocks noChangeAspect="1"/>
              </p:cNvGraphicFramePr>
              <p:nvPr/>
            </p:nvGraphicFramePr>
            <p:xfrm>
              <a:off x="3108" y="2256"/>
              <a:ext cx="2148" cy="18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34" name="Worksheet" r:id="rId7" imgW="3410407" imgH="2924556" progId="Excel.Sheet.8">
                      <p:embed/>
                    </p:oleObj>
                  </mc:Choice>
                  <mc:Fallback>
                    <p:oleObj name="Worksheet" r:id="rId7" imgW="3410407" imgH="2924556" progId="Excel.Sheet.8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8" y="2256"/>
                            <a:ext cx="2148" cy="18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82" name="Freeform 100"/>
              <p:cNvSpPr>
                <a:spLocks/>
              </p:cNvSpPr>
              <p:nvPr/>
            </p:nvSpPr>
            <p:spPr bwMode="auto">
              <a:xfrm>
                <a:off x="3638" y="2801"/>
                <a:ext cx="174" cy="436"/>
              </a:xfrm>
              <a:custGeom>
                <a:avLst/>
                <a:gdLst>
                  <a:gd name="T0" fmla="*/ 199 w 728"/>
                  <a:gd name="T1" fmla="*/ 7 h 896"/>
                  <a:gd name="T2" fmla="*/ 110 w 728"/>
                  <a:gd name="T3" fmla="*/ 96 h 896"/>
                  <a:gd name="T4" fmla="*/ 80 w 728"/>
                  <a:gd name="T5" fmla="*/ 140 h 896"/>
                  <a:gd name="T6" fmla="*/ 65 w 728"/>
                  <a:gd name="T7" fmla="*/ 162 h 896"/>
                  <a:gd name="T8" fmla="*/ 21 w 728"/>
                  <a:gd name="T9" fmla="*/ 303 h 896"/>
                  <a:gd name="T10" fmla="*/ 65 w 728"/>
                  <a:gd name="T11" fmla="*/ 703 h 896"/>
                  <a:gd name="T12" fmla="*/ 110 w 728"/>
                  <a:gd name="T13" fmla="*/ 763 h 896"/>
                  <a:gd name="T14" fmla="*/ 332 w 728"/>
                  <a:gd name="T15" fmla="*/ 896 h 896"/>
                  <a:gd name="T16" fmla="*/ 495 w 728"/>
                  <a:gd name="T17" fmla="*/ 851 h 896"/>
                  <a:gd name="T18" fmla="*/ 636 w 728"/>
                  <a:gd name="T19" fmla="*/ 711 h 896"/>
                  <a:gd name="T20" fmla="*/ 688 w 728"/>
                  <a:gd name="T21" fmla="*/ 607 h 896"/>
                  <a:gd name="T22" fmla="*/ 702 w 728"/>
                  <a:gd name="T23" fmla="*/ 563 h 896"/>
                  <a:gd name="T24" fmla="*/ 710 w 728"/>
                  <a:gd name="T25" fmla="*/ 540 h 896"/>
                  <a:gd name="T26" fmla="*/ 680 w 728"/>
                  <a:gd name="T27" fmla="*/ 296 h 896"/>
                  <a:gd name="T28" fmla="*/ 569 w 728"/>
                  <a:gd name="T29" fmla="*/ 133 h 896"/>
                  <a:gd name="T30" fmla="*/ 510 w 728"/>
                  <a:gd name="T31" fmla="*/ 88 h 896"/>
                  <a:gd name="T32" fmla="*/ 465 w 728"/>
                  <a:gd name="T33" fmla="*/ 59 h 896"/>
                  <a:gd name="T34" fmla="*/ 295 w 728"/>
                  <a:gd name="T35" fmla="*/ 0 h 896"/>
                  <a:gd name="T36" fmla="*/ 206 w 728"/>
                  <a:gd name="T37" fmla="*/ 7 h 896"/>
                  <a:gd name="T38" fmla="*/ 184 w 728"/>
                  <a:gd name="T39" fmla="*/ 14 h 896"/>
                  <a:gd name="T40" fmla="*/ 199 w 728"/>
                  <a:gd name="T41" fmla="*/ 7 h 89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28"/>
                  <a:gd name="T64" fmla="*/ 0 h 896"/>
                  <a:gd name="T65" fmla="*/ 728 w 728"/>
                  <a:gd name="T66" fmla="*/ 896 h 89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28" h="896">
                    <a:moveTo>
                      <a:pt x="199" y="7"/>
                    </a:moveTo>
                    <a:cubicBezTo>
                      <a:pt x="148" y="19"/>
                      <a:pt x="135" y="54"/>
                      <a:pt x="110" y="96"/>
                    </a:cubicBezTo>
                    <a:cubicBezTo>
                      <a:pt x="101" y="111"/>
                      <a:pt x="90" y="125"/>
                      <a:pt x="80" y="140"/>
                    </a:cubicBezTo>
                    <a:cubicBezTo>
                      <a:pt x="75" y="147"/>
                      <a:pt x="65" y="162"/>
                      <a:pt x="65" y="162"/>
                    </a:cubicBezTo>
                    <a:cubicBezTo>
                      <a:pt x="50" y="210"/>
                      <a:pt x="33" y="254"/>
                      <a:pt x="21" y="303"/>
                    </a:cubicBezTo>
                    <a:cubicBezTo>
                      <a:pt x="4" y="446"/>
                      <a:pt x="0" y="574"/>
                      <a:pt x="65" y="703"/>
                    </a:cubicBezTo>
                    <a:cubicBezTo>
                      <a:pt x="79" y="731"/>
                      <a:pt x="83" y="744"/>
                      <a:pt x="110" y="763"/>
                    </a:cubicBezTo>
                    <a:cubicBezTo>
                      <a:pt x="159" y="835"/>
                      <a:pt x="250" y="874"/>
                      <a:pt x="332" y="896"/>
                    </a:cubicBezTo>
                    <a:cubicBezTo>
                      <a:pt x="394" y="889"/>
                      <a:pt x="441" y="878"/>
                      <a:pt x="495" y="851"/>
                    </a:cubicBezTo>
                    <a:cubicBezTo>
                      <a:pt x="537" y="789"/>
                      <a:pt x="571" y="751"/>
                      <a:pt x="636" y="711"/>
                    </a:cubicBezTo>
                    <a:cubicBezTo>
                      <a:pt x="660" y="674"/>
                      <a:pt x="672" y="647"/>
                      <a:pt x="688" y="607"/>
                    </a:cubicBezTo>
                    <a:cubicBezTo>
                      <a:pt x="694" y="593"/>
                      <a:pt x="697" y="578"/>
                      <a:pt x="702" y="563"/>
                    </a:cubicBezTo>
                    <a:cubicBezTo>
                      <a:pt x="705" y="555"/>
                      <a:pt x="710" y="540"/>
                      <a:pt x="710" y="540"/>
                    </a:cubicBezTo>
                    <a:cubicBezTo>
                      <a:pt x="720" y="459"/>
                      <a:pt x="728" y="366"/>
                      <a:pt x="680" y="296"/>
                    </a:cubicBezTo>
                    <a:cubicBezTo>
                      <a:pt x="659" y="231"/>
                      <a:pt x="621" y="176"/>
                      <a:pt x="569" y="133"/>
                    </a:cubicBezTo>
                    <a:cubicBezTo>
                      <a:pt x="550" y="117"/>
                      <a:pt x="530" y="103"/>
                      <a:pt x="510" y="88"/>
                    </a:cubicBezTo>
                    <a:cubicBezTo>
                      <a:pt x="496" y="77"/>
                      <a:pt x="465" y="59"/>
                      <a:pt x="465" y="59"/>
                    </a:cubicBezTo>
                    <a:cubicBezTo>
                      <a:pt x="428" y="0"/>
                      <a:pt x="358" y="5"/>
                      <a:pt x="295" y="0"/>
                    </a:cubicBezTo>
                    <a:cubicBezTo>
                      <a:pt x="265" y="2"/>
                      <a:pt x="236" y="3"/>
                      <a:pt x="206" y="7"/>
                    </a:cubicBezTo>
                    <a:cubicBezTo>
                      <a:pt x="198" y="8"/>
                      <a:pt x="192" y="14"/>
                      <a:pt x="184" y="14"/>
                    </a:cubicBezTo>
                    <a:cubicBezTo>
                      <a:pt x="178" y="14"/>
                      <a:pt x="194" y="9"/>
                      <a:pt x="199" y="7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4683" name="Freeform 101"/>
              <p:cNvSpPr>
                <a:spLocks/>
              </p:cNvSpPr>
              <p:nvPr/>
            </p:nvSpPr>
            <p:spPr bwMode="auto">
              <a:xfrm>
                <a:off x="4090" y="3160"/>
                <a:ext cx="174" cy="436"/>
              </a:xfrm>
              <a:custGeom>
                <a:avLst/>
                <a:gdLst>
                  <a:gd name="T0" fmla="*/ 510 w 802"/>
                  <a:gd name="T1" fmla="*/ 44 h 889"/>
                  <a:gd name="T2" fmla="*/ 376 w 802"/>
                  <a:gd name="T3" fmla="*/ 177 h 889"/>
                  <a:gd name="T4" fmla="*/ 236 w 802"/>
                  <a:gd name="T5" fmla="*/ 296 h 889"/>
                  <a:gd name="T6" fmla="*/ 221 w 802"/>
                  <a:gd name="T7" fmla="*/ 318 h 889"/>
                  <a:gd name="T8" fmla="*/ 199 w 802"/>
                  <a:gd name="T9" fmla="*/ 333 h 889"/>
                  <a:gd name="T10" fmla="*/ 191 w 802"/>
                  <a:gd name="T11" fmla="*/ 355 h 889"/>
                  <a:gd name="T12" fmla="*/ 169 w 802"/>
                  <a:gd name="T13" fmla="*/ 385 h 889"/>
                  <a:gd name="T14" fmla="*/ 132 w 802"/>
                  <a:gd name="T15" fmla="*/ 496 h 889"/>
                  <a:gd name="T16" fmla="*/ 110 w 802"/>
                  <a:gd name="T17" fmla="*/ 518 h 889"/>
                  <a:gd name="T18" fmla="*/ 80 w 802"/>
                  <a:gd name="T19" fmla="*/ 562 h 889"/>
                  <a:gd name="T20" fmla="*/ 43 w 802"/>
                  <a:gd name="T21" fmla="*/ 629 h 889"/>
                  <a:gd name="T22" fmla="*/ 13 w 802"/>
                  <a:gd name="T23" fmla="*/ 703 h 889"/>
                  <a:gd name="T24" fmla="*/ 36 w 802"/>
                  <a:gd name="T25" fmla="*/ 844 h 889"/>
                  <a:gd name="T26" fmla="*/ 80 w 802"/>
                  <a:gd name="T27" fmla="*/ 874 h 889"/>
                  <a:gd name="T28" fmla="*/ 124 w 802"/>
                  <a:gd name="T29" fmla="*/ 888 h 889"/>
                  <a:gd name="T30" fmla="*/ 354 w 802"/>
                  <a:gd name="T31" fmla="*/ 874 h 889"/>
                  <a:gd name="T32" fmla="*/ 517 w 802"/>
                  <a:gd name="T33" fmla="*/ 822 h 889"/>
                  <a:gd name="T34" fmla="*/ 569 w 802"/>
                  <a:gd name="T35" fmla="*/ 792 h 889"/>
                  <a:gd name="T36" fmla="*/ 673 w 802"/>
                  <a:gd name="T37" fmla="*/ 651 h 889"/>
                  <a:gd name="T38" fmla="*/ 695 w 802"/>
                  <a:gd name="T39" fmla="*/ 600 h 889"/>
                  <a:gd name="T40" fmla="*/ 747 w 802"/>
                  <a:gd name="T41" fmla="*/ 533 h 889"/>
                  <a:gd name="T42" fmla="*/ 784 w 802"/>
                  <a:gd name="T43" fmla="*/ 451 h 889"/>
                  <a:gd name="T44" fmla="*/ 798 w 802"/>
                  <a:gd name="T45" fmla="*/ 385 h 889"/>
                  <a:gd name="T46" fmla="*/ 650 w 802"/>
                  <a:gd name="T47" fmla="*/ 0 h 889"/>
                  <a:gd name="T48" fmla="*/ 532 w 802"/>
                  <a:gd name="T49" fmla="*/ 22 h 889"/>
                  <a:gd name="T50" fmla="*/ 510 w 802"/>
                  <a:gd name="T51" fmla="*/ 44 h 8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802"/>
                  <a:gd name="T79" fmla="*/ 0 h 889"/>
                  <a:gd name="T80" fmla="*/ 802 w 802"/>
                  <a:gd name="T81" fmla="*/ 889 h 8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802" h="889">
                    <a:moveTo>
                      <a:pt x="510" y="44"/>
                    </a:moveTo>
                    <a:cubicBezTo>
                      <a:pt x="455" y="80"/>
                      <a:pt x="422" y="133"/>
                      <a:pt x="376" y="177"/>
                    </a:cubicBezTo>
                    <a:cubicBezTo>
                      <a:pt x="346" y="236"/>
                      <a:pt x="298" y="273"/>
                      <a:pt x="236" y="296"/>
                    </a:cubicBezTo>
                    <a:cubicBezTo>
                      <a:pt x="231" y="303"/>
                      <a:pt x="227" y="312"/>
                      <a:pt x="221" y="318"/>
                    </a:cubicBezTo>
                    <a:cubicBezTo>
                      <a:pt x="215" y="324"/>
                      <a:pt x="205" y="326"/>
                      <a:pt x="199" y="333"/>
                    </a:cubicBezTo>
                    <a:cubicBezTo>
                      <a:pt x="194" y="339"/>
                      <a:pt x="195" y="348"/>
                      <a:pt x="191" y="355"/>
                    </a:cubicBezTo>
                    <a:cubicBezTo>
                      <a:pt x="185" y="366"/>
                      <a:pt x="176" y="375"/>
                      <a:pt x="169" y="385"/>
                    </a:cubicBezTo>
                    <a:cubicBezTo>
                      <a:pt x="156" y="422"/>
                      <a:pt x="155" y="463"/>
                      <a:pt x="132" y="496"/>
                    </a:cubicBezTo>
                    <a:cubicBezTo>
                      <a:pt x="126" y="504"/>
                      <a:pt x="116" y="510"/>
                      <a:pt x="110" y="518"/>
                    </a:cubicBezTo>
                    <a:cubicBezTo>
                      <a:pt x="99" y="532"/>
                      <a:pt x="80" y="562"/>
                      <a:pt x="80" y="562"/>
                    </a:cubicBezTo>
                    <a:cubicBezTo>
                      <a:pt x="68" y="602"/>
                      <a:pt x="78" y="578"/>
                      <a:pt x="43" y="629"/>
                    </a:cubicBezTo>
                    <a:cubicBezTo>
                      <a:pt x="28" y="651"/>
                      <a:pt x="22" y="678"/>
                      <a:pt x="13" y="703"/>
                    </a:cubicBezTo>
                    <a:cubicBezTo>
                      <a:pt x="15" y="727"/>
                      <a:pt x="0" y="812"/>
                      <a:pt x="36" y="844"/>
                    </a:cubicBezTo>
                    <a:cubicBezTo>
                      <a:pt x="49" y="856"/>
                      <a:pt x="65" y="864"/>
                      <a:pt x="80" y="874"/>
                    </a:cubicBezTo>
                    <a:cubicBezTo>
                      <a:pt x="93" y="883"/>
                      <a:pt x="124" y="888"/>
                      <a:pt x="124" y="888"/>
                    </a:cubicBezTo>
                    <a:cubicBezTo>
                      <a:pt x="167" y="886"/>
                      <a:pt x="287" y="889"/>
                      <a:pt x="354" y="874"/>
                    </a:cubicBezTo>
                    <a:cubicBezTo>
                      <a:pt x="410" y="861"/>
                      <a:pt x="461" y="835"/>
                      <a:pt x="517" y="822"/>
                    </a:cubicBezTo>
                    <a:cubicBezTo>
                      <a:pt x="534" y="811"/>
                      <a:pt x="553" y="804"/>
                      <a:pt x="569" y="792"/>
                    </a:cubicBezTo>
                    <a:cubicBezTo>
                      <a:pt x="613" y="757"/>
                      <a:pt x="651" y="702"/>
                      <a:pt x="673" y="651"/>
                    </a:cubicBezTo>
                    <a:cubicBezTo>
                      <a:pt x="680" y="634"/>
                      <a:pt x="685" y="615"/>
                      <a:pt x="695" y="600"/>
                    </a:cubicBezTo>
                    <a:cubicBezTo>
                      <a:pt x="711" y="577"/>
                      <a:pt x="747" y="533"/>
                      <a:pt x="747" y="533"/>
                    </a:cubicBezTo>
                    <a:cubicBezTo>
                      <a:pt x="756" y="504"/>
                      <a:pt x="784" y="451"/>
                      <a:pt x="784" y="451"/>
                    </a:cubicBezTo>
                    <a:cubicBezTo>
                      <a:pt x="787" y="439"/>
                      <a:pt x="798" y="395"/>
                      <a:pt x="798" y="385"/>
                    </a:cubicBezTo>
                    <a:cubicBezTo>
                      <a:pt x="798" y="264"/>
                      <a:pt x="802" y="46"/>
                      <a:pt x="650" y="0"/>
                    </a:cubicBezTo>
                    <a:cubicBezTo>
                      <a:pt x="598" y="5"/>
                      <a:pt x="575" y="6"/>
                      <a:pt x="532" y="22"/>
                    </a:cubicBezTo>
                    <a:cubicBezTo>
                      <a:pt x="516" y="46"/>
                      <a:pt x="526" y="44"/>
                      <a:pt x="510" y="44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</p:grpSp>
        <p:sp>
          <p:nvSpPr>
            <p:cNvPr id="24680" name="Line 102"/>
            <p:cNvSpPr>
              <a:spLocks noChangeShapeType="1"/>
            </p:cNvSpPr>
            <p:nvPr/>
          </p:nvSpPr>
          <p:spPr bwMode="auto">
            <a:xfrm flipH="1">
              <a:off x="2784" y="326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4588" name="Rectangle 103"/>
          <p:cNvSpPr>
            <a:spLocks noChangeArrowheads="1"/>
          </p:cNvSpPr>
          <p:nvPr/>
        </p:nvSpPr>
        <p:spPr bwMode="auto">
          <a:xfrm>
            <a:off x="1624012" y="2084389"/>
            <a:ext cx="2222500" cy="1990725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4589" name="Rectangle 104"/>
          <p:cNvSpPr>
            <a:spLocks noChangeArrowheads="1"/>
          </p:cNvSpPr>
          <p:nvPr/>
        </p:nvSpPr>
        <p:spPr bwMode="auto">
          <a:xfrm>
            <a:off x="1836737" y="2225675"/>
            <a:ext cx="1906588" cy="1606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4590" name="Line 105"/>
          <p:cNvSpPr>
            <a:spLocks noChangeShapeType="1"/>
          </p:cNvSpPr>
          <p:nvPr/>
        </p:nvSpPr>
        <p:spPr bwMode="auto">
          <a:xfrm>
            <a:off x="1836737" y="36703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1" name="Line 106"/>
          <p:cNvSpPr>
            <a:spLocks noChangeShapeType="1"/>
          </p:cNvSpPr>
          <p:nvPr/>
        </p:nvSpPr>
        <p:spPr bwMode="auto">
          <a:xfrm>
            <a:off x="1836737" y="3509964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2" name="Line 107"/>
          <p:cNvSpPr>
            <a:spLocks noChangeShapeType="1"/>
          </p:cNvSpPr>
          <p:nvPr/>
        </p:nvSpPr>
        <p:spPr bwMode="auto">
          <a:xfrm>
            <a:off x="1836737" y="3348039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3" name="Line 108"/>
          <p:cNvSpPr>
            <a:spLocks noChangeShapeType="1"/>
          </p:cNvSpPr>
          <p:nvPr/>
        </p:nvSpPr>
        <p:spPr bwMode="auto">
          <a:xfrm>
            <a:off x="1836737" y="31877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4" name="Line 109"/>
          <p:cNvSpPr>
            <a:spLocks noChangeShapeType="1"/>
          </p:cNvSpPr>
          <p:nvPr/>
        </p:nvSpPr>
        <p:spPr bwMode="auto">
          <a:xfrm>
            <a:off x="1836737" y="302577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5" name="Line 110"/>
          <p:cNvSpPr>
            <a:spLocks noChangeShapeType="1"/>
          </p:cNvSpPr>
          <p:nvPr/>
        </p:nvSpPr>
        <p:spPr bwMode="auto">
          <a:xfrm>
            <a:off x="1836737" y="28702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6" name="Line 111"/>
          <p:cNvSpPr>
            <a:spLocks noChangeShapeType="1"/>
          </p:cNvSpPr>
          <p:nvPr/>
        </p:nvSpPr>
        <p:spPr bwMode="auto">
          <a:xfrm>
            <a:off x="1836737" y="2709864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7" name="Line 112"/>
          <p:cNvSpPr>
            <a:spLocks noChangeShapeType="1"/>
          </p:cNvSpPr>
          <p:nvPr/>
        </p:nvSpPr>
        <p:spPr bwMode="auto">
          <a:xfrm>
            <a:off x="1836737" y="2547939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8" name="Line 113"/>
          <p:cNvSpPr>
            <a:spLocks noChangeShapeType="1"/>
          </p:cNvSpPr>
          <p:nvPr/>
        </p:nvSpPr>
        <p:spPr bwMode="auto">
          <a:xfrm>
            <a:off x="1836737" y="23876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599" name="Line 114"/>
          <p:cNvSpPr>
            <a:spLocks noChangeShapeType="1"/>
          </p:cNvSpPr>
          <p:nvPr/>
        </p:nvSpPr>
        <p:spPr bwMode="auto">
          <a:xfrm>
            <a:off x="1836737" y="222567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0" name="Line 115"/>
          <p:cNvSpPr>
            <a:spLocks noChangeShapeType="1"/>
          </p:cNvSpPr>
          <p:nvPr/>
        </p:nvSpPr>
        <p:spPr bwMode="auto">
          <a:xfrm>
            <a:off x="2028826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1" name="Line 116"/>
          <p:cNvSpPr>
            <a:spLocks noChangeShapeType="1"/>
          </p:cNvSpPr>
          <p:nvPr/>
        </p:nvSpPr>
        <p:spPr bwMode="auto">
          <a:xfrm>
            <a:off x="2214562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2" name="Line 117"/>
          <p:cNvSpPr>
            <a:spLocks noChangeShapeType="1"/>
          </p:cNvSpPr>
          <p:nvPr/>
        </p:nvSpPr>
        <p:spPr bwMode="auto">
          <a:xfrm>
            <a:off x="2408237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3" name="Line 118"/>
          <p:cNvSpPr>
            <a:spLocks noChangeShapeType="1"/>
          </p:cNvSpPr>
          <p:nvPr/>
        </p:nvSpPr>
        <p:spPr bwMode="auto">
          <a:xfrm>
            <a:off x="2600326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4" name="Line 119"/>
          <p:cNvSpPr>
            <a:spLocks noChangeShapeType="1"/>
          </p:cNvSpPr>
          <p:nvPr/>
        </p:nvSpPr>
        <p:spPr bwMode="auto">
          <a:xfrm>
            <a:off x="2792412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5" name="Line 120"/>
          <p:cNvSpPr>
            <a:spLocks noChangeShapeType="1"/>
          </p:cNvSpPr>
          <p:nvPr/>
        </p:nvSpPr>
        <p:spPr bwMode="auto">
          <a:xfrm>
            <a:off x="2979737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6" name="Line 121"/>
          <p:cNvSpPr>
            <a:spLocks noChangeShapeType="1"/>
          </p:cNvSpPr>
          <p:nvPr/>
        </p:nvSpPr>
        <p:spPr bwMode="auto">
          <a:xfrm>
            <a:off x="3171826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7" name="Line 122"/>
          <p:cNvSpPr>
            <a:spLocks noChangeShapeType="1"/>
          </p:cNvSpPr>
          <p:nvPr/>
        </p:nvSpPr>
        <p:spPr bwMode="auto">
          <a:xfrm>
            <a:off x="3363912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8" name="Line 123"/>
          <p:cNvSpPr>
            <a:spLocks noChangeShapeType="1"/>
          </p:cNvSpPr>
          <p:nvPr/>
        </p:nvSpPr>
        <p:spPr bwMode="auto">
          <a:xfrm>
            <a:off x="3551237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09" name="Line 124"/>
          <p:cNvSpPr>
            <a:spLocks noChangeShapeType="1"/>
          </p:cNvSpPr>
          <p:nvPr/>
        </p:nvSpPr>
        <p:spPr bwMode="auto">
          <a:xfrm>
            <a:off x="3743326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0" name="Rectangle 125"/>
          <p:cNvSpPr>
            <a:spLocks noChangeArrowheads="1"/>
          </p:cNvSpPr>
          <p:nvPr/>
        </p:nvSpPr>
        <p:spPr bwMode="auto">
          <a:xfrm>
            <a:off x="1836737" y="2225675"/>
            <a:ext cx="1906588" cy="160655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4611" name="Line 126"/>
          <p:cNvSpPr>
            <a:spLocks noChangeShapeType="1"/>
          </p:cNvSpPr>
          <p:nvPr/>
        </p:nvSpPr>
        <p:spPr bwMode="auto">
          <a:xfrm>
            <a:off x="1836737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2" name="Line 127"/>
          <p:cNvSpPr>
            <a:spLocks noChangeShapeType="1"/>
          </p:cNvSpPr>
          <p:nvPr/>
        </p:nvSpPr>
        <p:spPr bwMode="auto">
          <a:xfrm>
            <a:off x="1817687" y="383222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3" name="Line 128"/>
          <p:cNvSpPr>
            <a:spLocks noChangeShapeType="1"/>
          </p:cNvSpPr>
          <p:nvPr/>
        </p:nvSpPr>
        <p:spPr bwMode="auto">
          <a:xfrm>
            <a:off x="1817687" y="36703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4" name="Line 129"/>
          <p:cNvSpPr>
            <a:spLocks noChangeShapeType="1"/>
          </p:cNvSpPr>
          <p:nvPr/>
        </p:nvSpPr>
        <p:spPr bwMode="auto">
          <a:xfrm>
            <a:off x="1817687" y="3509964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5" name="Line 130"/>
          <p:cNvSpPr>
            <a:spLocks noChangeShapeType="1"/>
          </p:cNvSpPr>
          <p:nvPr/>
        </p:nvSpPr>
        <p:spPr bwMode="auto">
          <a:xfrm>
            <a:off x="1817687" y="3348039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6" name="Line 131"/>
          <p:cNvSpPr>
            <a:spLocks noChangeShapeType="1"/>
          </p:cNvSpPr>
          <p:nvPr/>
        </p:nvSpPr>
        <p:spPr bwMode="auto">
          <a:xfrm>
            <a:off x="1817687" y="31877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7" name="Line 132"/>
          <p:cNvSpPr>
            <a:spLocks noChangeShapeType="1"/>
          </p:cNvSpPr>
          <p:nvPr/>
        </p:nvSpPr>
        <p:spPr bwMode="auto">
          <a:xfrm>
            <a:off x="1817687" y="302577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8" name="Line 133"/>
          <p:cNvSpPr>
            <a:spLocks noChangeShapeType="1"/>
          </p:cNvSpPr>
          <p:nvPr/>
        </p:nvSpPr>
        <p:spPr bwMode="auto">
          <a:xfrm>
            <a:off x="1817687" y="28702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19" name="Line 134"/>
          <p:cNvSpPr>
            <a:spLocks noChangeShapeType="1"/>
          </p:cNvSpPr>
          <p:nvPr/>
        </p:nvSpPr>
        <p:spPr bwMode="auto">
          <a:xfrm>
            <a:off x="1817687" y="2709864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0" name="Line 135"/>
          <p:cNvSpPr>
            <a:spLocks noChangeShapeType="1"/>
          </p:cNvSpPr>
          <p:nvPr/>
        </p:nvSpPr>
        <p:spPr bwMode="auto">
          <a:xfrm>
            <a:off x="1817687" y="2547939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1" name="Line 136"/>
          <p:cNvSpPr>
            <a:spLocks noChangeShapeType="1"/>
          </p:cNvSpPr>
          <p:nvPr/>
        </p:nvSpPr>
        <p:spPr bwMode="auto">
          <a:xfrm>
            <a:off x="1817687" y="23876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2" name="Line 137"/>
          <p:cNvSpPr>
            <a:spLocks noChangeShapeType="1"/>
          </p:cNvSpPr>
          <p:nvPr/>
        </p:nvSpPr>
        <p:spPr bwMode="auto">
          <a:xfrm>
            <a:off x="1817687" y="222567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3" name="Line 138"/>
          <p:cNvSpPr>
            <a:spLocks noChangeShapeType="1"/>
          </p:cNvSpPr>
          <p:nvPr/>
        </p:nvSpPr>
        <p:spPr bwMode="auto">
          <a:xfrm>
            <a:off x="1836737" y="383222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4" name="Line 139"/>
          <p:cNvSpPr>
            <a:spLocks noChangeShapeType="1"/>
          </p:cNvSpPr>
          <p:nvPr/>
        </p:nvSpPr>
        <p:spPr bwMode="auto">
          <a:xfrm flipV="1">
            <a:off x="1836737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5" name="Line 140"/>
          <p:cNvSpPr>
            <a:spLocks noChangeShapeType="1"/>
          </p:cNvSpPr>
          <p:nvPr/>
        </p:nvSpPr>
        <p:spPr bwMode="auto">
          <a:xfrm flipV="1">
            <a:off x="2028826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6" name="Line 141"/>
          <p:cNvSpPr>
            <a:spLocks noChangeShapeType="1"/>
          </p:cNvSpPr>
          <p:nvPr/>
        </p:nvSpPr>
        <p:spPr bwMode="auto">
          <a:xfrm flipV="1">
            <a:off x="2214562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7" name="Line 142"/>
          <p:cNvSpPr>
            <a:spLocks noChangeShapeType="1"/>
          </p:cNvSpPr>
          <p:nvPr/>
        </p:nvSpPr>
        <p:spPr bwMode="auto">
          <a:xfrm flipV="1">
            <a:off x="2408237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8" name="Line 143"/>
          <p:cNvSpPr>
            <a:spLocks noChangeShapeType="1"/>
          </p:cNvSpPr>
          <p:nvPr/>
        </p:nvSpPr>
        <p:spPr bwMode="auto">
          <a:xfrm flipV="1">
            <a:off x="2600326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29" name="Line 144"/>
          <p:cNvSpPr>
            <a:spLocks noChangeShapeType="1"/>
          </p:cNvSpPr>
          <p:nvPr/>
        </p:nvSpPr>
        <p:spPr bwMode="auto">
          <a:xfrm flipV="1">
            <a:off x="2792412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30" name="Line 145"/>
          <p:cNvSpPr>
            <a:spLocks noChangeShapeType="1"/>
          </p:cNvSpPr>
          <p:nvPr/>
        </p:nvSpPr>
        <p:spPr bwMode="auto">
          <a:xfrm flipV="1">
            <a:off x="2979737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31" name="Line 146"/>
          <p:cNvSpPr>
            <a:spLocks noChangeShapeType="1"/>
          </p:cNvSpPr>
          <p:nvPr/>
        </p:nvSpPr>
        <p:spPr bwMode="auto">
          <a:xfrm flipV="1">
            <a:off x="3171826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32" name="Line 147"/>
          <p:cNvSpPr>
            <a:spLocks noChangeShapeType="1"/>
          </p:cNvSpPr>
          <p:nvPr/>
        </p:nvSpPr>
        <p:spPr bwMode="auto">
          <a:xfrm flipV="1">
            <a:off x="3363912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33" name="Line 148"/>
          <p:cNvSpPr>
            <a:spLocks noChangeShapeType="1"/>
          </p:cNvSpPr>
          <p:nvPr/>
        </p:nvSpPr>
        <p:spPr bwMode="auto">
          <a:xfrm flipV="1">
            <a:off x="3551237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34" name="Line 149"/>
          <p:cNvSpPr>
            <a:spLocks noChangeShapeType="1"/>
          </p:cNvSpPr>
          <p:nvPr/>
        </p:nvSpPr>
        <p:spPr bwMode="auto">
          <a:xfrm flipV="1">
            <a:off x="3743326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635" name="Freeform 150"/>
          <p:cNvSpPr>
            <a:spLocks/>
          </p:cNvSpPr>
          <p:nvPr/>
        </p:nvSpPr>
        <p:spPr bwMode="auto">
          <a:xfrm>
            <a:off x="2362201" y="2824163"/>
            <a:ext cx="90487" cy="93662"/>
          </a:xfrm>
          <a:custGeom>
            <a:avLst/>
            <a:gdLst>
              <a:gd name="T0" fmla="*/ 2147483647 w 57"/>
              <a:gd name="T1" fmla="*/ 0 h 59"/>
              <a:gd name="T2" fmla="*/ 2147483647 w 57"/>
              <a:gd name="T3" fmla="*/ 2147483647 h 59"/>
              <a:gd name="T4" fmla="*/ 2147483647 w 57"/>
              <a:gd name="T5" fmla="*/ 2147483647 h 59"/>
              <a:gd name="T6" fmla="*/ 0 w 57"/>
              <a:gd name="T7" fmla="*/ 2147483647 h 59"/>
              <a:gd name="T8" fmla="*/ 2147483647 w 57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59"/>
              <a:gd name="T17" fmla="*/ 57 w 57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36" name="Freeform 151"/>
          <p:cNvSpPr>
            <a:spLocks/>
          </p:cNvSpPr>
          <p:nvPr/>
        </p:nvSpPr>
        <p:spPr bwMode="auto">
          <a:xfrm>
            <a:off x="3127375" y="3302001"/>
            <a:ext cx="88900" cy="93663"/>
          </a:xfrm>
          <a:custGeom>
            <a:avLst/>
            <a:gdLst>
              <a:gd name="T0" fmla="*/ 2147483647 w 56"/>
              <a:gd name="T1" fmla="*/ 0 h 59"/>
              <a:gd name="T2" fmla="*/ 2147483647 w 56"/>
              <a:gd name="T3" fmla="*/ 2147483647 h 59"/>
              <a:gd name="T4" fmla="*/ 2147483647 w 56"/>
              <a:gd name="T5" fmla="*/ 2147483647 h 59"/>
              <a:gd name="T6" fmla="*/ 0 w 56"/>
              <a:gd name="T7" fmla="*/ 2147483647 h 59"/>
              <a:gd name="T8" fmla="*/ 2147483647 w 56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9"/>
              <a:gd name="T17" fmla="*/ 56 w 56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37" name="Freeform 152"/>
          <p:cNvSpPr>
            <a:spLocks/>
          </p:cNvSpPr>
          <p:nvPr/>
        </p:nvSpPr>
        <p:spPr bwMode="auto">
          <a:xfrm>
            <a:off x="2555875" y="2662238"/>
            <a:ext cx="88900" cy="93662"/>
          </a:xfrm>
          <a:custGeom>
            <a:avLst/>
            <a:gdLst>
              <a:gd name="T0" fmla="*/ 2147483647 w 56"/>
              <a:gd name="T1" fmla="*/ 0 h 59"/>
              <a:gd name="T2" fmla="*/ 2147483647 w 56"/>
              <a:gd name="T3" fmla="*/ 2147483647 h 59"/>
              <a:gd name="T4" fmla="*/ 2147483647 w 56"/>
              <a:gd name="T5" fmla="*/ 2147483647 h 59"/>
              <a:gd name="T6" fmla="*/ 0 w 56"/>
              <a:gd name="T7" fmla="*/ 2147483647 h 59"/>
              <a:gd name="T8" fmla="*/ 2147483647 w 56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9"/>
              <a:gd name="T17" fmla="*/ 56 w 56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9">
                <a:moveTo>
                  <a:pt x="28" y="0"/>
                </a:moveTo>
                <a:lnTo>
                  <a:pt x="56" y="30"/>
                </a:lnTo>
                <a:lnTo>
                  <a:pt x="28" y="59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38" name="Freeform 153"/>
          <p:cNvSpPr>
            <a:spLocks/>
          </p:cNvSpPr>
          <p:nvPr/>
        </p:nvSpPr>
        <p:spPr bwMode="auto">
          <a:xfrm>
            <a:off x="2362201" y="2501901"/>
            <a:ext cx="90487" cy="93663"/>
          </a:xfrm>
          <a:custGeom>
            <a:avLst/>
            <a:gdLst>
              <a:gd name="T0" fmla="*/ 2147483647 w 57"/>
              <a:gd name="T1" fmla="*/ 0 h 59"/>
              <a:gd name="T2" fmla="*/ 2147483647 w 57"/>
              <a:gd name="T3" fmla="*/ 2147483647 h 59"/>
              <a:gd name="T4" fmla="*/ 2147483647 w 57"/>
              <a:gd name="T5" fmla="*/ 2147483647 h 59"/>
              <a:gd name="T6" fmla="*/ 0 w 57"/>
              <a:gd name="T7" fmla="*/ 2147483647 h 59"/>
              <a:gd name="T8" fmla="*/ 2147483647 w 57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59"/>
              <a:gd name="T17" fmla="*/ 57 w 57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39" name="Freeform 154"/>
          <p:cNvSpPr>
            <a:spLocks/>
          </p:cNvSpPr>
          <p:nvPr/>
        </p:nvSpPr>
        <p:spPr bwMode="auto">
          <a:xfrm>
            <a:off x="3319462" y="2984500"/>
            <a:ext cx="90488" cy="95250"/>
          </a:xfrm>
          <a:custGeom>
            <a:avLst/>
            <a:gdLst>
              <a:gd name="T0" fmla="*/ 2147483647 w 57"/>
              <a:gd name="T1" fmla="*/ 0 h 60"/>
              <a:gd name="T2" fmla="*/ 2147483647 w 57"/>
              <a:gd name="T3" fmla="*/ 2147483647 h 60"/>
              <a:gd name="T4" fmla="*/ 2147483647 w 57"/>
              <a:gd name="T5" fmla="*/ 2147483647 h 60"/>
              <a:gd name="T6" fmla="*/ 0 w 57"/>
              <a:gd name="T7" fmla="*/ 2147483647 h 60"/>
              <a:gd name="T8" fmla="*/ 2147483647 w 57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60"/>
              <a:gd name="T17" fmla="*/ 57 w 57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40" name="Freeform 155"/>
          <p:cNvSpPr>
            <a:spLocks/>
          </p:cNvSpPr>
          <p:nvPr/>
        </p:nvSpPr>
        <p:spPr bwMode="auto">
          <a:xfrm>
            <a:off x="2555875" y="2984500"/>
            <a:ext cx="88900" cy="95250"/>
          </a:xfrm>
          <a:custGeom>
            <a:avLst/>
            <a:gdLst>
              <a:gd name="T0" fmla="*/ 2147483647 w 56"/>
              <a:gd name="T1" fmla="*/ 0 h 60"/>
              <a:gd name="T2" fmla="*/ 2147483647 w 56"/>
              <a:gd name="T3" fmla="*/ 2147483647 h 60"/>
              <a:gd name="T4" fmla="*/ 2147483647 w 56"/>
              <a:gd name="T5" fmla="*/ 2147483647 h 60"/>
              <a:gd name="T6" fmla="*/ 0 w 56"/>
              <a:gd name="T7" fmla="*/ 2147483647 h 60"/>
              <a:gd name="T8" fmla="*/ 2147483647 w 56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0"/>
              <a:gd name="T17" fmla="*/ 56 w 56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41" name="Freeform 156"/>
          <p:cNvSpPr>
            <a:spLocks/>
          </p:cNvSpPr>
          <p:nvPr/>
        </p:nvSpPr>
        <p:spPr bwMode="auto">
          <a:xfrm>
            <a:off x="2747962" y="3624263"/>
            <a:ext cx="90488" cy="93662"/>
          </a:xfrm>
          <a:custGeom>
            <a:avLst/>
            <a:gdLst>
              <a:gd name="T0" fmla="*/ 2147483647 w 57"/>
              <a:gd name="T1" fmla="*/ 0 h 59"/>
              <a:gd name="T2" fmla="*/ 2147483647 w 57"/>
              <a:gd name="T3" fmla="*/ 2147483647 h 59"/>
              <a:gd name="T4" fmla="*/ 2147483647 w 57"/>
              <a:gd name="T5" fmla="*/ 2147483647 h 59"/>
              <a:gd name="T6" fmla="*/ 0 w 57"/>
              <a:gd name="T7" fmla="*/ 2147483647 h 59"/>
              <a:gd name="T8" fmla="*/ 2147483647 w 57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59"/>
              <a:gd name="T17" fmla="*/ 57 w 57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59">
                <a:moveTo>
                  <a:pt x="28" y="0"/>
                </a:moveTo>
                <a:lnTo>
                  <a:pt x="57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42" name="Freeform 157"/>
          <p:cNvSpPr>
            <a:spLocks/>
          </p:cNvSpPr>
          <p:nvPr/>
        </p:nvSpPr>
        <p:spPr bwMode="auto">
          <a:xfrm>
            <a:off x="2747962" y="2984500"/>
            <a:ext cx="90488" cy="95250"/>
          </a:xfrm>
          <a:custGeom>
            <a:avLst/>
            <a:gdLst>
              <a:gd name="T0" fmla="*/ 2147483647 w 57"/>
              <a:gd name="T1" fmla="*/ 0 h 60"/>
              <a:gd name="T2" fmla="*/ 2147483647 w 57"/>
              <a:gd name="T3" fmla="*/ 2147483647 h 60"/>
              <a:gd name="T4" fmla="*/ 2147483647 w 57"/>
              <a:gd name="T5" fmla="*/ 2147483647 h 60"/>
              <a:gd name="T6" fmla="*/ 0 w 57"/>
              <a:gd name="T7" fmla="*/ 2147483647 h 60"/>
              <a:gd name="T8" fmla="*/ 2147483647 w 57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60"/>
              <a:gd name="T17" fmla="*/ 57 w 57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43" name="Rectangle 158"/>
          <p:cNvSpPr>
            <a:spLocks noChangeArrowheads="1"/>
          </p:cNvSpPr>
          <p:nvPr/>
        </p:nvSpPr>
        <p:spPr bwMode="auto">
          <a:xfrm>
            <a:off x="1746250" y="378460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0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44" name="Rectangle 159"/>
          <p:cNvSpPr>
            <a:spLocks noChangeArrowheads="1"/>
          </p:cNvSpPr>
          <p:nvPr/>
        </p:nvSpPr>
        <p:spPr bwMode="auto">
          <a:xfrm>
            <a:off x="1746250" y="3624264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1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45" name="Rectangle 160"/>
          <p:cNvSpPr>
            <a:spLocks noChangeArrowheads="1"/>
          </p:cNvSpPr>
          <p:nvPr/>
        </p:nvSpPr>
        <p:spPr bwMode="auto">
          <a:xfrm>
            <a:off x="1746250" y="3462339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2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46" name="Rectangle 161"/>
          <p:cNvSpPr>
            <a:spLocks noChangeArrowheads="1"/>
          </p:cNvSpPr>
          <p:nvPr/>
        </p:nvSpPr>
        <p:spPr bwMode="auto">
          <a:xfrm>
            <a:off x="1746250" y="330200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3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47" name="Rectangle 162"/>
          <p:cNvSpPr>
            <a:spLocks noChangeArrowheads="1"/>
          </p:cNvSpPr>
          <p:nvPr/>
        </p:nvSpPr>
        <p:spPr bwMode="auto">
          <a:xfrm>
            <a:off x="1746250" y="3140076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4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48" name="Rectangle 163"/>
          <p:cNvSpPr>
            <a:spLocks noChangeArrowheads="1"/>
          </p:cNvSpPr>
          <p:nvPr/>
        </p:nvSpPr>
        <p:spPr bwMode="auto">
          <a:xfrm>
            <a:off x="1746250" y="29781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5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49" name="Rectangle 164"/>
          <p:cNvSpPr>
            <a:spLocks noChangeArrowheads="1"/>
          </p:cNvSpPr>
          <p:nvPr/>
        </p:nvSpPr>
        <p:spPr bwMode="auto">
          <a:xfrm>
            <a:off x="1746250" y="2824164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6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0" name="Rectangle 165"/>
          <p:cNvSpPr>
            <a:spLocks noChangeArrowheads="1"/>
          </p:cNvSpPr>
          <p:nvPr/>
        </p:nvSpPr>
        <p:spPr bwMode="auto">
          <a:xfrm>
            <a:off x="1746250" y="2662239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7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1" name="Rectangle 166"/>
          <p:cNvSpPr>
            <a:spLocks noChangeArrowheads="1"/>
          </p:cNvSpPr>
          <p:nvPr/>
        </p:nvSpPr>
        <p:spPr bwMode="auto">
          <a:xfrm>
            <a:off x="1746250" y="250190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8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2" name="Rectangle 167"/>
          <p:cNvSpPr>
            <a:spLocks noChangeArrowheads="1"/>
          </p:cNvSpPr>
          <p:nvPr/>
        </p:nvSpPr>
        <p:spPr bwMode="auto">
          <a:xfrm>
            <a:off x="1746250" y="2339976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9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3" name="Rectangle 168"/>
          <p:cNvSpPr>
            <a:spLocks noChangeArrowheads="1"/>
          </p:cNvSpPr>
          <p:nvPr/>
        </p:nvSpPr>
        <p:spPr bwMode="auto">
          <a:xfrm>
            <a:off x="1708150" y="2178051"/>
            <a:ext cx="8656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10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4" name="Rectangle 169"/>
          <p:cNvSpPr>
            <a:spLocks noChangeArrowheads="1"/>
          </p:cNvSpPr>
          <p:nvPr/>
        </p:nvSpPr>
        <p:spPr bwMode="auto">
          <a:xfrm>
            <a:off x="1817687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0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5" name="Rectangle 170"/>
          <p:cNvSpPr>
            <a:spLocks noChangeArrowheads="1"/>
          </p:cNvSpPr>
          <p:nvPr/>
        </p:nvSpPr>
        <p:spPr bwMode="auto">
          <a:xfrm>
            <a:off x="2009775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1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6" name="Rectangle 171"/>
          <p:cNvSpPr>
            <a:spLocks noChangeArrowheads="1"/>
          </p:cNvSpPr>
          <p:nvPr/>
        </p:nvSpPr>
        <p:spPr bwMode="auto">
          <a:xfrm>
            <a:off x="2195512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2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7" name="Rectangle 172"/>
          <p:cNvSpPr>
            <a:spLocks noChangeArrowheads="1"/>
          </p:cNvSpPr>
          <p:nvPr/>
        </p:nvSpPr>
        <p:spPr bwMode="auto">
          <a:xfrm>
            <a:off x="2389187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3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8" name="Rectangle 173"/>
          <p:cNvSpPr>
            <a:spLocks noChangeArrowheads="1"/>
          </p:cNvSpPr>
          <p:nvPr/>
        </p:nvSpPr>
        <p:spPr bwMode="auto">
          <a:xfrm>
            <a:off x="2581275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4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59" name="Rectangle 174"/>
          <p:cNvSpPr>
            <a:spLocks noChangeArrowheads="1"/>
          </p:cNvSpPr>
          <p:nvPr/>
        </p:nvSpPr>
        <p:spPr bwMode="auto">
          <a:xfrm>
            <a:off x="2773362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5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60" name="Rectangle 175"/>
          <p:cNvSpPr>
            <a:spLocks noChangeArrowheads="1"/>
          </p:cNvSpPr>
          <p:nvPr/>
        </p:nvSpPr>
        <p:spPr bwMode="auto">
          <a:xfrm>
            <a:off x="2960687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6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61" name="Rectangle 176"/>
          <p:cNvSpPr>
            <a:spLocks noChangeArrowheads="1"/>
          </p:cNvSpPr>
          <p:nvPr/>
        </p:nvSpPr>
        <p:spPr bwMode="auto">
          <a:xfrm>
            <a:off x="3152775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7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62" name="Rectangle 177"/>
          <p:cNvSpPr>
            <a:spLocks noChangeArrowheads="1"/>
          </p:cNvSpPr>
          <p:nvPr/>
        </p:nvSpPr>
        <p:spPr bwMode="auto">
          <a:xfrm>
            <a:off x="3344862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8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63" name="Rectangle 178"/>
          <p:cNvSpPr>
            <a:spLocks noChangeArrowheads="1"/>
          </p:cNvSpPr>
          <p:nvPr/>
        </p:nvSpPr>
        <p:spPr bwMode="auto">
          <a:xfrm>
            <a:off x="3532187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9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64" name="Rectangle 179"/>
          <p:cNvSpPr>
            <a:spLocks noChangeArrowheads="1"/>
          </p:cNvSpPr>
          <p:nvPr/>
        </p:nvSpPr>
        <p:spPr bwMode="auto">
          <a:xfrm>
            <a:off x="3705225" y="3892551"/>
            <a:ext cx="8656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600">
                <a:solidFill>
                  <a:srgbClr val="000000"/>
                </a:solidFill>
                <a:latin typeface="Arial" panose="020B0604020202020204" pitchFamily="34" charset="0"/>
                <a:ea typeface="굴림" pitchFamily="50" charset="-127"/>
              </a:rPr>
              <a:t>10</a:t>
            </a:r>
            <a:endParaRPr lang="ko-KR" altLang="en-US" sz="2400">
              <a:latin typeface="Tahoma" panose="020B0604030504040204" pitchFamily="34" charset="0"/>
              <a:ea typeface="굴림" pitchFamily="50" charset="-127"/>
            </a:endParaRPr>
          </a:p>
        </p:txBody>
      </p:sp>
      <p:sp>
        <p:nvSpPr>
          <p:cNvPr id="24665" name="Rectangle 180"/>
          <p:cNvSpPr>
            <a:spLocks noChangeArrowheads="1"/>
          </p:cNvSpPr>
          <p:nvPr/>
        </p:nvSpPr>
        <p:spPr bwMode="auto">
          <a:xfrm>
            <a:off x="1624012" y="2084389"/>
            <a:ext cx="2222500" cy="1990725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4666" name="Text Box 181"/>
          <p:cNvSpPr txBox="1">
            <a:spLocks noChangeArrowheads="1"/>
          </p:cNvSpPr>
          <p:nvPr/>
        </p:nvSpPr>
        <p:spPr bwMode="auto">
          <a:xfrm>
            <a:off x="1751012" y="4572000"/>
            <a:ext cx="19050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 i="1">
                <a:latin typeface="Tahoma" panose="020B0604030504040204" pitchFamily="34" charset="0"/>
                <a:ea typeface="굴림" pitchFamily="50" charset="-127"/>
              </a:rPr>
              <a:t>k</a:t>
            </a:r>
            <a:r>
              <a:rPr lang="en-US" altLang="ko-KR" sz="1400">
                <a:latin typeface="Tahoma" panose="020B0604030504040204" pitchFamily="34" charset="0"/>
                <a:ea typeface="굴림" pitchFamily="50" charset="-127"/>
              </a:rPr>
              <a:t>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>
                <a:latin typeface="Tahoma" panose="020B0604030504040204" pitchFamily="34" charset="0"/>
                <a:ea typeface="굴림" pitchFamily="50" charset="-127"/>
              </a:rPr>
              <a:t>Arbitrarily choose </a:t>
            </a:r>
            <a:r>
              <a:rPr lang="en-US" altLang="ko-KR" sz="1400" i="1">
                <a:latin typeface="Tahoma" panose="020B0604030504040204" pitchFamily="34" charset="0"/>
                <a:ea typeface="굴림" pitchFamily="50" charset="-127"/>
              </a:rPr>
              <a:t>k</a:t>
            </a:r>
            <a:r>
              <a:rPr lang="en-US" altLang="ko-KR" sz="1400">
                <a:latin typeface="Tahoma" panose="020B0604030504040204" pitchFamily="34" charset="0"/>
                <a:ea typeface="굴림" pitchFamily="50" charset="-127"/>
              </a:rPr>
              <a:t> object as initial cluster center</a:t>
            </a:r>
          </a:p>
        </p:txBody>
      </p:sp>
      <p:sp>
        <p:nvSpPr>
          <p:cNvPr id="24667" name="Line 182"/>
          <p:cNvSpPr>
            <a:spLocks noChangeShapeType="1"/>
          </p:cNvSpPr>
          <p:nvPr/>
        </p:nvSpPr>
        <p:spPr bwMode="auto">
          <a:xfrm flipV="1">
            <a:off x="2589212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4668" name="Line 183"/>
          <p:cNvSpPr>
            <a:spLocks noChangeShapeType="1"/>
          </p:cNvSpPr>
          <p:nvPr/>
        </p:nvSpPr>
        <p:spPr bwMode="auto">
          <a:xfrm>
            <a:off x="3960812" y="2895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4669" name="Text Box 184"/>
          <p:cNvSpPr txBox="1">
            <a:spLocks noChangeArrowheads="1"/>
          </p:cNvSpPr>
          <p:nvPr/>
        </p:nvSpPr>
        <p:spPr bwMode="auto">
          <a:xfrm>
            <a:off x="3884612" y="3124201"/>
            <a:ext cx="8382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>
                <a:latin typeface="Tahoma" panose="020B0604030504040204" pitchFamily="34" charset="0"/>
                <a:ea typeface="굴림" pitchFamily="50" charset="-127"/>
              </a:rPr>
              <a:t>Assign each objects to most similar center</a:t>
            </a:r>
          </a:p>
        </p:txBody>
      </p:sp>
      <p:sp>
        <p:nvSpPr>
          <p:cNvPr id="24670" name="Text Box 185"/>
          <p:cNvSpPr txBox="1">
            <a:spLocks noChangeArrowheads="1"/>
          </p:cNvSpPr>
          <p:nvPr/>
        </p:nvSpPr>
        <p:spPr bwMode="auto">
          <a:xfrm>
            <a:off x="7161212" y="3048001"/>
            <a:ext cx="8382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>
                <a:latin typeface="Tahoma" panose="020B0604030504040204" pitchFamily="34" charset="0"/>
                <a:ea typeface="굴림" pitchFamily="50" charset="-127"/>
              </a:rPr>
              <a:t>Update the cluster means</a:t>
            </a:r>
          </a:p>
        </p:txBody>
      </p:sp>
      <p:sp>
        <p:nvSpPr>
          <p:cNvPr id="24671" name="Freeform 186"/>
          <p:cNvSpPr>
            <a:spLocks/>
          </p:cNvSpPr>
          <p:nvPr/>
        </p:nvSpPr>
        <p:spPr bwMode="auto">
          <a:xfrm>
            <a:off x="2360612" y="3136900"/>
            <a:ext cx="88900" cy="95250"/>
          </a:xfrm>
          <a:custGeom>
            <a:avLst/>
            <a:gdLst>
              <a:gd name="T0" fmla="*/ 2147483647 w 56"/>
              <a:gd name="T1" fmla="*/ 0 h 60"/>
              <a:gd name="T2" fmla="*/ 2147483647 w 56"/>
              <a:gd name="T3" fmla="*/ 2147483647 h 60"/>
              <a:gd name="T4" fmla="*/ 2147483647 w 56"/>
              <a:gd name="T5" fmla="*/ 2147483647 h 60"/>
              <a:gd name="T6" fmla="*/ 0 w 56"/>
              <a:gd name="T7" fmla="*/ 2147483647 h 60"/>
              <a:gd name="T8" fmla="*/ 2147483647 w 56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0"/>
              <a:gd name="T17" fmla="*/ 56 w 56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72" name="Freeform 187"/>
          <p:cNvSpPr>
            <a:spLocks/>
          </p:cNvSpPr>
          <p:nvPr/>
        </p:nvSpPr>
        <p:spPr bwMode="auto">
          <a:xfrm>
            <a:off x="3122612" y="2971801"/>
            <a:ext cx="88900" cy="93663"/>
          </a:xfrm>
          <a:custGeom>
            <a:avLst/>
            <a:gdLst>
              <a:gd name="T0" fmla="*/ 2147483647 w 56"/>
              <a:gd name="T1" fmla="*/ 0 h 59"/>
              <a:gd name="T2" fmla="*/ 2147483647 w 56"/>
              <a:gd name="T3" fmla="*/ 2147483647 h 59"/>
              <a:gd name="T4" fmla="*/ 2147483647 w 56"/>
              <a:gd name="T5" fmla="*/ 2147483647 h 59"/>
              <a:gd name="T6" fmla="*/ 0 w 56"/>
              <a:gd name="T7" fmla="*/ 2147483647 h 59"/>
              <a:gd name="T8" fmla="*/ 2147483647 w 56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9"/>
              <a:gd name="T17" fmla="*/ 56 w 56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673" name="Oval 188"/>
          <p:cNvSpPr>
            <a:spLocks noChangeArrowheads="1"/>
          </p:cNvSpPr>
          <p:nvPr/>
        </p:nvSpPr>
        <p:spPr bwMode="auto">
          <a:xfrm>
            <a:off x="1979612" y="3265488"/>
            <a:ext cx="84138" cy="87312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4674" name="Oval 189"/>
          <p:cNvSpPr>
            <a:spLocks noChangeArrowheads="1"/>
          </p:cNvSpPr>
          <p:nvPr/>
        </p:nvSpPr>
        <p:spPr bwMode="auto">
          <a:xfrm>
            <a:off x="3495676" y="3113088"/>
            <a:ext cx="84137" cy="87312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4675" name="Text Box 190"/>
          <p:cNvSpPr txBox="1">
            <a:spLocks noChangeArrowheads="1"/>
          </p:cNvSpPr>
          <p:nvPr/>
        </p:nvSpPr>
        <p:spPr bwMode="auto">
          <a:xfrm>
            <a:off x="7161212" y="5334001"/>
            <a:ext cx="8382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>
                <a:latin typeface="Tahoma" panose="020B0604030504040204" pitchFamily="34" charset="0"/>
                <a:ea typeface="굴림" pitchFamily="50" charset="-127"/>
              </a:rPr>
              <a:t>Update the cluster means</a:t>
            </a:r>
          </a:p>
        </p:txBody>
      </p:sp>
      <p:sp>
        <p:nvSpPr>
          <p:cNvPr id="24676" name="Text Box 191"/>
          <p:cNvSpPr txBox="1">
            <a:spLocks noChangeArrowheads="1"/>
          </p:cNvSpPr>
          <p:nvPr/>
        </p:nvSpPr>
        <p:spPr bwMode="auto">
          <a:xfrm>
            <a:off x="9371012" y="41148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>
                <a:latin typeface="Tahoma" panose="020B0604030504040204" pitchFamily="34" charset="0"/>
                <a:ea typeface="굴림" pitchFamily="50" charset="-127"/>
              </a:rPr>
              <a:t>reassign</a:t>
            </a:r>
          </a:p>
        </p:txBody>
      </p:sp>
      <p:sp>
        <p:nvSpPr>
          <p:cNvPr id="24677" name="Line 192"/>
          <p:cNvSpPr>
            <a:spLocks noChangeShapeType="1"/>
          </p:cNvSpPr>
          <p:nvPr/>
        </p:nvSpPr>
        <p:spPr bwMode="auto">
          <a:xfrm flipV="1">
            <a:off x="5789612" y="4114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24678" name="Text Box 193"/>
          <p:cNvSpPr txBox="1">
            <a:spLocks noChangeArrowheads="1"/>
          </p:cNvSpPr>
          <p:nvPr/>
        </p:nvSpPr>
        <p:spPr bwMode="auto">
          <a:xfrm>
            <a:off x="5942012" y="41148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400">
                <a:latin typeface="Tahoma" panose="020B0604030504040204" pitchFamily="34" charset="0"/>
                <a:ea typeface="굴림" pitchFamily="50" charset="-127"/>
              </a:rPr>
              <a:t>reassign</a:t>
            </a:r>
          </a:p>
        </p:txBody>
      </p:sp>
    </p:spTree>
    <p:extLst>
      <p:ext uri="{BB962C8B-B14F-4D97-AF65-F5344CB8AC3E}">
        <p14:creationId xmlns:p14="http://schemas.microsoft.com/office/powerpoint/2010/main" val="100577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dirty="0"/>
              <a:t>Numeric Example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1205860" y="1196752"/>
            <a:ext cx="10073128" cy="5040560"/>
          </a:xfrm>
        </p:spPr>
        <p:txBody>
          <a:bodyPr/>
          <a:lstStyle/>
          <a:p>
            <a:pPr eaLnBrk="1" hangingPunct="1"/>
            <a:r>
              <a:rPr lang="en-US" altLang="en-US" b="1" dirty="0"/>
              <a:t>Problem:</a:t>
            </a:r>
            <a:r>
              <a:rPr lang="en-US" altLang="en-US" dirty="0"/>
              <a:t> Cluster the following eight points (with (x, y) representing locations) into three clusters: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A1</a:t>
            </a:r>
            <a:r>
              <a:rPr lang="en-US" altLang="en-US" dirty="0"/>
              <a:t>(2, 10)  A2(2, 5)  A3(8, 4)  </a:t>
            </a:r>
            <a:r>
              <a:rPr lang="en-US" altLang="en-US" dirty="0">
                <a:solidFill>
                  <a:srgbClr val="FF0000"/>
                </a:solidFill>
              </a:rPr>
              <a:t>A4</a:t>
            </a:r>
            <a:r>
              <a:rPr lang="en-US" altLang="en-US" dirty="0"/>
              <a:t>(5, 8)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dirty="0"/>
              <a:t>	A5(7, 5)   A6(6, 4)   </a:t>
            </a:r>
            <a:r>
              <a:rPr lang="en-US" altLang="en-US" dirty="0">
                <a:solidFill>
                  <a:srgbClr val="FF0000"/>
                </a:solidFill>
              </a:rPr>
              <a:t>A7</a:t>
            </a:r>
            <a:r>
              <a:rPr lang="en-US" altLang="en-US" dirty="0"/>
              <a:t>(1, 2)  A8(4, 9). </a:t>
            </a:r>
          </a:p>
          <a:p>
            <a:pPr eaLnBrk="1" hangingPunct="1"/>
            <a:r>
              <a:rPr lang="en-US" altLang="en-US" dirty="0"/>
              <a:t>Initial cluster centers are: A1(2, 10),  A4(5, 8)</a:t>
            </a:r>
            <a:r>
              <a:rPr lang="bg-BG" altLang="en-US" dirty="0"/>
              <a:t>  </a:t>
            </a:r>
            <a:r>
              <a:rPr lang="en-US" altLang="en-US" dirty="0"/>
              <a:t>and  A7(1, 2)</a:t>
            </a:r>
          </a:p>
          <a:p>
            <a:pPr eaLnBrk="1" hangingPunct="1"/>
            <a:r>
              <a:rPr lang="en-US" altLang="en-US" dirty="0"/>
              <a:t>The distance function between two points  </a:t>
            </a:r>
            <a:r>
              <a:rPr lang="en-US" altLang="en-US" i="1" dirty="0"/>
              <a:t>a = (x1, y1)</a:t>
            </a:r>
            <a:r>
              <a:rPr lang="en-US" altLang="en-US" dirty="0"/>
              <a:t>  and  </a:t>
            </a:r>
            <a:r>
              <a:rPr lang="en-US" altLang="en-US" i="1" dirty="0"/>
              <a:t>b=(x2, y2) </a:t>
            </a:r>
            <a:r>
              <a:rPr lang="en-US" altLang="en-US" dirty="0"/>
              <a:t> is defined as:   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i="1" dirty="0"/>
              <a:t>ρ(a, b) = |x2 – x1| + |y2 – y1|</a:t>
            </a:r>
            <a:r>
              <a:rPr lang="en-US" altLang="en-US" dirty="0"/>
              <a:t>   </a:t>
            </a:r>
            <a:endParaRPr lang="en-US" altLang="en-US" sz="2000" dirty="0"/>
          </a:p>
          <a:p>
            <a:pPr eaLnBrk="1" hangingPunct="1"/>
            <a:r>
              <a:rPr lang="en-US" altLang="en-US" dirty="0"/>
              <a:t>Use </a:t>
            </a:r>
            <a:r>
              <a:rPr lang="en-US" altLang="en-US" i="1" dirty="0"/>
              <a:t>k</a:t>
            </a:r>
            <a:r>
              <a:rPr lang="en-US" altLang="en-US" dirty="0"/>
              <a:t>-means algorithm to find the three cluster centers after the second iteration. 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E6ED15-0677-4A80-B51B-643DB4412CC6}" type="datetime4">
              <a:rPr lang="en-US"/>
              <a:pPr>
                <a:defRPr/>
              </a:pPr>
              <a:t>February 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S. Nandagopalan, BIT</a:t>
            </a:r>
          </a:p>
        </p:txBody>
      </p:sp>
      <p:sp>
        <p:nvSpPr>
          <p:cNvPr id="2560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2610DC-8C9E-40D5-BEC5-ACFA5BF9E612}" type="slidenum">
              <a:rPr lang="en-US" altLang="en-US" sz="1200">
                <a:solidFill>
                  <a:srgbClr val="953735"/>
                </a:solidFill>
                <a:latin typeface="Palatino Linotype" panose="0204050205050503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953735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07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K-Means Example</a:t>
            </a:r>
            <a:endParaRPr lang="en-US" dirty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79612" y="1295401"/>
            <a:ext cx="8229600" cy="4830763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altLang="en-US"/>
              <a:t>Given: {2,4,10,12,3,20,30,11,25}, k = 2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altLang="en-US"/>
              <a:t>Randomly assign means: 			</a:t>
            </a:r>
            <a:r>
              <a:rPr lang="en-US" altLang="en-US" b="1">
                <a:solidFill>
                  <a:srgbClr val="C00000"/>
                </a:solidFill>
              </a:rPr>
              <a:t>m</a:t>
            </a:r>
            <a:r>
              <a:rPr lang="en-US" altLang="en-US" b="1" baseline="-25000">
                <a:solidFill>
                  <a:srgbClr val="C00000"/>
                </a:solidFill>
              </a:rPr>
              <a:t>1</a:t>
            </a:r>
            <a:r>
              <a:rPr lang="en-US" altLang="en-US" b="1">
                <a:solidFill>
                  <a:srgbClr val="C00000"/>
                </a:solidFill>
              </a:rPr>
              <a:t>=3, m</a:t>
            </a:r>
            <a:r>
              <a:rPr lang="en-US" altLang="en-US" b="1" baseline="-25000">
                <a:solidFill>
                  <a:srgbClr val="C00000"/>
                </a:solidFill>
              </a:rPr>
              <a:t>2</a:t>
            </a:r>
            <a:r>
              <a:rPr lang="en-US" altLang="en-US" b="1">
                <a:solidFill>
                  <a:srgbClr val="C00000"/>
                </a:solidFill>
              </a:rPr>
              <a:t>=4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altLang="en-US"/>
              <a:t>K</a:t>
            </a:r>
            <a:r>
              <a:rPr lang="en-US" altLang="en-US" baseline="-25000"/>
              <a:t>1</a:t>
            </a:r>
            <a:r>
              <a:rPr lang="en-US" altLang="en-US"/>
              <a:t>={2,3}, K</a:t>
            </a:r>
            <a:r>
              <a:rPr lang="en-US" altLang="en-US" baseline="-25000"/>
              <a:t>2</a:t>
            </a:r>
            <a:r>
              <a:rPr lang="en-US" altLang="en-US"/>
              <a:t>={4,10,12,20,30,11,25}, 	</a:t>
            </a:r>
            <a:r>
              <a:rPr lang="en-US" altLang="en-US" b="1">
                <a:solidFill>
                  <a:srgbClr val="C00000"/>
                </a:solidFill>
              </a:rPr>
              <a:t>m</a:t>
            </a:r>
            <a:r>
              <a:rPr lang="en-US" altLang="en-US" b="1" baseline="-25000">
                <a:solidFill>
                  <a:srgbClr val="C00000"/>
                </a:solidFill>
              </a:rPr>
              <a:t>1</a:t>
            </a:r>
            <a:r>
              <a:rPr lang="en-US" altLang="en-US" b="1">
                <a:solidFill>
                  <a:srgbClr val="C00000"/>
                </a:solidFill>
              </a:rPr>
              <a:t>=2.5, m</a:t>
            </a:r>
            <a:r>
              <a:rPr lang="en-US" altLang="en-US" b="1" baseline="-25000">
                <a:solidFill>
                  <a:srgbClr val="C00000"/>
                </a:solidFill>
              </a:rPr>
              <a:t>2</a:t>
            </a:r>
            <a:r>
              <a:rPr lang="en-US" altLang="en-US" b="1">
                <a:solidFill>
                  <a:srgbClr val="C00000"/>
                </a:solidFill>
              </a:rPr>
              <a:t>=16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altLang="en-US"/>
              <a:t>K</a:t>
            </a:r>
            <a:r>
              <a:rPr lang="en-US" altLang="en-US" baseline="-25000"/>
              <a:t>1</a:t>
            </a:r>
            <a:r>
              <a:rPr lang="en-US" altLang="en-US"/>
              <a:t>={2,3,4}, K</a:t>
            </a:r>
            <a:r>
              <a:rPr lang="en-US" altLang="en-US" baseline="-25000"/>
              <a:t>2</a:t>
            </a:r>
            <a:r>
              <a:rPr lang="en-US" altLang="en-US"/>
              <a:t>={10,12,20,30,11,25}, 	</a:t>
            </a:r>
            <a:r>
              <a:rPr lang="en-US" altLang="en-US" b="1">
                <a:solidFill>
                  <a:srgbClr val="C00000"/>
                </a:solidFill>
              </a:rPr>
              <a:t>m</a:t>
            </a:r>
            <a:r>
              <a:rPr lang="en-US" altLang="en-US" b="1" baseline="-25000">
                <a:solidFill>
                  <a:srgbClr val="C00000"/>
                </a:solidFill>
              </a:rPr>
              <a:t>1</a:t>
            </a:r>
            <a:r>
              <a:rPr lang="en-US" altLang="en-US" b="1">
                <a:solidFill>
                  <a:srgbClr val="C00000"/>
                </a:solidFill>
              </a:rPr>
              <a:t>=3, m</a:t>
            </a:r>
            <a:r>
              <a:rPr lang="en-US" altLang="en-US" b="1" baseline="-25000">
                <a:solidFill>
                  <a:srgbClr val="C00000"/>
                </a:solidFill>
              </a:rPr>
              <a:t>2</a:t>
            </a:r>
            <a:r>
              <a:rPr lang="en-US" altLang="en-US" b="1">
                <a:solidFill>
                  <a:srgbClr val="C00000"/>
                </a:solidFill>
              </a:rPr>
              <a:t>=18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altLang="en-US"/>
              <a:t>K</a:t>
            </a:r>
            <a:r>
              <a:rPr lang="en-US" altLang="en-US" baseline="-25000"/>
              <a:t>1</a:t>
            </a:r>
            <a:r>
              <a:rPr lang="en-US" altLang="en-US"/>
              <a:t>={2,3,4,10}, K</a:t>
            </a:r>
            <a:r>
              <a:rPr lang="en-US" altLang="en-US" baseline="-25000"/>
              <a:t>2</a:t>
            </a:r>
            <a:r>
              <a:rPr lang="en-US" altLang="en-US"/>
              <a:t>={12,20,30,11,25}, 	</a:t>
            </a:r>
            <a:r>
              <a:rPr lang="en-US" altLang="en-US" b="1">
                <a:solidFill>
                  <a:srgbClr val="C00000"/>
                </a:solidFill>
              </a:rPr>
              <a:t>m</a:t>
            </a:r>
            <a:r>
              <a:rPr lang="en-US" altLang="en-US" b="1" baseline="-25000">
                <a:solidFill>
                  <a:srgbClr val="C00000"/>
                </a:solidFill>
              </a:rPr>
              <a:t>1</a:t>
            </a:r>
            <a:r>
              <a:rPr lang="en-US" altLang="en-US" b="1">
                <a:solidFill>
                  <a:srgbClr val="C00000"/>
                </a:solidFill>
              </a:rPr>
              <a:t>=4.75, m</a:t>
            </a:r>
            <a:r>
              <a:rPr lang="en-US" altLang="en-US" b="1" baseline="-25000">
                <a:solidFill>
                  <a:srgbClr val="C00000"/>
                </a:solidFill>
              </a:rPr>
              <a:t>2</a:t>
            </a:r>
            <a:r>
              <a:rPr lang="en-US" altLang="en-US" b="1">
                <a:solidFill>
                  <a:srgbClr val="C00000"/>
                </a:solidFill>
              </a:rPr>
              <a:t>=19.6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altLang="en-US"/>
              <a:t>K</a:t>
            </a:r>
            <a:r>
              <a:rPr lang="en-US" altLang="en-US" baseline="-25000"/>
              <a:t>1</a:t>
            </a:r>
            <a:r>
              <a:rPr lang="en-US" altLang="en-US"/>
              <a:t>={2,3,4,10,11,12}, K</a:t>
            </a:r>
            <a:r>
              <a:rPr lang="en-US" altLang="en-US" baseline="-25000"/>
              <a:t>2</a:t>
            </a:r>
            <a:r>
              <a:rPr lang="en-US" altLang="en-US"/>
              <a:t>={20,30,25}, 	</a:t>
            </a:r>
            <a:r>
              <a:rPr lang="en-US" altLang="en-US" b="1">
                <a:solidFill>
                  <a:srgbClr val="C00000"/>
                </a:solidFill>
              </a:rPr>
              <a:t>m</a:t>
            </a:r>
            <a:r>
              <a:rPr lang="en-US" altLang="en-US" b="1" baseline="-25000">
                <a:solidFill>
                  <a:srgbClr val="C00000"/>
                </a:solidFill>
              </a:rPr>
              <a:t>1</a:t>
            </a:r>
            <a:r>
              <a:rPr lang="en-US" altLang="en-US" b="1">
                <a:solidFill>
                  <a:srgbClr val="C00000"/>
                </a:solidFill>
              </a:rPr>
              <a:t>=7, m</a:t>
            </a:r>
            <a:r>
              <a:rPr lang="en-US" altLang="en-US" b="1" baseline="-25000">
                <a:solidFill>
                  <a:srgbClr val="C00000"/>
                </a:solidFill>
              </a:rPr>
              <a:t>2</a:t>
            </a:r>
            <a:r>
              <a:rPr lang="en-US" altLang="en-US" b="1">
                <a:solidFill>
                  <a:srgbClr val="C00000"/>
                </a:solidFill>
              </a:rPr>
              <a:t>=25</a:t>
            </a: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en-US" altLang="en-US"/>
              <a:t>Stop as the clusters with these means are the same.</a:t>
            </a:r>
          </a:p>
          <a:p>
            <a:pPr>
              <a:spcBef>
                <a:spcPts val="180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389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- 2</a:t>
            </a:r>
            <a:endParaRPr lang="en-US" dirty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smtClean="0"/>
              <a:t>A1(2, 10),  A2(2, 5), A3(8, 4),  A4(5, 8), A5(7, 5),   A6(6, 4)   A7(1, 2),  A8(4, 9). </a:t>
            </a:r>
          </a:p>
          <a:p>
            <a:r>
              <a:rPr lang="en-US" altLang="en-US" smtClean="0"/>
              <a:t>k = 3</a:t>
            </a:r>
          </a:p>
          <a:p>
            <a:r>
              <a:rPr lang="en-US" altLang="en-US" smtClean="0"/>
              <a:t>Initial cluster centers are: A1(2, 10),  A4(5, 8)</a:t>
            </a:r>
            <a:r>
              <a:rPr lang="bg-BG" altLang="en-US" smtClean="0"/>
              <a:t>  </a:t>
            </a:r>
            <a:r>
              <a:rPr lang="en-US" altLang="en-US" smtClean="0"/>
              <a:t>and  A7(1, 2)</a:t>
            </a:r>
          </a:p>
          <a:p>
            <a:r>
              <a:rPr lang="en-US" altLang="en-US" smtClean="0"/>
              <a:t>Iteration – 1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K1 = {A1}, K2 = {A3,A4,A5,A6,A8}, K3 = {A2,A7}</a:t>
            </a:r>
          </a:p>
          <a:p>
            <a:r>
              <a:rPr lang="en-US" altLang="en-US" smtClean="0"/>
              <a:t>m1 = (2, 10), m2 = (6, 6), m3 = (1.5, 3.5)</a:t>
            </a:r>
          </a:p>
          <a:p>
            <a:endParaRPr lang="en-US" alt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063629"/>
              </p:ext>
            </p:extLst>
          </p:nvPr>
        </p:nvGraphicFramePr>
        <p:xfrm>
          <a:off x="3502124" y="2564904"/>
          <a:ext cx="5791200" cy="2468880"/>
        </p:xfrm>
        <a:graphic>
          <a:graphicData uri="http://schemas.openxmlformats.org/drawingml/2006/table">
            <a:tbl>
              <a:tblPr/>
              <a:tblGrid>
                <a:gridCol w="442693"/>
                <a:gridCol w="1005107"/>
                <a:gridCol w="1066800"/>
                <a:gridCol w="1066800"/>
                <a:gridCol w="1066800"/>
                <a:gridCol w="1143000"/>
              </a:tblGrid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Point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2, 10)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5, 8)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1, 2)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Cluster</a:t>
                      </a:r>
                      <a:endParaRPr lang="en-US" sz="1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A1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(2, 10)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A2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(2, 5)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6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A3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(8, 4)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A4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(5, 8)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A5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(7, 5)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A6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(6, 4)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A7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(1, 2)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A8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(4, 9)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018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Example-2 (Contd…)</a:t>
            </a:r>
            <a:endParaRPr lang="en-US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Iteration – 2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K1 = {A1, A8}, K2 = {A3,A4,A5,A6}, K3 = {A2,A7}</a:t>
            </a:r>
          </a:p>
          <a:p>
            <a:r>
              <a:rPr lang="en-US" altLang="en-US" smtClean="0"/>
              <a:t>m1 = (3, 9.5), m2 = (6.5, 5.25), m3 = (1.5, 3.5)</a:t>
            </a:r>
          </a:p>
          <a:p>
            <a:endParaRPr lang="en-US" altLang="en-US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565901"/>
              </p:ext>
            </p:extLst>
          </p:nvPr>
        </p:nvGraphicFramePr>
        <p:xfrm>
          <a:off x="2926060" y="1772816"/>
          <a:ext cx="5791200" cy="2468880"/>
        </p:xfrm>
        <a:graphic>
          <a:graphicData uri="http://schemas.openxmlformats.org/drawingml/2006/table">
            <a:tbl>
              <a:tblPr/>
              <a:tblGrid>
                <a:gridCol w="442693"/>
                <a:gridCol w="1005107"/>
                <a:gridCol w="1066800"/>
                <a:gridCol w="1066800"/>
                <a:gridCol w="1066800"/>
                <a:gridCol w="1143000"/>
              </a:tblGrid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Point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 (2</a:t>
                      </a:r>
                      <a:r>
                        <a:rPr lang="en-US" sz="1800" b="1" dirty="0">
                          <a:latin typeface="+mn-lt"/>
                          <a:ea typeface="Times New Roman"/>
                          <a:cs typeface="Times New Roman"/>
                        </a:rPr>
                        <a:t>, 10)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 (6, 6)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(1.5, 3.5)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Cluster</a:t>
                      </a:r>
                      <a:endParaRPr lang="en-US" sz="1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(2, 10)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8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7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(2, 5)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(8, 4)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4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8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(5, 8)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8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(7, 5)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7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(6, 4)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(1, 2)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9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(4, 9)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8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b="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71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 -2 (</a:t>
            </a:r>
            <a:r>
              <a:rPr lang="en-US" dirty="0" err="1" smtClean="0"/>
              <a:t>Contd</a:t>
            </a:r>
            <a:r>
              <a:rPr lang="en-US" dirty="0" smtClean="0"/>
              <a:t>…)</a:t>
            </a:r>
            <a:endParaRPr 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Iteration – 3</a:t>
            </a:r>
          </a:p>
          <a:p>
            <a:endParaRPr lang="en-US" altLang="en-US" b="1" smtClean="0"/>
          </a:p>
          <a:p>
            <a:endParaRPr lang="en-US" altLang="en-US" b="1" smtClean="0"/>
          </a:p>
          <a:p>
            <a:endParaRPr lang="en-US" altLang="en-US" b="1" smtClean="0"/>
          </a:p>
          <a:p>
            <a:endParaRPr lang="en-US" altLang="en-US" b="1" smtClean="0"/>
          </a:p>
          <a:p>
            <a:endParaRPr lang="en-US" altLang="en-US" b="1" smtClean="0"/>
          </a:p>
          <a:p>
            <a:r>
              <a:rPr lang="en-US" altLang="en-US" b="1"/>
              <a:t>K</a:t>
            </a:r>
            <a:r>
              <a:rPr lang="en-US" altLang="en-US" b="1" baseline="-25000"/>
              <a:t>1</a:t>
            </a:r>
            <a:r>
              <a:rPr lang="en-US" altLang="en-US" b="1"/>
              <a:t> = {A1, </a:t>
            </a:r>
            <a:r>
              <a:rPr lang="en-US" altLang="en-US" b="1">
                <a:solidFill>
                  <a:srgbClr val="FF0000"/>
                </a:solidFill>
              </a:rPr>
              <a:t>A4</a:t>
            </a:r>
            <a:r>
              <a:rPr lang="en-US" altLang="en-US" b="1"/>
              <a:t>, </a:t>
            </a:r>
            <a:r>
              <a:rPr lang="en-US" altLang="en-US" b="1">
                <a:solidFill>
                  <a:srgbClr val="FF0000"/>
                </a:solidFill>
              </a:rPr>
              <a:t>A8</a:t>
            </a:r>
            <a:r>
              <a:rPr lang="en-US" altLang="en-US" b="1"/>
              <a:t>}, K</a:t>
            </a:r>
            <a:r>
              <a:rPr lang="en-US" altLang="en-US" b="1" baseline="-25000"/>
              <a:t>2</a:t>
            </a:r>
            <a:r>
              <a:rPr lang="en-US" altLang="en-US" b="1"/>
              <a:t> = {A3,A5,A6}, K</a:t>
            </a:r>
            <a:r>
              <a:rPr lang="en-US" altLang="en-US" b="1" baseline="-25000"/>
              <a:t>3</a:t>
            </a:r>
            <a:r>
              <a:rPr lang="en-US" altLang="en-US" b="1"/>
              <a:t> = {A2,A7}</a:t>
            </a:r>
          </a:p>
          <a:p>
            <a:r>
              <a:rPr lang="en-US" altLang="en-US" b="1"/>
              <a:t>m</a:t>
            </a:r>
            <a:r>
              <a:rPr lang="en-US" altLang="en-US" b="1" baseline="-25000"/>
              <a:t>1</a:t>
            </a:r>
            <a:r>
              <a:rPr lang="en-US" altLang="en-US" b="1"/>
              <a:t> = (3.66, 9.0), m</a:t>
            </a:r>
            <a:r>
              <a:rPr lang="en-US" altLang="en-US" b="1" baseline="-25000"/>
              <a:t>2</a:t>
            </a:r>
            <a:r>
              <a:rPr lang="en-US" altLang="en-US" b="1"/>
              <a:t> = (7.0, 4.33), m</a:t>
            </a:r>
            <a:r>
              <a:rPr lang="en-US" altLang="en-US" b="1" baseline="-25000"/>
              <a:t>3</a:t>
            </a:r>
            <a:r>
              <a:rPr lang="en-US" altLang="en-US" b="1"/>
              <a:t> = (1.5, 3.5)</a:t>
            </a:r>
          </a:p>
          <a:p>
            <a:endParaRPr lang="en-US" altLang="en-US" b="1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754946"/>
              </p:ext>
            </p:extLst>
          </p:nvPr>
        </p:nvGraphicFramePr>
        <p:xfrm>
          <a:off x="3033390" y="1772816"/>
          <a:ext cx="6095999" cy="2468880"/>
        </p:xfrm>
        <a:graphic>
          <a:graphicData uri="http://schemas.openxmlformats.org/drawingml/2006/table">
            <a:tbl>
              <a:tblPr/>
              <a:tblGrid>
                <a:gridCol w="465993"/>
                <a:gridCol w="1058007"/>
                <a:gridCol w="1122947"/>
                <a:gridCol w="1239253"/>
                <a:gridCol w="1143000"/>
                <a:gridCol w="1066799"/>
              </a:tblGrid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Point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 (3, 9.5)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 (6.5, 5.25)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(1.5, 3.5)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Cluster</a:t>
                      </a:r>
                      <a:endParaRPr lang="en-US" sz="1800" dirty="0" smtClean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(2, 10)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1.5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9.25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7.0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+mn-lt"/>
                          <a:ea typeface="Times New Roman"/>
                          <a:cs typeface="Times New Roman"/>
                        </a:rPr>
                        <a:t>(2, 5)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5.5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4.75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3.0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(8, 4)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10.5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3.75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8.0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(5, 8)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3.5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4.75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10.0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(7, 5)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8.5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1.75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9.0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(6, 4)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8.5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1.75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6.0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(1, 2)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9.5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8.75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2.0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27428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+mn-lt"/>
                          <a:ea typeface="Times New Roman"/>
                          <a:cs typeface="Times New Roman"/>
                        </a:rPr>
                        <a:t>(4, 9)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1.5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7.75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latin typeface="+mn-lt"/>
                          <a:ea typeface="Times New Roman"/>
                          <a:cs typeface="Times New Roman"/>
                        </a:rPr>
                        <a:t>10.0</a:t>
                      </a:r>
                      <a:endParaRPr lang="en-US" sz="18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US" sz="1800" b="1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4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Comments on the k-Means Method</a:t>
            </a:r>
            <a:endParaRPr 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mtClean="0"/>
              <a:t>Strength: Relatively efficient: O(tkn), where n is # objects, k is # clusters, and t  is # iterations. Normally, k, t &lt;&lt; n.</a:t>
            </a:r>
          </a:p>
          <a:p>
            <a:r>
              <a:rPr lang="en-US" altLang="en-US" smtClean="0"/>
              <a:t>Comment: Often terminates at a local optimum. The global optimum may be found using techniques such as: deterministic annealing and genetic algorithms</a:t>
            </a:r>
          </a:p>
          <a:p>
            <a:r>
              <a:rPr lang="en-US" altLang="en-US" smtClean="0"/>
              <a:t>Weakness</a:t>
            </a:r>
          </a:p>
          <a:p>
            <a:pPr lvl="1"/>
            <a:r>
              <a:rPr lang="en-US" altLang="en-US" smtClean="0"/>
              <a:t>Applicable only when mean is defined, then what about categorical data?</a:t>
            </a:r>
          </a:p>
          <a:p>
            <a:pPr lvl="1"/>
            <a:r>
              <a:rPr lang="en-US" altLang="en-US" smtClean="0"/>
              <a:t>Need to specify k, the number of clusters, in advance</a:t>
            </a:r>
          </a:p>
          <a:p>
            <a:pPr lvl="1"/>
            <a:r>
              <a:rPr lang="en-US" altLang="en-US" smtClean="0"/>
              <a:t>Unable to handle noisy data and outliers</a:t>
            </a:r>
          </a:p>
          <a:p>
            <a:pPr lvl="1"/>
            <a:r>
              <a:rPr lang="en-US" altLang="en-US" smtClean="0"/>
              <a:t>Not suitable to discover clusters with non-convex shapes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F2A450CB-A0B9-4D9F-B418-5BB25F9C9FA6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307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4F3BB95-6B69-4EE9-B015-ABC9E428F9B2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050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Gaussian Mixture </a:t>
            </a:r>
            <a:r>
              <a:rPr lang="en-IN" dirty="0" smtClean="0"/>
              <a:t>Models (GMM)</a:t>
            </a:r>
            <a:endParaRPr lang="en-IN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Have </a:t>
            </a:r>
            <a:r>
              <a:rPr lang="en-US" sz="2000" dirty="0"/>
              <a:t>you ever wondered how machine learning algorithms can effortlessly categorize complex data into distinct groups</a:t>
            </a:r>
            <a:r>
              <a:rPr lang="en-US" sz="2000" dirty="0" smtClean="0"/>
              <a:t>?</a:t>
            </a:r>
          </a:p>
          <a:p>
            <a:r>
              <a:rPr lang="en-US" sz="2000" dirty="0"/>
              <a:t>Imagine blending multiple Gaussian distributions to form a single model. This is precisely what a Gaussian Mixture Model does</a:t>
            </a:r>
            <a:r>
              <a:rPr lang="en-US" sz="2000" dirty="0" smtClean="0"/>
              <a:t>.</a:t>
            </a:r>
          </a:p>
          <a:p>
            <a:r>
              <a:rPr lang="en-US" altLang="en-US" sz="2000" dirty="0" smtClean="0"/>
              <a:t>What is </a:t>
            </a:r>
            <a:r>
              <a:rPr lang="en-US" sz="2000" dirty="0"/>
              <a:t>Gaussian </a:t>
            </a:r>
            <a:r>
              <a:rPr lang="en-US" sz="2000" dirty="0" smtClean="0"/>
              <a:t>distribution or Normal Distribution?</a:t>
            </a:r>
          </a:p>
          <a:p>
            <a:r>
              <a:rPr lang="en-US" sz="2000" dirty="0" smtClean="0"/>
              <a:t>It is</a:t>
            </a:r>
            <a:r>
              <a:rPr lang="en-US" sz="2000" dirty="0"/>
              <a:t> a probability distribution that is symmetric about the mean, showing that data near the mean are more frequent in occurrence than data far from the </a:t>
            </a:r>
            <a:r>
              <a:rPr lang="en-US" sz="2000" dirty="0" smtClean="0"/>
              <a:t>mean (Bell Curve).</a:t>
            </a:r>
          </a:p>
          <a:p>
            <a:r>
              <a:rPr lang="en-US" sz="2000" dirty="0"/>
              <a:t>GMM operates on the principle that a complex, multi-modal distribution can be approximated by a combination of simpler Gaussian distributions, each representing a different cluster within the </a:t>
            </a:r>
            <a:r>
              <a:rPr lang="en-US" sz="2000" dirty="0" smtClean="0"/>
              <a:t>data.</a:t>
            </a:r>
          </a:p>
          <a:p>
            <a:r>
              <a:rPr lang="en-US" sz="2000" dirty="0"/>
              <a:t>The mean of each Gaussian component gives us a central point, around which the data points are most densely </a:t>
            </a:r>
            <a:r>
              <a:rPr lang="en-US" sz="2000" dirty="0" smtClean="0"/>
              <a:t>clustered - </a:t>
            </a:r>
            <a:r>
              <a:rPr lang="en-IN" sz="2000" b="1" dirty="0"/>
              <a:t>mean, variance, and </a:t>
            </a:r>
            <a:r>
              <a:rPr lang="en-IN" sz="2000" b="1" dirty="0" smtClean="0"/>
              <a:t>weight.</a:t>
            </a:r>
            <a:endParaRPr lang="en-US" altLang="en-US" sz="2000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S. Nandagopalan, BIT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fld id="{F2A450CB-A0B9-4D9F-B418-5BB25F9C9FA6}" type="datetime4">
              <a:rPr lang="en-US" smtClean="0"/>
              <a:pPr/>
              <a:t>February 4, 2025</a:t>
            </a:fld>
            <a:endParaRPr lang="en-US"/>
          </a:p>
        </p:txBody>
      </p:sp>
      <p:sp>
        <p:nvSpPr>
          <p:cNvPr id="307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4F3BB95-6B69-4EE9-B015-ABC9E428F9B2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6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Model </a:t>
            </a:r>
            <a:r>
              <a:rPr lang="en-IN" dirty="0" smtClean="0"/>
              <a:t>Representation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At its core, a GMM is a combination of several Gaussian components.</a:t>
            </a:r>
          </a:p>
          <a:p>
            <a:r>
              <a:rPr lang="en-US" dirty="0"/>
              <a:t>These components are defined by their mean vectors, covariance matrices, and weights, providing a comprehensive representation of data distributions.</a:t>
            </a:r>
          </a:p>
          <a:p>
            <a:r>
              <a:rPr lang="en-US" dirty="0"/>
              <a:t>The probability density function of a GMM is a sum of its components, each weighted accordingly.</a:t>
            </a:r>
          </a:p>
          <a:p>
            <a:r>
              <a:rPr lang="en-US" b="1" dirty="0"/>
              <a:t>Notation:</a:t>
            </a:r>
            <a:endParaRPr lang="en-US" dirty="0"/>
          </a:p>
          <a:p>
            <a:pPr lvl="1"/>
            <a:r>
              <a:rPr lang="en-US" b="1" dirty="0"/>
              <a:t>K:</a:t>
            </a:r>
            <a:r>
              <a:rPr lang="en-US" dirty="0"/>
              <a:t> Number of Gaussian components</a:t>
            </a:r>
          </a:p>
          <a:p>
            <a:pPr lvl="1"/>
            <a:r>
              <a:rPr lang="en-US" b="1" dirty="0"/>
              <a:t>N:</a:t>
            </a:r>
            <a:r>
              <a:rPr lang="en-US" dirty="0"/>
              <a:t> Number of data points</a:t>
            </a:r>
          </a:p>
          <a:p>
            <a:pPr lvl="1"/>
            <a:r>
              <a:rPr lang="en-US" b="1" dirty="0"/>
              <a:t>D:</a:t>
            </a:r>
            <a:r>
              <a:rPr lang="en-US" dirty="0"/>
              <a:t> Dimensionality of the data</a:t>
            </a:r>
          </a:p>
          <a:p>
            <a:r>
              <a:rPr lang="en-US" b="1" dirty="0"/>
              <a:t>GMM Parameters:</a:t>
            </a:r>
            <a:endParaRPr lang="en-US" dirty="0"/>
          </a:p>
          <a:p>
            <a:pPr lvl="1"/>
            <a:r>
              <a:rPr lang="en-US" b="1" dirty="0"/>
              <a:t>Means (μ):</a:t>
            </a:r>
            <a:r>
              <a:rPr lang="en-US" dirty="0"/>
              <a:t> Center locations of Gaussian components.</a:t>
            </a:r>
          </a:p>
          <a:p>
            <a:pPr lvl="1"/>
            <a:r>
              <a:rPr lang="en-US" b="1" dirty="0"/>
              <a:t>Covariance Matrices (Σ):</a:t>
            </a:r>
            <a:r>
              <a:rPr lang="en-US" dirty="0"/>
              <a:t> Define the shape and spread of each component.</a:t>
            </a:r>
          </a:p>
          <a:p>
            <a:pPr lvl="1"/>
            <a:r>
              <a:rPr lang="en-US" b="1" dirty="0"/>
              <a:t>Weights (π):</a:t>
            </a:r>
            <a:r>
              <a:rPr lang="en-US" dirty="0"/>
              <a:t> Probability of selecting each component.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47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Implementation of GMM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b="1" dirty="0" smtClean="0"/>
              <a:t>In PySpark</a:t>
            </a:r>
          </a:p>
          <a:p>
            <a:pPr>
              <a:spcBef>
                <a:spcPts val="0"/>
              </a:spcBef>
            </a:pPr>
            <a:r>
              <a:rPr lang="en-IN" dirty="0"/>
              <a:t>class </a:t>
            </a:r>
            <a:r>
              <a:rPr lang="en-IN" dirty="0" err="1"/>
              <a:t>pyspark.ml.clustering.</a:t>
            </a:r>
            <a:r>
              <a:rPr lang="en-IN" dirty="0" err="1">
                <a:solidFill>
                  <a:srgbClr val="C00000"/>
                </a:solidFill>
              </a:rPr>
              <a:t>GaussianMixture</a:t>
            </a:r>
            <a:r>
              <a:rPr lang="en-IN" dirty="0" smtClean="0"/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smtClean="0"/>
              <a:t>*,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err="1" smtClean="0"/>
              <a:t>featuresCol</a:t>
            </a:r>
            <a:r>
              <a:rPr lang="en-IN" dirty="0"/>
              <a:t>: </a:t>
            </a:r>
            <a:r>
              <a:rPr lang="en-IN" dirty="0" err="1"/>
              <a:t>str</a:t>
            </a:r>
            <a:r>
              <a:rPr lang="en-IN" dirty="0"/>
              <a:t> = 'features', </a:t>
            </a:r>
            <a:endParaRPr lang="en-IN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err="1" smtClean="0"/>
              <a:t>predictionCol</a:t>
            </a:r>
            <a:r>
              <a:rPr lang="en-IN" dirty="0"/>
              <a:t>: </a:t>
            </a:r>
            <a:r>
              <a:rPr lang="en-IN" dirty="0" err="1"/>
              <a:t>str</a:t>
            </a:r>
            <a:r>
              <a:rPr lang="en-IN" dirty="0"/>
              <a:t> = 'prediction', </a:t>
            </a:r>
            <a:endParaRPr lang="en-IN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smtClean="0"/>
              <a:t>k</a:t>
            </a:r>
            <a:r>
              <a:rPr lang="en-IN" dirty="0"/>
              <a:t>: </a:t>
            </a:r>
            <a:r>
              <a:rPr lang="en-IN" dirty="0" err="1"/>
              <a:t>int</a:t>
            </a:r>
            <a:r>
              <a:rPr lang="en-IN" dirty="0"/>
              <a:t> = 2, </a:t>
            </a:r>
            <a:endParaRPr lang="en-IN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err="1" smtClean="0"/>
              <a:t>probabilityCol</a:t>
            </a:r>
            <a:r>
              <a:rPr lang="en-IN" dirty="0"/>
              <a:t>: </a:t>
            </a:r>
            <a:r>
              <a:rPr lang="en-IN" dirty="0" err="1"/>
              <a:t>str</a:t>
            </a:r>
            <a:r>
              <a:rPr lang="en-IN" dirty="0"/>
              <a:t> = 'probability', </a:t>
            </a:r>
            <a:endParaRPr lang="en-IN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err="1" smtClean="0"/>
              <a:t>tol</a:t>
            </a:r>
            <a:r>
              <a:rPr lang="en-IN" dirty="0"/>
              <a:t>: float = 0.01, </a:t>
            </a:r>
            <a:endParaRPr lang="en-IN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dirty="0" smtClean="0"/>
              <a:t>	</a:t>
            </a:r>
            <a:r>
              <a:rPr lang="en-IN" dirty="0" err="1" smtClean="0"/>
              <a:t>maxIter</a:t>
            </a:r>
            <a:r>
              <a:rPr lang="en-IN" dirty="0"/>
              <a:t>: </a:t>
            </a:r>
            <a:r>
              <a:rPr lang="en-IN" dirty="0" err="1"/>
              <a:t>int</a:t>
            </a:r>
            <a:r>
              <a:rPr lang="en-IN" dirty="0"/>
              <a:t> = 100, </a:t>
            </a:r>
            <a:endParaRPr lang="en-IN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dirty="0" smtClean="0"/>
              <a:t>	seed</a:t>
            </a:r>
            <a:r>
              <a:rPr lang="en-IN" dirty="0"/>
              <a:t>: Optional[</a:t>
            </a:r>
            <a:r>
              <a:rPr lang="en-IN" dirty="0" err="1"/>
              <a:t>int</a:t>
            </a:r>
            <a:r>
              <a:rPr lang="en-IN" dirty="0"/>
              <a:t>] = None, </a:t>
            </a:r>
            <a:endParaRPr lang="en-IN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dirty="0" smtClean="0"/>
              <a:t>	</a:t>
            </a:r>
            <a:r>
              <a:rPr lang="en-IN" dirty="0" err="1" smtClean="0"/>
              <a:t>aggregationDepth</a:t>
            </a:r>
            <a:r>
              <a:rPr lang="en-IN" dirty="0"/>
              <a:t>: </a:t>
            </a:r>
            <a:r>
              <a:rPr lang="en-IN" dirty="0" err="1"/>
              <a:t>int</a:t>
            </a:r>
            <a:r>
              <a:rPr lang="en-IN" dirty="0"/>
              <a:t> = 2, </a:t>
            </a:r>
            <a:endParaRPr lang="en-IN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	</a:t>
            </a:r>
            <a:r>
              <a:rPr lang="en-IN" dirty="0" err="1" smtClean="0"/>
              <a:t>weightCol</a:t>
            </a:r>
            <a:r>
              <a:rPr lang="en-IN" dirty="0"/>
              <a:t>: Optional[</a:t>
            </a:r>
            <a:r>
              <a:rPr lang="en-IN" dirty="0" err="1"/>
              <a:t>str</a:t>
            </a:r>
            <a:r>
              <a:rPr lang="en-IN" dirty="0"/>
              <a:t>] = </a:t>
            </a:r>
            <a:r>
              <a:rPr lang="en-IN" dirty="0" smtClean="0"/>
              <a:t>None)</a:t>
            </a:r>
            <a:endParaRPr lang="en-IN" dirty="0"/>
          </a:p>
          <a:p>
            <a:pPr>
              <a:spcBef>
                <a:spcPts val="0"/>
              </a:spcBef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02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Cases of Gaussian Mixture </a:t>
            </a:r>
            <a:r>
              <a:rPr lang="en-US" dirty="0" smtClean="0"/>
              <a:t>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Anomaly Detection:</a:t>
            </a:r>
            <a:r>
              <a:rPr lang="en-IN" dirty="0"/>
              <a:t> Identifying unusual data patterns.</a:t>
            </a:r>
          </a:p>
          <a:p>
            <a:r>
              <a:rPr lang="en-IN" b="1" dirty="0"/>
              <a:t>Image Segmentation:</a:t>
            </a:r>
            <a:r>
              <a:rPr lang="en-IN" dirty="0"/>
              <a:t> Grouping pixels in images based on </a:t>
            </a:r>
            <a:r>
              <a:rPr lang="en-IN" dirty="0" err="1"/>
              <a:t>color</a:t>
            </a:r>
            <a:r>
              <a:rPr lang="en-IN" dirty="0"/>
              <a:t> or texture.</a:t>
            </a:r>
          </a:p>
          <a:p>
            <a:r>
              <a:rPr lang="en-IN" b="1" dirty="0"/>
              <a:t>Speech Recognition:</a:t>
            </a:r>
            <a:r>
              <a:rPr lang="en-IN" dirty="0"/>
              <a:t> Assisting in the recognition of phonemes in audio data.</a:t>
            </a:r>
          </a:p>
          <a:p>
            <a:r>
              <a:rPr lang="en-IN" b="1" dirty="0"/>
              <a:t>Handwriting Recognition:</a:t>
            </a:r>
            <a:r>
              <a:rPr lang="en-IN" dirty="0"/>
              <a:t> Simulating different handwriting styles.</a:t>
            </a:r>
          </a:p>
          <a:p>
            <a:r>
              <a:rPr lang="en-IN" b="1" dirty="0"/>
              <a:t>Customer Segmentation:</a:t>
            </a:r>
            <a:r>
              <a:rPr lang="en-IN" dirty="0"/>
              <a:t> Grouping customers with similar </a:t>
            </a:r>
            <a:r>
              <a:rPr lang="en-IN" dirty="0" err="1"/>
              <a:t>behaviors</a:t>
            </a:r>
            <a:r>
              <a:rPr lang="en-IN" dirty="0"/>
              <a:t> or preferences.</a:t>
            </a:r>
          </a:p>
          <a:p>
            <a:r>
              <a:rPr lang="en-IN" b="1" dirty="0"/>
              <a:t>Data Clustering:</a:t>
            </a:r>
            <a:r>
              <a:rPr lang="en-IN" dirty="0"/>
              <a:t> Finding natural groups in data.</a:t>
            </a:r>
          </a:p>
          <a:p>
            <a:r>
              <a:rPr lang="en-IN" b="1" dirty="0"/>
              <a:t>Computer Vision:</a:t>
            </a:r>
            <a:r>
              <a:rPr lang="en-IN" dirty="0"/>
              <a:t> Object detection and background removal.</a:t>
            </a:r>
          </a:p>
          <a:p>
            <a:r>
              <a:rPr lang="en-IN" b="1" dirty="0"/>
              <a:t>Bioinformatics:</a:t>
            </a:r>
            <a:r>
              <a:rPr lang="en-IN" dirty="0"/>
              <a:t> </a:t>
            </a:r>
            <a:r>
              <a:rPr lang="en-IN" dirty="0" err="1"/>
              <a:t>Analyzing</a:t>
            </a:r>
            <a:r>
              <a:rPr lang="en-IN" dirty="0"/>
              <a:t> gene expression data.</a:t>
            </a:r>
          </a:p>
          <a:p>
            <a:r>
              <a:rPr lang="en-IN" b="1" dirty="0"/>
              <a:t>Recommendation Systems:</a:t>
            </a:r>
            <a:r>
              <a:rPr lang="en-IN" dirty="0"/>
              <a:t> Personalizing user experiences.</a:t>
            </a:r>
          </a:p>
          <a:p>
            <a:r>
              <a:rPr lang="en-IN" b="1" dirty="0"/>
              <a:t>Medical Imaging:</a:t>
            </a:r>
            <a:r>
              <a:rPr lang="en-IN" dirty="0"/>
              <a:t> Tissue classification and abnormality detection.</a:t>
            </a:r>
          </a:p>
          <a:p>
            <a:r>
              <a:rPr lang="en-IN" b="1" dirty="0"/>
              <a:t>Finance:</a:t>
            </a:r>
            <a:r>
              <a:rPr lang="en-IN" dirty="0"/>
              <a:t> Asset price </a:t>
            </a:r>
            <a:r>
              <a:rPr lang="en-IN" dirty="0" err="1"/>
              <a:t>modeling</a:t>
            </a:r>
            <a:r>
              <a:rPr lang="en-IN" dirty="0"/>
              <a:t> and risk management.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39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 using PySpark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28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52736"/>
            <a:ext cx="8310610" cy="531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5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29</a:t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2" y="1098418"/>
            <a:ext cx="8611802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30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108" y="497130"/>
            <a:ext cx="7554379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3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31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52" y="1556792"/>
            <a:ext cx="10803412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7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32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116" y="344286"/>
            <a:ext cx="8135485" cy="624927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 rot="2011744">
            <a:off x="4702143" y="743548"/>
            <a:ext cx="3191171" cy="1656184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 rot="2011744">
            <a:off x="7635371" y="3604171"/>
            <a:ext cx="2127957" cy="1524177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 rot="2011744">
            <a:off x="4724677" y="3508431"/>
            <a:ext cx="825808" cy="928859"/>
          </a:xfrm>
          <a:prstGeom prst="ellipse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15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4000">
              <a:srgbClr val="92D050"/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33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989956" y="2204864"/>
            <a:ext cx="71572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solidFill>
                  <a:schemeClr val="accent6">
                    <a:lumMod val="50000"/>
                  </a:schemeClr>
                </a:solidFill>
                <a:latin typeface="Tw Cen MT Condensed Extra Bold" panose="020B0803020202020204" pitchFamily="34" charset="0"/>
              </a:rPr>
              <a:t>Thank You</a:t>
            </a:r>
            <a:endParaRPr lang="en-IN" sz="6600" dirty="0">
              <a:solidFill>
                <a:schemeClr val="accent6">
                  <a:lumMod val="50000"/>
                </a:schemeClr>
              </a:solidFill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27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oking 16x9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sh food presentation (widescreen).potx" id="{63DD3034-9CB5-4B6F-BCA0-530A5E267AB2}" vid="{9783A5E3-1DF2-4F3C-8902-0C2EB8A188D6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700CCB-20BA-4760-AB9F-AC3B63ED32E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 food presentation (widescreen)</Template>
  <TotalTime>4387</TotalTime>
  <Words>2247</Words>
  <Application>Microsoft Office PowerPoint</Application>
  <PresentationFormat>Custom</PresentationFormat>
  <Paragraphs>568</Paragraphs>
  <Slides>33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50" baseType="lpstr">
      <vt:lpstr>Arial</vt:lpstr>
      <vt:lpstr>Arial Black</vt:lpstr>
      <vt:lpstr>Bodoni MT</vt:lpstr>
      <vt:lpstr>Book Antiqua</vt:lpstr>
      <vt:lpstr>Calibri</vt:lpstr>
      <vt:lpstr>Constantia</vt:lpstr>
      <vt:lpstr>Georgia</vt:lpstr>
      <vt:lpstr>굴림</vt:lpstr>
      <vt:lpstr>HY중고딕</vt:lpstr>
      <vt:lpstr>Palatino Linotype</vt:lpstr>
      <vt:lpstr>Symbol</vt:lpstr>
      <vt:lpstr>Tahoma</vt:lpstr>
      <vt:lpstr>Times New Roman</vt:lpstr>
      <vt:lpstr>Tw Cen MT Condensed Extra Bold</vt:lpstr>
      <vt:lpstr>Cooking 16x9</vt:lpstr>
      <vt:lpstr>Equation</vt:lpstr>
      <vt:lpstr>Worksheet</vt:lpstr>
      <vt:lpstr>Module  5: Large-Scale Machine Learning (UnSupervised)</vt:lpstr>
      <vt:lpstr>Agenda</vt:lpstr>
      <vt:lpstr>Introduction</vt:lpstr>
      <vt:lpstr>Example – Image Segmentation</vt:lpstr>
      <vt:lpstr>Clustering: Rich Applications and Multidisciplinary Efforts </vt:lpstr>
      <vt:lpstr>Examples of Clustering Applications</vt:lpstr>
      <vt:lpstr>Quality: What Is Good Clustering?</vt:lpstr>
      <vt:lpstr>Measure the Quality of Clustering</vt:lpstr>
      <vt:lpstr>Requirements of Clustering </vt:lpstr>
      <vt:lpstr>Major Clustering Approaches</vt:lpstr>
      <vt:lpstr>Major Clustering Approaches…</vt:lpstr>
      <vt:lpstr>Data Structures</vt:lpstr>
      <vt:lpstr>Dissimilarity Matrix</vt:lpstr>
      <vt:lpstr>Example</vt:lpstr>
      <vt:lpstr>Partitioning Algorithms: Basic Concept</vt:lpstr>
      <vt:lpstr>The k-Means Clustering Method </vt:lpstr>
      <vt:lpstr>The K-Means Clustering Method </vt:lpstr>
      <vt:lpstr>Numeric Example</vt:lpstr>
      <vt:lpstr>K-Means Example</vt:lpstr>
      <vt:lpstr>Example - 2</vt:lpstr>
      <vt:lpstr>Example-2 (Contd…)</vt:lpstr>
      <vt:lpstr>Example -2 (Contd…)</vt:lpstr>
      <vt:lpstr>Comments on the k-Means Method</vt:lpstr>
      <vt:lpstr>Gaussian Mixture Models (GMM)</vt:lpstr>
      <vt:lpstr>Model Representation</vt:lpstr>
      <vt:lpstr>Implementation of GMM</vt:lpstr>
      <vt:lpstr>Use Cases of Gaussian Mixture Models</vt:lpstr>
      <vt:lpstr>K-Means using PySpark</vt:lpstr>
      <vt:lpstr>Contd…</vt:lpstr>
      <vt:lpstr>Contd…</vt:lpstr>
      <vt:lpstr>Contd…</vt:lpstr>
      <vt:lpstr>Contd…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Microsoft account</dc:creator>
  <cp:lastModifiedBy>Microsoft account</cp:lastModifiedBy>
  <cp:revision>146</cp:revision>
  <dcterms:created xsi:type="dcterms:W3CDTF">2024-08-14T04:47:15Z</dcterms:created>
  <dcterms:modified xsi:type="dcterms:W3CDTF">2025-02-04T14:30:45Z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